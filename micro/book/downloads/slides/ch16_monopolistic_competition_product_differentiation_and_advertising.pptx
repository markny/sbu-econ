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ed2afc49e041b7" /><Relationship Type="http://schemas.openxmlformats.org/officeDocument/2006/relationships/extended-properties" Target="/docProps/app.xml" Id="Re4b99b7438b14de8" /><Relationship Type="http://schemas.openxmlformats.org/officeDocument/2006/relationships/officeDocument" Target="/ppt/presentation.xml" Id="R3f63a9552f1247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b3ff150f1c43c1"/>
  </p:sldMasterIdLst>
  <p:notesMasterIdLst>
    <p:notesMasterId xmlns:r="http://schemas.openxmlformats.org/officeDocument/2006/relationships" r:id="Red8b17a9225b4805"/>
  </p:notesMasterIdLst>
  <p:sldIdLst>
    <p:sldId xmlns:r="http://schemas.openxmlformats.org/officeDocument/2006/relationships" id="256" r:id="Rc13245c4523b40c4"/>
    <p:sldId xmlns:r="http://schemas.openxmlformats.org/officeDocument/2006/relationships" id="257" r:id="R3fc388db71854e57"/>
    <p:sldId xmlns:r="http://schemas.openxmlformats.org/officeDocument/2006/relationships" id="258" r:id="Rf286832cca6941aa"/>
    <p:sldId xmlns:r="http://schemas.openxmlformats.org/officeDocument/2006/relationships" id="259" r:id="Rb93f0b638be1448f"/>
    <p:sldId xmlns:r="http://schemas.openxmlformats.org/officeDocument/2006/relationships" id="260" r:id="R5ee37d145144416d"/>
    <p:sldId xmlns:r="http://schemas.openxmlformats.org/officeDocument/2006/relationships" id="261" r:id="Rc33d83cc3fef4977"/>
    <p:sldId xmlns:r="http://schemas.openxmlformats.org/officeDocument/2006/relationships" id="262" r:id="R797cf5170b9a43ed"/>
    <p:sldId xmlns:r="http://schemas.openxmlformats.org/officeDocument/2006/relationships" id="263" r:id="Re4fe919ca2714498"/>
    <p:sldId xmlns:r="http://schemas.openxmlformats.org/officeDocument/2006/relationships" id="264" r:id="Rf3f2b36544a14b41"/>
    <p:sldId xmlns:r="http://schemas.openxmlformats.org/officeDocument/2006/relationships" id="265" r:id="Rcd609178783e4688"/>
    <p:sldId xmlns:r="http://schemas.openxmlformats.org/officeDocument/2006/relationships" id="266" r:id="Rbead605175ce4825"/>
    <p:sldId xmlns:r="http://schemas.openxmlformats.org/officeDocument/2006/relationships" id="267" r:id="R0dd92fbec0f3414f"/>
    <p:sldId xmlns:r="http://schemas.openxmlformats.org/officeDocument/2006/relationships" id="268" r:id="R376ee1453300414d"/>
    <p:sldId xmlns:r="http://schemas.openxmlformats.org/officeDocument/2006/relationships" id="269" r:id="Rb97edbdd78974aa4"/>
    <p:sldId xmlns:r="http://schemas.openxmlformats.org/officeDocument/2006/relationships" id="270" r:id="R8744845b2bee4968"/>
    <p:sldId xmlns:r="http://schemas.openxmlformats.org/officeDocument/2006/relationships" id="271" r:id="Ra5a600ecfb4044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501b09d0ca4f11" /><Relationship Type="http://schemas.openxmlformats.org/officeDocument/2006/relationships/slideMaster" Target="/ppt/slideMasters/slideMaster1.xml" Id="Rb9b3ff150f1c43c1" /><Relationship Type="http://schemas.openxmlformats.org/officeDocument/2006/relationships/notesMaster" Target="/ppt/notesMasters/notesMaster1.xml" Id="Red8b17a9225b4805" /><Relationship Type="http://schemas.openxmlformats.org/officeDocument/2006/relationships/presProps" Target="/ppt/presProps.xml" Id="R8719c7cb95044e51" /><Relationship Type="http://schemas.openxmlformats.org/officeDocument/2006/relationships/tableStyles" Target="/ppt/tableStyles.xml" Id="R9830f3ada07e48eb" /><Relationship Type="http://schemas.openxmlformats.org/officeDocument/2006/relationships/slide" Target="/ppt/slides/slide1.xml" Id="Rc13245c4523b40c4" /><Relationship Type="http://schemas.openxmlformats.org/officeDocument/2006/relationships/slide" Target="/ppt/slides/slide2.xml" Id="R3fc388db71854e57" /><Relationship Type="http://schemas.openxmlformats.org/officeDocument/2006/relationships/slide" Target="/ppt/slides/slide3.xml" Id="Rf286832cca6941aa" /><Relationship Type="http://schemas.openxmlformats.org/officeDocument/2006/relationships/slide" Target="/ppt/slides/slide4.xml" Id="Rb93f0b638be1448f" /><Relationship Type="http://schemas.openxmlformats.org/officeDocument/2006/relationships/slide" Target="/ppt/slides/slide5.xml" Id="R5ee37d145144416d" /><Relationship Type="http://schemas.openxmlformats.org/officeDocument/2006/relationships/slide" Target="/ppt/slides/slide6.xml" Id="Rc33d83cc3fef4977" /><Relationship Type="http://schemas.openxmlformats.org/officeDocument/2006/relationships/slide" Target="/ppt/slides/slide7.xml" Id="R797cf5170b9a43ed" /><Relationship Type="http://schemas.openxmlformats.org/officeDocument/2006/relationships/slide" Target="/ppt/slides/slide8.xml" Id="Re4fe919ca2714498" /><Relationship Type="http://schemas.openxmlformats.org/officeDocument/2006/relationships/slide" Target="/ppt/slides/slide9.xml" Id="Rf3f2b36544a14b41" /><Relationship Type="http://schemas.openxmlformats.org/officeDocument/2006/relationships/slide" Target="/ppt/slides/slide10.xml" Id="Rcd609178783e4688" /><Relationship Type="http://schemas.openxmlformats.org/officeDocument/2006/relationships/slide" Target="/ppt/slides/slide11.xml" Id="Rbead605175ce4825" /><Relationship Type="http://schemas.openxmlformats.org/officeDocument/2006/relationships/slide" Target="/ppt/slides/slide12.xml" Id="R0dd92fbec0f3414f" /><Relationship Type="http://schemas.openxmlformats.org/officeDocument/2006/relationships/slide" Target="/ppt/slides/slide13.xml" Id="R376ee1453300414d" /><Relationship Type="http://schemas.openxmlformats.org/officeDocument/2006/relationships/slide" Target="/ppt/slides/slide14.xml" Id="Rb97edbdd78974aa4" /><Relationship Type="http://schemas.openxmlformats.org/officeDocument/2006/relationships/slide" Target="/ppt/slides/slide15.xml" Id="R8744845b2bee4968" /><Relationship Type="http://schemas.openxmlformats.org/officeDocument/2006/relationships/slide" Target="/ppt/slides/slide16.xml" Id="Ra5a600ecfb4044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73cf2400a645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881f56f51d4d22" /><Relationship Type="http://schemas.openxmlformats.org/officeDocument/2006/relationships/notesMaster" Target="/ppt/notesMasters/notesMaster1.xml" Id="Rbeb8e9ca090a42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66d496e1fc4125" /><Relationship Type="http://schemas.openxmlformats.org/officeDocument/2006/relationships/notesMaster" Target="/ppt/notesMasters/notesMaster1.xml" Id="R31ce567eacb144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f9cf751c2b4886" /><Relationship Type="http://schemas.openxmlformats.org/officeDocument/2006/relationships/notesMaster" Target="/ppt/notesMasters/notesMaster1.xml" Id="Rfffebb8c2eb048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e682b649ea4676" /><Relationship Type="http://schemas.openxmlformats.org/officeDocument/2006/relationships/notesMaster" Target="/ppt/notesMasters/notesMaster1.xml" Id="Ra9ccec2b28fd46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cee1491ade4899" /><Relationship Type="http://schemas.openxmlformats.org/officeDocument/2006/relationships/notesMaster" Target="/ppt/notesMasters/notesMaster1.xml" Id="Rdb4017349ed447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96e07aab424806" /><Relationship Type="http://schemas.openxmlformats.org/officeDocument/2006/relationships/notesMaster" Target="/ppt/notesMasters/notesMaster1.xml" Id="R18222c6d06924d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caa10e84fb47ab" /><Relationship Type="http://schemas.openxmlformats.org/officeDocument/2006/relationships/notesMaster" Target="/ppt/notesMasters/notesMaster1.xml" Id="Rb265b2155a9d40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55c984be1c4eed" /><Relationship Type="http://schemas.openxmlformats.org/officeDocument/2006/relationships/notesMaster" Target="/ppt/notesMasters/notesMaster1.xml" Id="R651f41246ebf46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fbd9f7f5a94595" /><Relationship Type="http://schemas.openxmlformats.org/officeDocument/2006/relationships/notesMaster" Target="/ppt/notesMasters/notesMaster1.xml" Id="Rea45c117d9194e4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9ce9fce0604e4d" /><Relationship Type="http://schemas.openxmlformats.org/officeDocument/2006/relationships/notesMaster" Target="/ppt/notesMasters/notesMaster1.xml" Id="Rfd0005c4360c45a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afd9f2b0f44f69" /><Relationship Type="http://schemas.openxmlformats.org/officeDocument/2006/relationships/notesMaster" Target="/ppt/notesMasters/notesMaster1.xml" Id="Red955457787e464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5969eae1f141de" /><Relationship Type="http://schemas.openxmlformats.org/officeDocument/2006/relationships/notesMaster" Target="/ppt/notesMasters/notesMaster1.xml" Id="Ra90cba9f9c3844b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fbcc7a988cb495d" /><Relationship Type="http://schemas.openxmlformats.org/officeDocument/2006/relationships/notesMaster" Target="/ppt/notesMasters/notesMaster1.xml" Id="Rf6f851508eaf4f5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922defc7e084965" /><Relationship Type="http://schemas.openxmlformats.org/officeDocument/2006/relationships/notesMaster" Target="/ppt/notesMasters/notesMaster1.xml" Id="Re2c8139f2f894be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085a600edbe4593" /><Relationship Type="http://schemas.openxmlformats.org/officeDocument/2006/relationships/notesMaster" Target="/ppt/notesMasters/notesMaster1.xml" Id="Rce7cf4b55e26414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ffc891a7df64335" /><Relationship Type="http://schemas.openxmlformats.org/officeDocument/2006/relationships/notesMaster" Target="/ppt/notesMasters/notesMaster1.xml" Id="Ra17d3d5a2ee04c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monopolistic competition honestly: it describes many real markets, but small product differences often create only modest pricing power.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Principles of Micro, Chapter 16: Monopolistic Competition, Product Differentiation, and Advertising (current project draft).</a:t>
            </a:r>
          </a:p>
          <a:p xmlns:a="http://schemas.openxmlformats.org/drawingml/2006/main">
            <a:r>
              <a:t>- Cover artwork: design/book-cover/principles-of-micro-cover.png (project-generated asset).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category is descriptive of reality, but do not exaggerate the practical difference from competition when cross-price elasticity is high.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Principles of Micro, Chapter 16: Monopolistic Competition, Product Differentiation, and Advertising (current project draft).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Avoid treating market structures as boxes with sharp real-world borders.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Principles of Micro, Chapter 16: Monopolistic Competition, Product Differentiation, and Advertising (current project draft).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graph looks like monopoly because the firm faces downward-sloping demand. The difference appears through entry.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Principles of Micro, Chapter 16: Monopolistic Competition, Product Differentiation, and Advertising (current project draft).</a:t>
            </a:r>
          </a:p>
          <a:p xmlns:a="http://schemas.openxmlformats.org/drawingml/2006/main">
            <a:r>
              <a:t>- Project-reviewed Chapter 16 figures from figures/ch16_monopolistic_competition_product_differentiation_and_advertising/.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separate entry-shift figure is needed. The long-run diagram shows the destination.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Principles of Micro, Chapter 16: Monopolistic Competition, Product Differentiation, and Advertising (current project draft).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two textbook labels: markup means price exceeds MC; excess capacity means output lies below the minimum point of ATC.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Principles of Micro, Chapter 16: Monopolistic Competition, Product Differentiation, and Advertising (current project draft).</a:t>
            </a:r>
          </a:p>
          <a:p xmlns:a="http://schemas.openxmlformats.org/drawingml/2006/main">
            <a:r>
              <a:t>- Project-reviewed Chapter 16 figures from figures/ch16_monopolistic_competition_product_differentiation_and_advertising/.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present the small textbook triangle as proof that product variety is a meaningful social loss. Compare actual institutions with feasible alternatives.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Principles of Micro, Chapter 16: Monopolistic Competition, Product Differentiation, and Advertising (current project draft).</a:t>
            </a:r>
          </a:p>
          <a:p xmlns:a="http://schemas.openxmlformats.org/drawingml/2006/main">
            <a:r>
              <a:t>- Avinash Dixit and Joseph Stiglitz, Monopolistic Competition and Optimum Product Diversity, American Economic Review 67(3), 1977; Harold Demsetz, Information and Efficiency: Another Viewpoint, Journal of Law and Economics 12(1), 1969.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grandparents' magazine prompt. Advertising and brand capital work inside a competitive process rather than replacing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Principles of Micro, Chapter 16: Monopolistic Competition, Product Differentiation, and Advertising (current project draft).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Narrate the hypotheses rather than presenting a table. The same advertisement can contain persuasion and useful information.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Principles of Micro, Chapter 16: Monopolistic Competition, Product Differentiation, and Advertising (current project draft).</a:t>
            </a:r>
          </a:p>
          <a:p xmlns:a="http://schemas.openxmlformats.org/drawingml/2006/main">
            <a:r>
              <a:t>- George Stigler, The Economics of Information, Journal of Political Economy 69(3), 1961; Phillip Nelson, Advertising as Information, Journal of Political Economy 82(4), 1974.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result qualitative and historical. The value lies in overturning the automatic presumption that advertising only creates market power.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Principles of Micro, Chapter 16: Monopolistic Competition, Product Differentiation, and Advertising (current project draft).</a:t>
            </a:r>
          </a:p>
          <a:p xmlns:a="http://schemas.openxmlformats.org/drawingml/2006/main">
            <a:r>
              <a:t>- Lee Benham, The Effect of Advertising on the Price of Eyeglasses, Journal of Law and Economics 15(2), 1972.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principles-level bond idea. The firm need not place cash in escrow; valuable future business is what it stands to forfeit.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Principles of Micro, Chapter 16: Monopolistic Competition, Product Differentiation, and Advertising (current project draft).</a:t>
            </a:r>
          </a:p>
          <a:p xmlns:a="http://schemas.openxmlformats.org/drawingml/2006/main">
            <a:r>
              <a:t>- Benjamin Klein and Keith Leffler, The Role of Market Forces in Assuring Contractual Performance, Journal of Political Economy 89(4), 1981.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contrast carefully. FDA approval standards differ between generic drugs and dietary supplements.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Principles of Micro, Chapter 16: Monopolistic Competition, Product Differentiation, and Advertising (current project draft).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compact. Certification works only when the certifier is credible and the tested standard matches what buyers care about.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Principles of Micro, Chapter 16: Monopolistic Competition, Product Differentiation, and Advertising (current project draft).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case as a simple causal-inference lesson, not a universal claim about all advertising channels.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Principles of Micro, Chapter 16: Monopolistic Competition, Product Differentiation, and Advertising (current project draft).</a:t>
            </a:r>
          </a:p>
          <a:p xmlns:a="http://schemas.openxmlformats.org/drawingml/2006/main">
            <a:r>
              <a:t>- Thomas Blake, Chris Nosko, and Steven Tadelis, Consumer Heterogeneity and Paid Search Effectiveness, Econometrica 83(1), 2015.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Chamberlin as the chapter's economist profile. Keep the historical note short and tied to the core concept.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Principles of Micro, Chapter 16: Monopolistic Competition, Product Differentiation, and Advertising (current project draft).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asking whether one familiar ad mainly informs, persuades, signals quality, or does several things at once.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Principles of Micro, Chapter 16: Monopolistic Competition, Product Differentiation, and Advertising (current project draft).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4c436ccf4b44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f2b2b4c56d43a6" /><Relationship Type="http://schemas.openxmlformats.org/officeDocument/2006/relationships/slideLayout" Target="/ppt/slideLayouts/slideLayout1.xml" Id="Rd0c13fa8a6b447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c13fa8a6b447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9b0d13b164557" /><Relationship Type="http://schemas.openxmlformats.org/officeDocument/2006/relationships/image" Target="/ppt/media/image.png" Id="Rf4c7e5b244e948b5" /><Relationship Type="http://schemas.openxmlformats.org/officeDocument/2006/relationships/notesSlide" Target="/ppt/notesSlides/notesSlide1.xml" Id="R6406bbfaad6040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3820377a84de0" /><Relationship Type="http://schemas.openxmlformats.org/officeDocument/2006/relationships/notesSlide" Target="/ppt/notesSlides/notesSlide2.xml" Id="Rf9ed3a4b696142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e62505fb34256" /><Relationship Type="http://schemas.openxmlformats.org/officeDocument/2006/relationships/notesSlide" Target="/ppt/notesSlides/notesSlide3.xml" Id="Ra64b9f85ee1a4b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7d88ddb0143bd" /><Relationship Type="http://schemas.openxmlformats.org/officeDocument/2006/relationships/image" Target="/ppt/media/image2.png" Id="R843753e7b8834c6d" /><Relationship Type="http://schemas.openxmlformats.org/officeDocument/2006/relationships/notesSlide" Target="/ppt/notesSlides/notesSlide4.xml" Id="Re0dec85e419343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60f3710fc41db" /><Relationship Type="http://schemas.openxmlformats.org/officeDocument/2006/relationships/notesSlide" Target="/ppt/notesSlides/notesSlide5.xml" Id="R021de1569d8746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5405854354987" /><Relationship Type="http://schemas.openxmlformats.org/officeDocument/2006/relationships/image" Target="/ppt/media/image3.png" Id="R26d2da76b424427f" /><Relationship Type="http://schemas.openxmlformats.org/officeDocument/2006/relationships/notesSlide" Target="/ppt/notesSlides/notesSlide6.xml" Id="R4231819a49ec4c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5bad37ff54cd8" /><Relationship Type="http://schemas.openxmlformats.org/officeDocument/2006/relationships/notesSlide" Target="/ppt/notesSlides/notesSlide7.xml" Id="R4e4adeaa33d24f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771b887484157" /><Relationship Type="http://schemas.openxmlformats.org/officeDocument/2006/relationships/notesSlide" Target="/ppt/notesSlides/notesSlide8.xml" Id="Re6b851b97afd47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ae64195b74634" /><Relationship Type="http://schemas.openxmlformats.org/officeDocument/2006/relationships/notesSlide" Target="/ppt/notesSlides/notesSlide9.xml" Id="R117410ad50be40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0f4f5ec7845a4" /><Relationship Type="http://schemas.openxmlformats.org/officeDocument/2006/relationships/notesSlide" Target="/ppt/notesSlides/notesSlide10.xml" Id="Re19d76c34ff84d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80c1137eb4489" /><Relationship Type="http://schemas.openxmlformats.org/officeDocument/2006/relationships/notesSlide" Target="/ppt/notesSlides/notesSlide11.xml" Id="Rf124841e579b4f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e704371db4f50" /><Relationship Type="http://schemas.openxmlformats.org/officeDocument/2006/relationships/notesSlide" Target="/ppt/notesSlides/notesSlide12.xml" Id="R9e51d1e69c1f446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fe3a56b354432" /><Relationship Type="http://schemas.openxmlformats.org/officeDocument/2006/relationships/notesSlide" Target="/ppt/notesSlides/notesSlide13.xml" Id="R4c649696350b42c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10d6b9a7341a0" /><Relationship Type="http://schemas.openxmlformats.org/officeDocument/2006/relationships/notesSlide" Target="/ppt/notesSlides/notesSlide14.xml" Id="Re40731e3285344c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6cf61f8334534" /><Relationship Type="http://schemas.openxmlformats.org/officeDocument/2006/relationships/notesSlide" Target="/ppt/notesSlides/notesSlide15.xml" Id="Rc3413c5cec64420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3ceaf908345bb" /><Relationship Type="http://schemas.openxmlformats.org/officeDocument/2006/relationships/notesSlide" Target="/ppt/notesSlides/notesSlide16.xml" Id="Rf117320c9dac42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field">
            <a:extLst xmlns:a="http://schemas.openxmlformats.org/drawingml/2006/main">
              <a:ext uri="{FF2B5EF4-FFF2-40B4-BE49-F238E27FC236}">
                <a16:creationId xmlns:a16="http://schemas.microsoft.com/office/drawing/2014/main" id="{C57D4893-68AB-4FE6-BF9E-AFB8D815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24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33A1A9D-3B4F-410B-810B-7A6D4070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CB26A6E3-FFD5-4AA8-96F0-45748DFD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666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 i="0">
                <a:solidFill>
                  <a:srgbClr val="172126"/>
                </a:solidFill>
                <a:latin typeface="Georgia"/>
                <a:ea typeface="Georgia"/>
                <a:cs typeface="Georgia"/>
              </a:defRPr>
            </a:pPr>
            <a:r>
              <a:rPr sz="3225" b="1" i="0">
                <a:solidFill>
                  <a:srgbClr val="172126"/>
                </a:solidFill>
                <a:latin typeface="Georgia"/>
                <a:ea typeface="Georgia"/>
                <a:cs typeface="Georgia"/>
              </a:rPr>
              <a:t>Monopolistic Competition, Product Differentiation, and Advertising</a:t>
            </a:r>
          </a:p>
        </p:txBody>
      </p:sp>
      <p:sp>
        <p:nvSpPr>
          <p:cNvPr id="4" name="deck-chapter">
            <a:extLst xmlns:a="http://schemas.openxmlformats.org/drawingml/2006/main">
              <a:ext uri="{FF2B5EF4-FFF2-40B4-BE49-F238E27FC236}">
                <a16:creationId xmlns:a16="http://schemas.microsoft.com/office/drawing/2014/main" id="{A30B92DC-E99A-42BF-9378-5FF7E521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E6675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1E6675"/>
                </a:solidFill>
                <a:latin typeface="Aptos"/>
                <a:ea typeface="Aptos"/>
                <a:cs typeface="Aptos"/>
              </a:rPr>
              <a:t>Chapter 16</a:t>
            </a:r>
          </a:p>
        </p:txBody>
      </p:sp>
      <p:sp>
        <p:nvSpPr>
          <p:cNvPr id="5" name="deck-book">
            <a:extLst xmlns:a="http://schemas.openxmlformats.org/drawingml/2006/main">
              <a:ext uri="{FF2B5EF4-FFF2-40B4-BE49-F238E27FC236}">
                <a16:creationId xmlns:a16="http://schemas.microsoft.com/office/drawing/2014/main" id="{B3FA8043-2BD6-45BD-89DB-6405B6A7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72126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72126"/>
                </a:solidFill>
                <a:latin typeface="Georgia"/>
                <a:ea typeface="Georgia"/>
                <a:cs typeface="Georgia"/>
              </a:rPr>
              <a:t>Principles of Micro</a:t>
            </a:r>
          </a:p>
        </p:txBody>
      </p:sp>
      <p:sp>
        <p:nvSpPr>
          <p:cNvPr id="6" name="deck-author">
            <a:extLst xmlns:a="http://schemas.openxmlformats.org/drawingml/2006/main">
              <a:ext uri="{FF2B5EF4-FFF2-40B4-BE49-F238E27FC236}">
                <a16:creationId xmlns:a16="http://schemas.microsoft.com/office/drawing/2014/main" id="{E410D8D3-CE9D-4641-BF1E-F4699538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56636A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56636A"/>
                </a:solidFill>
                <a:latin typeface="Aptos"/>
                <a:ea typeface="Aptos"/>
                <a:cs typeface="Aptos"/>
              </a:rPr>
              <a:t>Mark Wilson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c7e5b244e948b5"/>
          <a:stretch xmlns:a="http://schemas.openxmlformats.org/drawingml/2006/main"/>
        </p:blipFill>
        <p:spPr>
          <a:xfrm xmlns:a="http://schemas.openxmlformats.org/drawingml/2006/main">
            <a:off x="8267700" y="762000"/>
            <a:ext cx="2857500" cy="4286250"/>
          </a:xfrm>
          <a:prstGeom xmlns:a="http://schemas.openxmlformats.org/drawingml/2006/main" prst="rect">
            <a:avLst/>
          </a:prstGeom>
        </p:spPr>
      </p:pic>
      <p:sp>
        <p:nvSpPr>
          <p:cNvPr id="8" name="deck-theme">
            <a:extLst xmlns:a="http://schemas.openxmlformats.org/drawingml/2006/main">
              <a:ext uri="{FF2B5EF4-FFF2-40B4-BE49-F238E27FC236}">
                <a16:creationId xmlns:a16="http://schemas.microsoft.com/office/drawing/2014/main" id="{3DC4191C-E343-4E3D-BC35-54DE73D2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467350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2485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24854"/>
                </a:solidFill>
                <a:latin typeface="Aptos"/>
                <a:ea typeface="Aptos"/>
                <a:cs typeface="Aptos"/>
              </a:rPr>
              <a:t>Product differences create small market power, variety, and a reason to communicate with buyers</a:t>
            </a:r>
          </a:p>
        </p:txBody>
      </p:sp>
    </p:spTree>
    <p:extLst>
      <p:ext uri="{BB962C8B-B14F-4D97-AF65-F5344CB8AC3E}">
        <p14:creationId xmlns:p14="http://schemas.microsoft.com/office/powerpoint/2010/main" val="13072968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248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ccent-rule">
            <a:extLst xmlns:a="http://schemas.openxmlformats.org/drawingml/2006/main">
              <a:ext uri="{FF2B5EF4-FFF2-40B4-BE49-F238E27FC236}">
                <a16:creationId xmlns:a16="http://schemas.microsoft.com/office/drawing/2014/main" id="{155A05EE-31DA-449B-BA31-CE6411FD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0320CD29-07B9-4C3E-909B-8D2D4F1C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CHAPTER 16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BA5FE5-B10B-4396-9408-3504C7FD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34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Many firms sell products that are similar but not identical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E328D5C-E51B-440F-8AD8-C5D2A074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9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ook">
            <a:extLst xmlns:a="http://schemas.openxmlformats.org/drawingml/2006/main">
              <a:ext uri="{FF2B5EF4-FFF2-40B4-BE49-F238E27FC236}">
                <a16:creationId xmlns:a16="http://schemas.microsoft.com/office/drawing/2014/main" id="{4128166C-0D96-4ED4-9996-7CED742A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C7DAD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C7DADD"/>
                </a:solidFill>
                <a:latin typeface="Aptos"/>
                <a:ea typeface="Aptos"/>
                <a:cs typeface="Aptos"/>
              </a:rPr>
              <a:t>PRINCIPLES OF MICRO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D7981C0-9B67-4879-B6BA-11B4B927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C7DAD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C7DAD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7" name="big-statement">
            <a:extLst xmlns:a="http://schemas.openxmlformats.org/drawingml/2006/main">
              <a:ext uri="{FF2B5EF4-FFF2-40B4-BE49-F238E27FC236}">
                <a16:creationId xmlns:a16="http://schemas.microsoft.com/office/drawing/2014/main" id="{BE701EF5-A15C-4EAC-96E3-46852E12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24000"/>
            <a:ext cx="1009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741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450" b="1" i="0">
                <a:solidFill>
                  <a:srgbClr val="D8A62F"/>
                </a:solidFill>
                <a:latin typeface="Georgia"/>
                <a:ea typeface="Georgia"/>
                <a:cs typeface="Georgia"/>
              </a:defRPr>
            </a:pPr>
            <a:r>
              <a:rPr sz="3450" b="1" i="0">
                <a:solidFill>
                  <a:srgbClr val="D8A62F"/>
                </a:solidFill>
                <a:latin typeface="Georgia"/>
                <a:ea typeface="Georgia"/>
                <a:cs typeface="Georgia"/>
              </a:rPr>
              <a:t>Restaurants, salons, coffee shops, clothing brands, and local services compete while offering something different.</a:t>
            </a:r>
          </a:p>
        </p:txBody>
      </p:sp>
      <p:sp>
        <p:nvSpPr>
          <p:cNvPr id="8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A0FC539F-96D0-4A89-84DF-6EFDA9F7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5277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D80CDB24-8ED3-41B1-8634-9C898C5D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62300"/>
            <a:ext cx="802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Each firm faces a slightly downward-sloping demand curve.</a:t>
            </a:r>
          </a:p>
        </p:txBody>
      </p:sp>
      <p:sp>
        <p:nvSpPr>
          <p:cNvPr id="10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F6F55F6D-6454-43C7-893A-B467AE18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78142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0F527893-EF9B-421F-8CED-4FB6E19C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90950"/>
            <a:ext cx="802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Close substitutes limit how far price can rise.</a:t>
            </a:r>
          </a:p>
        </p:txBody>
      </p:sp>
      <p:sp>
        <p:nvSpPr>
          <p:cNvPr id="12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6A21289F-D7E7-4A85-BA96-FC75978F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1007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B4ABECD6-303E-4331-8ECD-324858F5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19600"/>
            <a:ext cx="802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Entry pushes long-run economic profit toward zero.</a:t>
            </a:r>
          </a:p>
        </p:txBody>
      </p:sp>
    </p:spTree>
    <p:extLst>
      <p:ext uri="{BB962C8B-B14F-4D97-AF65-F5344CB8AC3E}">
        <p14:creationId xmlns:p14="http://schemas.microsoft.com/office/powerpoint/2010/main" val="18485516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ccent-rule">
            <a:extLst xmlns:a="http://schemas.openxmlformats.org/drawingml/2006/main">
              <a:ext uri="{FF2B5EF4-FFF2-40B4-BE49-F238E27FC236}">
                <a16:creationId xmlns:a16="http://schemas.microsoft.com/office/drawing/2014/main" id="{59A00B7D-771F-40D8-B81F-058D0826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50C6552C-B3C9-4127-9B54-A6852D0E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9A3B3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A3B35"/>
                </a:solidFill>
                <a:latin typeface="Aptos"/>
                <a:ea typeface="Aptos"/>
                <a:cs typeface="Aptos"/>
              </a:rPr>
              <a:t>CHAPTER 16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473CC8-E73B-455E-A50E-17606E31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1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172126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72126"/>
                </a:solidFill>
                <a:latin typeface="Georgia"/>
                <a:ea typeface="Georgia"/>
                <a:cs typeface="Georgia"/>
              </a:rPr>
              <a:t>Product differentiation creates a continuum of market power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47BBD06-411B-496A-B8B4-2CDCE70B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ook">
            <a:extLst xmlns:a="http://schemas.openxmlformats.org/drawingml/2006/main">
              <a:ext uri="{FF2B5EF4-FFF2-40B4-BE49-F238E27FC236}">
                <a16:creationId xmlns:a16="http://schemas.microsoft.com/office/drawing/2014/main" id="{0F82B489-9CC4-4A05-B389-7566A92D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6636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6636A"/>
                </a:solidFill>
                <a:latin typeface="Aptos"/>
                <a:ea typeface="Aptos"/>
                <a:cs typeface="Aptos"/>
              </a:rPr>
              <a:t>PRINCIPLES OF MICRO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12C41C2-1713-4532-A24B-B780BAD8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56636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6636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7" name="panel-1-field">
            <a:extLst xmlns:a="http://schemas.openxmlformats.org/drawingml/2006/main">
              <a:ext uri="{FF2B5EF4-FFF2-40B4-BE49-F238E27FC236}">
                <a16:creationId xmlns:a16="http://schemas.microsoft.com/office/drawing/2014/main" id="{E9BA5CA1-32DD-460D-ABF5-E8AC4244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752600"/>
            <a:ext cx="44767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D3DA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B18D68-051A-4305-8D3A-D161F37E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43100"/>
            <a:ext cx="401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E667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E6675"/>
                </a:solidFill>
                <a:latin typeface="Aptos"/>
                <a:ea typeface="Aptos"/>
                <a:cs typeface="Aptos"/>
              </a:rPr>
              <a:t>VERY CLOSE SUBSTITUTES</a:t>
            </a:r>
          </a:p>
        </p:txBody>
      </p:sp>
      <p:sp>
        <p:nvSpPr>
          <p:cNvPr id="9" name="panel-1-heading">
            <a:extLst xmlns:a="http://schemas.openxmlformats.org/drawingml/2006/main">
              <a:ext uri="{FF2B5EF4-FFF2-40B4-BE49-F238E27FC236}">
                <a16:creationId xmlns:a16="http://schemas.microsoft.com/office/drawing/2014/main" id="{9EB425C1-F7C1-4D57-A632-7E324A84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43150"/>
            <a:ext cx="4019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1E6675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1E6675"/>
                </a:solidFill>
                <a:latin typeface="Georgia"/>
                <a:ea typeface="Georgia"/>
                <a:cs typeface="Georgia"/>
              </a:rPr>
              <a:t>Demand is highly elastic</a:t>
            </a:r>
          </a:p>
        </p:txBody>
      </p:sp>
      <p:sp>
        <p:nvSpPr>
          <p:cNvPr id="10" name="panel-1-body">
            <a:extLst xmlns:a="http://schemas.openxmlformats.org/drawingml/2006/main">
              <a:ext uri="{FF2B5EF4-FFF2-40B4-BE49-F238E27FC236}">
                <a16:creationId xmlns:a16="http://schemas.microsoft.com/office/drawing/2014/main" id="{C10B7D32-9B7E-4C6D-87B3-4FF0BC35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62300"/>
            <a:ext cx="39433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A small price increase sends many buyers to nearly identical rivals.</a:t>
            </a:r>
          </a:p>
        </p:txBody>
      </p:sp>
      <p:sp>
        <p:nvSpPr>
          <p:cNvPr id="11" name="panel-2-field">
            <a:extLst xmlns:a="http://schemas.openxmlformats.org/drawingml/2006/main">
              <a:ext uri="{FF2B5EF4-FFF2-40B4-BE49-F238E27FC236}">
                <a16:creationId xmlns:a16="http://schemas.microsoft.com/office/drawing/2014/main" id="{38AA0EB5-DD27-4695-8780-6FDF9CD7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52600"/>
            <a:ext cx="44767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EA"/>
          </a:solidFill>
          <a:ln xmlns:a="http://schemas.openxmlformats.org/drawingml/2006/main" w="9525">
            <a:solidFill>
              <a:srgbClr val="D3DA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8B470-40C3-4177-A708-C3347323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43100"/>
            <a:ext cx="401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9A3B3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A3B35"/>
                </a:solidFill>
                <a:latin typeface="Aptos"/>
                <a:ea typeface="Aptos"/>
                <a:cs typeface="Aptos"/>
              </a:rPr>
              <a:t>DISTINCT PRODUCT OR LOCATION</a:t>
            </a:r>
          </a:p>
        </p:txBody>
      </p:sp>
      <p:sp>
        <p:nvSpPr>
          <p:cNvPr id="13" name="panel-2-heading">
            <a:extLst xmlns:a="http://schemas.openxmlformats.org/drawingml/2006/main">
              <a:ext uri="{FF2B5EF4-FFF2-40B4-BE49-F238E27FC236}">
                <a16:creationId xmlns:a16="http://schemas.microsoft.com/office/drawing/2014/main" id="{9B95041F-A45E-41F2-994A-87C3F797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43150"/>
            <a:ext cx="4019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9A3B35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9A3B35"/>
                </a:solidFill>
                <a:latin typeface="Georgia"/>
                <a:ea typeface="Georgia"/>
                <a:cs typeface="Georgia"/>
              </a:rPr>
              <a:t>Demand is less elastic</a:t>
            </a:r>
          </a:p>
        </p:txBody>
      </p:sp>
      <p:sp>
        <p:nvSpPr>
          <p:cNvPr id="14" name="panel-2-body">
            <a:extLst xmlns:a="http://schemas.openxmlformats.org/drawingml/2006/main">
              <a:ext uri="{FF2B5EF4-FFF2-40B4-BE49-F238E27FC236}">
                <a16:creationId xmlns:a16="http://schemas.microsoft.com/office/drawing/2014/main" id="{028E6A11-0E30-4F10-8BED-DBFA8E26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39433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A stronger brand, unique feature, or convenient location gives the firm more pricing room.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052763-E9F4-4E92-B04B-A7A3BFB8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91150"/>
            <a:ext cx="937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124854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24854"/>
                </a:solidFill>
                <a:latin typeface="Aptos"/>
                <a:ea typeface="Aptos"/>
                <a:cs typeface="Aptos"/>
              </a:rPr>
              <a:t>Cross-price response matters more than the category name.</a:t>
            </a:r>
          </a:p>
        </p:txBody>
      </p:sp>
    </p:spTree>
    <p:extLst>
      <p:ext uri="{BB962C8B-B14F-4D97-AF65-F5344CB8AC3E}">
        <p14:creationId xmlns:p14="http://schemas.microsoft.com/office/powerpoint/2010/main" val="35164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rule">
            <a:extLst xmlns:a="http://schemas.openxmlformats.org/drawingml/2006/main">
              <a:ext uri="{FF2B5EF4-FFF2-40B4-BE49-F238E27FC236}">
                <a16:creationId xmlns:a16="http://schemas.microsoft.com/office/drawing/2014/main" id="{EF37EFA2-DB18-4757-8B57-FB72667E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1892EBEA-7CB5-4CA9-AE76-567D5A55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9A3B3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A3B35"/>
                </a:solidFill>
                <a:latin typeface="Aptos"/>
                <a:ea typeface="Aptos"/>
                <a:cs typeface="Aptos"/>
              </a:rPr>
              <a:t>CHAPTER 16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D0F824-63AD-4D70-A6C2-9F07A754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3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172126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72126"/>
                </a:solidFill>
                <a:latin typeface="Georgia"/>
                <a:ea typeface="Georgia"/>
                <a:cs typeface="Georgia"/>
              </a:rPr>
              <a:t>A differentiated firm can earn short-run economic profit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FE7613A-5762-4885-8141-F6C79E0F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ook">
            <a:extLst xmlns:a="http://schemas.openxmlformats.org/drawingml/2006/main">
              <a:ext uri="{FF2B5EF4-FFF2-40B4-BE49-F238E27FC236}">
                <a16:creationId xmlns:a16="http://schemas.microsoft.com/office/drawing/2014/main" id="{E4557555-AFD0-41AD-9C94-7D472C55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6636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6636A"/>
                </a:solidFill>
                <a:latin typeface="Aptos"/>
                <a:ea typeface="Aptos"/>
                <a:cs typeface="Aptos"/>
              </a:rPr>
              <a:t>PRINCIPLES OF MICRO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13E4848-FD7C-476E-B75B-8B143D37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56636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6636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3753e7b8834c6d"/>
          <a:stretch xmlns:a="http://schemas.openxmlformats.org/drawingml/2006/main"/>
        </p:blipFill>
        <p:spPr>
          <a:xfrm xmlns:a="http://schemas.openxmlformats.org/drawingml/2006/main">
            <a:off x="3200611" y="1371600"/>
            <a:ext cx="5790778" cy="4419600"/>
          </a:xfrm>
          <a:prstGeom xmlns:a="http://schemas.openxmlformats.org/drawingml/2006/main" prst="rect">
            <a:avLst/>
          </a:prstGeom>
        </p:spPr>
      </p:pic>
      <p:sp>
        <p:nvSpPr>
          <p:cNvPr id="8" name="figure-takeaway">
            <a:extLst xmlns:a="http://schemas.openxmlformats.org/drawingml/2006/main">
              <a:ext uri="{FF2B5EF4-FFF2-40B4-BE49-F238E27FC236}">
                <a16:creationId xmlns:a16="http://schemas.microsoft.com/office/drawing/2014/main" id="{50CF4F10-2C48-4C25-A1C7-CA51E52C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29300"/>
            <a:ext cx="1013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124854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24854"/>
                </a:solidFill>
                <a:latin typeface="Aptos"/>
                <a:ea typeface="Aptos"/>
                <a:cs typeface="Aptos"/>
              </a:rPr>
              <a:t>The firm uses the monopoly output rule, but close substitutes constrain demand.</a:t>
            </a:r>
          </a:p>
        </p:txBody>
      </p:sp>
    </p:spTree>
    <p:extLst>
      <p:ext uri="{BB962C8B-B14F-4D97-AF65-F5344CB8AC3E}">
        <p14:creationId xmlns:p14="http://schemas.microsoft.com/office/powerpoint/2010/main" val="15599949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accent-rule">
            <a:extLst xmlns:a="http://schemas.openxmlformats.org/drawingml/2006/main">
              <a:ext uri="{FF2B5EF4-FFF2-40B4-BE49-F238E27FC236}">
                <a16:creationId xmlns:a16="http://schemas.microsoft.com/office/drawing/2014/main" id="{392445F7-3030-4265-AC8C-0EE01FB6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FC744C66-2090-4822-B8A4-6970A206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9A3B3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A3B35"/>
                </a:solidFill>
                <a:latin typeface="Aptos"/>
                <a:ea typeface="Aptos"/>
                <a:cs typeface="Aptos"/>
              </a:rPr>
              <a:t>CHAPTER 16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D52FC4-FC21-4BE3-B40B-EC517542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172126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72126"/>
                </a:solidFill>
                <a:latin typeface="Georgia"/>
                <a:ea typeface="Georgia"/>
                <a:cs typeface="Georgia"/>
              </a:rPr>
              <a:t>Entry erodes profit by taking customers from each firm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6E5D73C-87A3-45C7-86DD-993FE48A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ook">
            <a:extLst xmlns:a="http://schemas.openxmlformats.org/drawingml/2006/main">
              <a:ext uri="{FF2B5EF4-FFF2-40B4-BE49-F238E27FC236}">
                <a16:creationId xmlns:a16="http://schemas.microsoft.com/office/drawing/2014/main" id="{CB6A07D7-4B58-4F94-BE1B-FFC8A214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6636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6636A"/>
                </a:solidFill>
                <a:latin typeface="Aptos"/>
                <a:ea typeface="Aptos"/>
                <a:cs typeface="Aptos"/>
              </a:rPr>
              <a:t>PRINCIPLES OF MICRO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74C14C4-9311-4CBB-9323-1213DA72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56636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6636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7" name="step-1-field">
            <a:extLst xmlns:a="http://schemas.openxmlformats.org/drawingml/2006/main">
              <a:ext uri="{FF2B5EF4-FFF2-40B4-BE49-F238E27FC236}">
                <a16:creationId xmlns:a16="http://schemas.microsoft.com/office/drawing/2014/main" id="{99FA9F9D-0C61-4B50-BEE3-EFFD3DEE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2414588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D3DA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DA8611-5CC9-4F01-A7F8-20CF7432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195738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E667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E6675"/>
                </a:solidFill>
                <a:latin typeface="Aptos"/>
                <a:ea typeface="Aptos"/>
                <a:cs typeface="Aptos"/>
              </a:rPr>
              <a:t>STEP 1</a:t>
            </a:r>
          </a:p>
        </p:txBody>
      </p:sp>
      <p:sp>
        <p:nvSpPr>
          <p:cNvPr id="9" name="step-1-heading">
            <a:extLst xmlns:a="http://schemas.openxmlformats.org/drawingml/2006/main">
              <a:ext uri="{FF2B5EF4-FFF2-40B4-BE49-F238E27FC236}">
                <a16:creationId xmlns:a16="http://schemas.microsoft.com/office/drawing/2014/main" id="{7AEB38EA-4412-4DF0-9D09-EDDB6416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90800"/>
            <a:ext cx="19573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1E6675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E6675"/>
                </a:solidFill>
                <a:latin typeface="Georgia"/>
                <a:ea typeface="Georgia"/>
                <a:cs typeface="Georgia"/>
              </a:rPr>
              <a:t>Economic profit appears</a:t>
            </a:r>
          </a:p>
        </p:txBody>
      </p:sp>
      <p:sp>
        <p:nvSpPr>
          <p:cNvPr id="10" name="step-1-body">
            <a:extLst xmlns:a="http://schemas.openxmlformats.org/drawingml/2006/main">
              <a:ext uri="{FF2B5EF4-FFF2-40B4-BE49-F238E27FC236}">
                <a16:creationId xmlns:a16="http://schemas.microsoft.com/office/drawing/2014/main" id="{A0195918-7E47-4718-8128-3F9F5A6A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188118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Existing firms earn more than every economic cost.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557316-548F-43DA-A994-B1CA9863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905125"/>
            <a:ext cx="17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95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step-2-field">
            <a:extLst xmlns:a="http://schemas.openxmlformats.org/drawingml/2006/main">
              <a:ext uri="{FF2B5EF4-FFF2-40B4-BE49-F238E27FC236}">
                <a16:creationId xmlns:a16="http://schemas.microsoft.com/office/drawing/2014/main" id="{105F9A72-EF4E-4522-8080-2088C3A9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000250"/>
            <a:ext cx="2414588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EA"/>
          </a:solidFill>
          <a:ln xmlns:a="http://schemas.openxmlformats.org/drawingml/2006/main" w="9525">
            <a:solidFill>
              <a:srgbClr val="D3DA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717AF-F21D-454A-B953-02BAA531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238" y="2190750"/>
            <a:ext cx="195738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9A3B3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A3B35"/>
                </a:solidFill>
                <a:latin typeface="Aptos"/>
                <a:ea typeface="Aptos"/>
                <a:cs typeface="Aptos"/>
              </a:rPr>
              <a:t>STEP 2</a:t>
            </a:r>
          </a:p>
        </p:txBody>
      </p:sp>
      <p:sp>
        <p:nvSpPr>
          <p:cNvPr id="14" name="step-2-heading">
            <a:extLst xmlns:a="http://schemas.openxmlformats.org/drawingml/2006/main">
              <a:ext uri="{FF2B5EF4-FFF2-40B4-BE49-F238E27FC236}">
                <a16:creationId xmlns:a16="http://schemas.microsoft.com/office/drawing/2014/main" id="{B651E37F-112B-4D49-B273-C6566B64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238" y="2590800"/>
            <a:ext cx="19573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9A3B35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9A3B35"/>
                </a:solidFill>
                <a:latin typeface="Georgia"/>
                <a:ea typeface="Georgia"/>
                <a:cs typeface="Georgia"/>
              </a:rPr>
              <a:t>New varieties enter</a:t>
            </a:r>
          </a:p>
        </p:txBody>
      </p:sp>
      <p:sp>
        <p:nvSpPr>
          <p:cNvPr id="15" name="step-2-body">
            <a:extLst xmlns:a="http://schemas.openxmlformats.org/drawingml/2006/main">
              <a:ext uri="{FF2B5EF4-FFF2-40B4-BE49-F238E27FC236}">
                <a16:creationId xmlns:a16="http://schemas.microsoft.com/office/drawing/2014/main" id="{93C95A96-F02D-4E45-93C9-1C99A508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338" y="3409950"/>
            <a:ext cx="188118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Entrants offer substitutes and divide market demand.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11577E-2CD2-4C83-BB1A-0D4A6391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905125"/>
            <a:ext cx="17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95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step-3-field">
            <a:extLst xmlns:a="http://schemas.openxmlformats.org/drawingml/2006/main">
              <a:ext uri="{FF2B5EF4-FFF2-40B4-BE49-F238E27FC236}">
                <a16:creationId xmlns:a16="http://schemas.microsoft.com/office/drawing/2014/main" id="{4365760B-D775-4402-A6E9-BED4C643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00250"/>
            <a:ext cx="2414588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D3DA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985856-D297-4B6A-B193-03E3E627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90750"/>
            <a:ext cx="195738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E667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E6675"/>
                </a:solidFill>
                <a:latin typeface="Aptos"/>
                <a:ea typeface="Aptos"/>
                <a:cs typeface="Aptos"/>
              </a:rPr>
              <a:t>STEP 3</a:t>
            </a:r>
          </a:p>
        </p:txBody>
      </p:sp>
      <p:sp>
        <p:nvSpPr>
          <p:cNvPr id="19" name="step-3-heading">
            <a:extLst xmlns:a="http://schemas.openxmlformats.org/drawingml/2006/main">
              <a:ext uri="{FF2B5EF4-FFF2-40B4-BE49-F238E27FC236}">
                <a16:creationId xmlns:a16="http://schemas.microsoft.com/office/drawing/2014/main" id="{8B6DBBF6-9063-4AA0-B4F1-3EB97DDB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90800"/>
            <a:ext cx="19573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6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1E6675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E6675"/>
                </a:solidFill>
                <a:latin typeface="Georgia"/>
                <a:ea typeface="Georgia"/>
                <a:cs typeface="Georgia"/>
              </a:rPr>
              <a:t>Each firm's demand shifts left</a:t>
            </a:r>
          </a:p>
        </p:txBody>
      </p:sp>
      <p:sp>
        <p:nvSpPr>
          <p:cNvPr id="20" name="step-3-body">
            <a:extLst xmlns:a="http://schemas.openxmlformats.org/drawingml/2006/main">
              <a:ext uri="{FF2B5EF4-FFF2-40B4-BE49-F238E27FC236}">
                <a16:creationId xmlns:a16="http://schemas.microsoft.com/office/drawing/2014/main" id="{1437AF0F-683B-4936-B6F5-8F16932C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409950"/>
            <a:ext cx="188118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The representative firm sells less at any given price.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0E3669-DAEB-44CC-8077-E41B337A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413" y="2905125"/>
            <a:ext cx="17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95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step-4-field">
            <a:extLst xmlns:a="http://schemas.openxmlformats.org/drawingml/2006/main">
              <a:ext uri="{FF2B5EF4-FFF2-40B4-BE49-F238E27FC236}">
                <a16:creationId xmlns:a16="http://schemas.microsoft.com/office/drawing/2014/main" id="{1298877B-8EA3-479B-808A-CE5907A7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913" y="2000250"/>
            <a:ext cx="2414588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EA"/>
          </a:solidFill>
          <a:ln xmlns:a="http://schemas.openxmlformats.org/drawingml/2006/main" w="9525">
            <a:solidFill>
              <a:srgbClr val="D3DA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41C9B0-AED0-43F3-8B64-2BC862F2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190750"/>
            <a:ext cx="195738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9A3B3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A3B35"/>
                </a:solidFill>
                <a:latin typeface="Aptos"/>
                <a:ea typeface="Aptos"/>
                <a:cs typeface="Aptos"/>
              </a:rPr>
              <a:t>STEP 4</a:t>
            </a:r>
          </a:p>
        </p:txBody>
      </p:sp>
      <p:sp>
        <p:nvSpPr>
          <p:cNvPr id="24" name="step-4-heading">
            <a:extLst xmlns:a="http://schemas.openxmlformats.org/drawingml/2006/main">
              <a:ext uri="{FF2B5EF4-FFF2-40B4-BE49-F238E27FC236}">
                <a16:creationId xmlns:a16="http://schemas.microsoft.com/office/drawing/2014/main" id="{60BC001A-F276-4BD3-8F86-DD98034F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590800"/>
            <a:ext cx="19573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9A3B35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9A3B35"/>
                </a:solidFill>
                <a:latin typeface="Georgia"/>
                <a:ea typeface="Georgia"/>
                <a:cs typeface="Georgia"/>
              </a:rPr>
              <a:t>Economic profit reaches zero</a:t>
            </a:r>
          </a:p>
        </p:txBody>
      </p:sp>
      <p:sp>
        <p:nvSpPr>
          <p:cNvPr id="25" name="step-4-body">
            <a:extLst xmlns:a="http://schemas.openxmlformats.org/drawingml/2006/main">
              <a:ext uri="{FF2B5EF4-FFF2-40B4-BE49-F238E27FC236}">
                <a16:creationId xmlns:a16="http://schemas.microsoft.com/office/drawing/2014/main" id="{4032900C-9B49-482E-82B4-C8A7BE93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409950"/>
            <a:ext cx="188118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Entry stops when price just covers average total cost.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9B5392-4C83-4F36-A3FB-7B24CB4C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124854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24854"/>
                </a:solidFill>
                <a:latin typeface="Aptos"/>
                <a:ea typeface="Aptos"/>
                <a:cs typeface="Aptos"/>
              </a:rPr>
              <a:t>Free entry disciplines profit even though products are different.</a:t>
            </a:r>
          </a:p>
        </p:txBody>
      </p:sp>
    </p:spTree>
    <p:extLst>
      <p:ext uri="{BB962C8B-B14F-4D97-AF65-F5344CB8AC3E}">
        <p14:creationId xmlns:p14="http://schemas.microsoft.com/office/powerpoint/2010/main" val="19203451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rule">
            <a:extLst xmlns:a="http://schemas.openxmlformats.org/drawingml/2006/main">
              <a:ext uri="{FF2B5EF4-FFF2-40B4-BE49-F238E27FC236}">
                <a16:creationId xmlns:a16="http://schemas.microsoft.com/office/drawing/2014/main" id="{2E0B8EDF-206A-4F91-9159-DC560F70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2C069328-7DC3-43B1-AE0B-3F082E66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9A3B3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A3B35"/>
                </a:solidFill>
                <a:latin typeface="Aptos"/>
                <a:ea typeface="Aptos"/>
                <a:cs typeface="Aptos"/>
              </a:rPr>
              <a:t>CHAPTER 16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642F35-CC72-4FBF-A8E2-BA88287F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1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172126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72126"/>
                </a:solidFill>
                <a:latin typeface="Georgia"/>
                <a:ea typeface="Georgia"/>
                <a:cs typeface="Georgia"/>
              </a:rPr>
              <a:t>Long-run equilibrium has zero economic profit but P &gt; MC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AB927DA-58A7-498E-A786-923DCA36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ook">
            <a:extLst xmlns:a="http://schemas.openxmlformats.org/drawingml/2006/main">
              <a:ext uri="{FF2B5EF4-FFF2-40B4-BE49-F238E27FC236}">
                <a16:creationId xmlns:a16="http://schemas.microsoft.com/office/drawing/2014/main" id="{9D150133-4E45-406A-BAAF-00493239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6636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6636A"/>
                </a:solidFill>
                <a:latin typeface="Aptos"/>
                <a:ea typeface="Aptos"/>
                <a:cs typeface="Aptos"/>
              </a:rPr>
              <a:t>PRINCIPLES OF MICRO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B79D164-0492-486C-8DD4-E8D9DA24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56636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6636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2da76b424427f"/>
          <a:stretch xmlns:a="http://schemas.openxmlformats.org/drawingml/2006/main"/>
        </p:blipFill>
        <p:spPr>
          <a:xfrm xmlns:a="http://schemas.openxmlformats.org/drawingml/2006/main">
            <a:off x="3200611" y="1371600"/>
            <a:ext cx="5790778" cy="4419600"/>
          </a:xfrm>
          <a:prstGeom xmlns:a="http://schemas.openxmlformats.org/drawingml/2006/main" prst="rect">
            <a:avLst/>
          </a:prstGeom>
        </p:spPr>
      </p:pic>
      <p:sp>
        <p:nvSpPr>
          <p:cNvPr id="8" name="figure-takeaway">
            <a:extLst xmlns:a="http://schemas.openxmlformats.org/drawingml/2006/main">
              <a:ext uri="{FF2B5EF4-FFF2-40B4-BE49-F238E27FC236}">
                <a16:creationId xmlns:a16="http://schemas.microsoft.com/office/drawing/2014/main" id="{176E4A79-153E-4B43-A876-950DCC57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29300"/>
            <a:ext cx="1013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124854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24854"/>
                </a:solidFill>
                <a:latin typeface="Aptos"/>
                <a:ea typeface="Aptos"/>
                <a:cs typeface="Aptos"/>
              </a:rPr>
              <a:t>The firm covers every cost but retains a markup and unused scale capacity.</a:t>
            </a:r>
          </a:p>
        </p:txBody>
      </p:sp>
    </p:spTree>
    <p:extLst>
      <p:ext uri="{BB962C8B-B14F-4D97-AF65-F5344CB8AC3E}">
        <p14:creationId xmlns:p14="http://schemas.microsoft.com/office/powerpoint/2010/main" val="19090945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ccent-rule">
            <a:extLst xmlns:a="http://schemas.openxmlformats.org/drawingml/2006/main">
              <a:ext uri="{FF2B5EF4-FFF2-40B4-BE49-F238E27FC236}">
                <a16:creationId xmlns:a16="http://schemas.microsoft.com/office/drawing/2014/main" id="{A45BC557-F20F-43AA-8099-34E71489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FD136D44-BB45-420C-8337-87398A8F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9A3B3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A3B35"/>
                </a:solidFill>
                <a:latin typeface="Aptos"/>
                <a:ea typeface="Aptos"/>
                <a:cs typeface="Aptos"/>
              </a:rPr>
              <a:t>CHAPTER 16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BC05EA-7D4A-4984-BA2C-2772FA80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4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172126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72126"/>
                </a:solidFill>
                <a:latin typeface="Georgia"/>
                <a:ea typeface="Georgia"/>
                <a:cs typeface="Georgia"/>
              </a:rPr>
              <a:t>The textbook inefficiency comes with a benefit the graph omits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D12DA29-7F00-4ECA-B0BF-CCB495C9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ook">
            <a:extLst xmlns:a="http://schemas.openxmlformats.org/drawingml/2006/main">
              <a:ext uri="{FF2B5EF4-FFF2-40B4-BE49-F238E27FC236}">
                <a16:creationId xmlns:a16="http://schemas.microsoft.com/office/drawing/2014/main" id="{10792E04-5E09-4EB4-B2F2-CB7852F0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6636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6636A"/>
                </a:solidFill>
                <a:latin typeface="Aptos"/>
                <a:ea typeface="Aptos"/>
                <a:cs typeface="Aptos"/>
              </a:rPr>
              <a:t>PRINCIPLES OF MICRO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D080901-37AD-4970-90C4-269BF82C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56636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6636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7" name="panel-1-field">
            <a:extLst xmlns:a="http://schemas.openxmlformats.org/drawingml/2006/main">
              <a:ext uri="{FF2B5EF4-FFF2-40B4-BE49-F238E27FC236}">
                <a16:creationId xmlns:a16="http://schemas.microsoft.com/office/drawing/2014/main" id="{0434C16B-CBCA-491D-A0A2-B1D14E04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752600"/>
            <a:ext cx="44767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D3DA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D2A56-41E2-4CBA-9004-A3229385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43100"/>
            <a:ext cx="401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E667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E6675"/>
                </a:solidFill>
                <a:latin typeface="Aptos"/>
                <a:ea typeface="Aptos"/>
                <a:cs typeface="Aptos"/>
              </a:rPr>
              <a:t>COST OF DIFFERENTIATION</a:t>
            </a:r>
          </a:p>
        </p:txBody>
      </p:sp>
      <p:sp>
        <p:nvSpPr>
          <p:cNvPr id="9" name="panel-1-heading">
            <a:extLst xmlns:a="http://schemas.openxmlformats.org/drawingml/2006/main">
              <a:ext uri="{FF2B5EF4-FFF2-40B4-BE49-F238E27FC236}">
                <a16:creationId xmlns:a16="http://schemas.microsoft.com/office/drawing/2014/main" id="{CCF938DA-CAF0-409D-A213-53D643E1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43150"/>
            <a:ext cx="4019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1E6675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1E6675"/>
                </a:solidFill>
                <a:latin typeface="Georgia"/>
                <a:ea typeface="Georgia"/>
                <a:cs typeface="Georgia"/>
              </a:rPr>
              <a:t>Markup and unused scale</a:t>
            </a:r>
          </a:p>
        </p:txBody>
      </p:sp>
      <p:sp>
        <p:nvSpPr>
          <p:cNvPr id="10" name="panel-1-body">
            <a:extLst xmlns:a="http://schemas.openxmlformats.org/drawingml/2006/main">
              <a:ext uri="{FF2B5EF4-FFF2-40B4-BE49-F238E27FC236}">
                <a16:creationId xmlns:a16="http://schemas.microsoft.com/office/drawing/2014/main" id="{7D944197-5476-427A-B1F2-1D71D893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62300"/>
            <a:ext cx="39433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Price exceeds marginal cost and firms do not operate at minimum average total cost.</a:t>
            </a:r>
          </a:p>
        </p:txBody>
      </p:sp>
      <p:sp>
        <p:nvSpPr>
          <p:cNvPr id="11" name="panel-2-field">
            <a:extLst xmlns:a="http://schemas.openxmlformats.org/drawingml/2006/main">
              <a:ext uri="{FF2B5EF4-FFF2-40B4-BE49-F238E27FC236}">
                <a16:creationId xmlns:a16="http://schemas.microsoft.com/office/drawing/2014/main" id="{078A1508-D648-4C8E-9085-39414B48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52600"/>
            <a:ext cx="44767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EA"/>
          </a:solidFill>
          <a:ln xmlns:a="http://schemas.openxmlformats.org/drawingml/2006/main" w="9525">
            <a:solidFill>
              <a:srgbClr val="D3DA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2887CA-FEB5-4B51-AE87-CD2FD627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43100"/>
            <a:ext cx="401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9A3B3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A3B35"/>
                </a:solidFill>
                <a:latin typeface="Aptos"/>
                <a:ea typeface="Aptos"/>
                <a:cs typeface="Aptos"/>
              </a:rPr>
              <a:t>BENEFIT OF DIFFERENTIATION</a:t>
            </a:r>
          </a:p>
        </p:txBody>
      </p:sp>
      <p:sp>
        <p:nvSpPr>
          <p:cNvPr id="13" name="panel-2-heading">
            <a:extLst xmlns:a="http://schemas.openxmlformats.org/drawingml/2006/main">
              <a:ext uri="{FF2B5EF4-FFF2-40B4-BE49-F238E27FC236}">
                <a16:creationId xmlns:a16="http://schemas.microsoft.com/office/drawing/2014/main" id="{8828AA19-146A-464B-A325-D4E4FC6E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43150"/>
            <a:ext cx="4019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9A3B35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9A3B35"/>
                </a:solidFill>
                <a:latin typeface="Georgia"/>
                <a:ea typeface="Georgia"/>
                <a:cs typeface="Georgia"/>
              </a:rPr>
              <a:t>Variety and better matches</a:t>
            </a:r>
          </a:p>
        </p:txBody>
      </p:sp>
      <p:sp>
        <p:nvSpPr>
          <p:cNvPr id="14" name="panel-2-body">
            <a:extLst xmlns:a="http://schemas.openxmlformats.org/drawingml/2006/main">
              <a:ext uri="{FF2B5EF4-FFF2-40B4-BE49-F238E27FC236}">
                <a16:creationId xmlns:a16="http://schemas.microsoft.com/office/drawing/2014/main" id="{C368DB8E-1494-4282-BEC7-6F217F9E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39433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Buyers may prefer many products to one forced standard, even if variety duplicates some fixed cost.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79E443-E09D-48A4-B7F3-E059798D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91150"/>
            <a:ext cx="937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124854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24854"/>
                </a:solidFill>
                <a:latin typeface="Aptos"/>
                <a:ea typeface="Aptos"/>
                <a:cs typeface="Aptos"/>
              </a:rPr>
              <a:t>A feasible alternative must preserve the benefits buyers value.</a:t>
            </a:r>
          </a:p>
        </p:txBody>
      </p:sp>
    </p:spTree>
    <p:extLst>
      <p:ext uri="{BB962C8B-B14F-4D97-AF65-F5344CB8AC3E}">
        <p14:creationId xmlns:p14="http://schemas.microsoft.com/office/powerpoint/2010/main" val="11653088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248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ccent-rule">
            <a:extLst xmlns:a="http://schemas.openxmlformats.org/drawingml/2006/main">
              <a:ext uri="{FF2B5EF4-FFF2-40B4-BE49-F238E27FC236}">
                <a16:creationId xmlns:a16="http://schemas.microsoft.com/office/drawing/2014/main" id="{3910D564-2090-40CF-AD2C-282B46DF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64A241DD-CDF1-4C00-96E0-79BA281B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CHAPTER 16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ACCD58-0DC3-4CBF-B82E-7B75EDA3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1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Old magazines are full of famous ads for vanished brands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879BDBB-86B8-4235-9ED1-1604B08E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9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ook">
            <a:extLst xmlns:a="http://schemas.openxmlformats.org/drawingml/2006/main">
              <a:ext uri="{FF2B5EF4-FFF2-40B4-BE49-F238E27FC236}">
                <a16:creationId xmlns:a16="http://schemas.microsoft.com/office/drawing/2014/main" id="{267E8703-7916-4CCC-9244-E87461EA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C7DAD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C7DADD"/>
                </a:solidFill>
                <a:latin typeface="Aptos"/>
                <a:ea typeface="Aptos"/>
                <a:cs typeface="Aptos"/>
              </a:rPr>
              <a:t>PRINCIPLES OF MICRO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6776C13-71AC-482F-A885-84E3AACB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C7DAD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C7DADD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7" name="big-statement">
            <a:extLst xmlns:a="http://schemas.openxmlformats.org/drawingml/2006/main">
              <a:ext uri="{FF2B5EF4-FFF2-40B4-BE49-F238E27FC236}">
                <a16:creationId xmlns:a16="http://schemas.microsoft.com/office/drawing/2014/main" id="{65D9A7E9-0D55-4C7F-86C7-496243DA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24000"/>
            <a:ext cx="1009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847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450" b="1" i="0">
                <a:solidFill>
                  <a:srgbClr val="D8A62F"/>
                </a:solidFill>
                <a:latin typeface="Georgia"/>
                <a:ea typeface="Georgia"/>
                <a:cs typeface="Georgia"/>
              </a:defRPr>
            </a:pPr>
            <a:r>
              <a:rPr sz="3450" b="1" i="0">
                <a:solidFill>
                  <a:srgbClr val="D8A62F"/>
                </a:solidFill>
                <a:latin typeface="Georgia"/>
                <a:ea typeface="Georgia"/>
                <a:cs typeface="Georgia"/>
              </a:rPr>
              <a:t>Advertising can attract attention, but it cannot permanently rescue a product buyers do not value.</a:t>
            </a:r>
          </a:p>
        </p:txBody>
      </p:sp>
      <p:sp>
        <p:nvSpPr>
          <p:cNvPr id="8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6188F125-C0B3-4DA9-B593-E9205715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5277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E3842513-C0AD-430B-AD79-A47D63A7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62300"/>
            <a:ext cx="802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Large campaigns do not guarantee survival.</a:t>
            </a:r>
          </a:p>
        </p:txBody>
      </p:sp>
      <p:sp>
        <p:nvSpPr>
          <p:cNvPr id="10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C381F6E3-1E1A-49CC-AB2F-86CB94B7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78142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56DDA1F9-8B92-4FD7-81A6-DC4F4BF6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90950"/>
            <a:ext cx="802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Repeat purchases test the claim made by the advertisement.</a:t>
            </a:r>
          </a:p>
        </p:txBody>
      </p:sp>
      <p:sp>
        <p:nvSpPr>
          <p:cNvPr id="12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A96D0B08-22F8-401D-8002-BDD66CD5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1007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5D4A755B-64A3-474F-A9F3-FF10A24D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19600"/>
            <a:ext cx="802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3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brand gives the seller something valuable to lose after disappointing buyers.</a:t>
            </a:r>
          </a:p>
        </p:txBody>
      </p:sp>
    </p:spTree>
    <p:extLst>
      <p:ext uri="{BB962C8B-B14F-4D97-AF65-F5344CB8AC3E}">
        <p14:creationId xmlns:p14="http://schemas.microsoft.com/office/powerpoint/2010/main" val="9332938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ccent-rule">
            <a:extLst xmlns:a="http://schemas.openxmlformats.org/drawingml/2006/main">
              <a:ext uri="{FF2B5EF4-FFF2-40B4-BE49-F238E27FC236}">
                <a16:creationId xmlns:a16="http://schemas.microsoft.com/office/drawing/2014/main" id="{3156907F-E0E9-4BF7-B375-85BBC41D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1B071387-7F09-4979-9C66-4533D653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9A3B3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A3B35"/>
                </a:solidFill>
                <a:latin typeface="Aptos"/>
                <a:ea typeface="Aptos"/>
                <a:cs typeface="Aptos"/>
              </a:rPr>
              <a:t>CHAPTER 16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41D54F-C4A0-4F62-9CC7-924EA347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172126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72126"/>
                </a:solidFill>
                <a:latin typeface="Georgia"/>
                <a:ea typeface="Georgia"/>
                <a:cs typeface="Georgia"/>
              </a:rPr>
              <a:t>Advertising has two competing interpretations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B38E931-1E24-4216-A092-C8404BDA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ook">
            <a:extLst xmlns:a="http://schemas.openxmlformats.org/drawingml/2006/main">
              <a:ext uri="{FF2B5EF4-FFF2-40B4-BE49-F238E27FC236}">
                <a16:creationId xmlns:a16="http://schemas.microsoft.com/office/drawing/2014/main" id="{C5D3E8AB-7274-4AB6-BFC7-18026DD2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6636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6636A"/>
                </a:solidFill>
                <a:latin typeface="Aptos"/>
                <a:ea typeface="Aptos"/>
                <a:cs typeface="Aptos"/>
              </a:rPr>
              <a:t>PRINCIPLES OF MICRO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3D85E06-8DCB-434F-8B60-0DE6C6D8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56636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6636A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7" name="panel-1-field">
            <a:extLst xmlns:a="http://schemas.openxmlformats.org/drawingml/2006/main">
              <a:ext uri="{FF2B5EF4-FFF2-40B4-BE49-F238E27FC236}">
                <a16:creationId xmlns:a16="http://schemas.microsoft.com/office/drawing/2014/main" id="{CE9F4C7C-CA14-4951-8014-79959106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752600"/>
            <a:ext cx="44767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D3DA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E8741D-F6FE-4C3D-99BB-A11131B5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43100"/>
            <a:ext cx="401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E667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E6675"/>
                </a:solidFill>
                <a:latin typeface="Aptos"/>
                <a:ea typeface="Aptos"/>
                <a:cs typeface="Aptos"/>
              </a:rPr>
              <a:t>MARKET-POWER VIEW</a:t>
            </a:r>
          </a:p>
        </p:txBody>
      </p:sp>
      <p:sp>
        <p:nvSpPr>
          <p:cNvPr id="9" name="panel-1-heading">
            <a:extLst xmlns:a="http://schemas.openxmlformats.org/drawingml/2006/main">
              <a:ext uri="{FF2B5EF4-FFF2-40B4-BE49-F238E27FC236}">
                <a16:creationId xmlns:a16="http://schemas.microsoft.com/office/drawing/2014/main" id="{4C78D2AC-A1B0-4981-917A-CC51D651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43150"/>
            <a:ext cx="4019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1E6675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1E6675"/>
                </a:solidFill>
                <a:latin typeface="Georgia"/>
                <a:ea typeface="Georgia"/>
                <a:cs typeface="Georgia"/>
              </a:rPr>
              <a:t>Create artificial loyalty</a:t>
            </a:r>
          </a:p>
        </p:txBody>
      </p:sp>
      <p:sp>
        <p:nvSpPr>
          <p:cNvPr id="10" name="panel-1-body">
            <a:extLst xmlns:a="http://schemas.openxmlformats.org/drawingml/2006/main">
              <a:ext uri="{FF2B5EF4-FFF2-40B4-BE49-F238E27FC236}">
                <a16:creationId xmlns:a16="http://schemas.microsoft.com/office/drawing/2014/main" id="{0784B336-2654-4E20-8EC2-EC7E74EC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62300"/>
            <a:ext cx="39433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Persuasion may make demand less elastic and weaken comparison across brands.</a:t>
            </a:r>
          </a:p>
        </p:txBody>
      </p:sp>
      <p:sp>
        <p:nvSpPr>
          <p:cNvPr id="11" name="panel-2-field">
            <a:extLst xmlns:a="http://schemas.openxmlformats.org/drawingml/2006/main">
              <a:ext uri="{FF2B5EF4-FFF2-40B4-BE49-F238E27FC236}">
                <a16:creationId xmlns:a16="http://schemas.microsoft.com/office/drawing/2014/main" id="{36BEA7B8-6087-49DA-B815-E3D2D54D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52600"/>
            <a:ext cx="44767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EA"/>
          </a:solidFill>
          <a:ln xmlns:a="http://schemas.openxmlformats.org/drawingml/2006/main" w="9525">
            <a:solidFill>
              <a:srgbClr val="D3DA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B4E963-34DE-415D-8A45-8124FB1F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43100"/>
            <a:ext cx="401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9A3B3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A3B35"/>
                </a:solidFill>
                <a:latin typeface="Aptos"/>
                <a:ea typeface="Aptos"/>
                <a:cs typeface="Aptos"/>
              </a:rPr>
              <a:t>INFORMATION VIEW</a:t>
            </a:r>
          </a:p>
        </p:txBody>
      </p:sp>
      <p:sp>
        <p:nvSpPr>
          <p:cNvPr id="13" name="panel-2-heading">
            <a:extLst xmlns:a="http://schemas.openxmlformats.org/drawingml/2006/main">
              <a:ext uri="{FF2B5EF4-FFF2-40B4-BE49-F238E27FC236}">
                <a16:creationId xmlns:a16="http://schemas.microsoft.com/office/drawing/2014/main" id="{306B6DFF-19A3-426A-93C4-1F2453D9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43150"/>
            <a:ext cx="4019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6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9A3B35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9A3B35"/>
                </a:solidFill>
                <a:latin typeface="Georgia"/>
                <a:ea typeface="Georgia"/>
                <a:cs typeface="Georgia"/>
              </a:rPr>
              <a:t>Lower the cost of comparison</a:t>
            </a:r>
          </a:p>
        </p:txBody>
      </p:sp>
      <p:sp>
        <p:nvSpPr>
          <p:cNvPr id="14" name="panel-2-body">
            <a:extLst xmlns:a="http://schemas.openxmlformats.org/drawingml/2006/main">
              <a:ext uri="{FF2B5EF4-FFF2-40B4-BE49-F238E27FC236}">
                <a16:creationId xmlns:a16="http://schemas.microsoft.com/office/drawing/2014/main" id="{26AD4247-0594-4D35-80D7-6985D147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39433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Prices, locations, features, and new products become easier to find, making demand more elastic.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5FF472-C182-45E0-A0ED-057C1026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91150"/>
            <a:ext cx="937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124854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24854"/>
                </a:solidFill>
                <a:latin typeface="Aptos"/>
                <a:ea typeface="Aptos"/>
                <a:cs typeface="Aptos"/>
              </a:rPr>
              <a:t>Do not assume the first story without looking at evidence.</a:t>
            </a:r>
          </a:p>
        </p:txBody>
      </p:sp>
    </p:spTree>
    <p:extLst>
      <p:ext uri="{BB962C8B-B14F-4D97-AF65-F5344CB8AC3E}">
        <p14:creationId xmlns:p14="http://schemas.microsoft.com/office/powerpoint/2010/main" val="1669498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48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ccent-rule">
            <a:extLst xmlns:a="http://schemas.openxmlformats.org/drawingml/2006/main">
              <a:ext uri="{FF2B5EF4-FFF2-40B4-BE49-F238E27FC236}">
                <a16:creationId xmlns:a16="http://schemas.microsoft.com/office/drawing/2014/main" id="{0BC412CD-708A-4B0F-981A-5D4832D6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36A1A15C-772C-42C4-A455-C9B4DEE5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CHAPTER 16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3B07700-73BB-4A52-976A-5D32144D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9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Eyeglass advertising was associated with lower prices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C294093-771F-4C47-8A97-97A2E165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9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ook">
            <a:extLst xmlns:a="http://schemas.openxmlformats.org/drawingml/2006/main">
              <a:ext uri="{FF2B5EF4-FFF2-40B4-BE49-F238E27FC236}">
                <a16:creationId xmlns:a16="http://schemas.microsoft.com/office/drawing/2014/main" id="{1C14C046-3FFC-440A-821A-FDB23BD0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C7DAD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C7DADD"/>
                </a:solidFill>
                <a:latin typeface="Aptos"/>
                <a:ea typeface="Aptos"/>
                <a:cs typeface="Aptos"/>
              </a:rPr>
              <a:t>PRINCIPLES OF MICRO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445919F-52A2-4963-99DE-F2AB7B80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C7DAD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C7DAD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big-statement">
            <a:extLst xmlns:a="http://schemas.openxmlformats.org/drawingml/2006/main">
              <a:ext uri="{FF2B5EF4-FFF2-40B4-BE49-F238E27FC236}">
                <a16:creationId xmlns:a16="http://schemas.microsoft.com/office/drawing/2014/main" id="{1853C0CB-5806-4F93-920F-CC8E4FB1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24000"/>
            <a:ext cx="1009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450" b="1" i="0">
                <a:solidFill>
                  <a:srgbClr val="D8A62F"/>
                </a:solidFill>
                <a:latin typeface="Georgia"/>
                <a:ea typeface="Georgia"/>
                <a:cs typeface="Georgia"/>
              </a:defRPr>
            </a:pPr>
            <a:r>
              <a:rPr sz="3450" b="1" i="0">
                <a:solidFill>
                  <a:srgbClr val="D8A62F"/>
                </a:solidFill>
                <a:latin typeface="Georgia"/>
                <a:ea typeface="Georgia"/>
                <a:cs typeface="Georgia"/>
              </a:rPr>
              <a:t>Lee Benham found higher eyeglass prices in states that restricted advertising.</a:t>
            </a:r>
          </a:p>
        </p:txBody>
      </p:sp>
      <p:sp>
        <p:nvSpPr>
          <p:cNvPr id="8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5F272CCC-35CA-4EF9-BD76-1E8C87E2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5277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920F7107-3DFA-4712-89B4-680919AA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62300"/>
            <a:ext cx="802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Advertising helped buyers discover and compare providers.</a:t>
            </a:r>
          </a:p>
        </p:txBody>
      </p:sp>
      <p:sp>
        <p:nvSpPr>
          <p:cNvPr id="10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D13E9E91-9B7A-42DD-BF97-9BFE013A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78142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9FF845CD-8FD8-457F-8D80-485FF2E7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90950"/>
            <a:ext cx="802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Easier comparison increased competitive pressure.</a:t>
            </a:r>
          </a:p>
        </p:txBody>
      </p:sp>
      <p:sp>
        <p:nvSpPr>
          <p:cNvPr id="12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3F6D42EE-7CBD-49BF-9DC5-61A6AB3E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1007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851CD267-2921-4D50-A5ED-B687F4DE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19600"/>
            <a:ext cx="802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602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historical study supports the information view but does not prove every ad lowers price.</a:t>
            </a:r>
          </a:p>
        </p:txBody>
      </p:sp>
    </p:spTree>
    <p:extLst>
      <p:ext uri="{BB962C8B-B14F-4D97-AF65-F5344CB8AC3E}">
        <p14:creationId xmlns:p14="http://schemas.microsoft.com/office/powerpoint/2010/main" val="6319112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248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ccent-rule">
            <a:extLst xmlns:a="http://schemas.openxmlformats.org/drawingml/2006/main">
              <a:ext uri="{FF2B5EF4-FFF2-40B4-BE49-F238E27FC236}">
                <a16:creationId xmlns:a16="http://schemas.microsoft.com/office/drawing/2014/main" id="{D550074B-C428-41D1-927E-0E8119DA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C30239CD-9EC3-4614-8F32-F8FDDA4F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CHAPTER 16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682D7B-EA40-4150-8973-E972AA4C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 brand can act like a performance bond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E3E3DF0-D224-4D43-941C-50F15EEF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9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ook">
            <a:extLst xmlns:a="http://schemas.openxmlformats.org/drawingml/2006/main">
              <a:ext uri="{FF2B5EF4-FFF2-40B4-BE49-F238E27FC236}">
                <a16:creationId xmlns:a16="http://schemas.microsoft.com/office/drawing/2014/main" id="{28A35A14-7BA4-48C6-B048-C4A25314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C7DAD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C7DADD"/>
                </a:solidFill>
                <a:latin typeface="Aptos"/>
                <a:ea typeface="Aptos"/>
                <a:cs typeface="Aptos"/>
              </a:rPr>
              <a:t>PRINCIPLES OF MICRO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131F112-552D-4157-A568-C37413F2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C7DAD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C7DAD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big-statement">
            <a:extLst xmlns:a="http://schemas.openxmlformats.org/drawingml/2006/main">
              <a:ext uri="{FF2B5EF4-FFF2-40B4-BE49-F238E27FC236}">
                <a16:creationId xmlns:a16="http://schemas.microsoft.com/office/drawing/2014/main" id="{6AEE5EAF-CBA5-4EC9-9D2B-6505EB20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24000"/>
            <a:ext cx="1009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71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450" b="1" i="0">
                <a:solidFill>
                  <a:srgbClr val="D8A62F"/>
                </a:solidFill>
                <a:latin typeface="Georgia"/>
                <a:ea typeface="Georgia"/>
                <a:cs typeface="Georgia"/>
              </a:defRPr>
            </a:pPr>
            <a:r>
              <a:rPr sz="3450" b="1" i="0">
                <a:solidFill>
                  <a:srgbClr val="D8A62F"/>
                </a:solidFill>
                <a:latin typeface="Georgia"/>
                <a:ea typeface="Georgia"/>
                <a:cs typeface="Georgia"/>
              </a:rPr>
              <a:t>A firm that spent years building repeat business loses future profit if it cheats customers today.</a:t>
            </a:r>
          </a:p>
        </p:txBody>
      </p:sp>
      <p:sp>
        <p:nvSpPr>
          <p:cNvPr id="8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D6D71DEE-DCC3-4283-BFB6-1E6975FF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5277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C2A75AA7-D776-442D-8ED7-15E8B443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62300"/>
            <a:ext cx="802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brand itself becomes a valuable asset.</a:t>
            </a:r>
          </a:p>
        </p:txBody>
      </p:sp>
      <p:sp>
        <p:nvSpPr>
          <p:cNvPr id="10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20401A69-F920-4623-A117-DB4E85C9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78142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2BBDCE1F-7FDE-484E-8E62-C765D85D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90950"/>
            <a:ext cx="802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bad product threatens future sales across many buyers.</a:t>
            </a:r>
          </a:p>
        </p:txBody>
      </p:sp>
      <p:sp>
        <p:nvSpPr>
          <p:cNvPr id="12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274B58AA-FF1A-4D81-B605-25E1C382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1007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57FF70F9-89AC-41D9-BD77-0661FD19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19600"/>
            <a:ext cx="802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4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That threatened loss can make an otherwise hard-to-check promise more credible.</a:t>
            </a:r>
          </a:p>
        </p:txBody>
      </p:sp>
    </p:spTree>
    <p:extLst>
      <p:ext uri="{BB962C8B-B14F-4D97-AF65-F5344CB8AC3E}">
        <p14:creationId xmlns:p14="http://schemas.microsoft.com/office/powerpoint/2010/main" val="4286667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ccent-rule">
            <a:extLst xmlns:a="http://schemas.openxmlformats.org/drawingml/2006/main">
              <a:ext uri="{FF2B5EF4-FFF2-40B4-BE49-F238E27FC236}">
                <a16:creationId xmlns:a16="http://schemas.microsoft.com/office/drawing/2014/main" id="{560091B1-1187-44E3-A963-6A1142DF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9B6C5977-4005-4611-A59B-A07618FE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9A3B3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A3B35"/>
                </a:solidFill>
                <a:latin typeface="Aptos"/>
                <a:ea typeface="Aptos"/>
                <a:cs typeface="Aptos"/>
              </a:rPr>
              <a:t>CHAPTER 16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548E22-153E-41A0-ABC0-FE4DFEE6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172126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72126"/>
                </a:solidFill>
                <a:latin typeface="Georgia"/>
                <a:ea typeface="Georgia"/>
                <a:cs typeface="Georgia"/>
              </a:rPr>
              <a:t>Brand value depends on how easily quality can be verified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7AC2438-3E58-45DA-A74A-F1A9CA90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ook">
            <a:extLst xmlns:a="http://schemas.openxmlformats.org/drawingml/2006/main">
              <a:ext uri="{FF2B5EF4-FFF2-40B4-BE49-F238E27FC236}">
                <a16:creationId xmlns:a16="http://schemas.microsoft.com/office/drawing/2014/main" id="{B48532BC-1436-4582-B7DA-42C89DC5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6636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6636A"/>
                </a:solidFill>
                <a:latin typeface="Aptos"/>
                <a:ea typeface="Aptos"/>
                <a:cs typeface="Aptos"/>
              </a:rPr>
              <a:t>PRINCIPLES OF MICRO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91234D2-732A-492C-B334-3D4D676B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56636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6636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panel-1-field">
            <a:extLst xmlns:a="http://schemas.openxmlformats.org/drawingml/2006/main">
              <a:ext uri="{FF2B5EF4-FFF2-40B4-BE49-F238E27FC236}">
                <a16:creationId xmlns:a16="http://schemas.microsoft.com/office/drawing/2014/main" id="{B639477C-052B-452E-A74D-80A46DB9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752600"/>
            <a:ext cx="44767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D3DA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13999-E158-4FBA-94F7-08904573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43100"/>
            <a:ext cx="401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E667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E6675"/>
                </a:solidFill>
                <a:latin typeface="Aptos"/>
                <a:ea typeface="Aptos"/>
                <a:cs typeface="Aptos"/>
              </a:rPr>
              <a:t>GENERIC MEDICINE</a:t>
            </a:r>
          </a:p>
        </p:txBody>
      </p:sp>
      <p:sp>
        <p:nvSpPr>
          <p:cNvPr id="9" name="panel-1-heading">
            <a:extLst xmlns:a="http://schemas.openxmlformats.org/drawingml/2006/main">
              <a:ext uri="{FF2B5EF4-FFF2-40B4-BE49-F238E27FC236}">
                <a16:creationId xmlns:a16="http://schemas.microsoft.com/office/drawing/2014/main" id="{9953D373-1023-4FB7-984E-EF8F0E5D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43150"/>
            <a:ext cx="4019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1E6675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1E6675"/>
                </a:solidFill>
                <a:latin typeface="Georgia"/>
                <a:ea typeface="Georgia"/>
                <a:cs typeface="Georgia"/>
              </a:rPr>
              <a:t>A regulator verifies equivalence</a:t>
            </a:r>
          </a:p>
        </p:txBody>
      </p:sp>
      <p:sp>
        <p:nvSpPr>
          <p:cNvPr id="10" name="panel-1-body">
            <a:extLst xmlns:a="http://schemas.openxmlformats.org/drawingml/2006/main">
              <a:ext uri="{FF2B5EF4-FFF2-40B4-BE49-F238E27FC236}">
                <a16:creationId xmlns:a16="http://schemas.microsoft.com/office/drawing/2014/main" id="{D77D2017-1540-4180-A258-CC7DCC86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62300"/>
            <a:ext cx="39433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FDA standards reduce the information role of the original brand for the approved drug.</a:t>
            </a:r>
          </a:p>
        </p:txBody>
      </p:sp>
      <p:sp>
        <p:nvSpPr>
          <p:cNvPr id="11" name="panel-2-field">
            <a:extLst xmlns:a="http://schemas.openxmlformats.org/drawingml/2006/main">
              <a:ext uri="{FF2B5EF4-FFF2-40B4-BE49-F238E27FC236}">
                <a16:creationId xmlns:a16="http://schemas.microsoft.com/office/drawing/2014/main" id="{E67BAFA2-B343-40FE-8ED4-A8274095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52600"/>
            <a:ext cx="44767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EA"/>
          </a:solidFill>
          <a:ln xmlns:a="http://schemas.openxmlformats.org/drawingml/2006/main" w="9525">
            <a:solidFill>
              <a:srgbClr val="D3DA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295030-E397-4C50-B42E-46927502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43100"/>
            <a:ext cx="401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9A3B3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A3B35"/>
                </a:solidFill>
                <a:latin typeface="Aptos"/>
                <a:ea typeface="Aptos"/>
                <a:cs typeface="Aptos"/>
              </a:rPr>
              <a:t>DIETARY SUPPLEMENT</a:t>
            </a:r>
          </a:p>
        </p:txBody>
      </p:sp>
      <p:sp>
        <p:nvSpPr>
          <p:cNvPr id="13" name="panel-2-heading">
            <a:extLst xmlns:a="http://schemas.openxmlformats.org/drawingml/2006/main">
              <a:ext uri="{FF2B5EF4-FFF2-40B4-BE49-F238E27FC236}">
                <a16:creationId xmlns:a16="http://schemas.microsoft.com/office/drawing/2014/main" id="{F1DA4C17-6D79-495D-8625-A1BDEE31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43150"/>
            <a:ext cx="4019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9A3B35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9A3B35"/>
                </a:solidFill>
                <a:latin typeface="Georgia"/>
                <a:ea typeface="Georgia"/>
                <a:cs typeface="Georgia"/>
              </a:rPr>
              <a:t>Quality is harder to guarantee before sale</a:t>
            </a:r>
          </a:p>
        </p:txBody>
      </p:sp>
      <p:sp>
        <p:nvSpPr>
          <p:cNvPr id="14" name="panel-2-body">
            <a:extLst xmlns:a="http://schemas.openxmlformats.org/drawingml/2006/main">
              <a:ext uri="{FF2B5EF4-FFF2-40B4-BE49-F238E27FC236}">
                <a16:creationId xmlns:a16="http://schemas.microsoft.com/office/drawing/2014/main" id="{864191A4-D90F-49FC-A032-C75190BD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39433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Sourcing, ingredients, and performance may make brand reputation more valuable.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3EA3AE-1040-4C70-ADB5-A6D35EF8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91150"/>
            <a:ext cx="937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64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124854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24854"/>
                </a:solidFill>
                <a:latin typeface="Aptos"/>
                <a:ea typeface="Aptos"/>
                <a:cs typeface="Aptos"/>
              </a:rPr>
              <a:t>A brand matters most when buyers cannot cheaply verify what they are getting.</a:t>
            </a:r>
          </a:p>
        </p:txBody>
      </p:sp>
    </p:spTree>
    <p:extLst>
      <p:ext uri="{BB962C8B-B14F-4D97-AF65-F5344CB8AC3E}">
        <p14:creationId xmlns:p14="http://schemas.microsoft.com/office/powerpoint/2010/main" val="19548499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248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ccent-rule">
            <a:extLst xmlns:a="http://schemas.openxmlformats.org/drawingml/2006/main">
              <a:ext uri="{FF2B5EF4-FFF2-40B4-BE49-F238E27FC236}">
                <a16:creationId xmlns:a16="http://schemas.microsoft.com/office/drawing/2014/main" id="{5260FB1D-5570-4F29-86B0-EF7CD99B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67DA8BF1-CB43-4BE0-B00D-342F3C06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CHAPTER 16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5849C7-C971-4D42-8FCF-41FEC1E6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Certification can replace part of a brand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BC4FB23-7F2D-4E33-80EA-DF7FE64B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9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ook">
            <a:extLst xmlns:a="http://schemas.openxmlformats.org/drawingml/2006/main">
              <a:ext uri="{FF2B5EF4-FFF2-40B4-BE49-F238E27FC236}">
                <a16:creationId xmlns:a16="http://schemas.microsoft.com/office/drawing/2014/main" id="{90E43F92-1A92-4FCE-8F18-9AA70AB5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C7DAD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C7DADD"/>
                </a:solidFill>
                <a:latin typeface="Aptos"/>
                <a:ea typeface="Aptos"/>
                <a:cs typeface="Aptos"/>
              </a:rPr>
              <a:t>PRINCIPLES OF MICRO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31D3DE4-8C6D-4650-AD88-D02C925E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C7DAD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C7DAD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big-statement">
            <a:extLst xmlns:a="http://schemas.openxmlformats.org/drawingml/2006/main">
              <a:ext uri="{FF2B5EF4-FFF2-40B4-BE49-F238E27FC236}">
                <a16:creationId xmlns:a16="http://schemas.microsoft.com/office/drawing/2014/main" id="{2D85FE1C-3CA7-43B9-9685-798661BD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24000"/>
            <a:ext cx="1009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480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450" b="1" i="0">
                <a:solidFill>
                  <a:srgbClr val="D8A62F"/>
                </a:solidFill>
                <a:latin typeface="Georgia"/>
                <a:ea typeface="Georgia"/>
                <a:cs typeface="Georgia"/>
              </a:defRPr>
            </a:pPr>
            <a:r>
              <a:rPr sz="3450" b="1" i="0">
                <a:solidFill>
                  <a:srgbClr val="D8A62F"/>
                </a:solidFill>
                <a:latin typeface="Georgia"/>
                <a:ea typeface="Georgia"/>
                <a:cs typeface="Georgia"/>
              </a:rPr>
              <a:t>An independent test can make quality visible without requiring buyers to trust the seller's name alone.</a:t>
            </a:r>
          </a:p>
        </p:txBody>
      </p:sp>
      <p:sp>
        <p:nvSpPr>
          <p:cNvPr id="8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7F1E8D6A-6624-46D0-8026-AB72DC75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5277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66EFDF8E-E035-4ABB-BF19-339C65FC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62300"/>
            <a:ext cx="802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Safety inspection can verify a restaurant or building standard.</a:t>
            </a:r>
          </a:p>
        </p:txBody>
      </p:sp>
      <p:sp>
        <p:nvSpPr>
          <p:cNvPr id="10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3F425668-0C81-45CB-8708-E9054B36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78142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FBA3A173-7CFB-4876-9BDD-EED09C7B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90950"/>
            <a:ext cx="802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Professional licensing can confirm minimum training.</a:t>
            </a:r>
          </a:p>
        </p:txBody>
      </p:sp>
      <p:sp>
        <p:nvSpPr>
          <p:cNvPr id="12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D2448E9A-BB7C-4EFA-83BE-CD83E5F5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1007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62D0DAE5-98FB-4D82-A6DE-956BE51B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19600"/>
            <a:ext cx="802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0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Product certification can test a feature buyers cannot inspect before purchase.</a:t>
            </a:r>
          </a:p>
        </p:txBody>
      </p:sp>
    </p:spTree>
    <p:extLst>
      <p:ext uri="{BB962C8B-B14F-4D97-AF65-F5344CB8AC3E}">
        <p14:creationId xmlns:p14="http://schemas.microsoft.com/office/powerpoint/2010/main" val="10741305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248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ccent-rule">
            <a:extLst xmlns:a="http://schemas.openxmlformats.org/drawingml/2006/main">
              <a:ext uri="{FF2B5EF4-FFF2-40B4-BE49-F238E27FC236}">
                <a16:creationId xmlns:a16="http://schemas.microsoft.com/office/drawing/2014/main" id="{914B64BA-3E98-4EDD-B9C6-100E09D1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9B5FD8BA-04C0-481C-BBA1-454CBBF0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CHAPTER 16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0746A0-DC02-4EBB-8D27-5C3E8934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6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 sale after an ad does not prove the ad caused the sale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9297468-BBFD-4749-A622-AFE4C511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9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ook">
            <a:extLst xmlns:a="http://schemas.openxmlformats.org/drawingml/2006/main">
              <a:ext uri="{FF2B5EF4-FFF2-40B4-BE49-F238E27FC236}">
                <a16:creationId xmlns:a16="http://schemas.microsoft.com/office/drawing/2014/main" id="{673A2C6F-3D39-4627-843B-114AF881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C7DAD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C7DADD"/>
                </a:solidFill>
                <a:latin typeface="Aptos"/>
                <a:ea typeface="Aptos"/>
                <a:cs typeface="Aptos"/>
              </a:rPr>
              <a:t>PRINCIPLES OF MICRO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CA3E9EC-B737-44E7-91AE-734B4C8E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C7DAD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C7DAD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7" name="big-statement">
            <a:extLst xmlns:a="http://schemas.openxmlformats.org/drawingml/2006/main">
              <a:ext uri="{FF2B5EF4-FFF2-40B4-BE49-F238E27FC236}">
                <a16:creationId xmlns:a16="http://schemas.microsoft.com/office/drawing/2014/main" id="{AA3E1234-D66B-4859-A10F-FD3140D3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24000"/>
            <a:ext cx="1009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521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450" b="1" i="0">
                <a:solidFill>
                  <a:srgbClr val="D8A62F"/>
                </a:solidFill>
                <a:latin typeface="Georgia"/>
                <a:ea typeface="Georgia"/>
                <a:cs typeface="Georgia"/>
              </a:defRPr>
            </a:pPr>
            <a:r>
              <a:rPr sz="3450" b="1" i="0">
                <a:solidFill>
                  <a:srgbClr val="D8A62F"/>
                </a:solidFill>
                <a:latin typeface="Georgia"/>
                <a:ea typeface="Georgia"/>
                <a:cs typeface="Georgia"/>
              </a:rPr>
              <a:t>People who search for a familiar brand may have intended to buy before clicking the sponsored result.</a:t>
            </a:r>
          </a:p>
        </p:txBody>
      </p:sp>
      <p:sp>
        <p:nvSpPr>
          <p:cNvPr id="8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58DC69F0-C29A-4C15-BBE3-3B519FE1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5277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271C5439-4CC2-4672-BAB3-04331482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62300"/>
            <a:ext cx="802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Observed buyers differ from people who never saw or clicked the ad.</a:t>
            </a:r>
          </a:p>
        </p:txBody>
      </p:sp>
      <p:sp>
        <p:nvSpPr>
          <p:cNvPr id="10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7460492F-607C-4291-AA1B-F43C2E22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78142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910BE7C6-F701-48B6-B58F-145230BA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90950"/>
            <a:ext cx="802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9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randomized experiment can separate new sales from redirected sales.</a:t>
            </a:r>
          </a:p>
        </p:txBody>
      </p:sp>
      <p:sp>
        <p:nvSpPr>
          <p:cNvPr id="12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C20341E3-BC36-4C53-B5FE-48F7FF58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1007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86427A16-5772-4E2B-AFFB-CE7A05C5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19600"/>
            <a:ext cx="802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3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eBay experiments found much branded-search advertising had little short-run causal effect for experienced users.</a:t>
            </a:r>
          </a:p>
        </p:txBody>
      </p:sp>
    </p:spTree>
    <p:extLst>
      <p:ext uri="{BB962C8B-B14F-4D97-AF65-F5344CB8AC3E}">
        <p14:creationId xmlns:p14="http://schemas.microsoft.com/office/powerpoint/2010/main" val="3184307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248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rule">
            <a:extLst xmlns:a="http://schemas.openxmlformats.org/drawingml/2006/main">
              <a:ext uri="{FF2B5EF4-FFF2-40B4-BE49-F238E27FC236}">
                <a16:creationId xmlns:a16="http://schemas.microsoft.com/office/drawing/2014/main" id="{F7202C52-98EC-4062-9FC3-1954E59A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DC8CE739-DAF3-4DA1-B1CA-509E4DBF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CHAPTER 16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BE214E-EB1C-44D4-8BE1-7D7FC23E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7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Chamberlin made product differences central to competition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CCAEC27-D3A0-4678-8D06-1DE5A0C4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9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ook">
            <a:extLst xmlns:a="http://schemas.openxmlformats.org/drawingml/2006/main">
              <a:ext uri="{FF2B5EF4-FFF2-40B4-BE49-F238E27FC236}">
                <a16:creationId xmlns:a16="http://schemas.microsoft.com/office/drawing/2014/main" id="{720F0097-5513-44FA-A0C7-971CF3D3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C7DAD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C7DADD"/>
                </a:solidFill>
                <a:latin typeface="Aptos"/>
                <a:ea typeface="Aptos"/>
                <a:cs typeface="Aptos"/>
              </a:rPr>
              <a:t>PRINCIPLES OF MICRO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225E512-EEA5-41C9-9C87-BB4DA1CE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C7DAD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C7DAD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7" name="big-statement">
            <a:extLst xmlns:a="http://schemas.openxmlformats.org/drawingml/2006/main">
              <a:ext uri="{FF2B5EF4-FFF2-40B4-BE49-F238E27FC236}">
                <a16:creationId xmlns:a16="http://schemas.microsoft.com/office/drawing/2014/main" id="{C2433059-508B-45BD-9CD6-0B25DDB8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24050"/>
            <a:ext cx="1009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450" b="1" i="0">
                <a:solidFill>
                  <a:srgbClr val="D8A62F"/>
                </a:solidFill>
                <a:latin typeface="Georgia"/>
                <a:ea typeface="Georgia"/>
                <a:cs typeface="Georgia"/>
              </a:defRPr>
            </a:pPr>
            <a:r>
              <a:rPr sz="3450" b="1" i="0">
                <a:solidFill>
                  <a:srgbClr val="D8A62F"/>
                </a:solidFill>
                <a:latin typeface="Georgia"/>
                <a:ea typeface="Georgia"/>
                <a:cs typeface="Georgia"/>
              </a:rPr>
              <a:t>Competition is often a struggle over price, quality, location, service, design, and reputation at the same time.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551F5F-AD73-4BA6-A759-FC14820A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626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C7DADD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C7DADD"/>
                </a:solidFill>
                <a:latin typeface="Aptos"/>
                <a:ea typeface="Aptos"/>
                <a:cs typeface="Aptos"/>
              </a:rPr>
              <a:t>Real markets can be competitive without selling identical products.</a:t>
            </a:r>
          </a:p>
        </p:txBody>
      </p:sp>
    </p:spTree>
    <p:extLst>
      <p:ext uri="{BB962C8B-B14F-4D97-AF65-F5344CB8AC3E}">
        <p14:creationId xmlns:p14="http://schemas.microsoft.com/office/powerpoint/2010/main" val="128222930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248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ccent-rule">
            <a:extLst xmlns:a="http://schemas.openxmlformats.org/drawingml/2006/main">
              <a:ext uri="{FF2B5EF4-FFF2-40B4-BE49-F238E27FC236}">
                <a16:creationId xmlns:a16="http://schemas.microsoft.com/office/drawing/2014/main" id="{B07610F9-51E6-4AA7-A499-0F183C9B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DA209869-100D-42F3-90A9-52616C95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CHAPTER 16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F23690-6180-42CE-AE00-3CB0CCEA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7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Product differences change competition without eliminating it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D3032C7-5A69-4224-95EA-C417586B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9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ook">
            <a:extLst xmlns:a="http://schemas.openxmlformats.org/drawingml/2006/main">
              <a:ext uri="{FF2B5EF4-FFF2-40B4-BE49-F238E27FC236}">
                <a16:creationId xmlns:a16="http://schemas.microsoft.com/office/drawing/2014/main" id="{5A31E660-A948-47BC-A23C-35A8AC63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C7DAD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C7DADD"/>
                </a:solidFill>
                <a:latin typeface="Aptos"/>
                <a:ea typeface="Aptos"/>
                <a:cs typeface="Aptos"/>
              </a:rPr>
              <a:t>PRINCIPLES OF MICRO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39281F0-25B2-4333-872B-7D043BAA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C7DAD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C7DADD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7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DC77FAFC-C424-42FF-9C6F-46BE29FB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2877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EFFC612-1571-43FC-9F37-6BA5D4C4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638300"/>
            <a:ext cx="843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9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Differentiation gives each firm a downward-sloping demand curve and some pricing power.</a:t>
            </a:r>
          </a:p>
        </p:txBody>
      </p:sp>
      <p:sp>
        <p:nvSpPr>
          <p:cNvPr id="9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3A34C8BB-D6F8-4B7D-9DD1-DBD667E7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5742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E399BF32-5B4A-42AE-9529-49A28150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66950"/>
            <a:ext cx="843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Entry pushes long-run economic profit toward zero.</a:t>
            </a:r>
          </a:p>
        </p:txBody>
      </p:sp>
      <p:sp>
        <p:nvSpPr>
          <p:cNvPr id="11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63D45C56-DBD8-47E7-8280-13B537DC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8607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E7F6A3-B363-46B5-82EA-63B1AB46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895600"/>
            <a:ext cx="843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9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Markup and unused scale must be weighed against the value of product variety.</a:t>
            </a:r>
          </a:p>
        </p:txBody>
      </p:sp>
      <p:sp>
        <p:nvSpPr>
          <p:cNvPr id="13" name="bullet-mark-4">
            <a:extLst xmlns:a="http://schemas.openxmlformats.org/drawingml/2006/main">
              <a:ext uri="{FF2B5EF4-FFF2-40B4-BE49-F238E27FC236}">
                <a16:creationId xmlns:a16="http://schemas.microsoft.com/office/drawing/2014/main" id="{E8F17154-1ED2-4B22-9C2C-39C3155E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1472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" name="bullet-4">
            <a:extLst xmlns:a="http://schemas.openxmlformats.org/drawingml/2006/main">
              <a:ext uri="{FF2B5EF4-FFF2-40B4-BE49-F238E27FC236}">
                <a16:creationId xmlns:a16="http://schemas.microsoft.com/office/drawing/2014/main" id="{4A8EDE21-D3FE-4EE4-8BCA-FBADB3E7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524250"/>
            <a:ext cx="843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2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Advertising can create loyalty, provide information, and place brand value at risk.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44E3BC-D72A-4349-B37E-441EC452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054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00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Next: when only a few major rivals remain, every firm must anticipate how the others will respond.</a:t>
            </a:r>
          </a:p>
        </p:txBody>
      </p:sp>
    </p:spTree>
    <p:extLst>
      <p:ext uri="{BB962C8B-B14F-4D97-AF65-F5344CB8AC3E}">
        <p14:creationId xmlns:p14="http://schemas.microsoft.com/office/powerpoint/2010/main" val="478731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2026-07-31T14:32:14.5060000Z</dcterms:created>
  <dcterms:modified xsi:type="dcterms:W3CDTF">2026-07-31T14:32:14.5060000Z</dcterms:modified>
</coreProperties>
</file>