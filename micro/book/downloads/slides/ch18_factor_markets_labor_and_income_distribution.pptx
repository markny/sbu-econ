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11ef5c7a9477c" /><Relationship Type="http://schemas.openxmlformats.org/officeDocument/2006/relationships/extended-properties" Target="/docProps/app.xml" Id="Rb7ffa4f9bfe546ce" /><Relationship Type="http://schemas.openxmlformats.org/officeDocument/2006/relationships/officeDocument" Target="/ppt/presentation.xml" Id="R37357608a054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c1bdbb194f43c2"/>
  </p:sldMasterIdLst>
  <p:notesMasterIdLst>
    <p:notesMasterId xmlns:r="http://schemas.openxmlformats.org/officeDocument/2006/relationships" r:id="R6445f13f24af463b"/>
  </p:notesMasterIdLst>
  <p:sldIdLst>
    <p:sldId xmlns:r="http://schemas.openxmlformats.org/officeDocument/2006/relationships" id="256" r:id="R0854110841e349b2"/>
    <p:sldId xmlns:r="http://schemas.openxmlformats.org/officeDocument/2006/relationships" id="257" r:id="R625c6ff3a5404bfe"/>
    <p:sldId xmlns:r="http://schemas.openxmlformats.org/officeDocument/2006/relationships" id="258" r:id="R8f690707717d479d"/>
    <p:sldId xmlns:r="http://schemas.openxmlformats.org/officeDocument/2006/relationships" id="259" r:id="R6e75c9bc7361428a"/>
    <p:sldId xmlns:r="http://schemas.openxmlformats.org/officeDocument/2006/relationships" id="260" r:id="R1d1c7cb218dc4d44"/>
    <p:sldId xmlns:r="http://schemas.openxmlformats.org/officeDocument/2006/relationships" id="261" r:id="R3b00386fc7e64a74"/>
    <p:sldId xmlns:r="http://schemas.openxmlformats.org/officeDocument/2006/relationships" id="262" r:id="R81c6b62ca1934776"/>
    <p:sldId xmlns:r="http://schemas.openxmlformats.org/officeDocument/2006/relationships" id="263" r:id="R5b4d913d93964a6a"/>
    <p:sldId xmlns:r="http://schemas.openxmlformats.org/officeDocument/2006/relationships" id="264" r:id="R2d2c02b4f59b43f3"/>
    <p:sldId xmlns:r="http://schemas.openxmlformats.org/officeDocument/2006/relationships" id="265" r:id="R12d6aa6e7971471b"/>
    <p:sldId xmlns:r="http://schemas.openxmlformats.org/officeDocument/2006/relationships" id="266" r:id="R6abc43189886471c"/>
    <p:sldId xmlns:r="http://schemas.openxmlformats.org/officeDocument/2006/relationships" id="267" r:id="R99a360eb0e634dae"/>
    <p:sldId xmlns:r="http://schemas.openxmlformats.org/officeDocument/2006/relationships" id="268" r:id="R051a011993c646e3"/>
    <p:sldId xmlns:r="http://schemas.openxmlformats.org/officeDocument/2006/relationships" id="269" r:id="Rdf1ad6ef626f4df6"/>
    <p:sldId xmlns:r="http://schemas.openxmlformats.org/officeDocument/2006/relationships" id="270" r:id="Rfe3a8efaa6a24606"/>
    <p:sldId xmlns:r="http://schemas.openxmlformats.org/officeDocument/2006/relationships" id="271" r:id="Rab25fa9956b24e05"/>
    <p:sldId xmlns:r="http://schemas.openxmlformats.org/officeDocument/2006/relationships" id="272" r:id="Refcd4da4e68542e3"/>
    <p:sldId xmlns:r="http://schemas.openxmlformats.org/officeDocument/2006/relationships" id="273" r:id="R181110ef177848ad"/>
    <p:sldId xmlns:r="http://schemas.openxmlformats.org/officeDocument/2006/relationships" id="274" r:id="Rcfb9980bd760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9642e2d174f70" /><Relationship Type="http://schemas.openxmlformats.org/officeDocument/2006/relationships/slideMaster" Target="/ppt/slideMasters/slideMaster1.xml" Id="R91c1bdbb194f43c2" /><Relationship Type="http://schemas.openxmlformats.org/officeDocument/2006/relationships/notesMaster" Target="/ppt/notesMasters/notesMaster1.xml" Id="R6445f13f24af463b" /><Relationship Type="http://schemas.openxmlformats.org/officeDocument/2006/relationships/presProps" Target="/ppt/presProps.xml" Id="R5e83c209c6b14f29" /><Relationship Type="http://schemas.openxmlformats.org/officeDocument/2006/relationships/tableStyles" Target="/ppt/tableStyles.xml" Id="R4955c7d587c242f8" /><Relationship Type="http://schemas.openxmlformats.org/officeDocument/2006/relationships/slide" Target="/ppt/slides/slide1.xml" Id="R0854110841e349b2" /><Relationship Type="http://schemas.openxmlformats.org/officeDocument/2006/relationships/slide" Target="/ppt/slides/slide2.xml" Id="R625c6ff3a5404bfe" /><Relationship Type="http://schemas.openxmlformats.org/officeDocument/2006/relationships/slide" Target="/ppt/slides/slide3.xml" Id="R8f690707717d479d" /><Relationship Type="http://schemas.openxmlformats.org/officeDocument/2006/relationships/slide" Target="/ppt/slides/slide4.xml" Id="R6e75c9bc7361428a" /><Relationship Type="http://schemas.openxmlformats.org/officeDocument/2006/relationships/slide" Target="/ppt/slides/slide5.xml" Id="R1d1c7cb218dc4d44" /><Relationship Type="http://schemas.openxmlformats.org/officeDocument/2006/relationships/slide" Target="/ppt/slides/slide6.xml" Id="R3b00386fc7e64a74" /><Relationship Type="http://schemas.openxmlformats.org/officeDocument/2006/relationships/slide" Target="/ppt/slides/slide7.xml" Id="R81c6b62ca1934776" /><Relationship Type="http://schemas.openxmlformats.org/officeDocument/2006/relationships/slide" Target="/ppt/slides/slide8.xml" Id="R5b4d913d93964a6a" /><Relationship Type="http://schemas.openxmlformats.org/officeDocument/2006/relationships/slide" Target="/ppt/slides/slide9.xml" Id="R2d2c02b4f59b43f3" /><Relationship Type="http://schemas.openxmlformats.org/officeDocument/2006/relationships/slide" Target="/ppt/slides/slide10.xml" Id="R12d6aa6e7971471b" /><Relationship Type="http://schemas.openxmlformats.org/officeDocument/2006/relationships/slide" Target="/ppt/slides/slide11.xml" Id="R6abc43189886471c" /><Relationship Type="http://schemas.openxmlformats.org/officeDocument/2006/relationships/slide" Target="/ppt/slides/slide12.xml" Id="R99a360eb0e634dae" /><Relationship Type="http://schemas.openxmlformats.org/officeDocument/2006/relationships/slide" Target="/ppt/slides/slide13.xml" Id="R051a011993c646e3" /><Relationship Type="http://schemas.openxmlformats.org/officeDocument/2006/relationships/slide" Target="/ppt/slides/slide14.xml" Id="Rdf1ad6ef626f4df6" /><Relationship Type="http://schemas.openxmlformats.org/officeDocument/2006/relationships/slide" Target="/ppt/slides/slide15.xml" Id="Rfe3a8efaa6a24606" /><Relationship Type="http://schemas.openxmlformats.org/officeDocument/2006/relationships/slide" Target="/ppt/slides/slide16.xml" Id="Rab25fa9956b24e05" /><Relationship Type="http://schemas.openxmlformats.org/officeDocument/2006/relationships/slide" Target="/ppt/slides/slide17.xml" Id="Refcd4da4e68542e3" /><Relationship Type="http://schemas.openxmlformats.org/officeDocument/2006/relationships/slide" Target="/ppt/slides/slide18.xml" Id="R181110ef177848ad" /><Relationship Type="http://schemas.openxmlformats.org/officeDocument/2006/relationships/slide" Target="/ppt/slides/slide19.xml" Id="Rcfb9980bd76040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66cdc546c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7337b76434006" /><Relationship Type="http://schemas.openxmlformats.org/officeDocument/2006/relationships/notesMaster" Target="/ppt/notesMasters/notesMaster1.xml" Id="Ra184a91921914d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dd2370b4d54f7a" /><Relationship Type="http://schemas.openxmlformats.org/officeDocument/2006/relationships/notesMaster" Target="/ppt/notesMasters/notesMaster1.xml" Id="R15492ccc784449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4515285e654575" /><Relationship Type="http://schemas.openxmlformats.org/officeDocument/2006/relationships/notesMaster" Target="/ppt/notesMasters/notesMaster1.xml" Id="Rfc8925784ddc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dfe73afb194682" /><Relationship Type="http://schemas.openxmlformats.org/officeDocument/2006/relationships/notesMaster" Target="/ppt/notesMasters/notesMaster1.xml" Id="R7cf1e98aa5c244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e010f4226a4d65" /><Relationship Type="http://schemas.openxmlformats.org/officeDocument/2006/relationships/notesMaster" Target="/ppt/notesMasters/notesMaster1.xml" Id="Rc48a8c788970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72ade0f45a4075" /><Relationship Type="http://schemas.openxmlformats.org/officeDocument/2006/relationships/notesMaster" Target="/ppt/notesMasters/notesMaster1.xml" Id="R5aa897e5ea95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4d44f8ff904b12" /><Relationship Type="http://schemas.openxmlformats.org/officeDocument/2006/relationships/notesMaster" Target="/ppt/notesMasters/notesMaster1.xml" Id="Rd989eb8412a645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e815856da84456" /><Relationship Type="http://schemas.openxmlformats.org/officeDocument/2006/relationships/notesMaster" Target="/ppt/notesMasters/notesMaster1.xml" Id="R0860c4e98e034b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43597c0e740e5" /><Relationship Type="http://schemas.openxmlformats.org/officeDocument/2006/relationships/notesMaster" Target="/ppt/notesMasters/notesMaster1.xml" Id="R93ec0c276c2443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a2e8095d204fce" /><Relationship Type="http://schemas.openxmlformats.org/officeDocument/2006/relationships/notesMaster" Target="/ppt/notesMasters/notesMaster1.xml" Id="R5b379a85c29d49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adc5fe2f9c47f2" /><Relationship Type="http://schemas.openxmlformats.org/officeDocument/2006/relationships/notesMaster" Target="/ppt/notesMasters/notesMaster1.xml" Id="R23959228c0f74e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73f4e543854902" /><Relationship Type="http://schemas.openxmlformats.org/officeDocument/2006/relationships/notesMaster" Target="/ppt/notesMasters/notesMaster1.xml" Id="R17602a20a9f247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9c907c4bfb44d9" /><Relationship Type="http://schemas.openxmlformats.org/officeDocument/2006/relationships/notesMaster" Target="/ppt/notesMasters/notesMaster1.xml" Id="Rc1caaa219f5448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3b03cd1e5643ac" /><Relationship Type="http://schemas.openxmlformats.org/officeDocument/2006/relationships/notesMaster" Target="/ppt/notesMasters/notesMaster1.xml" Id="R6992996a3bc24f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7f6bd6d2db4b09" /><Relationship Type="http://schemas.openxmlformats.org/officeDocument/2006/relationships/notesMaster" Target="/ppt/notesMasters/notesMaster1.xml" Id="R91be101bd9fc47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a6d523936a46ac" /><Relationship Type="http://schemas.openxmlformats.org/officeDocument/2006/relationships/notesMaster" Target="/ppt/notesMasters/notesMaster1.xml" Id="R8220ff137a5943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e68efbca5a420b" /><Relationship Type="http://schemas.openxmlformats.org/officeDocument/2006/relationships/notesMaster" Target="/ppt/notesMasters/notesMaster1.xml" Id="Ra7e839534a7f49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f443ae04274d7a" /><Relationship Type="http://schemas.openxmlformats.org/officeDocument/2006/relationships/notesMaster" Target="/ppt/notesMasters/notesMaster1.xml" Id="Rf6e60b16c81a4f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8682ae879a4f5a" /><Relationship Type="http://schemas.openxmlformats.org/officeDocument/2006/relationships/notesMaster" Target="/ppt/notesMasters/notesMaster1.xml" Id="R9d28d5291ec647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derived demand. A restaurant does not hire labor for its own sake; it hires workers because customers value the meals those workers help produce.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Cover artwork: design/book-cover/principles-of-micro-cover.png (project-generated asset).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Main Street Cafe. If customers stop buying lunches, the demand for lunch-shift workers falls even when worker skill has not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VMP rather than both VMP and MRP. The one term is enough for principles.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table before the curve. Hiring continues while the next worker's VMP is at least the wage.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Project-reviewed Chapter 18 figures from figures/ch18_factor_markets_labor_and_income_distribution/.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movement along labor demand separate from shifts. A change in the wage causes movement along the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Chapter 4 applied to an input market. The price of labor is the wage.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Black Death briefly because many students will not know the history. Regional wage and institutional responses differed.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Jane Humphries and Jacob Weisdorf, The Wages of Women in England, 1260-1850, Journal of Economic History 75(2), 2015; Sevket Pamuk, The Black Death and the Origins of the Great Divergence, European Review of Economic History 11(3), 2007.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figure as a clean mechanism, not a complete history of post-plague Europe.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Jane Humphries and Jacob Weisdorf, The Wages of Women in England, 1260-1850, Journal of Economic History 75(2), 2015; Sevket Pamuk, The Black Death and the Origins of the Great Divergence, European Review of Economic History 11(3), 2007.</a:t>
            </a:r>
          </a:p>
          <a:p xmlns:a="http://schemas.openxmlformats.org/drawingml/2006/main">
            <a:r>
              <a:t>- Project-reviewed Chapter 18 figures from figures/ch18_factor_markets_labor_and_income_distribution/.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capital to a principles-level treatment: tools, machines, structures, and equipment that raise future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Project-reviewed Chapter 18 figures from figures/ch18_factor_markets_labor_and_income_distribution/.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drift into finance. The point is simply that produced capital can accumulate while land is location-specific.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list compact. The chapter is not a complete theory of every earnings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saying technology generally destroys or creates jobs. Trace tasks, product demand, productivity, and adjustment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Daron Acemoglu and Pascual Restrepo, Automation and New Tasks, Journal of Economic Perspectives 33(2), 2019; Erik Brynjolfsson, Danielle Li, and Lindsey Raymond, Generative AI at Work, Quarterly Journal of Economics 140(2),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treat one field study as an economy-wide employment estimate. Use it to illustrate a complementarity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Daron Acemoglu and Pascual Restrepo, Automation and New Tasks, Journal of Economic Perspectives 33(2), 2019; Erik Brynjolfsson, Danielle Li, and Lindsey Raymond, Generative AI at Work, Quarterly Journal of Economics 140(2),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section short. The competitive model remains the baseline; employer power explains why a firm may face an upward-sloping labor supply.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begin from an implied assumption that discrimination always favors one group. State the question neutrally and examine the relevant market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Francine D. Blau and Lawrence M. Kahn, The Gender Wage Gap: Extent, Trends, and Explanations, Journal of Economic Literature 55(3), 2017.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point matters because discrimination is not an activity the economic system must naturally reward.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Gary S. Becker, The Economics of Discrimination, 1957; Kerwin Charles and Jonathan Guryan, Prejudice and Wages, Journal of Political Economy 116(5), 2008.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STEM experiment studied evaluations of hypothetical assistant-professor candidates, not completed hiring across every STEM market. The correspondence study measured employer contact, not every stage of employment.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- Patrick Kline, Evan Rose, and Christopher Walters, Systemic Discrimination Among Large U.S. Employers, Quarterly Journal of Economics 137(4), 2022; Wendy Williams and Stephen Ceci, National Hiring Experiments Reveal 2:1 Faculty Preference for Women on STEM Tenure Track, PNAS 112(17), 2015.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transfers and incentives balanced. Social insurance changes risk and resources while taxes and eligibility rules can change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VMP calculation and one AI example. Ask which part of VMP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Principles of Micro, Chapter 18: Factor Markets, Labor, and Income Distribution (current project draft).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49624aa53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e9a596df7444ec" /><Relationship Type="http://schemas.openxmlformats.org/officeDocument/2006/relationships/slideLayout" Target="/ppt/slideLayouts/slideLayout1.xml" Id="Rf962370d4dfa4f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2370d4dfa4f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76e16cfc34f65" /><Relationship Type="http://schemas.openxmlformats.org/officeDocument/2006/relationships/image" Target="/ppt/media/image.png" Id="R401c552da52348e0" /><Relationship Type="http://schemas.openxmlformats.org/officeDocument/2006/relationships/notesSlide" Target="/ppt/notesSlides/notesSlide1.xml" Id="Rd54fbf18d4a14f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d99d18140486e" /><Relationship Type="http://schemas.openxmlformats.org/officeDocument/2006/relationships/notesSlide" Target="/ppt/notesSlides/notesSlide2.xml" Id="R979db08b7472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f82aa0c0e48ad" /><Relationship Type="http://schemas.openxmlformats.org/officeDocument/2006/relationships/notesSlide" Target="/ppt/notesSlides/notesSlide3.xml" Id="Rc2022281d86e43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8c4f5a73f4525" /><Relationship Type="http://schemas.openxmlformats.org/officeDocument/2006/relationships/image" Target="/ppt/media/image2.png" Id="Reb8fb63addc74fb1" /><Relationship Type="http://schemas.openxmlformats.org/officeDocument/2006/relationships/notesSlide" Target="/ppt/notesSlides/notesSlide4.xml" Id="R7a4f75b3e7fd47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a71f9b24348b6" /><Relationship Type="http://schemas.openxmlformats.org/officeDocument/2006/relationships/notesSlide" Target="/ppt/notesSlides/notesSlide5.xml" Id="Rb239e246504c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8660933744f0e" /><Relationship Type="http://schemas.openxmlformats.org/officeDocument/2006/relationships/notesSlide" Target="/ppt/notesSlides/notesSlide6.xml" Id="Rb351b9c055ac42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021492bfc4901" /><Relationship Type="http://schemas.openxmlformats.org/officeDocument/2006/relationships/notesSlide" Target="/ppt/notesSlides/notesSlide7.xml" Id="Rac08a1105cd241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728426e6145d2" /><Relationship Type="http://schemas.openxmlformats.org/officeDocument/2006/relationships/image" Target="/ppt/media/image3.png" Id="R152ba31b23a6480a" /><Relationship Type="http://schemas.openxmlformats.org/officeDocument/2006/relationships/notesSlide" Target="/ppt/notesSlides/notesSlide8.xml" Id="R467750b1c4544b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dad552a9541e6" /><Relationship Type="http://schemas.openxmlformats.org/officeDocument/2006/relationships/image" Target="/ppt/media/image4.png" Id="R1f414b4d22be48ed" /><Relationship Type="http://schemas.openxmlformats.org/officeDocument/2006/relationships/notesSlide" Target="/ppt/notesSlides/notesSlide9.xml" Id="R273eb4bfb3bf47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447d2fd654ccf" /><Relationship Type="http://schemas.openxmlformats.org/officeDocument/2006/relationships/notesSlide" Target="/ppt/notesSlides/notesSlide10.xml" Id="Rb9aba4d3d35d42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a6744c3244b31" /><Relationship Type="http://schemas.openxmlformats.org/officeDocument/2006/relationships/notesSlide" Target="/ppt/notesSlides/notesSlide11.xml" Id="R11c2cf98c33a45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77b52ab604f72" /><Relationship Type="http://schemas.openxmlformats.org/officeDocument/2006/relationships/notesSlide" Target="/ppt/notesSlides/notesSlide12.xml" Id="R5a75c2011ffe4f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d3a43816649e9" /><Relationship Type="http://schemas.openxmlformats.org/officeDocument/2006/relationships/notesSlide" Target="/ppt/notesSlides/notesSlide13.xml" Id="Ra6768f4048ab4e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8070a85d44648" /><Relationship Type="http://schemas.openxmlformats.org/officeDocument/2006/relationships/notesSlide" Target="/ppt/notesSlides/notesSlide14.xml" Id="Ra1a32a8c9ffe4d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8fef3924b485a" /><Relationship Type="http://schemas.openxmlformats.org/officeDocument/2006/relationships/notesSlide" Target="/ppt/notesSlides/notesSlide15.xml" Id="R2d7386fa42f449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45de23b6b461b" /><Relationship Type="http://schemas.openxmlformats.org/officeDocument/2006/relationships/notesSlide" Target="/ppt/notesSlides/notesSlide16.xml" Id="R52af0a4b508d42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cdbd8abd54b02" /><Relationship Type="http://schemas.openxmlformats.org/officeDocument/2006/relationships/notesSlide" Target="/ppt/notesSlides/notesSlide17.xml" Id="Rc5940d13065345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f1a637a44b25" /><Relationship Type="http://schemas.openxmlformats.org/officeDocument/2006/relationships/notesSlide" Target="/ppt/notesSlides/notesSlide18.xml" Id="R8c81ef2e583744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0770b70fa49e1" /><Relationship Type="http://schemas.openxmlformats.org/officeDocument/2006/relationships/notesSlide" Target="/ppt/notesSlides/notesSlide19.xml" Id="R1d3ca4eacf3d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field">
            <a:extLst xmlns:a="http://schemas.openxmlformats.org/drawingml/2006/main">
              <a:ext uri="{FF2B5EF4-FFF2-40B4-BE49-F238E27FC236}">
                <a16:creationId xmlns:a16="http://schemas.microsoft.com/office/drawing/2014/main" id="{D49686AC-07AB-4B9B-B1B0-A0DB3818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257C413-C0AB-4F13-84DC-302583E9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67C30AE-72D4-4DA7-B3B5-EDF75111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Factor Markets, Labor, and Income Distribution</a:t>
            </a:r>
          </a:p>
        </p:txBody>
      </p:sp>
      <p:sp>
        <p:nvSpPr>
          <p:cNvPr id="4" name="deck-chapter">
            <a:extLst xmlns:a="http://schemas.openxmlformats.org/drawingml/2006/main">
              <a:ext uri="{FF2B5EF4-FFF2-40B4-BE49-F238E27FC236}">
                <a16:creationId xmlns:a16="http://schemas.microsoft.com/office/drawing/2014/main" id="{0E775167-A28B-49F4-A446-1D2DC3B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5" name="deck-book">
            <a:extLst xmlns:a="http://schemas.openxmlformats.org/drawingml/2006/main">
              <a:ext uri="{FF2B5EF4-FFF2-40B4-BE49-F238E27FC236}">
                <a16:creationId xmlns:a16="http://schemas.microsoft.com/office/drawing/2014/main" id="{9FEAD9DF-84CB-4D1A-B8ED-3A30CBA7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Principles of Micro</a:t>
            </a:r>
          </a:p>
        </p:txBody>
      </p:sp>
      <p:sp>
        <p:nvSpPr>
          <p:cNvPr id="6" name="deck-author">
            <a:extLst xmlns:a="http://schemas.openxmlformats.org/drawingml/2006/main">
              <a:ext uri="{FF2B5EF4-FFF2-40B4-BE49-F238E27FC236}">
                <a16:creationId xmlns:a16="http://schemas.microsoft.com/office/drawing/2014/main" id="{204EB46A-198B-44B0-8C52-DA03964A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Mark Wilson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c552da52348e0"/>
          <a:stretch xmlns:a="http://schemas.openxmlformats.org/drawingml/2006/main"/>
        </p:blipFill>
        <p:spPr>
          <a:xfrm xmlns:a="http://schemas.openxmlformats.org/drawingml/2006/main">
            <a:off x="8267700" y="762000"/>
            <a:ext cx="285750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deck-theme">
            <a:extLst xmlns:a="http://schemas.openxmlformats.org/drawingml/2006/main">
              <a:ext uri="{FF2B5EF4-FFF2-40B4-BE49-F238E27FC236}">
                <a16:creationId xmlns:a16="http://schemas.microsoft.com/office/drawing/2014/main" id="{B93CC999-A29B-4667-923D-D80AD1B0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67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Workers and other inputs are valuable because they help produce output buyers value</a:t>
            </a:r>
          </a:p>
        </p:txBody>
      </p:sp>
    </p:spTree>
    <p:extLst>
      <p:ext uri="{BB962C8B-B14F-4D97-AF65-F5344CB8AC3E}">
        <p14:creationId xmlns:p14="http://schemas.microsoft.com/office/powerpoint/2010/main" val="222490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3906670-09F0-48D1-8069-1261ADF0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0C0F0C69-E080-4D8C-A020-27BC446D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37D87-5520-4861-B914-B19AE380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Demand for an input is derived from demand for output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569A94C-5856-425E-B138-6A13510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66A1A529-A2E6-4B14-B45A-E2FCA2E7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45D31CB-E358-4387-BCD8-F72B087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CC760694-8B85-4F8B-987E-015F5286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7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 worker is valuable to a firm because the worker helps produce something customers will buy.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75805E15-E625-481A-A548-C33196E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397A82BB-3670-4224-91C8-CC508BA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valuable output raises the value created by an additional worker.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B8401AC0-3668-4A74-9A38-6E446AA0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BDCFA825-22B7-4994-B60B-EE36807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Higher worker productivity raises the value created by an additional worker.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3803F35E-0BC1-47FB-A0EB-31D558CD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E5CDEACB-1D02-47E7-993F-A1D3999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Changes in product demand therefore shift labor demand.</a:t>
            </a:r>
          </a:p>
        </p:txBody>
      </p:sp>
    </p:spTree>
    <p:extLst>
      <p:ext uri="{BB962C8B-B14F-4D97-AF65-F5344CB8AC3E}">
        <p14:creationId xmlns:p14="http://schemas.microsoft.com/office/powerpoint/2010/main" val="2097327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AB2F6E1-B0F0-476F-8F83-29AA84A5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6570EF8-AE98-4A8F-B763-F656322A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4ECEFB-7B3A-4486-95D5-0D79464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Value of marginal product turns output into dollars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C8F9CA-452A-46DD-8751-AE98CC63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66D434DA-E4B7-4075-8407-568FBED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4671859-2273-42A3-926B-EE702667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equation-field">
            <a:extLst xmlns:a="http://schemas.openxmlformats.org/drawingml/2006/main">
              <a:ext uri="{FF2B5EF4-FFF2-40B4-BE49-F238E27FC236}">
                <a16:creationId xmlns:a16="http://schemas.microsoft.com/office/drawing/2014/main" id="{EA42DB58-7F9A-4837-847D-7E09FF2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9334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4854"/>
            </a:solidFill>
            <a:prstDash val="solid"/>
          </a:ln>
        </p:spPr>
      </p:sp>
      <p:sp>
        <p:nvSpPr>
          <p:cNvPr id="8" name="equation">
            <a:extLst xmlns:a="http://schemas.openxmlformats.org/drawingml/2006/main">
              <a:ext uri="{FF2B5EF4-FFF2-40B4-BE49-F238E27FC236}">
                <a16:creationId xmlns:a16="http://schemas.microsoft.com/office/drawing/2014/main" id="{BAA3EE52-F2C1-4FC3-B513-1B8EDCC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 i="0">
                <a:solidFill>
                  <a:srgbClr val="124854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24854"/>
                </a:solidFill>
                <a:latin typeface="Georgia"/>
                <a:ea typeface="Georgia"/>
                <a:cs typeface="Georgia"/>
              </a:rPr>
              <a:t>VMP = marginal product × product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794F6-A02A-4332-80EB-273E004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VMP is the added revenue created by hiring one more unit of an input in a competitive product market.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57499-11D3-4E00-9B41-4FDBEEF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A worker adds 10 lunches worth $15 each → VMP = $150 per shift</a:t>
            </a:r>
          </a:p>
        </p:txBody>
      </p:sp>
    </p:spTree>
    <p:extLst>
      <p:ext uri="{BB962C8B-B14F-4D97-AF65-F5344CB8AC3E}">
        <p14:creationId xmlns:p14="http://schemas.microsoft.com/office/powerpoint/2010/main" val="1107870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D4D39B2-A7AA-4D13-B131-C7D35974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1085BFA-8230-4ACD-8AD5-EFC4E1F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117E53-78B6-4B61-A2EF-695F30CC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Hire workers while their value exceeds their wage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849799D-EF0F-4690-8BE1-DCE2A9F5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7D4E2DA7-1591-4A62-9379-140C51B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89F2B9-413D-45F1-8D17-D858C87D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fb63addc74fb1"/>
          <a:stretch xmlns:a="http://schemas.openxmlformats.org/drawingml/2006/main"/>
        </p:blipFill>
        <p:spPr>
          <a:xfrm xmlns:a="http://schemas.openxmlformats.org/drawingml/2006/main">
            <a:off x="2075958" y="1371600"/>
            <a:ext cx="8040084" cy="4419600"/>
          </a:xfrm>
          <a:prstGeom xmlns:a="http://schemas.openxmlformats.org/drawingml/2006/main" prst="rect">
            <a:avLst/>
          </a:prstGeom>
        </p:spPr>
      </p:pic>
      <p:sp>
        <p:nvSpPr>
          <p:cNvPr id="8" name="figure-takeaway">
            <a:extLst xmlns:a="http://schemas.openxmlformats.org/drawingml/2006/main">
              <a:ext uri="{FF2B5EF4-FFF2-40B4-BE49-F238E27FC236}">
                <a16:creationId xmlns:a16="http://schemas.microsoft.com/office/drawing/2014/main" id="{D4645D6F-BCE4-49C2-9994-1CAFF4B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The labor-demand curve slopes down because marginal product eventually falls.</a:t>
            </a:r>
          </a:p>
        </p:txBody>
      </p:sp>
    </p:spTree>
    <p:extLst>
      <p:ext uri="{BB962C8B-B14F-4D97-AF65-F5344CB8AC3E}">
        <p14:creationId xmlns:p14="http://schemas.microsoft.com/office/powerpoint/2010/main" val="991226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6AAB0B8-8BBC-4F60-AF76-321FE15E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B7EA34E6-F957-4C14-A954-A696AB0B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1A354-B4FF-4D9A-BA2D-6C7E9122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Labor demand shifts when output value or productivity changes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9799FAC-802F-4043-AB60-67FD5727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9F881B54-68CB-4BBA-9912-CB16B4D9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494486-FB29-40D7-B413-F24B4504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237D500E-8537-40E3-B140-C047A917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859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C2FD4397-140B-4EF7-A60C-D18197BD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95450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higher product price raises VMP and labor demand.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9C58140C-0629-4059-BB4C-745D8113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714E36EF-A71E-45B0-8102-2AFDB720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Better tools, training, or organization can raise marginal product.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25E3D84F-29D4-4818-8875-2D024B36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622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A051E3A-88F8-4FCB-B59E-CDFE54F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71800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complementary input can make workers more productive.</a:t>
            </a:r>
          </a:p>
        </p:txBody>
      </p:sp>
      <p:sp>
        <p:nvSpPr>
          <p:cNvPr id="13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A59D6FE6-7A8B-4D46-B7EF-EB19CEAC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1D0C6B6A-D77D-4F62-872F-82104B23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9975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substitute such as automation can reduce demand for a task.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343EB-7CB9-4327-A6A5-9C0D0B5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Ask how the event changes what the next worker adds or what that output is worth.</a:t>
            </a:r>
          </a:p>
        </p:txBody>
      </p:sp>
    </p:spTree>
    <p:extLst>
      <p:ext uri="{BB962C8B-B14F-4D97-AF65-F5344CB8AC3E}">
        <p14:creationId xmlns:p14="http://schemas.microsoft.com/office/powerpoint/2010/main" val="2112081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7BD40DD-35DB-463D-8CAE-77C0D873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A1DB45D-2BED-46B7-8C17-A4844F4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92E3B7-09A2-4DAD-A654-3BB3819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The market wage coordinates labor demand and labor supply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85539D-85F5-4D86-9DB4-56231BDE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86576210-917F-47E7-8AE1-0619F91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ED8E1B0-A455-47AF-A7F9-19353D27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50F2439F-D5AD-47F8-8BDE-32E5696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B6D80-364A-4357-9128-609A0DF1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LABOR DEMAND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422E8EDF-9450-4A5C-BC80-E283B06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Firms compare wage with VMP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9AA3E0F3-DCED-4CEF-A218-90DBBF12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lower wage makes more workers profitable to hire along the demand curve.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48C64800-4161-47E1-B353-BA934C6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08D69-BE2D-4C31-8EDF-E552B70E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LABOR SUPPLY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9CB8343A-BE57-4F95-B40A-D8698A14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Workers compare jobs and time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84962E7B-7A3B-40B7-BDD2-10D1F991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higher wage attracts more hours, workers, training, or migration over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4E2B6-21FB-42EB-8EEC-FFBEDED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Equilibrium wage balances the quantity of labor offered and hired.</a:t>
            </a:r>
          </a:p>
        </p:txBody>
      </p:sp>
    </p:spTree>
    <p:extLst>
      <p:ext uri="{BB962C8B-B14F-4D97-AF65-F5344CB8AC3E}">
        <p14:creationId xmlns:p14="http://schemas.microsoft.com/office/powerpoint/2010/main" val="969664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CF87D4F-1D33-4AA0-9456-3B24AE97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43CDF86-AED5-4834-9933-35F657DB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6DD132-9C89-465B-84EE-1ADF5B54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Black Death made labor drastically scarcer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4DBC0A-459F-4695-B87E-56B40D46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77B3540F-7491-4DB8-B10D-123A6F4B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9F983C4-3788-46BE-8E0C-3AEFCDF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BC9DF78D-A34A-426D-85D6-9806A592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The plague killed a large share of Europe's population in the fourteenth century.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33B99DFD-FC1E-4057-BBB1-C758775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20723FFE-C4BA-4911-A897-C7AACD3D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Fewer workers remained relative to land and other resources.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75F81978-982E-4C47-9011-6D7E979C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1D0BA0DC-7E05-4169-AEBA-3A1A2FBC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Employers competed more intensely for surviving labor.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00556E34-2D61-46F4-966A-A389FE0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10D4949C-7027-42FD-8F5F-E266A9CB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Wages rose in many parts of western Europe despite attempts to restrain them.</a:t>
            </a:r>
          </a:p>
        </p:txBody>
      </p:sp>
    </p:spTree>
    <p:extLst>
      <p:ext uri="{BB962C8B-B14F-4D97-AF65-F5344CB8AC3E}">
        <p14:creationId xmlns:p14="http://schemas.microsoft.com/office/powerpoint/2010/main" val="1569065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4D629DE-56F6-473F-9F5C-9A3D768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489F6AD-92AB-4EB9-AD77-9CBAD7F2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D3160F-2BA1-4851-AFE2-3049AEC2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A labor-supply collapse raises the wage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45CBBD-71D2-4282-91A4-E8D7DB51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FACF6D4C-0B23-4511-956B-890E5B4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BC590CF-378C-4CB2-82FA-53298F0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ba31b23a6480a"/>
          <a:stretch xmlns:a="http://schemas.openxmlformats.org/drawingml/2006/main"/>
        </p:blipFill>
        <p:spPr>
          <a:xfrm xmlns:a="http://schemas.openxmlformats.org/drawingml/2006/main">
            <a:off x="3101929" y="1371600"/>
            <a:ext cx="5988143" cy="4419600"/>
          </a:xfrm>
          <a:prstGeom xmlns:a="http://schemas.openxmlformats.org/drawingml/2006/main" prst="rect">
            <a:avLst/>
          </a:prstGeom>
        </p:spPr>
      </p:pic>
      <p:sp>
        <p:nvSpPr>
          <p:cNvPr id="8" name="figure-takeaway">
            <a:extLst xmlns:a="http://schemas.openxmlformats.org/drawingml/2006/main">
              <a:ext uri="{FF2B5EF4-FFF2-40B4-BE49-F238E27FC236}">
                <a16:creationId xmlns:a16="http://schemas.microsoft.com/office/drawing/2014/main" id="{5F6F64EE-E0BB-4BE7-80F2-7A9E63D2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Scarcity raises the price of labor just as it raises the price of other scarce resources.</a:t>
            </a:r>
          </a:p>
        </p:txBody>
      </p:sp>
    </p:spTree>
    <p:extLst>
      <p:ext uri="{BB962C8B-B14F-4D97-AF65-F5344CB8AC3E}">
        <p14:creationId xmlns:p14="http://schemas.microsoft.com/office/powerpoint/2010/main" val="10494035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8155E73-1CC5-46C9-AE40-757EA69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2E8CF82-F60E-4571-856F-9541553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34529-3DE3-492F-A517-4099BB2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The same logic applies to land and capital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56247F-6ACA-4610-B6F5-2678AF16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FE4384A7-A216-4EC5-94D6-D95E309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5AE7A45-ECB1-4753-BC30-C6BA1BB4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14b4d22be48ed"/>
          <a:stretch xmlns:a="http://schemas.openxmlformats.org/drawingml/2006/main"/>
        </p:blipFill>
        <p:spPr>
          <a:xfrm xmlns:a="http://schemas.openxmlformats.org/drawingml/2006/main">
            <a:off x="1055606" y="1371600"/>
            <a:ext cx="10080789" cy="4419600"/>
          </a:xfrm>
          <a:prstGeom xmlns:a="http://schemas.openxmlformats.org/drawingml/2006/main" prst="rect">
            <a:avLst/>
          </a:prstGeom>
        </p:spPr>
      </p:pic>
      <p:sp>
        <p:nvSpPr>
          <p:cNvPr id="8" name="figure-takeaway">
            <a:extLst xmlns:a="http://schemas.openxmlformats.org/drawingml/2006/main">
              <a:ext uri="{FF2B5EF4-FFF2-40B4-BE49-F238E27FC236}">
                <a16:creationId xmlns:a16="http://schemas.microsoft.com/office/drawing/2014/main" id="{4A8EB1EC-8EC3-4823-85F7-0DA4E43F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An input's payment reflects demand for what it helps produce and the availability of the input.</a:t>
            </a:r>
          </a:p>
        </p:txBody>
      </p:sp>
    </p:spTree>
    <p:extLst>
      <p:ext uri="{BB962C8B-B14F-4D97-AF65-F5344CB8AC3E}">
        <p14:creationId xmlns:p14="http://schemas.microsoft.com/office/powerpoint/2010/main" val="598929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44F67D3-730D-4901-823F-117AC31C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27C0F4E-7AFF-4C03-921B-7CE1B9D8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6E311-62E0-423F-A00A-B80FE15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Land and physical capital adjust differently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71962B5-5124-4BDA-B8B4-68090CE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26A120AF-3DC2-4AA1-B952-779D358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877D6C6-2A1E-466E-970C-768D2E34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D28492F7-78D9-40F3-B558-58FA4E53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2180E-B394-4A5D-B225-7F1CAB13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LAND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56EC0C63-9FC7-4A7E-A4BB-D707992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Total location is fixed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8645889B-A434-438E-B93A-0EE3D98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Demand changes mainly affect rent because the physical supply of a particular location cannot expand.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D2734F72-A196-4C73-917C-A2A043C7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C8DDF-362F-4C4B-B053-AAB9DBB9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PHYSICAL CAPITAL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4861EAED-3060-423D-8823-AE2997B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Supply can grow over time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CCB0BEF2-9C6C-494E-BF44-6158A6F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Investment can create more machines and structures when expected returns rise.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1A3AF-C4F4-4ABB-86C1-CB44D3CF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The time horizon shapes factor supply and who receives the gain.</a:t>
            </a:r>
          </a:p>
        </p:txBody>
      </p:sp>
    </p:spTree>
    <p:extLst>
      <p:ext uri="{BB962C8B-B14F-4D97-AF65-F5344CB8AC3E}">
        <p14:creationId xmlns:p14="http://schemas.microsoft.com/office/powerpoint/2010/main" val="8271458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D5A938A-D5DA-440B-83BC-2CA90FD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70A7832-D092-4C59-B686-8CB4F067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E99A38-CF2F-4B26-983A-00D95D2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Earnings differ for several economic reasons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7AED17-AD56-4B8B-AB9E-8BE85B2A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4D7F72DC-A9A0-4619-BC84-405647D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FAF30A-1F1A-4BCD-B661-7A8D6EF7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6A49AC69-CF16-49E4-A75A-897034A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859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7E49FE9B-AFD6-45DC-B432-ED6BBC46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95450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Education, training, experience, health, and skill can raise productivity.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87B4334F-2B4C-4F53-B5FB-124FFD8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BF3D5F2-A03E-4B60-9E5B-87A61916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Danger, unpleasant conditions, or irregular hours may require compensating pay.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D1826BEB-180C-465F-B591-3F9F8B4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622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B5E03C53-930A-405F-B953-5BE805C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71800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Talent, luck, location, and demand for a product or occupation differ.</a:t>
            </a:r>
          </a:p>
        </p:txBody>
      </p:sp>
      <p:sp>
        <p:nvSpPr>
          <p:cNvPr id="13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82665114-286F-45F9-8CB8-C716543F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64439C2A-A90C-43A2-B0A6-55FACF33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9975"/>
            <a:ext cx="874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Employer power, bargaining institutions, and discrimination can also affect pay.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477F0-2F86-4411-8719-17581065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A wage gap is a description; explaining it requires evidence about causes.</a:t>
            </a:r>
          </a:p>
        </p:txBody>
      </p:sp>
    </p:spTree>
    <p:extLst>
      <p:ext uri="{BB962C8B-B14F-4D97-AF65-F5344CB8AC3E}">
        <p14:creationId xmlns:p14="http://schemas.microsoft.com/office/powerpoint/2010/main" val="1544076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827C9A2-E446-4207-B376-2BF1A4C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AB8405A-9E98-4A4F-AABD-BD565C38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4EF4E7-FBD8-41AF-9F2C-EC6478E5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Technology replaces tasks and creates new tasks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71A42BF-F621-4BB8-914A-0C143CC2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A1AEE8CF-5CF1-4E3F-9905-3A529B9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8178AF6-6528-47E8-9A21-C71F089C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881D64B6-6DDB-4FAC-BEC2-C75F756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4ED4D-CC06-49CA-8587-DBC56265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DISPLACEMENT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3967E58B-0F77-4B4D-A250-8489B98A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Automate work people performed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A11F76C1-983B-4145-A1E3-F98B6CB3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Machines or software can reduce demand for workers assigned to the substituted task.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946F3587-30DC-45B8-A13E-E4D84F4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E1B2C-E910-4294-877A-F1E67E5B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PRODUCTIVITY AND NEW TASKS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855A9852-5A02-4C38-8AF5-6D12649E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Make workers more valuable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E5DB79C8-8C46-4E90-A031-0C6539E9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Technology can complement labor, lower prices, expand output, and create work that did not exist before.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48941-778C-41F8-B151-0C063862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The effect on jobs and wages can cut either way.</a:t>
            </a:r>
          </a:p>
        </p:txBody>
      </p:sp>
    </p:spTree>
    <p:extLst>
      <p:ext uri="{BB962C8B-B14F-4D97-AF65-F5344CB8AC3E}">
        <p14:creationId xmlns:p14="http://schemas.microsoft.com/office/powerpoint/2010/main" val="18943109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5458E4C-0FF7-4EC5-B078-6EB25EB5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43FA504-CCCC-4ED1-9B80-068A4048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565782-6F39-4D5A-BC9B-4E900B9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1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Generative AI can raise productivity without settling the employment question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1197D3-2F09-43B3-B2F1-331C08D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8DF82A25-C250-420F-8733-6C9AA43B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89D12C7-8CFD-4AD1-AF29-E14F4496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7ACF53A9-E884-47DA-95D9-1DCD58E6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6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In one customer-support setting, an AI assistant raised productivity especially for less-experienced workers.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97160028-5B5C-4C0D-815A-33D86168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CC564F5-DD68-4119-867D-6B2A8674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tool complemented workers in that task and firm.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2CE8FD40-CE7F-4615-9670-7AEA0230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2B64F05B-9903-4263-A627-ABF7C9A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Higher productivity can increase output demand and worker value.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D20F3522-9AF6-4A00-8D03-B4FC2754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235358BB-2F32-405C-A18B-8AA2535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Other tasks or industries may experience substitution instead.</a:t>
            </a:r>
          </a:p>
        </p:txBody>
      </p:sp>
    </p:spTree>
    <p:extLst>
      <p:ext uri="{BB962C8B-B14F-4D97-AF65-F5344CB8AC3E}">
        <p14:creationId xmlns:p14="http://schemas.microsoft.com/office/powerpoint/2010/main" val="16285259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45D2060-9FCE-45AE-BD9F-4121DFCB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AF4E3FA-7B31-4FE7-9569-B74E23A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E8A46F-89DD-4C7A-AC0D-A44AAFB6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Employer market power can weaken the competitive wage benchmark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6D9A18-C129-4C22-A121-7BF3AFA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233E567B-6D9A-47F1-9E89-1450F09C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A475F4B-1E50-49B4-A055-B897B128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716D9F4C-64A1-42DA-85B1-A36F12D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 worker may have few realistic employers because of location, occupation, search cost, contracts, or family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46B77-9F82-453A-B2A8-09DDB38E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Unions, minimum wages, noncompete rules, and search institutions can matter when alternatives are limited.</a:t>
            </a:r>
          </a:p>
        </p:txBody>
      </p:sp>
    </p:spTree>
    <p:extLst>
      <p:ext uri="{BB962C8B-B14F-4D97-AF65-F5344CB8AC3E}">
        <p14:creationId xmlns:p14="http://schemas.microsoft.com/office/powerpoint/2010/main" val="16648299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3155D0F-31F3-4B2F-9914-8FFE56EB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9D99987-72E3-4A7F-B2F2-9B9342B4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C2B7DC-5789-4DB0-B137-ADF97553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Begin discrimination analysis with the evidence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AF4E7-EEBE-4F7B-8A92-12EE62F8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BAB3EFB8-0BC5-4B54-A785-C765EDD6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9E777CF-3A7C-4903-80FD-E10E432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EB3DD9DF-25F2-4A30-B7E2-3E2A63CB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 raw earnings gap does not by itself measure unequal treatment.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ACA0B827-4B55-4A74-A8EF-5F3DBDCA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2D37C80D-7AFA-458E-A618-84FCAC1E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8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Hours, occupation, experience, location, job conditions, and career interruptions can differ.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22D1F2CD-E3BE-406E-9726-4799001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5CEE7400-8558-4F12-915C-5C0855AF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3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Statistical controls can narrow a comparison but cannot guarantee every cause is measured.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EEB9D378-20DF-4051-A5B1-705EEBC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1D78ACC8-B2A3-406C-880F-78E9EFF5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 experiments and institutional details can provide different evidence.</a:t>
            </a:r>
          </a:p>
        </p:txBody>
      </p:sp>
    </p:spTree>
    <p:extLst>
      <p:ext uri="{BB962C8B-B14F-4D97-AF65-F5344CB8AC3E}">
        <p14:creationId xmlns:p14="http://schemas.microsoft.com/office/powerpoint/2010/main" val="6900455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8E3D42D-C685-4535-8CF7-1D0E211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C56212A2-6445-4C6B-892D-65ADDA9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4F08E9-0FCA-4778-BE1D-EA017D62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Becker: prejudice can be costly to the employer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35EA26D-7212-41F3-80CF-2C6A75CA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D74D89BE-F6F4-4FD2-8386-C78F8F09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891E99-0B90-4931-8EF3-DCB66D0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2ECDD8F2-6B00-4F82-BD56-2B247FF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26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D8A62F"/>
                </a:solidFill>
                <a:latin typeface="Georgia"/>
                <a:ea typeface="Georgia"/>
                <a:cs typeface="Georgia"/>
              </a:rPr>
              <a:t>A firm that refuses equally productive workers from a disliked group gives competitors access to talent at lower cost.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FA35193F-B668-44FD-AB93-010A1CF8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52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346B83B8-9F15-4353-90F9-3BD7B9C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Competitive pressure punishes profit-reducing prejudice.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27FB7E43-2A01-4515-9656-B425A0E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BDFD5F42-3AD9-43C6-BFA8-D92E7A84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9095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force is weaker when customers discriminate or employers have market power.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265953EE-5BE5-4404-8222-174EB9F0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39DD1BD2-CFDF-4891-AC0B-A3DCC1C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19600"/>
            <a:ext cx="802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Competition is a mechanism against discrimination, not a guarantee that it disappears.</a:t>
            </a:r>
          </a:p>
        </p:txBody>
      </p:sp>
    </p:spTree>
    <p:extLst>
      <p:ext uri="{BB962C8B-B14F-4D97-AF65-F5344CB8AC3E}">
        <p14:creationId xmlns:p14="http://schemas.microsoft.com/office/powerpoint/2010/main" val="6974522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A951719-22A8-46EF-9322-A8AEF85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9F66C31-2DA3-4213-B731-1573B60A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D89214-DAF9-442D-96A8-2DBFBA3F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Experiments can point in different directions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6DEE06A-7CE8-4B58-B47B-1F6A27C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A3EAC6A6-5A27-4B40-ADF5-BDB40D6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A59814F-39E8-4BDB-A4FF-453C643A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panel-1-field">
            <a:extLst xmlns:a="http://schemas.openxmlformats.org/drawingml/2006/main">
              <a:ext uri="{FF2B5EF4-FFF2-40B4-BE49-F238E27FC236}">
                <a16:creationId xmlns:a16="http://schemas.microsoft.com/office/drawing/2014/main" id="{94235951-AB1C-40C1-BC30-965E996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AC26B-7FD1-4F9D-B5DB-9C877F8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NAMES ON APPLICATIONS</a:t>
            </a:r>
          </a:p>
        </p:txBody>
      </p:sp>
      <p:sp>
        <p:nvSpPr>
          <p:cNvPr id="9" name="panel-1-heading">
            <a:extLst xmlns:a="http://schemas.openxmlformats.org/drawingml/2006/main">
              <a:ext uri="{FF2B5EF4-FFF2-40B4-BE49-F238E27FC236}">
                <a16:creationId xmlns:a16="http://schemas.microsoft.com/office/drawing/2014/main" id="{3ADCAB3C-8A4E-4AC7-8A9A-5EB8D59E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Some employers respond differently</a:t>
            </a:r>
          </a:p>
        </p:txBody>
      </p:sp>
      <p:sp>
        <p:nvSpPr>
          <p:cNvPr id="10" name="panel-1-body">
            <a:extLst xmlns:a="http://schemas.openxmlformats.org/drawingml/2006/main">
              <a:ext uri="{FF2B5EF4-FFF2-40B4-BE49-F238E27FC236}">
                <a16:creationId xmlns:a16="http://schemas.microsoft.com/office/drawing/2014/main" id="{B1E17EC8-B61D-44FF-A5D8-A02B68E6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Large correspondence studies find differences in contact rates associated with racial cues in names.</a:t>
            </a:r>
          </a:p>
        </p:txBody>
      </p:sp>
      <p:sp>
        <p:nvSpPr>
          <p:cNvPr id="11" name="panel-2-field">
            <a:extLst xmlns:a="http://schemas.openxmlformats.org/drawingml/2006/main">
              <a:ext uri="{FF2B5EF4-FFF2-40B4-BE49-F238E27FC236}">
                <a16:creationId xmlns:a16="http://schemas.microsoft.com/office/drawing/2014/main" id="{C2215AC6-3ACB-47E6-9DEA-E7C2142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4476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261E1-E6FA-4DEA-A99F-CCA35AD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STEM FACULTY CANDIDATES</a:t>
            </a:r>
          </a:p>
        </p:txBody>
      </p:sp>
      <p:sp>
        <p:nvSpPr>
          <p:cNvPr id="13" name="panel-2-heading">
            <a:extLst xmlns:a="http://schemas.openxmlformats.org/drawingml/2006/main">
              <a:ext uri="{FF2B5EF4-FFF2-40B4-BE49-F238E27FC236}">
                <a16:creationId xmlns:a16="http://schemas.microsoft.com/office/drawing/2014/main" id="{0C950D43-B615-41E5-A915-73B0700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019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Female names received more interest</a:t>
            </a:r>
          </a:p>
        </p:txBody>
      </p:sp>
      <p:sp>
        <p:nvSpPr>
          <p:cNvPr id="14" name="panel-2-body">
            <a:extLst xmlns:a="http://schemas.openxmlformats.org/drawingml/2006/main">
              <a:ext uri="{FF2B5EF4-FFF2-40B4-BE49-F238E27FC236}">
                <a16:creationId xmlns:a16="http://schemas.microsoft.com/office/drawing/2014/main" id="{EAB3680F-081F-4CD5-A35D-251B9B0F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43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 national experiment found a roughly two-to-one preference for highly qualified female hypothetical candidates.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4DCE8-ED8E-4A79-87CE-118DB78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There is no substitute for specifying the market, stage, group, and outcome being measured.</a:t>
            </a:r>
          </a:p>
        </p:txBody>
      </p:sp>
    </p:spTree>
    <p:extLst>
      <p:ext uri="{BB962C8B-B14F-4D97-AF65-F5344CB8AC3E}">
        <p14:creationId xmlns:p14="http://schemas.microsoft.com/office/powerpoint/2010/main" val="3408229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A1BB95F-01F3-4B62-809D-FA5909E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C497895-EDB1-4362-9001-39BDF514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238356-140E-4D07-A0CB-2064FCF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126"/>
                </a:solidFill>
                <a:latin typeface="Georgia"/>
                <a:ea typeface="Georgia"/>
                <a:cs typeface="Georgia"/>
              </a:rPr>
              <a:t>Factor payments become household income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EA9DE5-ACE7-4265-9AE8-5CD01A3B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09D5ED11-0CAA-4E52-9DC4-2D2C0D4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E586A93-A888-4DE2-8BC9-3FA51187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6636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6636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step-1-field">
            <a:extLst xmlns:a="http://schemas.openxmlformats.org/drawingml/2006/main">
              <a:ext uri="{FF2B5EF4-FFF2-40B4-BE49-F238E27FC236}">
                <a16:creationId xmlns:a16="http://schemas.microsoft.com/office/drawing/2014/main" id="{8A0F95F2-DE22-4F60-B35F-C80E0436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977D9-E2A9-48D3-B766-EBBA7B60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9" name="step-1-heading">
            <a:extLst xmlns:a="http://schemas.openxmlformats.org/drawingml/2006/main">
              <a:ext uri="{FF2B5EF4-FFF2-40B4-BE49-F238E27FC236}">
                <a16:creationId xmlns:a16="http://schemas.microsoft.com/office/drawing/2014/main" id="{60960BC6-FAE6-48CE-90CA-D989221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Labor income</a:t>
            </a:r>
          </a:p>
        </p:txBody>
      </p:sp>
      <p:sp>
        <p:nvSpPr>
          <p:cNvPr id="10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4614526-23D0-4A4E-900E-AF26E05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Wages and benefits reward work supplied to firms.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92EE3-B35A-44AD-9AE4-17871DA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905125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step-2-field">
            <a:extLst xmlns:a="http://schemas.openxmlformats.org/drawingml/2006/main">
              <a:ext uri="{FF2B5EF4-FFF2-40B4-BE49-F238E27FC236}">
                <a16:creationId xmlns:a16="http://schemas.microsoft.com/office/drawing/2014/main" id="{8C48A086-D030-4EA8-BA70-21CFC463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52FFA-DD2A-44B8-BCD0-46406366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14" name="step-2-heading">
            <a:extLst xmlns:a="http://schemas.openxmlformats.org/drawingml/2006/main">
              <a:ext uri="{FF2B5EF4-FFF2-40B4-BE49-F238E27FC236}">
                <a16:creationId xmlns:a16="http://schemas.microsoft.com/office/drawing/2014/main" id="{AB8713E6-E957-4E6B-B8EB-4CE17F38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Capital income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E25528EB-59A7-4FED-BF18-0DE56BCE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Returns reward saving and ownership of productive assets.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B7D0D-A46A-448C-A338-158F862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05125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step-3-field">
            <a:extLst xmlns:a="http://schemas.openxmlformats.org/drawingml/2006/main">
              <a:ext uri="{FF2B5EF4-FFF2-40B4-BE49-F238E27FC236}">
                <a16:creationId xmlns:a16="http://schemas.microsoft.com/office/drawing/2014/main" id="{3C96E929-900D-44C8-B826-644A09EC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51B42-E2F1-4BFB-A8A8-6B60F9E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E667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E6675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19" name="step-3-heading">
            <a:extLst xmlns:a="http://schemas.openxmlformats.org/drawingml/2006/main">
              <a:ext uri="{FF2B5EF4-FFF2-40B4-BE49-F238E27FC236}">
                <a16:creationId xmlns:a16="http://schemas.microsoft.com/office/drawing/2014/main" id="{FD49AFF3-B7CE-41B6-BAA8-7C4B281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8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E6675"/>
                </a:solidFill>
                <a:latin typeface="Georgia"/>
                <a:ea typeface="Georgia"/>
                <a:cs typeface="Georgia"/>
              </a:rPr>
              <a:t>Land and resource income</a:t>
            </a:r>
          </a:p>
        </p:txBody>
      </p:sp>
      <p:sp>
        <p:nvSpPr>
          <p:cNvPr id="20" name="step-3-body">
            <a:extLst xmlns:a="http://schemas.openxmlformats.org/drawingml/2006/main">
              <a:ext uri="{FF2B5EF4-FFF2-40B4-BE49-F238E27FC236}">
                <a16:creationId xmlns:a16="http://schemas.microsoft.com/office/drawing/2014/main" id="{7AF2A1C0-25C6-47C0-A557-82EC29B8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Rents reflect demand for scarce locations and resources.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91811-E059-4444-BCA1-F5D8D5D1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905125"/>
            <a:ext cx="17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step-4-field">
            <a:extLst xmlns:a="http://schemas.openxmlformats.org/drawingml/2006/main">
              <a:ext uri="{FF2B5EF4-FFF2-40B4-BE49-F238E27FC236}">
                <a16:creationId xmlns:a16="http://schemas.microsoft.com/office/drawing/2014/main" id="{C8EADDEE-1906-4D54-A540-EA14EE37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000250"/>
            <a:ext cx="2414588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A"/>
          </a:solidFill>
          <a:ln xmlns:a="http://schemas.openxmlformats.org/drawingml/2006/main" w="9525">
            <a:solidFill>
              <a:srgbClr val="D3DA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9D992-71F1-4ECD-A352-7640B7A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190750"/>
            <a:ext cx="19573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A3B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A3B35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24" name="step-4-heading">
            <a:extLst xmlns:a="http://schemas.openxmlformats.org/drawingml/2006/main">
              <a:ext uri="{FF2B5EF4-FFF2-40B4-BE49-F238E27FC236}">
                <a16:creationId xmlns:a16="http://schemas.microsoft.com/office/drawing/2014/main" id="{374E3A5A-3D7D-433E-AABB-EB8EAB2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590800"/>
            <a:ext cx="19573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9A3B35"/>
                </a:solidFill>
                <a:latin typeface="Georgia"/>
                <a:ea typeface="Georgia"/>
                <a:cs typeface="Georgia"/>
              </a:rPr>
              <a:t>Taxes and transfers</a:t>
            </a:r>
          </a:p>
        </p:txBody>
      </p:sp>
      <p:sp>
        <p:nvSpPr>
          <p:cNvPr id="25" name="step-4-body">
            <a:extLst xmlns:a="http://schemas.openxmlformats.org/drawingml/2006/main">
              <a:ext uri="{FF2B5EF4-FFF2-40B4-BE49-F238E27FC236}">
                <a16:creationId xmlns:a16="http://schemas.microsoft.com/office/drawing/2014/main" id="{AE0291F4-B245-4ED1-9A31-5138EBB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409950"/>
            <a:ext cx="1881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Government changes disposable income and insurance against hardship.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67C3F-9EB4-48A5-BFA2-D5E51666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2485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4854"/>
                </a:solidFill>
                <a:latin typeface="Aptos"/>
                <a:ea typeface="Aptos"/>
                <a:cs typeface="Aptos"/>
              </a:rPr>
              <a:t>Distribution reflects factor ownership, market prices, institutions, and public policy.</a:t>
            </a:r>
          </a:p>
        </p:txBody>
      </p:sp>
    </p:spTree>
    <p:extLst>
      <p:ext uri="{BB962C8B-B14F-4D97-AF65-F5344CB8AC3E}">
        <p14:creationId xmlns:p14="http://schemas.microsoft.com/office/powerpoint/2010/main" val="3284068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48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9C9E6F8-B443-49E8-9DFD-1C2E492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7E6504A-2E02-48DE-9039-BBFBC027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CHAPTER 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70DB59-8DFD-4332-B8CE-2180A48C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Factor prices connect productivity, scarcity, and income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CD0EAC-5CFC-4CDE-A780-4317D0F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ook">
            <a:extLst xmlns:a="http://schemas.openxmlformats.org/drawingml/2006/main">
              <a:ext uri="{FF2B5EF4-FFF2-40B4-BE49-F238E27FC236}">
                <a16:creationId xmlns:a16="http://schemas.microsoft.com/office/drawing/2014/main" id="{B0CFAB57-048A-4AB3-9504-D43A3DCA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PRINCIPLES OF MICRO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FA74D58-746E-4097-A9C5-0E86B33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C7DAD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7DAD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E22C5C0F-053A-499D-A1FC-F77A6BB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287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DE84DA31-CEE3-42BA-8F5D-908BEA90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3830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 demand is derived from the value of the output an input helps produce.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7CA934F0-8F63-487A-9293-4349539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57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3813BEC4-0FEC-48AC-94B4-F42347A8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6695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Hire labor while VMP covers the wage.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16C9D7E7-BC1C-4BF9-AC30-09BF50AF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86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DAA14C1F-1698-431E-B315-7D84EF18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9560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Technology can substitute for tasks, complement workers, and create new tasks.</a:t>
            </a:r>
          </a:p>
        </p:txBody>
      </p:sp>
      <p:sp>
        <p:nvSpPr>
          <p:cNvPr id="13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B4D628B7-0655-423D-B7E6-AD057173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2A85D651-0247-4C25-8B03-222CC46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2425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Earnings differences require causal evidence, not a raw gap alone.</a:t>
            </a:r>
          </a:p>
        </p:txBody>
      </p:sp>
      <p:sp>
        <p:nvSpPr>
          <p:cNvPr id="15" name="bullet-mark-5">
            <a:extLst xmlns:a="http://schemas.openxmlformats.org/drawingml/2006/main">
              <a:ext uri="{FF2B5EF4-FFF2-40B4-BE49-F238E27FC236}">
                <a16:creationId xmlns:a16="http://schemas.microsoft.com/office/drawing/2014/main" id="{E0137397-B2CB-4153-BFBF-2D3AFEF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bullet-5">
            <a:extLst xmlns:a="http://schemas.openxmlformats.org/drawingml/2006/main">
              <a:ext uri="{FF2B5EF4-FFF2-40B4-BE49-F238E27FC236}">
                <a16:creationId xmlns:a16="http://schemas.microsoft.com/office/drawing/2014/main" id="{B97B29D7-2E11-49D1-A837-0EF888FD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5290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Income distribution also reflects ownership, institutions, taxes, and transfers.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D224A-EC01-407A-B67C-45D3E56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00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D8A62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D8A62F"/>
                </a:solidFill>
                <a:latin typeface="Aptos"/>
                <a:ea typeface="Aptos"/>
                <a:cs typeface="Aptos"/>
              </a:rPr>
              <a:t>Next: health insurance applies risk, information, incentives, and market power in one important sector.</a:t>
            </a:r>
          </a:p>
        </p:txBody>
      </p:sp>
    </p:spTree>
    <p:extLst>
      <p:ext uri="{BB962C8B-B14F-4D97-AF65-F5344CB8AC3E}">
        <p14:creationId xmlns:p14="http://schemas.microsoft.com/office/powerpoint/2010/main" val="254862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2026-07-31T16:39:40.3130000Z</dcterms:created>
  <dcterms:modified xsi:type="dcterms:W3CDTF">2026-07-31T16:39:40.3130000Z</dcterms:modified>
</coreProperties>
</file>