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3e1fd1a8cc4302" /><Relationship Type="http://schemas.openxmlformats.org/officeDocument/2006/relationships/extended-properties" Target="/docProps/app.xml" Id="R4648c30d848748ed" /><Relationship Type="http://schemas.openxmlformats.org/officeDocument/2006/relationships/officeDocument" Target="/ppt/presentation.xml" Id="R876c3761ea9a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3f944d90b41fd"/>
  </p:sldMasterIdLst>
  <p:notesMasterIdLst>
    <p:notesMasterId xmlns:r="http://schemas.openxmlformats.org/officeDocument/2006/relationships" r:id="R3fcae4961eb64ca0"/>
  </p:notesMasterIdLst>
  <p:sldIdLst>
    <p:sldId xmlns:r="http://schemas.openxmlformats.org/officeDocument/2006/relationships" id="256" r:id="R77b459d32c81419c"/>
    <p:sldId xmlns:r="http://schemas.openxmlformats.org/officeDocument/2006/relationships" id="257" r:id="Ref991457092b4913"/>
    <p:sldId xmlns:r="http://schemas.openxmlformats.org/officeDocument/2006/relationships" id="258" r:id="R45da898726e644b1"/>
    <p:sldId xmlns:r="http://schemas.openxmlformats.org/officeDocument/2006/relationships" id="259" r:id="R3a044d5b3a7f472b"/>
    <p:sldId xmlns:r="http://schemas.openxmlformats.org/officeDocument/2006/relationships" id="260" r:id="R2173d786fd294bce"/>
    <p:sldId xmlns:r="http://schemas.openxmlformats.org/officeDocument/2006/relationships" id="261" r:id="R77cd611afefc48b1"/>
    <p:sldId xmlns:r="http://schemas.openxmlformats.org/officeDocument/2006/relationships" id="262" r:id="R6b584109b17c4266"/>
    <p:sldId xmlns:r="http://schemas.openxmlformats.org/officeDocument/2006/relationships" id="263" r:id="Rcbf0dbf9ac514d4e"/>
    <p:sldId xmlns:r="http://schemas.openxmlformats.org/officeDocument/2006/relationships" id="264" r:id="R3f273f771b5844e0"/>
    <p:sldId xmlns:r="http://schemas.openxmlformats.org/officeDocument/2006/relationships" id="265" r:id="R223c344f40be47a3"/>
    <p:sldId xmlns:r="http://schemas.openxmlformats.org/officeDocument/2006/relationships" id="266" r:id="R3154d168e8d846ca"/>
    <p:sldId xmlns:r="http://schemas.openxmlformats.org/officeDocument/2006/relationships" id="267" r:id="Rdebe8021bec24407"/>
    <p:sldId xmlns:r="http://schemas.openxmlformats.org/officeDocument/2006/relationships" id="268" r:id="R57e94d73c845451f"/>
    <p:sldId xmlns:r="http://schemas.openxmlformats.org/officeDocument/2006/relationships" id="269" r:id="R3df6aa4018794b2c"/>
    <p:sldId xmlns:r="http://schemas.openxmlformats.org/officeDocument/2006/relationships" id="270" r:id="Ra553c341ef584e35"/>
    <p:sldId xmlns:r="http://schemas.openxmlformats.org/officeDocument/2006/relationships" id="271" r:id="R3fdfda483a06414e"/>
    <p:sldId xmlns:r="http://schemas.openxmlformats.org/officeDocument/2006/relationships" id="272" r:id="R39830b68ccdc4b3e"/>
    <p:sldId xmlns:r="http://schemas.openxmlformats.org/officeDocument/2006/relationships" id="273" r:id="R2f337cdda1d6408e"/>
    <p:sldId xmlns:r="http://schemas.openxmlformats.org/officeDocument/2006/relationships" id="274" r:id="R0138f0f609d04a3c"/>
    <p:sldId xmlns:r="http://schemas.openxmlformats.org/officeDocument/2006/relationships" id="275" r:id="R1f80edb871fb48a6"/>
    <p:sldId xmlns:r="http://schemas.openxmlformats.org/officeDocument/2006/relationships" id="276" r:id="R8fe6a8bc46cb4b47"/>
    <p:sldId xmlns:r="http://schemas.openxmlformats.org/officeDocument/2006/relationships" id="277" r:id="Rc63b38e031ee4068"/>
    <p:sldId xmlns:r="http://schemas.openxmlformats.org/officeDocument/2006/relationships" id="278" r:id="Re6cd9d284b86443b"/>
    <p:sldId xmlns:r="http://schemas.openxmlformats.org/officeDocument/2006/relationships" id="279" r:id="R2b6814d48d9149c0"/>
    <p:sldId xmlns:r="http://schemas.openxmlformats.org/officeDocument/2006/relationships" id="280" r:id="R3f540d9b14a44701"/>
    <p:sldId xmlns:r="http://schemas.openxmlformats.org/officeDocument/2006/relationships" id="281" r:id="R4f0b73c189234d1e"/>
    <p:sldId xmlns:r="http://schemas.openxmlformats.org/officeDocument/2006/relationships" id="282" r:id="R551a9b411e264640"/>
    <p:sldId xmlns:r="http://schemas.openxmlformats.org/officeDocument/2006/relationships" id="283" r:id="R231a276e6aba4b63"/>
    <p:sldId xmlns:r="http://schemas.openxmlformats.org/officeDocument/2006/relationships" id="284" r:id="R0f63b2058f8c4eaa"/>
    <p:sldId xmlns:r="http://schemas.openxmlformats.org/officeDocument/2006/relationships" id="285" r:id="R9da3a8e8aa084011"/>
    <p:sldId xmlns:r="http://schemas.openxmlformats.org/officeDocument/2006/relationships" id="286" r:id="R6586198687944a4b"/>
    <p:sldId xmlns:r="http://schemas.openxmlformats.org/officeDocument/2006/relationships" id="287" r:id="R97c1a286e96a4ff5"/>
    <p:sldId xmlns:r="http://schemas.openxmlformats.org/officeDocument/2006/relationships" id="288" r:id="R5ea26a95e2ce4811"/>
    <p:sldId xmlns:r="http://schemas.openxmlformats.org/officeDocument/2006/relationships" id="289" r:id="R483a8ba075004d15"/>
    <p:sldId xmlns:r="http://schemas.openxmlformats.org/officeDocument/2006/relationships" id="290" r:id="Rfaafa5862aa54236"/>
    <p:sldId xmlns:r="http://schemas.openxmlformats.org/officeDocument/2006/relationships" id="291" r:id="R1f53d9598d3846e8"/>
    <p:sldId xmlns:r="http://schemas.openxmlformats.org/officeDocument/2006/relationships" id="292" r:id="R34a08b5a32644571"/>
    <p:sldId xmlns:r="http://schemas.openxmlformats.org/officeDocument/2006/relationships" id="293" r:id="R580433c923b44627"/>
    <p:sldId xmlns:r="http://schemas.openxmlformats.org/officeDocument/2006/relationships" id="294" r:id="Re4e4b43f594a4d1f"/>
    <p:sldId xmlns:r="http://schemas.openxmlformats.org/officeDocument/2006/relationships" id="295" r:id="R5d19ee54b228424d"/>
    <p:sldId xmlns:r="http://schemas.openxmlformats.org/officeDocument/2006/relationships" id="296" r:id="Ra9ce682ea9914e28"/>
    <p:sldId xmlns:r="http://schemas.openxmlformats.org/officeDocument/2006/relationships" id="297" r:id="R96b79837b19d4feb"/>
    <p:sldId xmlns:r="http://schemas.openxmlformats.org/officeDocument/2006/relationships" id="298" r:id="R5c0dc666395c4e94"/>
    <p:sldId xmlns:r="http://schemas.openxmlformats.org/officeDocument/2006/relationships" id="299" r:id="Racb2073931d6447b"/>
    <p:sldId xmlns:r="http://schemas.openxmlformats.org/officeDocument/2006/relationships" id="300" r:id="Ra020a77882e949d4"/>
    <p:sldId xmlns:r="http://schemas.openxmlformats.org/officeDocument/2006/relationships" id="301" r:id="R55ac87a5143b4957"/>
    <p:sldId xmlns:r="http://schemas.openxmlformats.org/officeDocument/2006/relationships" id="302" r:id="R900c3449e7934f6c"/>
    <p:sldId xmlns:r="http://schemas.openxmlformats.org/officeDocument/2006/relationships" id="303" r:id="Rbf783c468f034afd"/>
    <p:sldId xmlns:r="http://schemas.openxmlformats.org/officeDocument/2006/relationships" id="304" r:id="R63e8aa10641c4622"/>
    <p:sldId xmlns:r="http://schemas.openxmlformats.org/officeDocument/2006/relationships" id="305" r:id="R286755f570f24b37"/>
    <p:sldId xmlns:r="http://schemas.openxmlformats.org/officeDocument/2006/relationships" id="306" r:id="R150de20f1c724c89"/>
    <p:sldId xmlns:r="http://schemas.openxmlformats.org/officeDocument/2006/relationships" id="307" r:id="Ra3bca421d69949c9"/>
    <p:sldId xmlns:r="http://schemas.openxmlformats.org/officeDocument/2006/relationships" id="308" r:id="Rf2928b8e938b4302"/>
    <p:sldId xmlns:r="http://schemas.openxmlformats.org/officeDocument/2006/relationships" id="309" r:id="R8ad17208ac6b4a97"/>
    <p:sldId xmlns:r="http://schemas.openxmlformats.org/officeDocument/2006/relationships" id="310" r:id="Rb55eb95cb16243d6"/>
    <p:sldId xmlns:r="http://schemas.openxmlformats.org/officeDocument/2006/relationships" id="311" r:id="R3583c3af922f4a8c"/>
    <p:sldId xmlns:r="http://schemas.openxmlformats.org/officeDocument/2006/relationships" id="312" r:id="Re4e511f34cb44673"/>
    <p:sldId xmlns:r="http://schemas.openxmlformats.org/officeDocument/2006/relationships" id="313" r:id="Ra29234fcfe054576"/>
    <p:sldId xmlns:r="http://schemas.openxmlformats.org/officeDocument/2006/relationships" id="314" r:id="R20be410dd15440e1"/>
    <p:sldId xmlns:r="http://schemas.openxmlformats.org/officeDocument/2006/relationships" id="315" r:id="R40165cf711ab458f"/>
    <p:sldId xmlns:r="http://schemas.openxmlformats.org/officeDocument/2006/relationships" id="316" r:id="R7192363edb14426e"/>
    <p:sldId xmlns:r="http://schemas.openxmlformats.org/officeDocument/2006/relationships" id="317" r:id="Rfa49364f875c4c35"/>
    <p:sldId xmlns:r="http://schemas.openxmlformats.org/officeDocument/2006/relationships" id="318" r:id="R759409316c4342f4"/>
    <p:sldId xmlns:r="http://schemas.openxmlformats.org/officeDocument/2006/relationships" id="319" r:id="R31944cbadca64404"/>
    <p:sldId xmlns:r="http://schemas.openxmlformats.org/officeDocument/2006/relationships" id="320" r:id="R4bb612e678164b6f"/>
    <p:sldId xmlns:r="http://schemas.openxmlformats.org/officeDocument/2006/relationships" id="321" r:id="R23a806d70305462a"/>
    <p:sldId xmlns:r="http://schemas.openxmlformats.org/officeDocument/2006/relationships" id="322" r:id="R52590acbd463405a"/>
    <p:sldId xmlns:r="http://schemas.openxmlformats.org/officeDocument/2006/relationships" id="323" r:id="Rbbffbaae37314067"/>
    <p:sldId xmlns:r="http://schemas.openxmlformats.org/officeDocument/2006/relationships" id="324" r:id="R939e46027cb640c0"/>
    <p:sldId xmlns:r="http://schemas.openxmlformats.org/officeDocument/2006/relationships" id="325" r:id="Raaf4e155fc1648a5"/>
    <p:sldId xmlns:r="http://schemas.openxmlformats.org/officeDocument/2006/relationships" id="326" r:id="R2a48d93f00c74271"/>
    <p:sldId xmlns:r="http://schemas.openxmlformats.org/officeDocument/2006/relationships" id="327" r:id="Rf012dd20fa0e42c8"/>
    <p:sldId xmlns:r="http://schemas.openxmlformats.org/officeDocument/2006/relationships" id="328" r:id="R31124d2048e345a4"/>
    <p:sldId xmlns:r="http://schemas.openxmlformats.org/officeDocument/2006/relationships" id="329" r:id="R4a4ab815366e41fc"/>
    <p:sldId xmlns:r="http://schemas.openxmlformats.org/officeDocument/2006/relationships" id="330" r:id="Rdd0174c5bda443eb"/>
    <p:sldId xmlns:r="http://schemas.openxmlformats.org/officeDocument/2006/relationships" id="331" r:id="R14456be6893e406c"/>
    <p:sldId xmlns:r="http://schemas.openxmlformats.org/officeDocument/2006/relationships" id="332" r:id="R4dc449abb0c94bf8"/>
    <p:sldId xmlns:r="http://schemas.openxmlformats.org/officeDocument/2006/relationships" id="333" r:id="R0fae7e09a4f14f7c"/>
    <p:sldId xmlns:r="http://schemas.openxmlformats.org/officeDocument/2006/relationships" id="334" r:id="R0c5e1927ebf54654"/>
    <p:sldId xmlns:r="http://schemas.openxmlformats.org/officeDocument/2006/relationships" id="335" r:id="R116c94c9d1104faa"/>
    <p:sldId xmlns:r="http://schemas.openxmlformats.org/officeDocument/2006/relationships" id="336" r:id="R8ef02864ba354ec3"/>
    <p:sldId xmlns:r="http://schemas.openxmlformats.org/officeDocument/2006/relationships" id="337" r:id="Rcdaf811c4a1a422e"/>
    <p:sldId xmlns:r="http://schemas.openxmlformats.org/officeDocument/2006/relationships" id="338" r:id="R6a3d50619b2d47b8"/>
    <p:sldId xmlns:r="http://schemas.openxmlformats.org/officeDocument/2006/relationships" id="339" r:id="Rf5e8a49011df4a56"/>
    <p:sldId xmlns:r="http://schemas.openxmlformats.org/officeDocument/2006/relationships" id="340" r:id="R099f91cf42724636"/>
    <p:sldId xmlns:r="http://schemas.openxmlformats.org/officeDocument/2006/relationships" id="341" r:id="R8e525a46557d45ad"/>
    <p:sldId xmlns:r="http://schemas.openxmlformats.org/officeDocument/2006/relationships" id="342" r:id="R5938b66a7b0243da"/>
    <p:sldId xmlns:r="http://schemas.openxmlformats.org/officeDocument/2006/relationships" id="343" r:id="R96fc6bbe13044b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4fd2326574e98" /><Relationship Type="http://schemas.openxmlformats.org/officeDocument/2006/relationships/slideMaster" Target="/ppt/slideMasters/slideMaster1.xml" Id="R1173f944d90b41fd" /><Relationship Type="http://schemas.openxmlformats.org/officeDocument/2006/relationships/notesMaster" Target="/ppt/notesMasters/notesMaster1.xml" Id="R3fcae4961eb64ca0" /><Relationship Type="http://schemas.openxmlformats.org/officeDocument/2006/relationships/presProps" Target="/ppt/presProps.xml" Id="R9f99b8162b724ec6" /><Relationship Type="http://schemas.openxmlformats.org/officeDocument/2006/relationships/tableStyles" Target="/ppt/tableStyles.xml" Id="Rb26e982da2aa483f" /><Relationship Type="http://schemas.openxmlformats.org/officeDocument/2006/relationships/slide" Target="/ppt/slides/slide1.xml" Id="R77b459d32c81419c" /><Relationship Type="http://schemas.openxmlformats.org/officeDocument/2006/relationships/slide" Target="/ppt/slides/slide2.xml" Id="Ref991457092b4913" /><Relationship Type="http://schemas.openxmlformats.org/officeDocument/2006/relationships/slide" Target="/ppt/slides/slide3.xml" Id="R45da898726e644b1" /><Relationship Type="http://schemas.openxmlformats.org/officeDocument/2006/relationships/slide" Target="/ppt/slides/slide4.xml" Id="R3a044d5b3a7f472b" /><Relationship Type="http://schemas.openxmlformats.org/officeDocument/2006/relationships/slide" Target="/ppt/slides/slide5.xml" Id="R2173d786fd294bce" /><Relationship Type="http://schemas.openxmlformats.org/officeDocument/2006/relationships/slide" Target="/ppt/slides/slide6.xml" Id="R77cd611afefc48b1" /><Relationship Type="http://schemas.openxmlformats.org/officeDocument/2006/relationships/slide" Target="/ppt/slides/slide7.xml" Id="R6b584109b17c4266" /><Relationship Type="http://schemas.openxmlformats.org/officeDocument/2006/relationships/slide" Target="/ppt/slides/slide8.xml" Id="Rcbf0dbf9ac514d4e" /><Relationship Type="http://schemas.openxmlformats.org/officeDocument/2006/relationships/slide" Target="/ppt/slides/slide9.xml" Id="R3f273f771b5844e0" /><Relationship Type="http://schemas.openxmlformats.org/officeDocument/2006/relationships/slide" Target="/ppt/slides/slide10.xml" Id="R223c344f40be47a3" /><Relationship Type="http://schemas.openxmlformats.org/officeDocument/2006/relationships/slide" Target="/ppt/slides/slide11.xml" Id="R3154d168e8d846ca" /><Relationship Type="http://schemas.openxmlformats.org/officeDocument/2006/relationships/slide" Target="/ppt/slides/slide12.xml" Id="Rdebe8021bec24407" /><Relationship Type="http://schemas.openxmlformats.org/officeDocument/2006/relationships/slide" Target="/ppt/slides/slide13.xml" Id="R57e94d73c845451f" /><Relationship Type="http://schemas.openxmlformats.org/officeDocument/2006/relationships/slide" Target="/ppt/slides/slide14.xml" Id="R3df6aa4018794b2c" /><Relationship Type="http://schemas.openxmlformats.org/officeDocument/2006/relationships/slide" Target="/ppt/slides/slide15.xml" Id="Ra553c341ef584e35" /><Relationship Type="http://schemas.openxmlformats.org/officeDocument/2006/relationships/slide" Target="/ppt/slides/slide16.xml" Id="R3fdfda483a06414e" /><Relationship Type="http://schemas.openxmlformats.org/officeDocument/2006/relationships/slide" Target="/ppt/slides/slide17.xml" Id="R39830b68ccdc4b3e" /><Relationship Type="http://schemas.openxmlformats.org/officeDocument/2006/relationships/slide" Target="/ppt/slides/slide18.xml" Id="R2f337cdda1d6408e" /><Relationship Type="http://schemas.openxmlformats.org/officeDocument/2006/relationships/slide" Target="/ppt/slides/slide19.xml" Id="R0138f0f609d04a3c" /><Relationship Type="http://schemas.openxmlformats.org/officeDocument/2006/relationships/slide" Target="/ppt/slides/slide20.xml" Id="R1f80edb871fb48a6" /><Relationship Type="http://schemas.openxmlformats.org/officeDocument/2006/relationships/slide" Target="/ppt/slides/slide21.xml" Id="R8fe6a8bc46cb4b47" /><Relationship Type="http://schemas.openxmlformats.org/officeDocument/2006/relationships/slide" Target="/ppt/slides/slide22.xml" Id="Rc63b38e031ee4068" /><Relationship Type="http://schemas.openxmlformats.org/officeDocument/2006/relationships/slide" Target="/ppt/slides/slide23.xml" Id="Re6cd9d284b86443b" /><Relationship Type="http://schemas.openxmlformats.org/officeDocument/2006/relationships/slide" Target="/ppt/slides/slide24.xml" Id="R2b6814d48d9149c0" /><Relationship Type="http://schemas.openxmlformats.org/officeDocument/2006/relationships/slide" Target="/ppt/slides/slide25.xml" Id="R3f540d9b14a44701" /><Relationship Type="http://schemas.openxmlformats.org/officeDocument/2006/relationships/slide" Target="/ppt/slides/slide26.xml" Id="R4f0b73c189234d1e" /><Relationship Type="http://schemas.openxmlformats.org/officeDocument/2006/relationships/slide" Target="/ppt/slides/slide27.xml" Id="R551a9b411e264640" /><Relationship Type="http://schemas.openxmlformats.org/officeDocument/2006/relationships/slide" Target="/ppt/slides/slide28.xml" Id="R231a276e6aba4b63" /><Relationship Type="http://schemas.openxmlformats.org/officeDocument/2006/relationships/slide" Target="/ppt/slides/slide29.xml" Id="R0f63b2058f8c4eaa" /><Relationship Type="http://schemas.openxmlformats.org/officeDocument/2006/relationships/slide" Target="/ppt/slides/slide30.xml" Id="R9da3a8e8aa084011" /><Relationship Type="http://schemas.openxmlformats.org/officeDocument/2006/relationships/slide" Target="/ppt/slides/slide31.xml" Id="R6586198687944a4b" /><Relationship Type="http://schemas.openxmlformats.org/officeDocument/2006/relationships/slide" Target="/ppt/slides/slide32.xml" Id="R97c1a286e96a4ff5" /><Relationship Type="http://schemas.openxmlformats.org/officeDocument/2006/relationships/slide" Target="/ppt/slides/slide33.xml" Id="R5ea26a95e2ce4811" /><Relationship Type="http://schemas.openxmlformats.org/officeDocument/2006/relationships/slide" Target="/ppt/slides/slide34.xml" Id="R483a8ba075004d15" /><Relationship Type="http://schemas.openxmlformats.org/officeDocument/2006/relationships/slide" Target="/ppt/slides/slide35.xml" Id="Rfaafa5862aa54236" /><Relationship Type="http://schemas.openxmlformats.org/officeDocument/2006/relationships/slide" Target="/ppt/slides/slide36.xml" Id="R1f53d9598d3846e8" /><Relationship Type="http://schemas.openxmlformats.org/officeDocument/2006/relationships/slide" Target="/ppt/slides/slide37.xml" Id="R34a08b5a32644571" /><Relationship Type="http://schemas.openxmlformats.org/officeDocument/2006/relationships/slide" Target="/ppt/slides/slide38.xml" Id="R580433c923b44627" /><Relationship Type="http://schemas.openxmlformats.org/officeDocument/2006/relationships/slide" Target="/ppt/slides/slide39.xml" Id="Re4e4b43f594a4d1f" /><Relationship Type="http://schemas.openxmlformats.org/officeDocument/2006/relationships/slide" Target="/ppt/slides/slide40.xml" Id="R5d19ee54b228424d" /><Relationship Type="http://schemas.openxmlformats.org/officeDocument/2006/relationships/slide" Target="/ppt/slides/slide41.xml" Id="Ra9ce682ea9914e28" /><Relationship Type="http://schemas.openxmlformats.org/officeDocument/2006/relationships/slide" Target="/ppt/slides/slide42.xml" Id="R96b79837b19d4feb" /><Relationship Type="http://schemas.openxmlformats.org/officeDocument/2006/relationships/slide" Target="/ppt/slides/slide43.xml" Id="R5c0dc666395c4e94" /><Relationship Type="http://schemas.openxmlformats.org/officeDocument/2006/relationships/slide" Target="/ppt/slides/slide44.xml" Id="Racb2073931d6447b" /><Relationship Type="http://schemas.openxmlformats.org/officeDocument/2006/relationships/slide" Target="/ppt/slides/slide45.xml" Id="Ra020a77882e949d4" /><Relationship Type="http://schemas.openxmlformats.org/officeDocument/2006/relationships/slide" Target="/ppt/slides/slide46.xml" Id="R55ac87a5143b4957" /><Relationship Type="http://schemas.openxmlformats.org/officeDocument/2006/relationships/slide" Target="/ppt/slides/slide47.xml" Id="R900c3449e7934f6c" /><Relationship Type="http://schemas.openxmlformats.org/officeDocument/2006/relationships/slide" Target="/ppt/slides/slide48.xml" Id="Rbf783c468f034afd" /><Relationship Type="http://schemas.openxmlformats.org/officeDocument/2006/relationships/slide" Target="/ppt/slides/slide49.xml" Id="R63e8aa10641c4622" /><Relationship Type="http://schemas.openxmlformats.org/officeDocument/2006/relationships/slide" Target="/ppt/slides/slide50.xml" Id="R286755f570f24b37" /><Relationship Type="http://schemas.openxmlformats.org/officeDocument/2006/relationships/slide" Target="/ppt/slides/slide51.xml" Id="R150de20f1c724c89" /><Relationship Type="http://schemas.openxmlformats.org/officeDocument/2006/relationships/slide" Target="/ppt/slides/slide52.xml" Id="Ra3bca421d69949c9" /><Relationship Type="http://schemas.openxmlformats.org/officeDocument/2006/relationships/slide" Target="/ppt/slides/slide53.xml" Id="Rf2928b8e938b4302" /><Relationship Type="http://schemas.openxmlformats.org/officeDocument/2006/relationships/slide" Target="/ppt/slides/slide54.xml" Id="R8ad17208ac6b4a97" /><Relationship Type="http://schemas.openxmlformats.org/officeDocument/2006/relationships/slide" Target="/ppt/slides/slide55.xml" Id="Rb55eb95cb16243d6" /><Relationship Type="http://schemas.openxmlformats.org/officeDocument/2006/relationships/slide" Target="/ppt/slides/slide56.xml" Id="R3583c3af922f4a8c" /><Relationship Type="http://schemas.openxmlformats.org/officeDocument/2006/relationships/slide" Target="/ppt/slides/slide57.xml" Id="Re4e511f34cb44673" /><Relationship Type="http://schemas.openxmlformats.org/officeDocument/2006/relationships/slide" Target="/ppt/slides/slide58.xml" Id="Ra29234fcfe054576" /><Relationship Type="http://schemas.openxmlformats.org/officeDocument/2006/relationships/slide" Target="/ppt/slides/slide59.xml" Id="R20be410dd15440e1" /><Relationship Type="http://schemas.openxmlformats.org/officeDocument/2006/relationships/slide" Target="/ppt/slides/slide60.xml" Id="R40165cf711ab458f" /><Relationship Type="http://schemas.openxmlformats.org/officeDocument/2006/relationships/slide" Target="/ppt/slides/slide61.xml" Id="R7192363edb14426e" /><Relationship Type="http://schemas.openxmlformats.org/officeDocument/2006/relationships/slide" Target="/ppt/slides/slide62.xml" Id="Rfa49364f875c4c35" /><Relationship Type="http://schemas.openxmlformats.org/officeDocument/2006/relationships/slide" Target="/ppt/slides/slide63.xml" Id="R759409316c4342f4" /><Relationship Type="http://schemas.openxmlformats.org/officeDocument/2006/relationships/slide" Target="/ppt/slides/slide64.xml" Id="R31944cbadca64404" /><Relationship Type="http://schemas.openxmlformats.org/officeDocument/2006/relationships/slide" Target="/ppt/slides/slide65.xml" Id="R4bb612e678164b6f" /><Relationship Type="http://schemas.openxmlformats.org/officeDocument/2006/relationships/slide" Target="/ppt/slides/slide66.xml" Id="R23a806d70305462a" /><Relationship Type="http://schemas.openxmlformats.org/officeDocument/2006/relationships/slide" Target="/ppt/slides/slide67.xml" Id="R52590acbd463405a" /><Relationship Type="http://schemas.openxmlformats.org/officeDocument/2006/relationships/slide" Target="/ppt/slides/slide68.xml" Id="Rbbffbaae37314067" /><Relationship Type="http://schemas.openxmlformats.org/officeDocument/2006/relationships/slide" Target="/ppt/slides/slide69.xml" Id="R939e46027cb640c0" /><Relationship Type="http://schemas.openxmlformats.org/officeDocument/2006/relationships/slide" Target="/ppt/slides/slide70.xml" Id="Raaf4e155fc1648a5" /><Relationship Type="http://schemas.openxmlformats.org/officeDocument/2006/relationships/slide" Target="/ppt/slides/slide71.xml" Id="R2a48d93f00c74271" /><Relationship Type="http://schemas.openxmlformats.org/officeDocument/2006/relationships/slide" Target="/ppt/slides/slide72.xml" Id="Rf012dd20fa0e42c8" /><Relationship Type="http://schemas.openxmlformats.org/officeDocument/2006/relationships/slide" Target="/ppt/slides/slide73.xml" Id="R31124d2048e345a4" /><Relationship Type="http://schemas.openxmlformats.org/officeDocument/2006/relationships/slide" Target="/ppt/slides/slide74.xml" Id="R4a4ab815366e41fc" /><Relationship Type="http://schemas.openxmlformats.org/officeDocument/2006/relationships/slide" Target="/ppt/slides/slide75.xml" Id="Rdd0174c5bda443eb" /><Relationship Type="http://schemas.openxmlformats.org/officeDocument/2006/relationships/slide" Target="/ppt/slides/slide76.xml" Id="R14456be6893e406c" /><Relationship Type="http://schemas.openxmlformats.org/officeDocument/2006/relationships/slide" Target="/ppt/slides/slide77.xml" Id="R4dc449abb0c94bf8" /><Relationship Type="http://schemas.openxmlformats.org/officeDocument/2006/relationships/slide" Target="/ppt/slides/slide78.xml" Id="R0fae7e09a4f14f7c" /><Relationship Type="http://schemas.openxmlformats.org/officeDocument/2006/relationships/slide" Target="/ppt/slides/slide79.xml" Id="R0c5e1927ebf54654" /><Relationship Type="http://schemas.openxmlformats.org/officeDocument/2006/relationships/slide" Target="/ppt/slides/slide80.xml" Id="R116c94c9d1104faa" /><Relationship Type="http://schemas.openxmlformats.org/officeDocument/2006/relationships/slide" Target="/ppt/slides/slide81.xml" Id="R8ef02864ba354ec3" /><Relationship Type="http://schemas.openxmlformats.org/officeDocument/2006/relationships/slide" Target="/ppt/slides/slide82.xml" Id="Rcdaf811c4a1a422e" /><Relationship Type="http://schemas.openxmlformats.org/officeDocument/2006/relationships/slide" Target="/ppt/slides/slide83.xml" Id="R6a3d50619b2d47b8" /><Relationship Type="http://schemas.openxmlformats.org/officeDocument/2006/relationships/slide" Target="/ppt/slides/slide84.xml" Id="Rf5e8a49011df4a56" /><Relationship Type="http://schemas.openxmlformats.org/officeDocument/2006/relationships/slide" Target="/ppt/slides/slide85.xml" Id="R099f91cf42724636" /><Relationship Type="http://schemas.openxmlformats.org/officeDocument/2006/relationships/slide" Target="/ppt/slides/slide86.xml" Id="R8e525a46557d45ad" /><Relationship Type="http://schemas.openxmlformats.org/officeDocument/2006/relationships/slide" Target="/ppt/slides/slide87.xml" Id="R5938b66a7b0243da" /><Relationship Type="http://schemas.openxmlformats.org/officeDocument/2006/relationships/slide" Target="/ppt/slides/slide88.xml" Id="R96fc6bbe1304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3de0bf62c9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e8915948ff4885" /><Relationship Type="http://schemas.openxmlformats.org/officeDocument/2006/relationships/notesMaster" Target="/ppt/notesMasters/notesMaster1.xml" Id="R6cd1953241ae40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eb6842ab5c4456" /><Relationship Type="http://schemas.openxmlformats.org/officeDocument/2006/relationships/notesMaster" Target="/ppt/notesMasters/notesMaster1.xml" Id="Re5c5f7a338a14a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64b849f364226" /><Relationship Type="http://schemas.openxmlformats.org/officeDocument/2006/relationships/notesMaster" Target="/ppt/notesMasters/notesMaster1.xml" Id="Rb5877c1cdffe4b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14e8ef8b214c78" /><Relationship Type="http://schemas.openxmlformats.org/officeDocument/2006/relationships/notesMaster" Target="/ppt/notesMasters/notesMaster1.xml" Id="Rd2c8cd92eed646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9f577bfe174b8b" /><Relationship Type="http://schemas.openxmlformats.org/officeDocument/2006/relationships/notesMaster" Target="/ppt/notesMasters/notesMaster1.xml" Id="R74afab80e2fd41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3ac7a7ccab46f2" /><Relationship Type="http://schemas.openxmlformats.org/officeDocument/2006/relationships/notesMaster" Target="/ppt/notesMasters/notesMaster1.xml" Id="R2964ceb5b37949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c886bc721540a6" /><Relationship Type="http://schemas.openxmlformats.org/officeDocument/2006/relationships/notesMaster" Target="/ppt/notesMasters/notesMaster1.xml" Id="Rc30e4aaef7b64e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527dcb42914661" /><Relationship Type="http://schemas.openxmlformats.org/officeDocument/2006/relationships/notesMaster" Target="/ppt/notesMasters/notesMaster1.xml" Id="R1f76ec8b8cf44f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24db72422f48c7" /><Relationship Type="http://schemas.openxmlformats.org/officeDocument/2006/relationships/notesMaster" Target="/ppt/notesMasters/notesMaster1.xml" Id="R28b62d866b4546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d7df07ce394964" /><Relationship Type="http://schemas.openxmlformats.org/officeDocument/2006/relationships/notesMaster" Target="/ppt/notesMasters/notesMaster1.xml" Id="Raac048d0743e49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b011c27cb3469a" /><Relationship Type="http://schemas.openxmlformats.org/officeDocument/2006/relationships/notesMaster" Target="/ppt/notesMasters/notesMaster1.xml" Id="R40d97cb578bd44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5ee18f055749c9" /><Relationship Type="http://schemas.openxmlformats.org/officeDocument/2006/relationships/notesMaster" Target="/ppt/notesMasters/notesMaster1.xml" Id="R13b73fe627f442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fbb857b1424903" /><Relationship Type="http://schemas.openxmlformats.org/officeDocument/2006/relationships/notesMaster" Target="/ppt/notesMasters/notesMaster1.xml" Id="R56407899d1ff480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a94cb2bd4b41ed" /><Relationship Type="http://schemas.openxmlformats.org/officeDocument/2006/relationships/notesMaster" Target="/ppt/notesMasters/notesMaster1.xml" Id="R6a713781131041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be6301253d40e9" /><Relationship Type="http://schemas.openxmlformats.org/officeDocument/2006/relationships/notesMaster" Target="/ppt/notesMasters/notesMaster1.xml" Id="R13d0ee1f8c174e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6ab6a6d9204d55" /><Relationship Type="http://schemas.openxmlformats.org/officeDocument/2006/relationships/notesMaster" Target="/ppt/notesMasters/notesMaster1.xml" Id="R56635b29c5c942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c94e1de29d4b8c" /><Relationship Type="http://schemas.openxmlformats.org/officeDocument/2006/relationships/notesMaster" Target="/ppt/notesMasters/notesMaster1.xml" Id="Rabdbf9bdd2d94a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2c9a052b082450c" /><Relationship Type="http://schemas.openxmlformats.org/officeDocument/2006/relationships/notesMaster" Target="/ppt/notesMasters/notesMaster1.xml" Id="Rad193112aa5943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997c3bdcae84db2" /><Relationship Type="http://schemas.openxmlformats.org/officeDocument/2006/relationships/notesMaster" Target="/ppt/notesMasters/notesMaster1.xml" Id="R6ff04914e0a243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394a87c26b4d24" /><Relationship Type="http://schemas.openxmlformats.org/officeDocument/2006/relationships/notesMaster" Target="/ppt/notesMasters/notesMaster1.xml" Id="R95d26c76cf6f48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6afab7fa3e4308" /><Relationship Type="http://schemas.openxmlformats.org/officeDocument/2006/relationships/notesMaster" Target="/ppt/notesMasters/notesMaster1.xml" Id="Refff2fd2bf1c40c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aa5069f4ffb4d5f" /><Relationship Type="http://schemas.openxmlformats.org/officeDocument/2006/relationships/notesMaster" Target="/ppt/notesMasters/notesMaster1.xml" Id="Rc1afedf4316a46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a6dda1c05a748ef" /><Relationship Type="http://schemas.openxmlformats.org/officeDocument/2006/relationships/notesMaster" Target="/ppt/notesMasters/notesMaster1.xml" Id="Re64b2297b087447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a45b080e8b84a22" /><Relationship Type="http://schemas.openxmlformats.org/officeDocument/2006/relationships/notesMaster" Target="/ppt/notesMasters/notesMaster1.xml" Id="R9a4e3c068e16454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bc9863525c144d3" /><Relationship Type="http://schemas.openxmlformats.org/officeDocument/2006/relationships/notesMaster" Target="/ppt/notesMasters/notesMaster1.xml" Id="R13d77e2a9f3848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146a23178ac4369" /><Relationship Type="http://schemas.openxmlformats.org/officeDocument/2006/relationships/notesMaster" Target="/ppt/notesMasters/notesMaster1.xml" Id="R1a8c75ea61c04c8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f9b3efc03404f52" /><Relationship Type="http://schemas.openxmlformats.org/officeDocument/2006/relationships/notesMaster" Target="/ppt/notesMasters/notesMaster1.xml" Id="R23b4ff6322384fc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160e67b09084085" /><Relationship Type="http://schemas.openxmlformats.org/officeDocument/2006/relationships/notesMaster" Target="/ppt/notesMasters/notesMaster1.xml" Id="R4cc0987c321240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e20ba573fb44d14" /><Relationship Type="http://schemas.openxmlformats.org/officeDocument/2006/relationships/notesMaster" Target="/ppt/notesMasters/notesMaster1.xml" Id="Rb62d7218d93a44a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00bde4cd18c4f20" /><Relationship Type="http://schemas.openxmlformats.org/officeDocument/2006/relationships/notesMaster" Target="/ppt/notesMasters/notesMaster1.xml" Id="Rd6162104019e42c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c636ebec2a4fcd" /><Relationship Type="http://schemas.openxmlformats.org/officeDocument/2006/relationships/notesMaster" Target="/ppt/notesMasters/notesMaster1.xml" Id="R1e8d18906dd040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1a94a7d008b405e" /><Relationship Type="http://schemas.openxmlformats.org/officeDocument/2006/relationships/notesMaster" Target="/ppt/notesMasters/notesMaster1.xml" Id="R8dbdbf375eda436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d90f0f5df564d60" /><Relationship Type="http://schemas.openxmlformats.org/officeDocument/2006/relationships/notesMaster" Target="/ppt/notesMasters/notesMaster1.xml" Id="Re6fec7083b1a41a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ece1ee72562421f" /><Relationship Type="http://schemas.openxmlformats.org/officeDocument/2006/relationships/notesMaster" Target="/ppt/notesMasters/notesMaster1.xml" Id="R28ed3d7c789d481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13b3322b3b446da" /><Relationship Type="http://schemas.openxmlformats.org/officeDocument/2006/relationships/notesMaster" Target="/ppt/notesMasters/notesMaster1.xml" Id="Rf0fd87f1ac414e1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138b1071252454c" /><Relationship Type="http://schemas.openxmlformats.org/officeDocument/2006/relationships/notesMaster" Target="/ppt/notesMasters/notesMaster1.xml" Id="Rd2a8bcbeb99a4f0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634bedf811c4668" /><Relationship Type="http://schemas.openxmlformats.org/officeDocument/2006/relationships/notesMaster" Target="/ppt/notesMasters/notesMaster1.xml" Id="Rebf1cf2777d14ba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bcd412455ce4f64" /><Relationship Type="http://schemas.openxmlformats.org/officeDocument/2006/relationships/notesMaster" Target="/ppt/notesMasters/notesMaster1.xml" Id="R767af1725fab4d0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ff71f03b3644bd3" /><Relationship Type="http://schemas.openxmlformats.org/officeDocument/2006/relationships/notesMaster" Target="/ppt/notesMasters/notesMaster1.xml" Id="Rb58df740d6e5448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783b4713c524d1b" /><Relationship Type="http://schemas.openxmlformats.org/officeDocument/2006/relationships/notesMaster" Target="/ppt/notesMasters/notesMaster1.xml" Id="Rebcb2012868048f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6b663ea48b54398" /><Relationship Type="http://schemas.openxmlformats.org/officeDocument/2006/relationships/notesMaster" Target="/ppt/notesMasters/notesMaster1.xml" Id="R814f139c71484e3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f38eb22d86a42ce" /><Relationship Type="http://schemas.openxmlformats.org/officeDocument/2006/relationships/notesMaster" Target="/ppt/notesMasters/notesMaster1.xml" Id="R49c94c99f82a491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2671442c1004005" /><Relationship Type="http://schemas.openxmlformats.org/officeDocument/2006/relationships/notesMaster" Target="/ppt/notesMasters/notesMaster1.xml" Id="R18f543be671d48d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6a5a4e8f1a64ac4" /><Relationship Type="http://schemas.openxmlformats.org/officeDocument/2006/relationships/notesMaster" Target="/ppt/notesMasters/notesMaster1.xml" Id="R3ca74cb7dbc246e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83c21af368c4bfe" /><Relationship Type="http://schemas.openxmlformats.org/officeDocument/2006/relationships/notesMaster" Target="/ppt/notesMasters/notesMaster1.xml" Id="R89aed97b44cd431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d4193ebf87b4073" /><Relationship Type="http://schemas.openxmlformats.org/officeDocument/2006/relationships/notesMaster" Target="/ppt/notesMasters/notesMaster1.xml" Id="R9c5d3a2d54204e7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4ae3010975547cf" /><Relationship Type="http://schemas.openxmlformats.org/officeDocument/2006/relationships/notesMaster" Target="/ppt/notesMasters/notesMaster1.xml" Id="R486bb27201e3412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6e9b26fa56746f5" /><Relationship Type="http://schemas.openxmlformats.org/officeDocument/2006/relationships/notesMaster" Target="/ppt/notesMasters/notesMaster1.xml" Id="R0a52396c1ecb43c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034da141f6b412a" /><Relationship Type="http://schemas.openxmlformats.org/officeDocument/2006/relationships/notesMaster" Target="/ppt/notesMasters/notesMaster1.xml" Id="R9f69b7f257c045c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52962ed3ccf42f8" /><Relationship Type="http://schemas.openxmlformats.org/officeDocument/2006/relationships/notesMaster" Target="/ppt/notesMasters/notesMaster1.xml" Id="Rf4a8da7231cd4ce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9c25f68ffd7473a" /><Relationship Type="http://schemas.openxmlformats.org/officeDocument/2006/relationships/notesMaster" Target="/ppt/notesMasters/notesMaster1.xml" Id="R6d3ff842ea4e4d1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b2505c462164651" /><Relationship Type="http://schemas.openxmlformats.org/officeDocument/2006/relationships/notesMaster" Target="/ppt/notesMasters/notesMaster1.xml" Id="Rb49e60f26f714dd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438860686d94648" /><Relationship Type="http://schemas.openxmlformats.org/officeDocument/2006/relationships/notesMaster" Target="/ppt/notesMasters/notesMaster1.xml" Id="R5bc627e599414ff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2fc2926a01e4c33" /><Relationship Type="http://schemas.openxmlformats.org/officeDocument/2006/relationships/notesMaster" Target="/ppt/notesMasters/notesMaster1.xml" Id="Rda555ee9ea5d488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4d2653ef57d4c4d" /><Relationship Type="http://schemas.openxmlformats.org/officeDocument/2006/relationships/notesMaster" Target="/ppt/notesMasters/notesMaster1.xml" Id="R2d5f287a9d524a0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de73411ece2541b8" /><Relationship Type="http://schemas.openxmlformats.org/officeDocument/2006/relationships/notesMaster" Target="/ppt/notesMasters/notesMaster1.xml" Id="R29ced3dab12c4534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d34898e6c6448cc" /><Relationship Type="http://schemas.openxmlformats.org/officeDocument/2006/relationships/notesMaster" Target="/ppt/notesMasters/notesMaster1.xml" Id="R008ed47ddfae4ed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79574192d56f44df" /><Relationship Type="http://schemas.openxmlformats.org/officeDocument/2006/relationships/notesMaster" Target="/ppt/notesMasters/notesMaster1.xml" Id="Rdf0cf0b5516c4a4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2ddfdcca54442da" /><Relationship Type="http://schemas.openxmlformats.org/officeDocument/2006/relationships/notesMaster" Target="/ppt/notesMasters/notesMaster1.xml" Id="Rfdc5530bd18c4c6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4f6d51b59f04efa" /><Relationship Type="http://schemas.openxmlformats.org/officeDocument/2006/relationships/notesMaster" Target="/ppt/notesMasters/notesMaster1.xml" Id="R93c79f7ddd9d4da8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104d0f189ef74e2e" /><Relationship Type="http://schemas.openxmlformats.org/officeDocument/2006/relationships/notesMaster" Target="/ppt/notesMasters/notesMaster1.xml" Id="R79f115e67ba04be3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cfcc55d86074c87" /><Relationship Type="http://schemas.openxmlformats.org/officeDocument/2006/relationships/notesMaster" Target="/ppt/notesMasters/notesMaster1.xml" Id="Refe17d1afebb4883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40de1d8a971b455c" /><Relationship Type="http://schemas.openxmlformats.org/officeDocument/2006/relationships/notesMaster" Target="/ppt/notesMasters/notesMaster1.xml" Id="R6c8df73b4105438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00f0ccf76b9497b" /><Relationship Type="http://schemas.openxmlformats.org/officeDocument/2006/relationships/notesMaster" Target="/ppt/notesMasters/notesMaster1.xml" Id="R0d0b7c7ee51c4767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bb303439693648b0" /><Relationship Type="http://schemas.openxmlformats.org/officeDocument/2006/relationships/notesMaster" Target="/ppt/notesMasters/notesMaster1.xml" Id="Rc078c68c1f144fca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ccd381fc6fdf4910" /><Relationship Type="http://schemas.openxmlformats.org/officeDocument/2006/relationships/notesMaster" Target="/ppt/notesMasters/notesMaster1.xml" Id="Ra3de75a7359949eb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22f087e3f014a4f" /><Relationship Type="http://schemas.openxmlformats.org/officeDocument/2006/relationships/notesMaster" Target="/ppt/notesMasters/notesMaster1.xml" Id="Ra79eb85192c84f41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4291165c9864485" /><Relationship Type="http://schemas.openxmlformats.org/officeDocument/2006/relationships/notesMaster" Target="/ppt/notesMasters/notesMaster1.xml" Id="R39ce5079ebad454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54ebf55e07134b4b" /><Relationship Type="http://schemas.openxmlformats.org/officeDocument/2006/relationships/notesMaster" Target="/ppt/notesMasters/notesMaster1.xml" Id="R4fd1676ac0cf4fe8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43dace0bdc345e3" /><Relationship Type="http://schemas.openxmlformats.org/officeDocument/2006/relationships/notesMaster" Target="/ppt/notesMasters/notesMaster1.xml" Id="R9b67132ed90d4164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55b79ca8c0144aa" /><Relationship Type="http://schemas.openxmlformats.org/officeDocument/2006/relationships/notesMaster" Target="/ppt/notesMasters/notesMaster1.xml" Id="R01ff82e420ed4794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c3163bcb5b6a4f0c" /><Relationship Type="http://schemas.openxmlformats.org/officeDocument/2006/relationships/notesMaster" Target="/ppt/notesMasters/notesMaster1.xml" Id="R33b9ebf3b94b4b6d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2aa77822fb70495d" /><Relationship Type="http://schemas.openxmlformats.org/officeDocument/2006/relationships/notesMaster" Target="/ppt/notesMasters/notesMaster1.xml" Id="Rcec41de19e7d41a8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c119780b85b4d78" /><Relationship Type="http://schemas.openxmlformats.org/officeDocument/2006/relationships/notesMaster" Target="/ppt/notesMasters/notesMaster1.xml" Id="R7cf61ad995464733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54631936e30540eb" /><Relationship Type="http://schemas.openxmlformats.org/officeDocument/2006/relationships/notesMaster" Target="/ppt/notesMasters/notesMaster1.xml" Id="R59dca30fc85642da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e5bffcf0af045c9" /><Relationship Type="http://schemas.openxmlformats.org/officeDocument/2006/relationships/notesMaster" Target="/ppt/notesMasters/notesMaster1.xml" Id="Rde48ce7a728b4d91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095f05cc85a64f92" /><Relationship Type="http://schemas.openxmlformats.org/officeDocument/2006/relationships/notesMaster" Target="/ppt/notesMasters/notesMaster1.xml" Id="Rd29926463eb14b7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f24209a27ab84337" /><Relationship Type="http://schemas.openxmlformats.org/officeDocument/2006/relationships/notesMaster" Target="/ppt/notesMasters/notesMaster1.xml" Id="R82e17550079a4c54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8a32a8b07a04a51" /><Relationship Type="http://schemas.openxmlformats.org/officeDocument/2006/relationships/notesMaster" Target="/ppt/notesMasters/notesMaster1.xml" Id="R38586285d9a74370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135400536b7b45b1" /><Relationship Type="http://schemas.openxmlformats.org/officeDocument/2006/relationships/notesMaster" Target="/ppt/notesMasters/notesMaster1.xml" Id="R22128376bfa34f3d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3cbe0b130bdc421a" /><Relationship Type="http://schemas.openxmlformats.org/officeDocument/2006/relationships/notesMaster" Target="/ppt/notesMasters/notesMaster1.xml" Id="Ra2c34e90c7384c5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79c51c9f2d78443e" /><Relationship Type="http://schemas.openxmlformats.org/officeDocument/2006/relationships/notesMaster" Target="/ppt/notesMasters/notesMaster1.xml" Id="Rff5e716012ca405c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94cd569c05bb4235" /><Relationship Type="http://schemas.openxmlformats.org/officeDocument/2006/relationships/notesMaster" Target="/ppt/notesMasters/notesMaster1.xml" Id="R77f36f9077834e6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c4e5f66bdfb94a52" /><Relationship Type="http://schemas.openxmlformats.org/officeDocument/2006/relationships/notesMaster" Target="/ppt/notesMasters/notesMaster1.xml" Id="R7b861398094e4981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60d5f44b7cdd40ee" /><Relationship Type="http://schemas.openxmlformats.org/officeDocument/2006/relationships/notesMaster" Target="/ppt/notesMasters/notesMaster1.xml" Id="Rdf31195bf8e54afb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70f1912f3b68423a" /><Relationship Type="http://schemas.openxmlformats.org/officeDocument/2006/relationships/notesMaster" Target="/ppt/notesMasters/notesMaster1.xml" Id="Rf2aca0341b534cb4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8f207968b4ee4f33" /><Relationship Type="http://schemas.openxmlformats.org/officeDocument/2006/relationships/notesMaster" Target="/ppt/notesMasters/notesMaster1.xml" Id="R42fea606a78b461d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c24cbb0e11f54abe" /><Relationship Type="http://schemas.openxmlformats.org/officeDocument/2006/relationships/notesMaster" Target="/ppt/notesMasters/notesMaster1.xml" Id="R2ad1063d94354b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Introduction to Sports Economics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Introduction to Sports Economics</a:t>
            </a:r>
          </a:p>
          <a:p xmlns:a="http://schemas.openxmlformats.org/drawingml/2006/main">
            <a:r>
              <a:t>Mode: Opening case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chapter reports contract terms, not estimated profitability. A nominal total is not a present-value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Sarah Wexler, “$700M Stunner: Ohtani to Dodgers on Biggest Deal in Sports History,” MLB.com, December 12, 2023, &lt;https://www.mlb.com/dodgers/news/shohei-ohtani-contract-with-dodgers&gt;; Anthony Castrovince, “Explaining the Unprecedented Deferrals in Ohtani's Dodgers Deal,” MLB.com, December 12, 2023, &lt;https://www.mlb.com/news/shohei-ohtani-dodgers-deal-deferrals-explained&gt;, accessed August 12, 2026. MLB reported a ten-year, $700 million agreement and $680 million in deferred compensation beginning after the playing term. The chapter uses the contract to frame objectives, constraints, timing, and counterfactuals; it does not estimate the contract's profitability.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Introduction to Sports Economics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Learning Goals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Learning Goals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Learning Goals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What Is Sports Economics?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What Is Sports Economics?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What Is Sports Economics?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What Is Sports Economics?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Begin with athletes and compensation, then fans and attention. This is a conceptual map, not an accounting identity. Teams and leagues need not share objectives; public support is not automatically beneficial.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Why Sports Are A Useful Economic Laboratory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Why Sports Are A Useful Economic Laboratory</a:t>
            </a:r>
          </a:p>
          <a:p xmlns:a="http://schemas.openxmlformats.org/drawingml/2006/main">
            <a:r>
              <a:t>Mode: Book 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the chapter’s dated company-reported figures, not evidence of a causal return on an individual advertisement.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NBCUniversal, “NBCUniversal Sells Out of Milan Cortina 2026 Olympic Winter Games With One Month to Go,” January 6, 2026, &lt;https://www.nbcsports.com/pressbox/press-releases/nbcuniversal-sells-out-of-milan-cortina-2026-olympic-winter-games-with-one-month-to-go&gt;; NBC Sports, “Super Bowl LX Is Second Most-Watched All-Time With 125.6 Million Viewers,” updated February 19, 2026, &lt;https://www.nbcsports.com/pressbox/press-releases/super-bowl-lx-is-second-most-watched-all-time-with-nearly-125-million-viewers-peaking-at-all-time-u-s-record-137-8-million-viewers-across-nbc-peacock-and-telemundo&gt;, accessed August 12, 2026. These company sources support the sold-out advertising inventory and reported cross-platform audience. They do not establish any individual advertisement's causal return.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Why Sports Are A Useful Economic Laboratory</a:t>
            </a:r>
          </a:p>
          <a:p xmlns:a="http://schemas.openxmlformats.org/drawingml/2006/main">
            <a:r>
              <a:t>Mode: Book 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Why Sports Are A Useful Economic Laboratory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Book example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Sarah Wexler, “$700M Stunner: Ohtani to Dodgers on Biggest Deal in Sports History,” MLB.com, December 12, 2023, &lt;https://www.mlb.com/dodgers/news/shohei-ohtani-contract-with-dodgers&gt;; Anthony Castrovince, “Explaining the Unprecedented Deferrals in Ohtani's Dodgers Deal,” MLB.com, December 12, 2023, &lt;https://www.mlb.com/news/shohei-ohtani-dodgers-deal-deferrals-explained&gt;, accessed August 12, 2026. MLB reported a ten-year, $700 million agreement and $680 million in deferred compensation beginning after the playing term. The chapter uses the contract to frame objectives, constraints, timing, and counterfactuals; it does not estimate the contract's profitability.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Economist's Method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Economic Questions Behind Sports Headlines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Economic Questions Behind Sports Headlines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Economic Questions Behind Sports Headlines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Economic Questions Behind Sports Headlines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The Economic Questions Behind Sports Headlines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Using AI To Learn Economics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Using AI To Learn Economics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Using AI To Learn Economics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Using AI To Learn Economics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Using AI To Learn Economics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Markdown includes hidden figure descriptions and tutor guidance. Inspect the actual figures too. A source boundary helps focus practice but does not guarantee perfect compliance.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Big Picture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Big Picture</a:t>
            </a:r>
          </a:p>
          <a:p xmlns:a="http://schemas.openxmlformats.org/drawingml/2006/main">
            <a:r>
              <a:t>Mode: Lesson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Review Questions</a:t>
            </a:r>
          </a:p>
          <a:p xmlns:a="http://schemas.openxmlformats.org/drawingml/2006/main">
            <a:r>
              <a:t>Mode: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 Applied micro studies constrained choices and institutions with models and evidence. 2: Visibility does not supply a causal design. 3: Team—roster, budget, schedule; fan—income, time,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Review Questions</a:t>
            </a:r>
          </a:p>
          <a:p xmlns:a="http://schemas.openxmlformats.org/drawingml/2006/main">
            <a:r>
              <a:t>Mode: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4: Payoffs change, but preferences and adjustment options differ. 5: Simplification isolates a mechanism; omitted details can overturn it. 6: Drafts, free agency, caps, resale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Review Questions</a:t>
            </a:r>
          </a:p>
          <a:p xmlns:a="http://schemas.openxmlformats.org/drawingml/2006/main">
            <a:r>
              <a:t>Mode: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7: The relevant alternative path. 8: Theory follows assumptions; description summarizes; prediction forecasts; causation evaluates intervention. 9: Specify objective, alternatives, timing, evidence. 10: Source, audience, task, constraints,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Applications</a:t>
            </a:r>
          </a:p>
          <a:p xmlns:a="http://schemas.openxmlformats.org/drawingml/2006/main">
            <a:r>
              <a:t>Mode: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Claim: signing the veteran caused five additional wins. Alternatives include other roster changes, health, schedule, coaching, and luck. Compare with the likely same-season outcome without signing the veteran.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Applications</a:t>
            </a:r>
          </a:p>
          <a:p xmlns:a="http://schemas.openxmlformats.org/drawingml/2006/main">
            <a:r>
              <a:t>Mode: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with spending without the stadium. Residents may substitute from other regional activities; nearby spending is not automatically net regional impact.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Applications</a:t>
            </a:r>
          </a:p>
          <a:p xmlns:a="http://schemas.openxmlformats.org/drawingml/2006/main">
            <a:r>
              <a:t>Mode: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Teams may alter trades, rebuilding, or losing incentives; prospects may change entry timing; incumbent players face replacement threats. Specify the actual rule before predicting direction.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Applications</a:t>
            </a:r>
          </a:p>
          <a:p xmlns:a="http://schemas.openxmlformats.org/drawingml/2006/main">
            <a:r>
              <a:t>Mode: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League supplies content; broadcaster supplies rights payments, production and distribution. Advertisers pay for audience access; viewers supply attention and sometimes subscriptions.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Applications</a:t>
            </a:r>
          </a:p>
          <a:p xmlns:a="http://schemas.openxmlformats.org/drawingml/2006/main">
            <a:r>
              <a:t>Mode: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Does the cap reduce payroll dispersion? Does it improve balance in wins? Define measures and a credible no-change comparison; owner and athlete interests need not coincide.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Applications</a:t>
            </a:r>
          </a:p>
          <a:p xmlns:a="http://schemas.openxmlformats.org/drawingml/2006/main">
            <a:r>
              <a:t>Mode: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source, audience, task, constraints, and verification. Compare correctness and clarity rather than just length.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Major League Baseball Stats API, 2025 team season hitting statistics, &lt;https://statsapi.mlb.com/api/v1/teams/stats?stats=season&amp;group=hitting&amp;season=2025&amp;sportIds=1&gt;; Major League Baseball, “2025 MLB Team Hitting Statistics,” &lt;https://www.mlb.com/stats/team/ops/2025&gt;, accessed August 2, 2026. The bundled script uses official component totals, checks the 30-team structure, reconciles calculated BA and OPS with MLB's rounded measures, and reproduces every reported coefficient and figure. The regressions are descriptive team-level comparisons.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Major League Baseball Stats API, 2025 team season hitting statistics, &lt;https://statsapi.mlb.com/api/v1/teams/stats?stats=season&amp;group=hitting&amp;season=2025&amp;sportIds=1&gt;; Major League Baseball, “2025 MLB Team Hitting Statistics,” &lt;https://www.mlb.com/stats/team/ops/2025&gt;, accessed August 2, 2026. The bundled script uses official component totals, checks the 30-team structure, reconciles calculated BA and OPS with MLB's rounded measures, and reproduces every reported coefficient and figure. The regressions are descriptive team-level comparisons.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Notation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β₀ and β₁ are intercept and slope; b₀ and b₁ are their estimates. u collects departures and omitted influences. No derivation or memorization of notation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points are hypothetical. At X=6, fitted Y=4 and observed Y=5.2, so the residual is +1.2. Other residuals can be negative.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Major League Baseball Stats API, 2025 team season hitting statistics, &lt;https://statsapi.mlb.com/api/v1/teams/stats?stats=season&amp;group=hitting&amp;season=2025&amp;sportIds=1&gt;; Major League Baseball, “2025 MLB Team Hitting Statistics,” &lt;https://www.mlb.com/stats/team/ops/2025&gt;, accessed August 2, 2026. The bundled script uses official component totals, checks the 30-team structure, reconciles calculated BA and OPS with MLB's rounded measures, and reproduces every reported coefficient and figure. The regressions are descriptive team-level comparisons.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dispersion on the common vertical scale. These are separate OLS fits to the 2025 sample, not causal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Major League Baseball Stats API, 2025 team season hitting statistics, &lt;https://statsapi.mlb.com/api/v1/teams/stats?stats=season&amp;group=hitting&amp;season=2025&amp;sportIds=1&gt;; Major League Baseball, “2025 MLB Team Hitting Statistics,” &lt;https://www.mlb.com/stats/team/ops/2025&gt;, accessed August 2, 2026. The bundled script uses official component totals, checks the 30-team structure, reconciles calculated BA and OPS with MLB's rounded measures, and reproduces every reported coefficient and figure. The regressions are descriptive team-level comparisons.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Major League Baseball Stats API, 2025 team season hitting statistics, &lt;https://statsapi.mlb.com/api/v1/teams/stats?stats=season&amp;group=hitting&amp;season=2025&amp;sportIds=1&gt;; Major League Baseball, “2025 MLB Team Hitting Statistics,” &lt;https://www.mlb.com/stats/team/ops/2025&gt;, accessed August 2, 2026. The bundled script uses official component totals, checks the 30-team structure, reconciles calculated BA and OPS with MLB's rounded measures, and reproduces every reported coefficient and figure. The regressions are descriptive team-level comparisons.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Major League Baseball Stats API, 2025 team season hitting statistics, &lt;https://statsapi.mlb.com/api/v1/teams/stats?stats=season&amp;group=hitting&amp;season=2025&amp;sportIds=1&gt;; Major League Baseball, “2025 MLB Team Hitting Statistics,” &lt;https://www.mlb.com/stats/team/ops/2025&gt;, accessed August 2, 2026. The bundled script uses official component totals, checks the 30-team structure, reconciles calculated BA and OPS with MLB's rounded measures, and reproduces every reported coefficient and figure. The regressions are descriptive team-level comparisons.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Confidence intervals reflect sampling uncertainty under model assumptions, not certain boundaries on truth. Preserve the per-0.010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Follow expected demand to price and attendance, then the price-to-attendance arrow. Own-price response is negative holding product and other conditions fixed. Empirical work must distinguish tickets sold from turnstile attendance.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describes the completed workflow documented in the chapter, not a guarantee for every setup. The required R installation and project files must be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data/ch01/mlb-team-batting-2025.csv and its dictionary, then scripts/ch01-build-regression-example.R. The full ready-to-use prompt is in the book. Keep proposed changes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scripts/ch01-build-regression-example.R and tests/ch01-regression-example.R. read.csv imports data; lm fits runs_per_game on batting_average and ops separately. Memorization is not required; identifying outcome, predictor, observation, and limitations 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1: One MLB team’s 2025 regular season. 2: Outcome is described/predicted; predictor supplies information. 3: Direction, strength, shape, unusual observations; also inspect range.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4: Associated outcome change for a stated predictor change, with units and sample. 5: Zero may be outside the data. 6: 4.8−4.5=+0.3 runs/game, above the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7: 88.1% of sample variation accounted for, not a causal effect or prediction accuracy. 8: Different predictor scales. 9: A range reflecting sampling uncertainty under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10: Expected demand raises chosen price and attendance. 11: Omitted common causes versus outcome feedback. 12: Forecasting game demand versus evaluating a price intervention.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Optional Appendix: A Practical Introduction To Regression With Sports Data</a:t>
            </a:r>
          </a:p>
          <a:p xmlns:a="http://schemas.openxmlformats.org/drawingml/2006/main">
            <a:r>
              <a:t>Mode: Optional appendix ·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13: Verify source, observation unit, missingness, definitions/units, model, output, graph, and causal language. 14: Stronger OPS fit is descriptive; computing measures is computational; a price intervention requires a causal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Book section: Source Notes</a:t>
            </a:r>
          </a:p>
          <a:p xmlns:a="http://schemas.openxmlformats.org/drawingml/2006/main">
            <a:r>
              <a:t>Mode: 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draft-chapters/ch01-introduction-to-sports-economics.md</a:t>
            </a:r>
          </a:p>
          <a:p xmlns:a="http://schemas.openxmlformats.org/drawingml/2006/main">
            <a:r>
              <a:t>- Sarah Wexler, “$700M Stunner: Ohtani to Dodgers on Biggest Deal in Sports History,” MLB.com, December 12, 2023, &lt;https://www.mlb.com/dodgers/news/shohei-ohtani-contract-with-dodgers&gt;; Anthony Castrovince, “Explaining the Unprecedented Deferrals in Ohtani's Dodgers Deal,” MLB.com, December 12, 2023, &lt;https://www.mlb.com/news/shohei-ohtani-dodgers-deal-deferrals-explained&gt;, accessed August 12, 2026. MLB reported a ten-year, $700 million agreement and $680 million in deferred compensation beginning after the playing term. The chapter uses the contract to frame objectives, constraints, timing, and counterfactuals; it does not estimate the contract's profitability.</a:t>
            </a:r>
          </a:p>
          <a:p xmlns:a="http://schemas.openxmlformats.org/drawingml/2006/main">
            <a:r>
              <a:t>- NBCUniversal, “NBCUniversal Sells Out of Milan Cortina 2026 Olympic Winter Games With One Month to Go,” January 6, 2026, &lt;https://www.nbcsports.com/pressbox/press-releases/nbcuniversal-sells-out-of-milan-cortina-2026-olympic-winter-games-with-one-month-to-go&gt;; NBC Sports, “Super Bowl LX Is Second Most-Watched All-Time With 125.6 Million Viewers,” updated February 19, 2026, &lt;https://www.nbcsports.com/pressbox/press-releases/super-bowl-lx-is-second-most-watched-all-time-with-nearly-125-million-viewers-peaking-at-all-time-u-s-record-137-8-million-viewers-across-nbc-peacock-and-telemundo&gt;, accessed August 12, 2026. These company sources support the sold-out advertising inventory and reported cross-platform audience. They do not establish any individual advertisement's causal return.</a:t>
            </a:r>
          </a:p>
          <a:p xmlns:a="http://schemas.openxmlformats.org/drawingml/2006/main">
            <a:r>
              <a:t>- Major League Baseball Stats API, 2025 team season hitting statistics, &lt;https://statsapi.mlb.com/api/v1/teams/stats?stats=season&amp;group=hitting&amp;season=2025&amp;sportIds=1&gt;; Major League Baseball, “2025 MLB Team Hitting Statistics,” &lt;https://www.mlb.com/stats/team/ops/2025&gt;, accessed August 2, 2026. The bundled script uses official component totals, checks the 30-team structure, reconciles calculated BA and OPS with MLB's rounded measures, and reproduces every reported coefficient and figure. The regressions are descriptive team-level comparisons.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4bfe7a9f24f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f7a4d27b04b51" /><Relationship Type="http://schemas.openxmlformats.org/officeDocument/2006/relationships/slideLayout" Target="/ppt/slideLayouts/slideLayout1.xml" Id="R389fed93b789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9fed93b789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8f4bfafef4019" /><Relationship Type="http://schemas.openxmlformats.org/officeDocument/2006/relationships/notesSlide" Target="/ppt/notesSlides/notesSlide1.xml" Id="R6cb3ce283e28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859781eef4722" /><Relationship Type="http://schemas.openxmlformats.org/officeDocument/2006/relationships/notesSlide" Target="/ppt/notesSlides/notesSlide2.xml" Id="Rd0ef33f527fb44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d253f9c07456d" /><Relationship Type="http://schemas.openxmlformats.org/officeDocument/2006/relationships/notesSlide" Target="/ppt/notesSlides/notesSlide3.xml" Id="R0345f672d4e64d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505e4e095437a" /><Relationship Type="http://schemas.openxmlformats.org/officeDocument/2006/relationships/notesSlide" Target="/ppt/notesSlides/notesSlide4.xml" Id="R7526c7f5bf7849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58883eff34b85" /><Relationship Type="http://schemas.openxmlformats.org/officeDocument/2006/relationships/notesSlide" Target="/ppt/notesSlides/notesSlide5.xml" Id="R95e0fb9ad54b46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8f151efda40ad" /><Relationship Type="http://schemas.openxmlformats.org/officeDocument/2006/relationships/notesSlide" Target="/ppt/notesSlides/notesSlide6.xml" Id="R8c00cd30dbfe43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30958c53f46dc" /><Relationship Type="http://schemas.openxmlformats.org/officeDocument/2006/relationships/notesSlide" Target="/ppt/notesSlides/notesSlide7.xml" Id="R925dcf58410f47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402ab61164522" /><Relationship Type="http://schemas.openxmlformats.org/officeDocument/2006/relationships/notesSlide" Target="/ppt/notesSlides/notesSlide8.xml" Id="R2c1e3cf338ea43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101e161884824" /><Relationship Type="http://schemas.openxmlformats.org/officeDocument/2006/relationships/notesSlide" Target="/ppt/notesSlides/notesSlide9.xml" Id="Rbe26ccbd576f4c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620e8b58e48e4" /><Relationship Type="http://schemas.openxmlformats.org/officeDocument/2006/relationships/image" Target="/ppt/media/image.png" Id="R4ce6c244f8f24712" /><Relationship Type="http://schemas.openxmlformats.org/officeDocument/2006/relationships/notesSlide" Target="/ppt/notesSlides/notesSlide10.xml" Id="Re35df9cf45d448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bdbe123044cbe" /><Relationship Type="http://schemas.openxmlformats.org/officeDocument/2006/relationships/notesSlide" Target="/ppt/notesSlides/notesSlide11.xml" Id="R5f1c1997fe6a4e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be21ad5934f63" /><Relationship Type="http://schemas.openxmlformats.org/officeDocument/2006/relationships/notesSlide" Target="/ppt/notesSlides/notesSlide12.xml" Id="R1d6ccf7046fc44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733f5513741f8" /><Relationship Type="http://schemas.openxmlformats.org/officeDocument/2006/relationships/notesSlide" Target="/ppt/notesSlides/notesSlide13.xml" Id="Rc6a6e45eadb342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0d3a1708425a" /><Relationship Type="http://schemas.openxmlformats.org/officeDocument/2006/relationships/notesSlide" Target="/ppt/notesSlides/notesSlide14.xml" Id="R78ee71dee67d49c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a690786444df" /><Relationship Type="http://schemas.openxmlformats.org/officeDocument/2006/relationships/notesSlide" Target="/ppt/notesSlides/notesSlide15.xml" Id="Rbe04c4e7d98c41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ba851e3a44a4e" /><Relationship Type="http://schemas.openxmlformats.org/officeDocument/2006/relationships/notesSlide" Target="/ppt/notesSlides/notesSlide16.xml" Id="R17e67bcafc2b47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228e2d98b4ecb" /><Relationship Type="http://schemas.openxmlformats.org/officeDocument/2006/relationships/notesSlide" Target="/ppt/notesSlides/notesSlide17.xml" Id="R069e3e3b733649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f5283185247ba" /><Relationship Type="http://schemas.openxmlformats.org/officeDocument/2006/relationships/notesSlide" Target="/ppt/notesSlides/notesSlide18.xml" Id="Rfe5e1fafdd3349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ef201c6dc4327" /><Relationship Type="http://schemas.openxmlformats.org/officeDocument/2006/relationships/notesSlide" Target="/ppt/notesSlides/notesSlide19.xml" Id="R2040e01f78c543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fdcecc918477a" /><Relationship Type="http://schemas.openxmlformats.org/officeDocument/2006/relationships/notesSlide" Target="/ppt/notesSlides/notesSlide20.xml" Id="Rdfbdbad733b646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be7d40638483b" /><Relationship Type="http://schemas.openxmlformats.org/officeDocument/2006/relationships/notesSlide" Target="/ppt/notesSlides/notesSlide21.xml" Id="R896e470f65b441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dfadda8314a40" /><Relationship Type="http://schemas.openxmlformats.org/officeDocument/2006/relationships/notesSlide" Target="/ppt/notesSlides/notesSlide22.xml" Id="Rcbb39008ec38421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90af1b23a4457" /><Relationship Type="http://schemas.openxmlformats.org/officeDocument/2006/relationships/notesSlide" Target="/ppt/notesSlides/notesSlide23.xml" Id="R2e570ebdf388447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5c65bba1542a8" /><Relationship Type="http://schemas.openxmlformats.org/officeDocument/2006/relationships/notesSlide" Target="/ppt/notesSlides/notesSlide24.xml" Id="R63c7c10a81e44a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f959bff1a48ad" /><Relationship Type="http://schemas.openxmlformats.org/officeDocument/2006/relationships/notesSlide" Target="/ppt/notesSlides/notesSlide25.xml" Id="R4204399db0a04b7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5dede1f024f1b" /><Relationship Type="http://schemas.openxmlformats.org/officeDocument/2006/relationships/notesSlide" Target="/ppt/notesSlides/notesSlide26.xml" Id="R3890e11d4835471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cc7275fb6451a" /><Relationship Type="http://schemas.openxmlformats.org/officeDocument/2006/relationships/notesSlide" Target="/ppt/notesSlides/notesSlide27.xml" Id="R9d37cccb85f646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2438934874bd3" /><Relationship Type="http://schemas.openxmlformats.org/officeDocument/2006/relationships/notesSlide" Target="/ppt/notesSlides/notesSlide28.xml" Id="R430af956938e41a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23a01ebba4cd0" /><Relationship Type="http://schemas.openxmlformats.org/officeDocument/2006/relationships/notesSlide" Target="/ppt/notesSlides/notesSlide29.xml" Id="R2999bb587c5347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ea6d68d8c45f2" /><Relationship Type="http://schemas.openxmlformats.org/officeDocument/2006/relationships/notesSlide" Target="/ppt/notesSlides/notesSlide30.xml" Id="Rd1aafaa55e7f4f4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df13f317f4ac3" /><Relationship Type="http://schemas.openxmlformats.org/officeDocument/2006/relationships/notesSlide" Target="/ppt/notesSlides/notesSlide31.xml" Id="Rb80cf30a26bc41f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8b39a73564e31" /><Relationship Type="http://schemas.openxmlformats.org/officeDocument/2006/relationships/notesSlide" Target="/ppt/notesSlides/notesSlide32.xml" Id="Rb5f9aa78d49e40f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ac90d34f140a2" /><Relationship Type="http://schemas.openxmlformats.org/officeDocument/2006/relationships/notesSlide" Target="/ppt/notesSlides/notesSlide33.xml" Id="R258257af0c27465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b0a48a3b34781" /><Relationship Type="http://schemas.openxmlformats.org/officeDocument/2006/relationships/notesSlide" Target="/ppt/notesSlides/notesSlide34.xml" Id="R13afff097154489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6c333e9214009" /><Relationship Type="http://schemas.openxmlformats.org/officeDocument/2006/relationships/notesSlide" Target="/ppt/notesSlides/notesSlide35.xml" Id="R3fa13da8dc074f7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72a479d69436d" /><Relationship Type="http://schemas.openxmlformats.org/officeDocument/2006/relationships/notesSlide" Target="/ppt/notesSlides/notesSlide36.xml" Id="R2a9b13499e0849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db4a509c94510" /><Relationship Type="http://schemas.openxmlformats.org/officeDocument/2006/relationships/notesSlide" Target="/ppt/notesSlides/notesSlide37.xml" Id="Rd1ba3e74655f4d5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73ca423a44eb6" /><Relationship Type="http://schemas.openxmlformats.org/officeDocument/2006/relationships/notesSlide" Target="/ppt/notesSlides/notesSlide38.xml" Id="R9ee1c36cb8c04c7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c8f90e5864969" /><Relationship Type="http://schemas.openxmlformats.org/officeDocument/2006/relationships/notesSlide" Target="/ppt/notesSlides/notesSlide39.xml" Id="Ra26303d1dbb34d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a4365ae4640c4" /><Relationship Type="http://schemas.openxmlformats.org/officeDocument/2006/relationships/notesSlide" Target="/ppt/notesSlides/notesSlide40.xml" Id="R928b0833a4064b8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5f99287294cf5" /><Relationship Type="http://schemas.openxmlformats.org/officeDocument/2006/relationships/notesSlide" Target="/ppt/notesSlides/notesSlide41.xml" Id="Rcfb9f99860694a2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d9ee8e0e445ed" /><Relationship Type="http://schemas.openxmlformats.org/officeDocument/2006/relationships/notesSlide" Target="/ppt/notesSlides/notesSlide42.xml" Id="Rfb8fb51906c2415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4b791261b4a1b" /><Relationship Type="http://schemas.openxmlformats.org/officeDocument/2006/relationships/notesSlide" Target="/ppt/notesSlides/notesSlide43.xml" Id="R7b72d0d1f028481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441f259df4649" /><Relationship Type="http://schemas.openxmlformats.org/officeDocument/2006/relationships/notesSlide" Target="/ppt/notesSlides/notesSlide44.xml" Id="R4c35cfbcfee8489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cf8c486774e38" /><Relationship Type="http://schemas.openxmlformats.org/officeDocument/2006/relationships/notesSlide" Target="/ppt/notesSlides/notesSlide45.xml" Id="Rb722157d54cc48e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8f8974f214826" /><Relationship Type="http://schemas.openxmlformats.org/officeDocument/2006/relationships/notesSlide" Target="/ppt/notesSlides/notesSlide46.xml" Id="R073806217aa44d7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eab6a35d8498a" /><Relationship Type="http://schemas.openxmlformats.org/officeDocument/2006/relationships/notesSlide" Target="/ppt/notesSlides/notesSlide47.xml" Id="R6e77422924f34c7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4536a66cb4d39" /><Relationship Type="http://schemas.openxmlformats.org/officeDocument/2006/relationships/notesSlide" Target="/ppt/notesSlides/notesSlide48.xml" Id="R6c31ccf81d444146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bc792b0fe4ab4" /><Relationship Type="http://schemas.openxmlformats.org/officeDocument/2006/relationships/notesSlide" Target="/ppt/notesSlides/notesSlide49.xml" Id="Rafe16b603802431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9c3fe332e4441" /><Relationship Type="http://schemas.openxmlformats.org/officeDocument/2006/relationships/notesSlide" Target="/ppt/notesSlides/notesSlide50.xml" Id="Rdc8d19b56159420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b845085284eaa" /><Relationship Type="http://schemas.openxmlformats.org/officeDocument/2006/relationships/notesSlide" Target="/ppt/notesSlides/notesSlide51.xml" Id="R890a9132277740d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9fbd74f3fa4afb" /><Relationship Type="http://schemas.openxmlformats.org/officeDocument/2006/relationships/notesSlide" Target="/ppt/notesSlides/notesSlide52.xml" Id="Rec0881c0734a479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f3e78da344788" /><Relationship Type="http://schemas.openxmlformats.org/officeDocument/2006/relationships/notesSlide" Target="/ppt/notesSlides/notesSlide53.xml" Id="Rff43d0a158aa4d0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2cc2ef6b040bb" /><Relationship Type="http://schemas.openxmlformats.org/officeDocument/2006/relationships/notesSlide" Target="/ppt/notesSlides/notesSlide54.xml" Id="Rbfcd4d21332d44c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d034119f74b5e" /><Relationship Type="http://schemas.openxmlformats.org/officeDocument/2006/relationships/notesSlide" Target="/ppt/notesSlides/notesSlide55.xml" Id="R36ad4f8027bd435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0c71b976e4ccf" /><Relationship Type="http://schemas.openxmlformats.org/officeDocument/2006/relationships/notesSlide" Target="/ppt/notesSlides/notesSlide56.xml" Id="R8bffd3b9605e47c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95238c6214d32" /><Relationship Type="http://schemas.openxmlformats.org/officeDocument/2006/relationships/notesSlide" Target="/ppt/notesSlides/notesSlide57.xml" Id="R3a603678fd3c4ce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ac30a6d7f4ea5" /><Relationship Type="http://schemas.openxmlformats.org/officeDocument/2006/relationships/notesSlide" Target="/ppt/notesSlides/notesSlide58.xml" Id="R7ce65ea058444ac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da47635f948ed" /><Relationship Type="http://schemas.openxmlformats.org/officeDocument/2006/relationships/notesSlide" Target="/ppt/notesSlides/notesSlide59.xml" Id="R9a4923bc3e1a4bcc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71dd48b834e2e" /><Relationship Type="http://schemas.openxmlformats.org/officeDocument/2006/relationships/image" Target="/ppt/media/image2.png" Id="R063a80c593904809" /><Relationship Type="http://schemas.openxmlformats.org/officeDocument/2006/relationships/notesSlide" Target="/ppt/notesSlides/notesSlide60.xml" Id="R748b8e3d34534eb6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d72a5faf644ca" /><Relationship Type="http://schemas.openxmlformats.org/officeDocument/2006/relationships/notesSlide" Target="/ppt/notesSlides/notesSlide61.xml" Id="R04da9e49758949f7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cfca290ac439c" /><Relationship Type="http://schemas.openxmlformats.org/officeDocument/2006/relationships/image" Target="/ppt/media/image3.png" Id="R8b40e569c6a24339" /><Relationship Type="http://schemas.openxmlformats.org/officeDocument/2006/relationships/notesSlide" Target="/ppt/notesSlides/notesSlide62.xml" Id="R06a3d2359ffb4e6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cd6707f154498" /><Relationship Type="http://schemas.openxmlformats.org/officeDocument/2006/relationships/notesSlide" Target="/ppt/notesSlides/notesSlide63.xml" Id="Rd0a8c0c385884ca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22726975d4198" /><Relationship Type="http://schemas.openxmlformats.org/officeDocument/2006/relationships/notesSlide" Target="/ppt/notesSlides/notesSlide64.xml" Id="Rcc694434d442445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728c71c384329" /><Relationship Type="http://schemas.openxmlformats.org/officeDocument/2006/relationships/notesSlide" Target="/ppt/notesSlides/notesSlide65.xml" Id="R9cb4423073fb485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af4fa84f42ca" /><Relationship Type="http://schemas.openxmlformats.org/officeDocument/2006/relationships/notesSlide" Target="/ppt/notesSlides/notesSlide66.xml" Id="R781c2d67875d41f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69b914591403f" /><Relationship Type="http://schemas.openxmlformats.org/officeDocument/2006/relationships/notesSlide" Target="/ppt/notesSlides/notesSlide67.xml" Id="R1b5d16c3a8b4415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d08e00be04065" /><Relationship Type="http://schemas.openxmlformats.org/officeDocument/2006/relationships/notesSlide" Target="/ppt/notesSlides/notesSlide68.xml" Id="Rd91df804b653450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1e9a9b89648bc" /><Relationship Type="http://schemas.openxmlformats.org/officeDocument/2006/relationships/notesSlide" Target="/ppt/notesSlides/notesSlide69.xml" Id="R6d1d5362e97646b9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f134ed2e44b86" /><Relationship Type="http://schemas.openxmlformats.org/officeDocument/2006/relationships/notesSlide" Target="/ppt/notesSlides/notesSlide70.xml" Id="R4a2ab8f59758499b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12b3662a84438" /><Relationship Type="http://schemas.openxmlformats.org/officeDocument/2006/relationships/notesSlide" Target="/ppt/notesSlides/notesSlide71.xml" Id="R46cd1696821b4c7f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522baa7e4436a" /><Relationship Type="http://schemas.openxmlformats.org/officeDocument/2006/relationships/notesSlide" Target="/ppt/notesSlides/notesSlide72.xml" Id="R44034dd5f0af4779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80ebfc4164254" /><Relationship Type="http://schemas.openxmlformats.org/officeDocument/2006/relationships/notesSlide" Target="/ppt/notesSlides/notesSlide73.xml" Id="R938816091d3d461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b3791a865474e" /><Relationship Type="http://schemas.openxmlformats.org/officeDocument/2006/relationships/image" Target="/ppt/media/image4.png" Id="R8fc84aed9c014ad5" /><Relationship Type="http://schemas.openxmlformats.org/officeDocument/2006/relationships/notesSlide" Target="/ppt/notesSlides/notesSlide74.xml" Id="R001adcfe6d014bb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227df08874478" /><Relationship Type="http://schemas.openxmlformats.org/officeDocument/2006/relationships/notesSlide" Target="/ppt/notesSlides/notesSlide75.xml" Id="R37df4f7799ec4dd8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eb396b4c74c70" /><Relationship Type="http://schemas.openxmlformats.org/officeDocument/2006/relationships/notesSlide" Target="/ppt/notesSlides/notesSlide76.xml" Id="Rabba68465b744f2c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e317c3adb450d" /><Relationship Type="http://schemas.openxmlformats.org/officeDocument/2006/relationships/notesSlide" Target="/ppt/notesSlides/notesSlide77.xml" Id="R80d53562ec5243ac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2faf2a75a4219" /><Relationship Type="http://schemas.openxmlformats.org/officeDocument/2006/relationships/notesSlide" Target="/ppt/notesSlides/notesSlide78.xml" Id="R47afd85744d64397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f89ceaefe426b" /><Relationship Type="http://schemas.openxmlformats.org/officeDocument/2006/relationships/notesSlide" Target="/ppt/notesSlides/notesSlide79.xml" Id="R8bb1e764830c44db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6a6330c3b42b9" /><Relationship Type="http://schemas.openxmlformats.org/officeDocument/2006/relationships/notesSlide" Target="/ppt/notesSlides/notesSlide80.xml" Id="R309ce0924d644ad9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28547115e4472" /><Relationship Type="http://schemas.openxmlformats.org/officeDocument/2006/relationships/notesSlide" Target="/ppt/notesSlides/notesSlide81.xml" Id="R867cfe9b577547be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45f51d5174da2" /><Relationship Type="http://schemas.openxmlformats.org/officeDocument/2006/relationships/notesSlide" Target="/ppt/notesSlides/notesSlide82.xml" Id="R62d25eb5f450416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729a6efb94044" /><Relationship Type="http://schemas.openxmlformats.org/officeDocument/2006/relationships/notesSlide" Target="/ppt/notesSlides/notesSlide83.xml" Id="Rc89f4f261b284199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be830ba544ca4" /><Relationship Type="http://schemas.openxmlformats.org/officeDocument/2006/relationships/notesSlide" Target="/ppt/notesSlides/notesSlide84.xml" Id="R269fda66e2ff49aa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f5121862a4491" /><Relationship Type="http://schemas.openxmlformats.org/officeDocument/2006/relationships/notesSlide" Target="/ppt/notesSlides/notesSlide85.xml" Id="Rf4e3e3a614444ad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e396af17c46f8" /><Relationship Type="http://schemas.openxmlformats.org/officeDocument/2006/relationships/notesSlide" Target="/ppt/notesSlides/notesSlide86.xml" Id="R235d0fe43bd24335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81fb9ea06415c" /><Relationship Type="http://schemas.openxmlformats.org/officeDocument/2006/relationships/notesSlide" Target="/ppt/notesSlides/notesSlide87.xml" Id="R828f1a2093d94a47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df9c0be3c4642" /><Relationship Type="http://schemas.openxmlformats.org/officeDocument/2006/relationships/notesSlide" Target="/ppt/notesSlides/notesSlide88.xml" Id="Rbd679b74db5344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028B599-07D5-40DE-B879-26A40E29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315A39-8720-41D3-8D9F-1AE5138A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 i="0">
                <a:solidFill>
                  <a:srgbClr val="1D2A33"/>
                </a:solidFill>
                <a:latin typeface="Georgia"/>
                <a:ea typeface="Georgia"/>
                <a:cs typeface="Georgia"/>
              </a:defRPr>
            </a:pPr>
            <a:r>
              <a:rPr sz="4050" b="1" i="0">
                <a:solidFill>
                  <a:srgbClr val="1D2A33"/>
                </a:solidFill>
                <a:latin typeface="Georgia"/>
                <a:ea typeface="Georgia"/>
                <a:cs typeface="Georgia"/>
              </a:rPr>
              <a:t>Introduction to Sports Economics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527C5F-B43C-4068-A35B-725C4104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12455E"/>
                </a:solidFill>
                <a:latin typeface="Georgia"/>
                <a:ea typeface="Georgia"/>
                <a:cs typeface="Georgia"/>
              </a:defRPr>
            </a:pPr>
            <a:r>
              <a:rPr sz="3150" b="0" i="0">
                <a:solidFill>
                  <a:srgbClr val="12455E"/>
                </a:solidFill>
                <a:latin typeface="Georgia"/>
                <a:ea typeface="Georgia"/>
                <a:cs typeface="Georgia"/>
              </a:rPr>
              <a:t>What changes when we turn a sports headline into an economic question?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D602EB-10B6-4443-99BF-8FFA448C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382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Chapter 1 · Sports Economics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Main chapter, followed by a separately labeled optional regression appendix.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DCC9A-99A7-45FF-93D5-C968770B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2E7CE1B-0BD4-4146-A655-CC70FEA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Introduction to Sports Economics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332D65D-466D-4A7E-A00C-25B78DB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7406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1160C46-CCC0-4157-9EDB-5B8357E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OPENING CASE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7026ED-A176-440E-970C-06B3ADDD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Was Ohtani worth $700 million?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15FE05-038C-4AAC-96D7-9E07BB7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Dodgers agreed to a ten-year, $700 million contract.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$680 million was deferred until after the playing term.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“Worth it” could mean wins, revenue, profit, attention, or long-run value.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AD7B8D-079F-43C3-AE89-2CB6E61B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Worth it to whom—and compared with which alternative?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F6CCD-103D-4980-A607-DAC8931C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CDE5ADC-FA90-4FAE-8E09-FCC6449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Introduction to Sports Economics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FEAC5D8-0876-49F8-A1AC-99562F43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24846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4E8CE8E-D21F-4F72-B8B8-E1D07577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ED7F50-C602-4382-8314-62930C58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From a headline to an economic question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393EF36-828D-4C3A-898F-F22D1DA5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Identify the decision maker, objective, constraints, and alternatives.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Ask which players or future flexibility the choice displaces.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counterfactual is what would likely have happened under a different choice.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4043F6F-E061-42D6-9359-0F4DC276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large number starts the discussion; it does not settle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E2FAE-B1E3-497C-84C7-633C20F7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F7FC462-FFD5-4395-B2A2-635E9197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Introduction to Sports Economics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EFB7E1A-9E9A-414B-82A1-28622F61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5410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CAF2DC5-73F5-47F3-B5BE-1BE907C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6F938F2-26AA-469A-8E10-F81D1BA8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Learning goals · The main chapter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E6D167E-F92A-484B-8C83-7C49752D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define sports economics as applied microeconomics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identify the main economic decision makers in sports and the constraints they face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explain how incentives, models, institutions, counterfactuals, and evidence fit together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distinguish an economic question from a factual, accounting, or prediction question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explain why sports provide an unusually visible setting for economic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8C7FC-A52B-497B-99A9-7EB786F6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394C08F-BDB4-4ACE-9908-A763E95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Learning Goals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D83BCC1-7A90-4CA3-A92E-65CF6996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78344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63A4156-1CA2-4170-87AA-751DF34E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08861FC-6F7A-4AE1-9334-7FC1C114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Learning goals · Evidence and study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28C7D53-D916-4D6C-AC3D-B72084EB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recognize the difference between association, prediction, and causation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improve an AI explanation by specifying the audience, context, task, and constraints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use an uploaded chapter as the source for AI-generated tutoring and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0CFCF-0297-45CE-8161-B6E62654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FA0810-DA70-474F-9A8C-6095761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Learning Goals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97D3B8B-C789-4A1B-B762-B3E315A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77833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B6FB4A0-1144-44BD-8B24-431ABAD9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2EAC7CD-1E14-40A7-B31D-1E8C0587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Learning goals · Optional appendix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A525E65-0E9F-4ABF-A5C5-B0B8A563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if completing the optional appendix, interpret a scatterplot, regression slope, fitted value, residual, R², and confidence interval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if completing the optional appendix, reproduce a small sports-data analysis with Codex and R while checking the generated work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129DF7B-A22F-49A9-8ECC-28C9E88A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No retained statistics or programming knowledge is assumed.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E4143-E38F-49A2-98B7-EECF3F8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7710820-58EA-4171-ADA1-636C6189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Learning Goals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57CDA39-FB81-424D-A384-D18E04D0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597658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CFAEBC5-A9D2-4940-AFB4-55CE55A3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CEF644-F7E7-429A-A0C9-0C9F626A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Sports economics is applied microeconomics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D871A84-4DB8-4B40-ABA1-07477B9E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Apply economic reasoning and evidence to decisions in sports.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Study athletes, fans, teams, leagues, media, sponsors, venues, and governments.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Use a model when it clarifies a real choice or mechanism—not to force sports into a diagram.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8C9923-A10E-43C5-9DB7-31A6047B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The setting is sports; the subject is choices, markets, and institutions.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86D45-E112-40CC-96E7-BF8718D0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4E0EA65-9FFF-48CB-9B93-76F0D55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What Is Sports Economics?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0F9AD2-0B60-42EA-AFE1-B4533426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13513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CA1D4F5-8E94-4F8B-A7E9-C8B0BC8C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1604C00-985D-4B3F-A1DF-2D9ED8B8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Who chooses—and under what constraints?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A3E7A0D-4D55-4D4F-89E7-C590842E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Fans:</a:t>
            </a:r>
            <a:r>
              <a:t> attendance, viewing, merchandise, and other uses of time and money.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Athletes:</a:t>
            </a:r>
            <a:r>
              <a:t> contracts, training, risk, and career opportunities.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Teams:</a:t>
            </a:r>
            <a:r>
              <a:t> rosters, ticket prices, media content, and facilities.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27FE7-1B8F-4FAC-92D5-F4F03732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FA8E89F-B47E-481C-8301-2DDFE9C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What Is Sports Economics?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E39912-6A91-4522-84B1-25128CCB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64559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73E9429-8B40-4F54-BD61-71E67E3E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2336EF9-69D6-4433-BCCF-10440623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Individual choices are connected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B2F8A6E-F58E-40F7-89F6-F7DFA28C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Leagues:</a:t>
            </a:r>
            <a:r>
              <a:t> common rules shape competition among teams that need opponents.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Media and sponsors:</a:t>
            </a:r>
            <a:r>
              <a:t> buy content and access to audience attention.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Governments and venues:</a:t>
            </a:r>
            <a:r>
              <a:t> taxes, land, services, regulation, and public funding.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7ADF13C-C016-4F38-842A-CE2B88D0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player-movement rule or media contract can affect the whole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8B403-C3F4-45B5-A48C-BBB02203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D69D9F0-4447-4135-A8EE-10DA2DF7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What Is Sports Economics?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C17321F-5ADE-456D-ABDC-1E50BC6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43316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D1C310E-EA70-4473-9578-946B1C19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98884A-28DD-4C9E-9FEA-5ED1338F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Figure 1.1 · The sports-economics system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6c244f8f24712"/>
          <a:stretch xmlns:a="http://schemas.openxmlformats.org/drawingml/2006/main"/>
        </p:blipFill>
        <p:spPr>
          <a:xfrm xmlns:a="http://schemas.openxmlformats.org/drawingml/2006/main">
            <a:off x="2315705" y="1657350"/>
            <a:ext cx="7560591" cy="3943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A63378F-7A61-42F3-BE9A-68CD407C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Trace the exchanges in both directions; rules shape the available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DD660-D33D-4CE9-87CF-DC5262FB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8F261D7-F30B-46E3-80C2-310AACEA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What Is Sports Economics?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252D6AD-B688-44E8-A370-9B23AEBD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278244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CD16244-1983-4BFD-B846-0AA6948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77538F-F62D-4FD4-AECB-DBD2B36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Why sports are a useful economic laboratory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742C79C-3617-4EE4-8C02-B82A24F5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Rules and institutional changes are often public.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Games produce repeated, measurable outcomes.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Contracts, performance, standings, prices, and audiences are unusually visible.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E05DF78-A61F-4F91-9695-E5178E2D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Visibility helps us connect economic reasoning to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EFF22-6F00-4E5A-BD44-EA1EC17F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5971B96-27A0-4FEB-B879-F8D5F52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Why Sports Are A Useful Economic Laboratory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57F847-512C-4A77-933D-08A811C0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0890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42090E3D-696B-4D6F-9508-D5EEA56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BOOK EXAMPLE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B35E733-7B60-474F-955C-AF28036A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The Super Bowl sells scarce attention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FB6F8A9-2A9F-4A84-9DB0-C90DEFC0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Commercial time is limited even when the game is free with relevant broadcast access.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NBCUniversal reported that Super Bowl LX advertising inventory sold out early.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broadcast averaged 125.6 million viewers across its measured platforms.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E9BECBE-2600-4149-BBD6-D8F214F0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Advertisers buy access to an audience at a particular moment.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82A84-C143-4BA9-A9CD-E4541832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CDF14A-D9ED-4817-A78E-CB60AE39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Why Sports Are A Useful Economic Laboratory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0BFA9D-33A2-4CB8-8FFF-309728D2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294907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38ED859-7AED-4F15-80E8-2FB4C250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BOOK EXAMPLE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DF8F7D5-E6A7-4384-9CC9-B4787F0D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Salary caps change roster choices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4274FA8-7628-4834-9E9E-F8885578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roster is not simply a list of the best available players.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Teams weigh positions, contract lengths, injuries, replacement options, and future payroll.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rule can alter bargaining and timing without changing athletic ability.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C29F89D-F1EF-4EFE-A957-A3480DD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Institutions shape the available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1E313-731F-4367-9705-3C3AFDDF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71D818-45FD-4D5E-8E19-D2770AED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Why Sports Are A Useful Economic Laboratory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427E7E0-F7B9-42F6-97C8-C18DF2A9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95659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5F0CD2F-94A0-48D6-9A34-F5719C1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8E711EF-32D0-4210-B2B5-30CC7A58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laboratory is not automatically an experiment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A4257C4-BFC9-4967-8696-C555A30C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Popular games can have both higher prices and higher attendance.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Winning can raise revenue, while revenue can help buy talent.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large dataset does not eliminate selection, omitted factors, or reverse causality.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3091BC-E528-4A00-8AE6-FB267730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Measurement makes analysis possible; research design supports causal claims.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078DB-409A-4A92-9916-1FDEED4F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D8DD23A-230B-43F5-8B32-1C754B17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Why Sports Are A Useful Economic Laboratory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C1D6250-A885-46CF-871C-9F734580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76517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AF1FA84-116E-4806-87DE-F8B4BD5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AEB11DC-761A-463E-B5FD-0549632D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The economist’s method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D843B30-A8CE-4942-A2B9-5D3BB8BD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Constraints and trade-offs; incentives and behavioral response.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Models; institutions.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Counterfactuals; evidence.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99210C1-B5FC-48DB-9A33-AA6817C9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Use the six ideas to analyze choices and consequences.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661C6-1EC2-4D66-88DB-C4537457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1CC1F26-3E20-40C0-BC67-5A9C6191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0721AB6-E257-4ACF-8606-18A1E70E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17019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3002699-DDB1-43D0-8E6A-9A7698D6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CD7F49-478C-4B8D-AF08-5D2B7AF5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Constraints and trade-offs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6210428-8C4F-4C57-BF93-D7F6439C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Fans have limited income and time; teams have limited rosters and budgets.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city cannot use the same dollar for a stadium and a school.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Opportunity cost is the value of the best forgone alternative.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36AE00-A84F-46F8-B95A-9C0D9340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Ask which alternative disappears when a choice is made.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AD0BC-4E7B-497B-94AE-498BDD93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BCF1539-6468-4776-ADED-ABE9FB7B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D828FDD-244C-4B78-A0CC-A503D246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628962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1817FDC-E993-4524-BA0D-8E678399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BOOK EXAMPLE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EF4118-123E-43C0-9028-4238E470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Deferral changes timing—not whether a cost exists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E5C493E-7E9F-4292-ACE5-F602D5A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Ohtani choice committed resources and future flexibility.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Alternative players and roster plans belong in the comparison.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Deferral changed payment timing and the competitive-balance-tax calculation.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69095CC-6612-423A-8AF5-0D2A9C93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delayed commitment is not a costless commitment.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9F55C-EA05-4523-A7C4-11F90897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8EDBAF6-B0F4-4E60-BB8B-9DA4AF3D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90B435-21C0-409A-ACCB-AECC118F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563315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E0EE7C1-DE30-47E1-BD23-B65B238E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093B0E-1157-4AE1-BB3C-65861BF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Incentives and behavioral response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0ED2AE5-0CBC-4A04-BA35-E3A2EF3B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An incentive changes an action’s expected benefit or cost.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Ticket prices, bonuses, draft rules, and transfer restrictions change payoffs.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People differ in preferences, information, health, loyalty, and ability to adjust.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60D5F03-AF0C-4FA6-B69C-FAD00E69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Predict a likely margin of adjustment, then examine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7215-2F69-48A5-9B27-A0F437B0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5652802-00A1-4DF8-B466-7FCD0CC2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6E34A6-D18B-495B-9F3E-0D8C2CBD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127300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CA66E19-CD3A-4C3E-A0AE-012F79BF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58C7B32-4FFC-400B-9E7A-CF4D1569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Models deliberately simplify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0DE6F4-6097-4803-9981-EB095BB0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demand curve holds other relevant conditions fixed.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competitive-market model treats buyers and sellers as price takers.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Game theory asks how one person’s best choice depends on another’s response.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2B02659-DFA6-451A-AF12-1D2A7C18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State the assumptions, follow the logic, and recognize the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4EA8A-9F95-4D7E-A7FF-31D6C518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B9792BF-48D2-4551-BC5C-240276C6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431A442-EC2A-4F56-9E82-EB3CDAD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074179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3C0FB92-DA2D-4477-800A-C8DBBA2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7AC9DD6-B595-44AD-8F32-654AE432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When does a simplification stop helping?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4A5927-4B08-4A0E-9270-D72A8B3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Fixed stadium capacity can clarify scarcity for one game.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It is not a complete model of long-run seating and stadium decisions.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An omitted detail matters when it overturns the mechanism being studied.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7AF6A7-04AC-44E7-8A18-38FA0A87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useful model answers a specified question—not every possible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4557F-4123-4D37-A946-8F409EE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B2A0817-CAC8-4048-BBD9-D3096E56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D0B7622-4019-4F54-9420-A006DF9E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875061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EC36CFE-9579-45CA-B437-C5CA678F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D30D4F-B3E9-4884-8CA5-F304AF81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Institutions organize interaction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E0A3B5C-1E7B-451E-A9CB-EC185964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Institutions are formal and informal rules.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Examples:</a:t>
            </a:r>
            <a:r>
              <a:t> drafts, free agency, salary caps, revenue sharing, and bargaining.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Eligibility, resale restrictions, and broadcasting agreements also shape choices.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8E45B7-B2BD-40C8-8BC8-10A5AA34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The institutional detail is often the economic mechanism.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193E0-8C1A-4231-89E9-D59BF176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09A33E-5DFC-46A8-B2C3-47F023A5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2D3C8DC-C5E7-4268-888F-643B9BAF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7167224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8CF9B4E-6667-4097-B519-3A77BF0A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51FA0F-619A-495F-ABA9-C492C4F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rule’s name is not enough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5D37CD-1814-4CA3-88F7-8B872D1B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ticket-price cap:</a:t>
            </a:r>
            <a:r>
              <a:t> who gets the tickets, and can they resell them?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Player rights:</a:t>
            </a:r>
            <a:r>
              <a:t> changing ownership may affect income and allocation differently.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Trace feasible choices and bargaining positions before judging a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E9F71-84FB-4555-8751-624186F8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32DD620-F0F5-4E11-B1A1-ABC39E9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7BC79B8-A977-496B-BF92-993DCFA0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659320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6C600D25-4364-4E41-AC22-6AAEAE3E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CF6B7C-C4DF-4FF1-81BA-F2AC877B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Counterfactuals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C57F52-A475-4DFA-B1FE-3871D418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counterfactual is what would likely have happened under different conditions.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New restaurant spending near a stadium is not automatically new regional spending.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Some customers would have spent elsewhere without the stadium.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CA3F083-C8EB-4D0B-A224-B352DD55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Compare with the relevant alternative—not with zero or a perfect world.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3D66E-7682-403F-ABB2-A1639AA6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C8389C0-98A7-435E-97AC-1E2D22A1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6FADE7-1F69-4D9E-9819-88932114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636024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9E8705E-6A4F-4B4E-895F-2ACDF783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5C00DB-78A9-44D9-8186-3B08352A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We observe one path—not every possible path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E0A26F-8BCC-498A-93AE-FF1A1400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Comparison groups can help construct the unobserved alternative.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Rule changes, controlled variation, and explicit models can also help.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Even without a precise estimate, stating the counterfactual improves the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8F74C-53AB-47B6-853D-1D781D26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E84AAA6-D2F5-41BC-BDF8-04C01B44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A404BEB-95AF-4DB6-B0CE-EBC9B061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070148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93E363A2-B26F-4FC4-B3D8-172FD93D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BBBC661-4B6A-4872-90FD-F920FC41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Evidence must match the claim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7C4F665-D81F-495A-AB71-8E34A338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contract establishes terms; an attendance series describes outcomes.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survey measures reported preferences; a regression summarizes a relationship.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An executive’s explanation establishes a stated rationale—not proof of an effect.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225D1B6-395D-4B9A-A426-2DE41651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model can clarify a mechanism without proving its empirical importance.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07623-824C-4AD2-90E5-74F3AAD4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3A7E835-3E06-4E56-A956-5E156E00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38A0001-D238-4C9C-A2B3-039818A7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216431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B8A951B-E6ED-4BFE-B122-962533C3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E6DF07-3DBE-4D87-A540-0EAB2C7E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Four kinds of economic claims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CB8785-D728-4863-A5A7-D5D404CF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Theoretical:</a:t>
            </a:r>
            <a:r>
              <a:t> what follows from stated assumptions.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Descriptive:</a:t>
            </a:r>
            <a:r>
              <a:t> what the data show in a defined sample.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Predictive:</a:t>
            </a:r>
            <a:r>
              <a:t> what information helps forecast an outcome.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Causal:</a:t>
            </a:r>
            <a:r>
              <a:t> what changes when a factor changes relative to a counterfactual.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3E4D37-8CF2-462B-873F-F8D91826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Classify the claim before evaluating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18B0E-D196-4663-B728-AA00B44A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B159833-AF8F-4451-93D5-67F4138B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Economist's Method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43FC779-6226-4241-8464-E48CABB3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6288165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3C37AB3-DE6B-4A29-81A3-620DDFC6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268B0ED-426C-419D-A874-68B2144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Prices, products, and attention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D19A485-2E13-4AD5-9610-9424D1E2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Why do ticket prices vary across seats and games?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Why can a smaller stadium support higher prices?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Why are audiences valuable, and why bundle media rights?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843DCD0-4672-49D9-B572-197CC8FA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Demand, scarcity, product design, and market power help explain prices.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26237-3EE9-4112-B1D2-0BFBB7A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701DD1A-F119-404F-B21A-8B5CC143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Economic Questions Behind Sports Headlines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8038D24-519B-4156-A0C8-62969D8C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5365920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B793320F-B8B1-482A-B28F-81C514E0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DA43E4-79CE-427C-88A2-ACC4BDBB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Labor, rosters, and bargaining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1C5E3A-8A2A-40EB-89D1-D865FCF8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Why do some athletes earn far more than others?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How do free agency, drafts, caps, and unions change bargaining power?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Does a statistic measure productivity—or teammates, role, and opportunity?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287F-A19D-4F1C-8EA2-B9496B25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62ACFA-467C-498D-9530-E1F26265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Economic Questions Behind Sports Headlines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3F5161-4D37-4E8A-A19E-FD24128C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570070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040C4EF-948B-4E91-9D52-815D694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F0422F8-08DB-4B57-8094-841B13FD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Competition and cooperation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D360944-FFEA-423D-A3BB-55EAAA9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Teams want to defeat opponents but also need them.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Rules, officials, schedules, and a credible championship create a joint product.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Revenue sharing, competitive balance, governance, and antitrust follow from this tension.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B04D5-E240-47D7-987D-DA2975CA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7F43595-C80B-4A07-9BBC-F03DC4B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Economic Questions Behind Sports Headlines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C95C0B8-F467-493C-9A2A-9A576C50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9756053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726F505-6F6A-406D-8AE9-3D4FD98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7B2B092-2E16-466E-BC5C-33E4E9AF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Policy and public claims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F206949-2B12-42EE-9C61-F03D0AAB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Stadium subsidies, major events, gambling, and college sports raise policy questions.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Ask how behavior changes and which alternatives are displaced.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Identify who benefits, who bears costs, and what evidence supports the claim.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1716580-92B8-46FD-A27F-F7E08FE0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Adding visible spending is not enough.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FDA7F-DFFB-4963-AFB4-03CB39AB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94F4D6-EFB4-4B9E-A311-7AD5EE73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Economic Questions Behind Sports Headlines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61B7370-DF6C-4C50-839F-89C4E48C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310952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DFC3AF3-2EB4-42F3-BDA6-3FD977F9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606CF6A-030B-4008-A495-32CF8063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Data, prediction, and decisions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D894BB9-48E2-49A6-9915-7A539D02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Lower analysis costs make data tools accessible to more students and organizations.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polished chart can use the wrong variable; a regression can answer the wrong question.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optional appendix supplies vocabulary for reading empirical evidence.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76C45BC-EBA4-4AAC-8E2A-B5382FB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Easier analysis does not make judgment obsolete.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F1B58-D519-4581-9E76-23C09863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66337EF-D6A4-4021-AB54-E289A495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The Economic Questions Behind Sports Headlines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3BF5F63-EA67-43CC-AF30-C33ED6DC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5997885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824ECFF-D147-44D5-81A7-2AA597F0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F831F8B-16B6-409B-9439-11CBFFF2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vague request invites a generic answer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85698EB-147B-4500-9901-8A2B6901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“Explain sports economics.”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Who is the learner? Which sport and concepts matter?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What sources, length, and level should the explanation use?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0708F-157B-4DDB-BB3B-243E2814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D1B12B3-EB22-460D-B0CC-000D7999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Using AI To Learn Economics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6A1A7DA-EDF9-42E7-A941-95873CE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628767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55436F7-B3EB-4193-B1D8-5ACBFAAD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65B7BE-F1B6-4978-83F9-0FBCE5B1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Using AI to explain a concept · A stronger prompt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833832E-F06F-44A2-AD4C-CE9A8273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Explain sports economics to a first-year student who follows baseball but has never taken economics.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Use Ohtani’s contract to explain constraints, opportunity cost, incentives, and a counterfactual.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Separate facts from interpretation, avoid unexplained jargon, and use fewer than 250 words.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6EA9594-471F-4015-A2BC-5AC4980A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specific prompt is easier to evaluate; it does not guarantee correctness.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86D3B-743D-4D11-9BE4-FD3E06DD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CB73D79-405B-4D9D-BEC4-42D31CA9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Using AI To Learn Economics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FF00F43-B8BC-4790-BD5A-7E3F794A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7571326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93FF290-B98C-4980-B983-080C4EE3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546F87-AEB8-4A77-9A0E-B9195D4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Specify source, audience, and task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0E79A8C-D3D3-4455-8C09-0FD1D3CF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Source:</a:t>
            </a:r>
            <a:r>
              <a:t> which chapter, notes, or data should the answer use?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Audience:</a:t>
            </a:r>
            <a:r>
              <a:t> what does the learner already know?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Task:</a:t>
            </a:r>
            <a:r>
              <a:t> explain, compare, quiz, diagnose, or create an example?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FD285-6571-420E-ACE3-8035481F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A6EF1F-18AC-4A4B-878C-863E1691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Using AI To Learn Economics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3A916BA-6BA2-414D-8C78-2B344B0E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1695702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BE8E89F-02B9-4B9A-9AF8-B6F94780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CED618-0CBD-437E-A4FB-6342DE4A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Specify constraints—and ask for verification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8D72AB-6E44-4633-9B62-6077E05A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Constraints:</a:t>
            </a:r>
            <a:r>
              <a:t> length, difficulty, notation, and format.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Verification:</a:t>
            </a:r>
            <a:r>
              <a:t> facts, calculations, and assumptions to check.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Follow up:</a:t>
            </a:r>
            <a:r>
              <a:t> which claims are facts, models, predictions, or causal interpretations?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400CC-0367-4AA7-ADF3-0253B32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8CC642A-ED1F-4534-BEA7-66CBF4F6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Using AI To Learn Economics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D92E7A9-BCC5-49C6-8F6C-DADAE309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8421513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80D8DD7-0F2E-48CA-AD8A-8EE072DC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7C1477C-D4F3-4C6A-A6A4-D655B0BC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Use the chapter as an AI tutor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928C1DD-FC4D-410B-B950-85963331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Upload the Markdown and request practice using only that chapter.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Choose conceptual, counterfactual, or optional regression practice.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Ask one question at a time; attempt it before requesting a hint or explanation.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86B494-E8DF-42F6-A08B-AC25BEAB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Request outside examples separately, with links and 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259A9-2872-40EE-9577-2479712B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0E32788-6C6F-4D9B-AB16-E25A22B5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Using AI To Learn Economics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73525E6-8F1E-49E7-A3F3-4637C982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471857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58E750-EA49-41B0-A324-10D5805D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FD48A6-6F03-49A5-83EF-6A93F84B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Big picture · Frame the decision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BA87FCD-DB65-4E74-9CC5-68A14BEA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Identify the decision maker and objective.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Identify the relevant constraints and alternatives.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Trace the incentive and likely behavioral response.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5165077-E7F8-43FE-A11B-31AD2861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Ask more than “How much did it cost?”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B516E-D984-4290-8628-A2DC9FF2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3D4388B-6EB5-44BD-A101-59A5A618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Big Picture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9A4F593-7330-4815-BB23-2160948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76164332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BA7A6D4-2A02-41D8-A6A2-C5F18027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LESSON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2074A4-2423-49D2-97D0-8FDF5F2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Big picture · Evaluate the argument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9BD245-19BE-49F0-A695-6E985B5A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Specify the institution and rules.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State the relevant counterfactual.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Match the evidence to the claim.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570A3DB-5058-4745-83F8-6233E945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Chapter 2 turns this method into the demand-and-supply toolkit.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F3CDC-CE43-4DA0-B76D-71F207C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D49704-DA77-41D4-B0BB-DA681BBF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Big Picture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61EADB6-F455-4775-BE90-EEB15171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8978849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2AD8F65-B274-43D4-BBC1-850373E52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8F20B44-4D12-452C-85AB-AB704C46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Review questions 1–3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5C4607-6789-42BC-AE12-DE17A982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1. What makes sports economics a branch of applied microeconomics?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2. Why can sports be a useful laboratory without every sports comparison being an experiment?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3. Identify three constraints faced by a professional team and three faced by a fan.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91346-7F45-4A5B-8F7B-404BEF1D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B128575-ED0D-454E-9BCB-307A8B82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Review Questions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4D90C23-20FD-4E76-A11E-A9066292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7484267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B4D8D25-6D66-4329-ACCA-771FE5EA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397E5C5-30E7-4FFA-95B1-732A5F8A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Review questions 4–6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8BE2A6-26A6-4973-84C9-0DA39E6E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4. What is an incentive? Why does “people respond to incentives” not imply that everyone responds identically?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5. What is a model, and why can simplification be both useful and dangerous?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6. Give four examples of sports institutions.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E60F6-1063-473E-9F33-92D13AFC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CF1082D-E13E-4FE2-B6F8-B0E30577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Review Questions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2B77F7-5B92-44F0-A06D-6A91FAEE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424621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5D17949-F353-40DE-8E97-6709E577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ECA5FE-6CBD-4092-BF48-DB3A0849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Review questions 7–10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30715D-F57A-480C-A9D8-5251665B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7. Define a counterfactual in plain language.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8. Distinguish theoretical, descriptive, predictive, and causal claims.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9. Why is “Was Ohtani worth $700 million?” incomplete as an economic question?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10. What information should a strong AI-learning prompt provide?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76F1B-6EC2-4840-8A3A-473A5DCB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DC032C5-578E-42B4-8F63-BFB727AD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Review Questions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3030A2-4112-4ABB-BD82-25768E12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57008413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6C332D4-A61D-47D6-B34E-DCAE97E7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APPLICATION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CCFCB58-357F-40FB-9804-08519CF5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Application 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DBE4C03-DA58-4373-AB68-FFCAFFA5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32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team signs a veteran player and wins five more games the following season. State the causal claim someone might make. Then identify at least three alternative explanations and the relevant counterfactual.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F0DD9-7D91-460E-8CBB-126F6750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9F213AC-8918-4191-8473-C1FA8E33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9C1B30F-7EC6-4A2A-8C08-D9B2F536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33153546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368A910-A2FF-40A8-B7B8-B1ABA89C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APPLICATION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3D88C8F-B2A1-45AE-AFBA-890D3EF2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Application 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14F8605-5CD9-49D6-9F1E-B880B52E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32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city reports $200 million of spending near a newly opened stadium. Explain why $200 million is not automatically the stadium's economic impact.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3E05D-3682-44E9-9AA7-62443289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5B4C9CE-64E8-4AB0-83A8-434D5F1D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260960-0EDD-4894-A28B-2472F7F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79901361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D47CBD9-CFCB-4ECB-88B2-4C7527C6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APPLICATION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D1AFFB-4E5E-4446-AED4-ABCEFCE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Application 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20FAC63-FF94-45A8-A0CA-17C36D5F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32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league changes a draft rule. Identify the decision makers whose incentives might change and one behavioral response for 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D1E9E-B58C-4772-B80A-9E2CB57E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E20EEE7-2F27-484B-ACFA-4E7956E5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8259D15-6B73-40B9-8608-592AA6F7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0516819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F9F413F-A67D-44C7-8AC9-74982320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APPLICATION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52943D-E84B-45B6-986D-C7655FA0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Application 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6325FD6-AA45-473A-8EF7-A9AC4555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32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broadcaster pays a large amount for media rights. Identify the products or services flowing in both directions between the league, broadcaster, advertisers, and viewers.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008D9-BCDF-4F67-9AF7-F3AF2811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931326-6377-44BE-9953-8B77EC79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8547F90-9DA4-478E-96CD-EAC97C1C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910050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1D0DBD34-CB41-4975-BF7B-EE22A48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APPLICATION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B232884-41C1-43CF-B173-0252DD38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Application 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AAFC78-FDB2-4C50-B79D-9784090E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32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Rewrite the question “Are salary caps good?” as two answerable economic questions with specified objectives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F41D3-16DB-4B79-A2A4-C3685F54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728E511-C67F-4955-935A-6F2FA5FD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E5902B8-7C0E-4A49-B39B-7E16854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3100569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4BB9E58-3AB5-4312-BAFE-E8CED53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APPLICATION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F90E0A-7EFE-40D9-9FC0-60BFBBCA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Application 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31C2074-DF8A-4454-8BDB-4CD57427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32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Ask an AI assistant to explain one concept from this chapter using a sport you follow. Then revise the prompt to add an audience, source boundary, format, and verification requirement. Compare the two answers.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8CABC-A541-40B2-B09F-AB8A9C2E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538CCEB-8592-44C0-AFF7-8627C6B6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Applications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84936E-459E-4A5A-8D15-DD72E4ED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38067063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64785B2-31B6-46FF-9C79-BA746227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53379C-300D-41F5-8FFA-3CA2B9F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practical introduction to regression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9859B15-9732-422B-9927-255AF08D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Start with rows, columns, units, and a graph.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Interpret a fitted line and the uncertainty around it.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Reproduce a small analysis and identify what it does not prove.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42A49E-5DAC-4EF8-9667-9ADC6C46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The main chapter stands on its own if your course omits this appendix.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CD599-6DE4-4048-B3BD-E77B9F09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D1B870E-AE4F-44E3-844A-E5A917CE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AC0D40-8CA4-48C8-BD58-ED2CCF1D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210499131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65B6FEE-949A-44C5-BB3B-FFFBCD19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F5D8E6-7D1A-41D4-B870-37DE321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Table 1.1 · Data anatomy · 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905375"/>
                <a:gridCol w="3962400"/>
              </a:tblGrid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Term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 in this dataset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 to ask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Observation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One MLB team in the 2025 regular season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What does one row represent?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Variable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A recorded characteristic such as runs, games, batting average, or OPS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What does the column measure?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Outcome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Runs scored per game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What are we trying to describe or predict?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F58F922-00FC-400C-8FC0-B0EA3C6D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Define rows, columns, and units before fitting 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DC71E-CBEC-49DE-A7B5-F64464F5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80D286E-B317-4793-B22F-FF958E18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C18C21AD-6B1F-495E-9E01-900F0B71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36168421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5AC9F05-25C5-41EA-A4FC-6DB4364C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1467245-1B2C-4E0C-886A-B6690625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Table 1.1 · Data anatomy · 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905375"/>
                <a:gridCol w="3962400"/>
              </a:tblGrid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Term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Meaning in this dataset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 to ask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Predictor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Batting average or OPS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Which variable is used to explain variation in the outcome?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Unit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Runs per game or a proportion-based batting measure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What does a one-unit or 0.010 change mean?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Missing value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An observation for which a required value is unavailable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Is the value absent, or is it actually zero?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80B9921-7BBD-4904-BAC6-BD8296FF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Define rows, columns, and units before fitting a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38999-7F91-4E4D-857F-C95C63E6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5049D86-AD44-4110-A9D1-38C46082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DD59301-BF87-4F6A-A8C2-9D253058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25557229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90118AAA-29CB-4A4D-BE9A-883850C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2F082F4-53FE-4D89-9CE0-75D47AAC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Start with the data · Define the measures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72237CC-5505-40DA-9350-BDB80E2D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One observation is one MLB team’s 2025 regular season; there are 30 teams.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Runs per game = runs ÷ games; batting average = hits ÷ at-bats.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OPS = on-base percentage + slugging percentage.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4E83A-A8A9-4F40-8FA8-9ABDF232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C537513-DC4F-41E9-B0BA-90B21444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2FD2D1F-613E-4FE8-B5C0-D724BB9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05512544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782FBABA-D40F-4C26-A321-4E0E176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ADB917D-75CF-43ED-B089-745560F8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Three rows from the 2025 dataset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2190750"/>
                <a:gridCol w="2333625"/>
                <a:gridCol w="1819275"/>
              </a:tblGrid>
              <a:tr h="71437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Team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Runs per game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Batting average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OPS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</a:tr>
              <a:tr h="71437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Arizona Diamondbacks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4.883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0.251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0.757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  <a:tr h="71437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Boston Red Sox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4.852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0.254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0.745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Colorado Rockies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3.685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0.237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0.679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B986F49-A224-4D61-8ADD-5A1E5FAF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Rounded for display. Both models use all 30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F7944-DF0C-4BAB-9314-4F4FC31C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9704782-1EE1-441B-B125-65574B8C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88153E-F6F8-4BAF-9606-AA9994B3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96788532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0720516-BFD8-4C0A-AC4E-C96EFB8C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F6EE48-B160-4199-9559-7841B033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Inspect the dataset before modeling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692324-BE19-407D-AB9B-0B4DB9AA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Confirm 30 unique teams, the season, and 162 games per team.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Check missing values, plausible ranges, and consistent units.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Reconcile calculated batting measures with the official rounded values.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FD157B-A153-4A2E-B9AF-6C74039A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Correctly executed calculations can still use incorrectly defined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EA04A-D1D4-4691-B65A-E1D9CF9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8D467B5-9120-4DDB-B5A6-5E84D70B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46AD2C-DEEC-41CF-8453-57A56EF6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18843609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6D0C88E-616D-4F45-8AE5-93B7DF4F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4DEA22C-57A3-4021-A3CA-9B0BB061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Describe before you model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0414CE-31BF-4786-BE10-C7C811A2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Mean:</a:t>
            </a:r>
            <a:r>
              <a:t> the sum of observations divided by their number.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Standard deviation:</a:t>
            </a:r>
            <a:r>
              <a:t> dispersion around the mean.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scatterplot places the predictor horizontally and the outcome vertically.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A582DCD-9DDA-44BC-BAAF-B4342299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Summary statistics do not reveal every pattern or unusual observation.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E1FB21-9411-4EB6-893C-F370FAD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9844F3B-4991-4729-925C-45C36E65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FEDA3C6-2BDF-4BD1-A0E1-C5B2960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210227431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3B6B0D7-C455-4370-86E0-2874B83E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B13FEF-ADA1-4B95-9D1F-356C2EC5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Read the scatterplot first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3117DE-E101-4414-A25B-118A7AB0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Direction and strength:</a:t>
            </a:r>
            <a:r>
              <a:t> upward or downward; tight or widely scattered?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Shape:</a:t>
            </a:r>
            <a:r>
              <a:t> is a straight-line summary plausible?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Unusual observations and range:</a:t>
            </a:r>
            <a:r>
              <a:t> what lies far away, and where do the data stop?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F78154F-B428-4416-BE57-82E1A776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Each point represents one observation.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08D36-EF32-4B22-9B83-9583C51F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4B506DC-188C-4F8E-A043-55E3C725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5E96883-CF3D-45DC-A980-8630B131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9819896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422E3ABB-2413-413B-A139-16BF513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NOTATION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1D47E1-D98E-41F1-A389-79F8B04B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line through the points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5D35A-76BC-4F14-91B8-B5BF959F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simple regression summarizes an average linear relationship.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05999C6-C289-4F24-AB1B-609AD548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8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Yᵢ = β₀ + β₁Xᵢ + uᵢ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057397D-9FB7-4F0E-A608-88041B3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8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Fitted line: Ŷᵢ = b₀ + b₁Xᵢ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98F0FB-43A4-41E2-AEB7-B657390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107442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i identifies a team; Y is the outcome and X is the predictor.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6E8A2-4437-44FC-8CE6-F687BE4E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4F91837-06A2-46CB-A712-A948AB4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8EAE527-9F86-495B-8EF9-004840E0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24100404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4874CC9-BBB5-498F-96DD-AC25E125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E608814-4176-4D04-BED2-1AE555C6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Interpret the slope in units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5D9AC-B1E9-4A07-BE60-7F419520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slope is the predicted change in Y associated with a one-unit increase in X.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full 1.000 increase in batting average is outside the relevant range.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An association per 0.010 increase is easier to interpret.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84D143-039D-4110-B945-E1A1358D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State variables, predictor change, outcome units, and sample.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EE4C0-AB74-4E13-BD01-65C03256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AA1D32B-B57A-4982-8827-06E0C9E1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7B8632A-C12B-4DED-9FCA-00405DAA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09101435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5115552-BB6B-458A-A73A-FB528637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D57E787-BAF6-4348-804F-A5D20008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The intercept positions the line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24941B6-A7AC-48BE-8907-B536330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intercept is the fitted outcome when the predictor is zero.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Zero batting average lies far outside these team data.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It can help fit the line without describing a realistic sports situation.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377F0-7D41-40CD-8DA3-780BB985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FA9FB57-867B-4E1D-AD16-2263FD5B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2AF8EC0-47A1-4543-B8E7-07183AF8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4672586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11E9875B-B119-4FA3-B535-9FB115E6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4D4702-9991-4279-9FC4-34C4E23C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Predicted values and residuals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8FBF444-C45D-41C9-B7B9-FF8A0B7C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Fitted value:</a:t>
            </a:r>
            <a:r>
              <a:t> the outcome predicted by the line for an observation.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Residual:</a:t>
            </a:r>
            <a:r>
              <a:t> observed outcome minus fitted value.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positive residual lies above the line; a negative one lies below.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8202BE-8BDC-402B-BA97-0B7F8A5A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large residual is not automatically bad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005B9-7599-4FFD-A57E-493DE4B3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9EAD739-CAC7-4D64-9589-42A79393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15222DB-1120-48FB-BEC7-EF9A9490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207835318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B6BB460-A1ED-4305-BB1D-88DC83A2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00AD17-F6DD-4596-A86F-C83DC632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Figure 1.2 · An observed value, prediction, and residual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a80c593904809"/>
          <a:stretch xmlns:a="http://schemas.openxmlformats.org/drawingml/2006/main"/>
        </p:blipFill>
        <p:spPr>
          <a:xfrm xmlns:a="http://schemas.openxmlformats.org/drawingml/2006/main">
            <a:off x="3548401" y="1657350"/>
            <a:ext cx="5095198" cy="3943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FD29333-58A6-493A-8AE8-F4AF8F7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Compare observed and fitted outcomes at the same horizontal position.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7412A-A090-4B3F-98B9-7F5AFEB3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9D8ED4D-AD9B-4427-9E37-2DF1172F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6FAB92C-C983-4F5A-83EE-FFB88C8E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23006475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63BA4C4-DA30-4C13-9808-6ED88FFD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17ACB9-0F58-4CCE-8A57-F9F7C4B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The 2025 MLB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5009556-4E9D-4CAC-8AA5-04A3B793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Batting average records hits per at-bat; it omits walks and treats all hits alike.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OPS includes reaching base and the total-base value of hitting.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Which has the stronger linear relationship with team runs per game in 2025?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8FB30A-4AC7-4681-AA7A-845D2147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 narrow descriptive question—not the full Moneyball argument.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9E506-8030-4831-B039-EB28A60B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7BF7FAE-D0C5-4EAD-80D8-B3AEE5D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235B110-0216-4B26-833C-5C7B735C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52476999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FE62C2EC-C53B-4C44-8E4C-D99E8D24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BDF088-A04B-49E1-A7DD-911BC29D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Figure 1.3 · Runs per game, batting average, and OPS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0e569c6a24339"/>
          <a:stretch xmlns:a="http://schemas.openxmlformats.org/drawingml/2006/main"/>
        </p:blipFill>
        <p:spPr>
          <a:xfrm xmlns:a="http://schemas.openxmlformats.org/drawingml/2006/main">
            <a:off x="2511136" y="1657350"/>
            <a:ext cx="7169727" cy="3943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B43231E-93D6-42F9-A8BB-5BD22270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Same 30 teams and outcome: OPS points cluster more closely around the 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09445-9F8C-47EA-B437-8C5CA0D2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18F76D7-45D0-45C1-BFD5-5ECB2638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880F67C-339B-4D98-9DB4-E885DB96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207625441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1D20784-FE62-4BA2-BBC9-1CAA4715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3108263-2327-4ADD-BB78-CDF760E0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Table 1.2 · Associated changes in scoring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762375"/>
                <a:gridCol w="3581400"/>
              </a:tblGrid>
              <a:tr h="95250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Predictor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Runs per game per +0.010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95% confidence interval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</a:tr>
              <a:tr h="95250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Batting average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0.304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0.195 to 0.414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  <a:tr h="95250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0.116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0.100 to 0.133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F1F45DC-606A-45D3-809A-A8A7A32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Separate regressions use the same 30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98999-9CC9-4213-87CE-CC155240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49DDD88-ABD8-49B6-BA96-59EFA88C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BE7FBCB-17B6-4DBD-8E9D-F5A0A32C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70103963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8D80E5E7-B0EA-472B-8514-8F9D520D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AF7238-9C5F-4FDD-B982-0FBA6100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Table 1.2 · Comparing fit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552700"/>
                <a:gridCol w="2552700"/>
              </a:tblGrid>
              <a:tr h="95250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Predictor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Teams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</a:tr>
              <a:tr h="95250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Batting average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0.536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  <a:tr h="952500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0.881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5DD7CEA-3B70-44CE-8C27-27F573F0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OPS has the stronger linear fit with team scoring in this sample.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58D61-1158-488B-9895-63EFB14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65EE243-AEA5-47C4-B715-F8415D3A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4B27D6F1-B05E-415B-B492-2EB1FE7B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25023685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9C38501-F2C3-44E1-8A9D-B5FE79E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A4D3CD-5E42-4B62-A479-895828FB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Do not rank predictors by coefficient size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07EC2A-4901-4FDE-9185-19334CD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+0.010 change in BA is associated with 0.304 more runs per game.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+0.010 change in OPS is associated with 0.116 more runs per game.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Those changes represent different movements on different predictor scales.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1120586-DA26-4E08-A8F7-DAFEA22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Compare the scatterplots and fit—not 0.304 versus 0.116 alone.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4B023-ED5F-41D6-9293-9866C5C2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3034568-BDE7-44DD-99BD-93BAE63C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E7BF942-9D71-4023-A7B2-AEA62A6E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196805776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F1C2FCB-8175-470B-A2AD-E26745D2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F98470A-827E-499A-B9A7-FCD236B0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Interpreting R²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047AB0-FDE4-4FE9-A60D-730EE80D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R² is the share of sample outcome variation accounted for by the fitted model.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BA:</a:t>
            </a:r>
            <a:r>
              <a:t> 0.536 means about 53.6% of cross-team variation in runs per game.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OPS:</a:t>
            </a:r>
            <a:r>
              <a:t> 0.881 means about 88.1% of that variation.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2E572F-4755-43CC-8FD6-755AE28C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Same sample, outcome, and model form make this comparison informative.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0BD0E-1502-4138-8A88-95DBA2F9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CF345B7-A0FF-4FE4-99F5-11C46D7B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F8C8B61-BB40-4A62-AA27-9B140C10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891072277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CDDD0B3-0DEC-4042-BE07-CF636334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6792E27-20BD-4D39-BB22-039EBA61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What R² does not establish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FAEB11D-20E4-413F-9B3B-1D396ED5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Good historical fit does not guarantee good prediction in a new season.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Adding variables can raise fit without improving the substantive model.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High fit does not establish causation; low fit does not rule out an important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33D76-84DB-4A2E-A2FB-0CEE2056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5EE24AE-AFFF-4383-AE88-3B482D31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A9B1BE-9277-44BC-87DF-A34CD06A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604353715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B094F05-561C-4A40-91CA-9D74BDBE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E1D283-D619-4F1B-BDF1-AF73C25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Table 1.3 · Reading regression output · 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905375"/>
                <a:gridCol w="3962400"/>
              </a:tblGrid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Term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Plain-language interpretation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Common mistake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Intercept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Predicted outcome when every predictor equals zero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Giving it a sports meaning when zero is outside the data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Slope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Associated change in the outcome for a stated change in the predictor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Omitting units or calling association causation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Fitted value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Outcome predicted by the regression for one observation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Treating it as the observed outcome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AE0DE08-00FD-4B91-B1A4-588296CE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Translate the statistic into the variables, units, sample, and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99ECC-FC67-41A0-8DC4-B8B549F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E5C5500-05D2-4026-927D-63A86D62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B2D0EBA-58EC-472B-8A11-3B5CE3EC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350461559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AE21B2-B1A8-4363-8A29-3DAE2CC3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AC14B3-6D5C-4EC2-9C5B-9D2DE7B1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Table 1.3 · Reading regression output · 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905375"/>
                <a:gridCol w="3962400"/>
              </a:tblGrid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Term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Plain-language interpretation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Common mistake</a:t>
                      </a:r>
                    </a:p>
                  </a:txBody>
                  <a:tcPr marL="91440" marR="91440" marT="45720" marB="45720" anchor="ctr">
                    <a:solidFill>
                      <a:srgbClr val="12455E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Residual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Observed outcome minus fitted value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Treating every large residual as bad data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R²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Share of sample outcome variation accounted for by the fitted model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Treating fit as proof of causation or model correctness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Confidence interval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Range reflecting sampling uncertainty under the model's assumptions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  <a:tc>
                  <a:txBody>
                    <a:bodyPr lIns="142875" tIns="95250" rIns="142875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D2A33"/>
                          </a:solidFill>
                          <a:latin typeface="Aptos"/>
                          <a:ea typeface="Aptos"/>
                          <a:cs typeface="Aptos"/>
                        </a:rPr>
                        <a:t>Treating the endpoints as certain boundaries</a:t>
                      </a:r>
                    </a:p>
                  </a:txBody>
                  <a:tcPr marL="91440" marR="91440" marT="45720" marB="45720" anchor="ctr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F6D8E9D-0587-460C-876E-4E406E30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250" b="0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Translate the statistic into the variables, units, sample, and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8A02A-E8A6-4EA4-BB2F-FECC466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266939D-8092-4BF4-BEB2-8B470867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C1C4250-895F-47FE-B64C-847376D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94295907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C09C977-7E6F-49A0-B62F-D8E04F3B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5C55B52-53CE-4C4C-95DE-0A6A3EB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Estimates are uncertain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20EE1E7-6668-45EB-BFA2-F33441A0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Another season could yield different performances and estimates.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standard error summarizes estimated sampling uncertainty around a coefficient.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confidence interval reports a range under the model’s assumptions.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6CF3529-6C46-4A97-8C83-D61FE787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An interval does not capture every source of uncertainty or bias.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343FF-D827-457B-A4D6-FC71AF1F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4119D0-028D-421F-A1B8-21A613E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0C4511-04BC-4B34-8A31-DDECB89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864670526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3A3F8B6-1E9F-449E-929D-68D5C10A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B6954E5-CFF8-4B4A-9811-CACA72E7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Read the intervals in the MLB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07C9C77-9DE0-49F3-B59D-06E6E786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BA:</a:t>
            </a:r>
            <a:r>
              <a:t> estimate 0.304; 95% interval 0.195 to 0.414 runs per game per +0.010.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25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OPS:</a:t>
            </a:r>
            <a:r>
              <a:t> estimate 0.116; 95% interval 0.100 to 0.133 runs per game per +0.010.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Neither interval resolves omitted variables, measurement error, or causal identification.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20757-48EF-482F-BE31-4AE4D7AE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CC098DD-69F7-4AC8-829D-549198D1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107B49-94A5-486E-AA85-5D598A7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428978108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9C9B1B5-5E3D-4A8E-87B4-D87ADBC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FE62AB5-7D0C-4DB2-BF8C-70022F11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Multiple regression: holding measured factors fixed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D54D376-069B-4369-B662-19EAECDD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Simple regression uses one predictor; multiple regression adds others.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Interpret a coefficient while holding the included predictors fixed.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regression cannot hold an omitted or unmeasured factor fixed by wishful thinking.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F4492FE-0A5A-4AF4-BF2A-62ED9F70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The word “included”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08641-031B-4EA5-8094-29708D3D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07566E8-C7A5-461D-9132-B9A2E979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2FC9FB4-FDE3-4760-B6D5-45BB670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58696999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D524D72-7326-4638-80F3-83CD575B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49C25BD-4988-4895-A379-CBCD6BDB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Why price and attendance can rise together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FE6E1F-69ED-45E6-9D79-104C9007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Teams expect some opponents, dates, and games to attract more interest.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They may choose higher prices for those already-popular games.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 raw comparison mixes demand conditions with the causal price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5AD0C-FAC7-4A06-AE6B-EDF3ACE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0C00614-9F77-41A7-8697-9BC5EE92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97695FD-2F1C-404F-ACE6-93BDAB55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2126931473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EDCAA79-0676-485E-BD7A-58E657EA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99F213-102B-41D4-8F1C-BEFB63BB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Figure 1.4 · Expected demand affects price and attendance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84aed9c014ad5"/>
          <a:stretch xmlns:a="http://schemas.openxmlformats.org/drawingml/2006/main"/>
        </p:blipFill>
        <p:spPr>
          <a:xfrm xmlns:a="http://schemas.openxmlformats.org/drawingml/2006/main">
            <a:off x="856043" y="1657350"/>
            <a:ext cx="10479914" cy="3943350"/>
          </a:xfrm>
          <a:prstGeom xmlns:a="http://schemas.openxmlformats.org/drawingml/2006/main" prst="rect">
            <a:avLst/>
          </a:prstGeom>
        </p:spPr>
      </p:pic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FE7D05F-5410-4581-9E4A-B74476A7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Separate the price response from the conditions driving both variables.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66ED3-0207-4514-9913-DD97B7CA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4925CA1-5EF1-44F5-BF3A-A6BD059A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C7DAC33-9C34-43DE-83E3-48FEEDCA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851234012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3342C7A-A6FC-49FF-B6D8-1A71440E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7C2C63-505D-49F1-A300-50ABD5BC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Two problems deserve names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250A74E-F9E0-4960-BA17-98F36EEF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Omitted-variable bias:</a:t>
            </a:r>
            <a:r>
              <a:t> an excluded factor affects both predictor and outcome.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Reverse causality:</a:t>
            </a:r>
            <a:r>
              <a:t> the proposed outcome also affects the proposed predictor.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Expected attendance can influence price—not just the reverse.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A62071-9BCD-4CD8-AA84-E8D202DA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Measured controls help, but do not guarantee a credible causal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07D34-8E38-4CF2-9F3B-C6DD7B23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B715AD6-378B-4ECD-9029-C738757D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FB61B27-F7A7-4B0C-9B67-911CE10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725762132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B3853F0-45CF-431A-842B-4CB1415F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682C33D-00C5-4557-A50E-92CD07F8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Prediction, association, and causation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496FBD-26A3-4E96-BDCF-A723D52E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Association:</a:t>
            </a:r>
            <a:r>
              <a:t> which variables move together in observed data?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Prediction:</a:t>
            </a:r>
            <a:r>
              <a:t> which information forecasts new outcomes?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24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Causation:</a:t>
            </a:r>
            <a:r>
              <a:t> what changes if we intervene relative to a relevant counterfactual?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C061C2B-BA55-4449-95F7-0CDD797E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The MLB comparison is useful because its descriptive question is clear.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E915-2909-4EB9-9BCB-67B0B10D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B91517E-784C-4AC5-9237-0D739B6E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E18C0CC-B230-4647-94C8-3119996F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989555269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234A1FD-75E1-459D-BB54-EB7D6BCA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1665517-3049-4AE6-8E6D-67C92E20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Codex plus R: from a question to an analysis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995CF3-A2A0-464E-8587-AD309D4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 is a free statistical programming environment.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An AI coding agent can help turn a plain-language specification into runnable code.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student still owns the question, definitions, source, model, and interpretation.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F7A2C-30EC-4BBC-A6C1-618C1E85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DBDBE3B-9154-44BE-8F4D-31CB8EF9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4E62CCF-B8A9-4B1A-BD4E-036D68FF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1949025479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55F0687B-701B-49D1-9989-99962F30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F8D88D9-0DFD-4501-ADCE-AFE12881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What changed between editions?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DD56D98-0315-4B15-96F1-5AE209A1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Previously, the author would have treated BA versus OPS as an Excel project.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For this edition, he asked Codex to find official 2025 data, run R models, and create a figure.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25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He still chose the question and checked the source, measures, graph, and interpretation.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2D8D561-B149-42B1-8F9F-BDB28FD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Less programming burden—not less need for statistical judgment.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C2A3C-331E-40FC-B33C-794A49C6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156389E-0B9C-4386-BA84-3AF4934E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35A3ADC-4B1C-49FF-8E91-1B91F09D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888375011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E96ABCC-3586-4543-AD18-354660B3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92C54D-CDD1-4A1D-98A0-038CD6E5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Generated analysis still requires judgment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FA11B3-7736-4593-AB05-0E191FD8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Inspect the source, missing values, definitions, units, and plausible ranges.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Check the code, graph, numerical output, and interpretation.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Keep causal claims within what the research design supports.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BE23C-DC55-4405-8B9A-DA25B6EE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265D858-9914-4394-B938-FB4EC60B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95A0376-C338-4394-A664-9BCA1019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393664295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00DF9C24-1AC0-4921-8299-78455F63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6A6616D-5FCB-4271-BA1C-95BF6899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Preserve a reproducible analysis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08EC867-DC2C-4834-A2A6-259EC408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Keep cached data, the data dictionary, and R script.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Save model results, figures, and software-version information.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Use the chapter’s test to check the sample and reported results.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13BB809-DE47-490B-B127-B4653148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Reproducibility makes errors easier to find; it does not make a design causal.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831FF-CA47-4DDB-A8FB-FAB5E8BC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11F66BF-6483-4A59-9AA8-663CAFF1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2AF5D46-2944-4FFE-B0A8-F4691D0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343290425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958479E-CAEF-466F-8F26-007EB11C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LAB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7114D96-8505-42FE-96D9-93991212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guided lab · Inspect before running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B4704C3-F1D4-4898-86DC-C03BF847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Inspect the bundled CSV and dictionary without changing the source.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Confirm teams, season, games, uniqueness, missing values, units, and ranges.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Explain how the R script calculates the measures and fits the two models.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C82BF-426F-4F1E-B75C-DF81A73D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86C13B7-BEEE-4565-8E29-A2701E52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4DAEC0-2A33-4219-8F91-3E183D13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63794869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1F884F7-9AD3-48D9-BBB2-09187940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LAB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0A393D0-52C4-4EDD-ACDA-1F9D4E0E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 guided lab · Run, compare, and interpret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08CB80-076E-4EA3-8EB4-BBBAA2BF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Run the offline R script and regression test.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Report effects per +0.010, confidence intervals, R², and sample sizes.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Compare table and graph; explain the descriptive result and its causal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7A0B1-8233-4F5F-B5AF-920A653F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3187179-3D7F-4710-8817-92DC9F11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BFCC5FB-5171-4F29-9521-96FC6797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64249087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CC472E5-E3F5-4ABD-B32D-C1CB0FE6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DC27736-F07D-40C6-9650-5ED14A83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Appendix review 1–3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7FB77EC-B32B-43C3-9AEE-6F8CD9E5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1. In the MLB dataset, what does one observation represent?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2. Distinguish an outcome from a predictor.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3. What four features should you inspect in a scatterplot before reading regression output?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9409D-A8A1-497C-87B2-DEE07ECA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16940FB-4A26-4BA1-B1FF-000C680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C1F4E91-8D61-4C12-BEC3-0C5CBBBA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267491392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164F838-7C57-4E32-9508-D8ECF872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DF5D99-FAFB-4077-AE67-F2F6AC4C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Appendix review 4–6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EA1A2A-99EA-4E08-A870-A11DD46B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4. Interpret a regression slope in words and units.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5. Why might the intercept lack a useful sports interpretation?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6. If a team's observed runs per game is 4.8 and its fitted value is 4.5, calculate and interpret the residual.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B7993-0EA9-4E86-BD30-D9BA70AF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0911A30-8871-40E5-86ED-69B01C62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FE99D78-41F5-4EF8-9498-5C7FB689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552129869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3E1F016-C8EE-49CA-AA0E-5ABF92B9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F16F5BE-D401-4336-AD24-AEDB6A0E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Appendix review 7–9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7CB8D9-CC27-471E-B70F-B33AEDD7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7. What does R²=0.881 mean in the OPS regression? What does it not mean?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8. Why should the BA and OPS coefficient magnitudes not be compared directly?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9. Explain in plain language what a confidence interval adds to a point estimate.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865CF-1F89-4705-8830-E14AA97F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357DB81-6774-494C-8E00-861B5037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A985862-7E06-48E9-8B10-5AE4D444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1079136478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0501C17-0F4F-4A1D-894E-D6958CEE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9502A0-0254-4E5F-8429-24B6019B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Appendix review 10–12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1DB3DC1-A070-4129-9ED0-6C02DCC1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10. Why can higher ticket prices be positively associated with attendance even if the causal price response is negative?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11. Distinguish omitted-variable bias from reverse causality.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12. Give one question for which prediction is sufficient and one that requires a causal estimate.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3C0F3-1892-44CA-981F-FF907C8D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7316E1-6C3B-478A-AF1A-AEB74CB5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4E8522-F9C9-44DB-9534-F213C05A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276173281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F76FE0F-11FA-4454-82D1-8A2FE69F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OPTIONAL APPENDIX · REVIEW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8DB9E-5892-48B9-A270-4C28809B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Appendix review 13–14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E3B8A5E-CA59-4306-AC4E-DA39F8C2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13. List five checks a student should perform before accepting AI-generated statistical analysis.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defRPr sz="2175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14. Reproduce the bundled analysis, save the output, and ask an AI assistant to identify one result that is descriptive, one step that is computational, and one claim that would require a stronger causal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C3A11-621C-4B84-A451-5176E223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CCF87C1-C9C7-4F30-A19B-DEB05682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Optional Appendix: A Practical Introduction To Regression With Sports Data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EB4CBEA-60D0-49E1-86A4-2A17E1F2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249546036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28AA722-9CA3-4C7F-B2B0-D09A14E9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2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C6532D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C6532D"/>
                </a:solidFill>
                <a:latin typeface="Aptos"/>
                <a:ea typeface="Aptos"/>
                <a:cs typeface="Aptos"/>
              </a:rPr>
              <a:t>CHAPTER 1  /  SOURCES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2874DE-391A-40DA-9E43-0F3BAD59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1277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rPr sz="3000" b="1" i="0">
                <a:solidFill>
                  <a:srgbClr val="1D2A33"/>
                </a:solidFill>
                <a:latin typeface="Aptos"/>
                <a:ea typeface="Aptos"/>
                <a:cs typeface="Aptos"/>
              </a:rPr>
              <a:t>Source notes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1486CC-A450-4F6E-B1A2-9B297192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107442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MLB reporting documents Ohtani’s contract and deferrals.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NBCUniversal and NBC Sports report Super Bowl inventory and audiences.</a:t>
            </a:r>
          </a:p>
          <a:p xmlns:a="http://schemas.openxmlformats.org/drawingml/2006/main">
            <a:pPr marL="254000" indent="-152400" algn="l">
              <a:spcAft>
                <a:spcPts val="1600"/>
              </a:spcAft>
              <a:buChar char="•"/>
              <a:defRPr sz="2400" b="0" i="0">
                <a:solidFill>
                  <a:srgbClr val="1D2A33"/>
                </a:solidFill>
                <a:latin typeface="Aptos"/>
                <a:ea typeface="Aptos"/>
                <a:cs typeface="Aptos"/>
              </a:defRPr>
            </a:pPr>
            <a:r>
              <a:t>The MLB Stats API, cached data, R script, and tests support the 2025 comparison.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7203D79-BF6F-4101-8E0C-5EA9F14D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2455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2455E"/>
                </a:solidFill>
                <a:latin typeface="Aptos"/>
                <a:ea typeface="Aptos"/>
                <a:cs typeface="Aptos"/>
              </a:rPr>
              <a:t>Full references are in the chapter; relevant citations accompany slide notes.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3036C-9082-4010-BE87-968B4197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96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B39CE8A-5F18-4B33-AF73-FA09EB94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Source Notes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E12B1DB-AC10-4F62-9C42-9E7669B1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 i="0">
                <a:solidFill>
                  <a:srgbClr val="5F6F7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5F6F79"/>
                </a:solidFill>
                <a:latin typeface="Aptos"/>
                <a:ea typeface="Aptos"/>
                <a:cs typeface="Aptos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1693470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2026-09-09T00:43:19.8130000Z</dcterms:created>
  <dcterms:modified xsi:type="dcterms:W3CDTF">2026-09-09T00:43:19.8130000Z</dcterms:modified>
</coreProperties>
</file>