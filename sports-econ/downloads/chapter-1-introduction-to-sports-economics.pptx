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9c583724aea49f5" /><Relationship Type="http://schemas.openxmlformats.org/officeDocument/2006/relationships/extended-properties" Target="/docProps/app.xml" Id="Rbf372a8c7a194726" /><Relationship Type="http://schemas.openxmlformats.org/officeDocument/2006/relationships/officeDocument" Target="/ppt/presentation.xml" Id="R5c6bc158089d4fe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1aaa738e9a24f27"/>
  </p:sldMasterIdLst>
  <p:notesMasterIdLst>
    <p:notesMasterId xmlns:r="http://schemas.openxmlformats.org/officeDocument/2006/relationships" r:id="Rd3a515d4ab394df5"/>
  </p:notesMasterIdLst>
  <p:sldIdLst>
    <p:sldId xmlns:r="http://schemas.openxmlformats.org/officeDocument/2006/relationships" id="256" r:id="Rd1de90bbd40b45b1"/>
    <p:sldId xmlns:r="http://schemas.openxmlformats.org/officeDocument/2006/relationships" id="257" r:id="R7df55c9edfc3442e"/>
    <p:sldId xmlns:r="http://schemas.openxmlformats.org/officeDocument/2006/relationships" id="258" r:id="R9ced585f2e084883"/>
    <p:sldId xmlns:r="http://schemas.openxmlformats.org/officeDocument/2006/relationships" id="259" r:id="R1bdfcf41b4ae4778"/>
    <p:sldId xmlns:r="http://schemas.openxmlformats.org/officeDocument/2006/relationships" id="260" r:id="R29be336104464cbc"/>
    <p:sldId xmlns:r="http://schemas.openxmlformats.org/officeDocument/2006/relationships" id="261" r:id="Rc0fa2f4280244968"/>
    <p:sldId xmlns:r="http://schemas.openxmlformats.org/officeDocument/2006/relationships" id="262" r:id="R243ffa88e1a04042"/>
    <p:sldId xmlns:r="http://schemas.openxmlformats.org/officeDocument/2006/relationships" id="263" r:id="R113622620d8c4e76"/>
    <p:sldId xmlns:r="http://schemas.openxmlformats.org/officeDocument/2006/relationships" id="264" r:id="Refd9d700e0a744cb"/>
    <p:sldId xmlns:r="http://schemas.openxmlformats.org/officeDocument/2006/relationships" id="265" r:id="R9dfc4216b8114012"/>
    <p:sldId xmlns:r="http://schemas.openxmlformats.org/officeDocument/2006/relationships" id="266" r:id="Rba510e9b62424744"/>
    <p:sldId xmlns:r="http://schemas.openxmlformats.org/officeDocument/2006/relationships" id="267" r:id="R7a0795f8446849bd"/>
    <p:sldId xmlns:r="http://schemas.openxmlformats.org/officeDocument/2006/relationships" id="268" r:id="R2e2ecde3712f46b4"/>
    <p:sldId xmlns:r="http://schemas.openxmlformats.org/officeDocument/2006/relationships" id="269" r:id="R9c7784cfd8bd4dbc"/>
    <p:sldId xmlns:r="http://schemas.openxmlformats.org/officeDocument/2006/relationships" id="270" r:id="Rd01b3e00c6a14c38"/>
    <p:sldId xmlns:r="http://schemas.openxmlformats.org/officeDocument/2006/relationships" id="271" r:id="R336f263d79004ac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36f22fc2044504" /><Relationship Type="http://schemas.openxmlformats.org/officeDocument/2006/relationships/slideMaster" Target="/ppt/slideMasters/slideMaster1.xml" Id="Rf1aaa738e9a24f27" /><Relationship Type="http://schemas.openxmlformats.org/officeDocument/2006/relationships/notesMaster" Target="/ppt/notesMasters/notesMaster1.xml" Id="Rd3a515d4ab394df5" /><Relationship Type="http://schemas.openxmlformats.org/officeDocument/2006/relationships/presProps" Target="/ppt/presProps.xml" Id="R4718a650412148b9" /><Relationship Type="http://schemas.openxmlformats.org/officeDocument/2006/relationships/tableStyles" Target="/ppt/tableStyles.xml" Id="R9dd0bca76ebd4e18" /><Relationship Type="http://schemas.openxmlformats.org/officeDocument/2006/relationships/slide" Target="/ppt/slides/slide1.xml" Id="Rd1de90bbd40b45b1" /><Relationship Type="http://schemas.openxmlformats.org/officeDocument/2006/relationships/slide" Target="/ppt/slides/slide2.xml" Id="R7df55c9edfc3442e" /><Relationship Type="http://schemas.openxmlformats.org/officeDocument/2006/relationships/slide" Target="/ppt/slides/slide3.xml" Id="R9ced585f2e084883" /><Relationship Type="http://schemas.openxmlformats.org/officeDocument/2006/relationships/slide" Target="/ppt/slides/slide4.xml" Id="R1bdfcf41b4ae4778" /><Relationship Type="http://schemas.openxmlformats.org/officeDocument/2006/relationships/slide" Target="/ppt/slides/slide5.xml" Id="R29be336104464cbc" /><Relationship Type="http://schemas.openxmlformats.org/officeDocument/2006/relationships/slide" Target="/ppt/slides/slide6.xml" Id="Rc0fa2f4280244968" /><Relationship Type="http://schemas.openxmlformats.org/officeDocument/2006/relationships/slide" Target="/ppt/slides/slide7.xml" Id="R243ffa88e1a04042" /><Relationship Type="http://schemas.openxmlformats.org/officeDocument/2006/relationships/slide" Target="/ppt/slides/slide8.xml" Id="R113622620d8c4e76" /><Relationship Type="http://schemas.openxmlformats.org/officeDocument/2006/relationships/slide" Target="/ppt/slides/slide9.xml" Id="Refd9d700e0a744cb" /><Relationship Type="http://schemas.openxmlformats.org/officeDocument/2006/relationships/slide" Target="/ppt/slides/slide10.xml" Id="R9dfc4216b8114012" /><Relationship Type="http://schemas.openxmlformats.org/officeDocument/2006/relationships/slide" Target="/ppt/slides/slide11.xml" Id="Rba510e9b62424744" /><Relationship Type="http://schemas.openxmlformats.org/officeDocument/2006/relationships/slide" Target="/ppt/slides/slide12.xml" Id="R7a0795f8446849bd" /><Relationship Type="http://schemas.openxmlformats.org/officeDocument/2006/relationships/slide" Target="/ppt/slides/slide13.xml" Id="R2e2ecde3712f46b4" /><Relationship Type="http://schemas.openxmlformats.org/officeDocument/2006/relationships/slide" Target="/ppt/slides/slide14.xml" Id="R9c7784cfd8bd4dbc" /><Relationship Type="http://schemas.openxmlformats.org/officeDocument/2006/relationships/slide" Target="/ppt/slides/slide15.xml" Id="Rd01b3e00c6a14c38" /><Relationship Type="http://schemas.openxmlformats.org/officeDocument/2006/relationships/slide" Target="/ppt/slides/slide16.xml" Id="R336f263d79004ac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295d28c013648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0b1e9abc3ba4007" /><Relationship Type="http://schemas.openxmlformats.org/officeDocument/2006/relationships/notesMaster" Target="/ppt/notesMasters/notesMaster1.xml" Id="Rba6a923b3ae941d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668f23446b946d2" /><Relationship Type="http://schemas.openxmlformats.org/officeDocument/2006/relationships/notesMaster" Target="/ppt/notesMasters/notesMaster1.xml" Id="Ra9f56561f4ad4f4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1b46b4828aa425f" /><Relationship Type="http://schemas.openxmlformats.org/officeDocument/2006/relationships/notesMaster" Target="/ppt/notesMasters/notesMaster1.xml" Id="R7dc0f07fe42c4e1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1ecb499bbb84b97" /><Relationship Type="http://schemas.openxmlformats.org/officeDocument/2006/relationships/notesMaster" Target="/ppt/notesMasters/notesMaster1.xml" Id="R03083ca3945743f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9009d066ca648de" /><Relationship Type="http://schemas.openxmlformats.org/officeDocument/2006/relationships/notesMaster" Target="/ppt/notesMasters/notesMaster1.xml" Id="R7077cdf868234a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51d6425bf4347fb" /><Relationship Type="http://schemas.openxmlformats.org/officeDocument/2006/relationships/notesMaster" Target="/ppt/notesMasters/notesMaster1.xml" Id="R657e3af631d243a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82f091c8b624752" /><Relationship Type="http://schemas.openxmlformats.org/officeDocument/2006/relationships/notesMaster" Target="/ppt/notesMasters/notesMaster1.xml" Id="R71d44c5586e846a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e34cbd2c9f44e90" /><Relationship Type="http://schemas.openxmlformats.org/officeDocument/2006/relationships/notesMaster" Target="/ppt/notesMasters/notesMaster1.xml" Id="R16cd5ca6f85941f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84138ab9dd247e9" /><Relationship Type="http://schemas.openxmlformats.org/officeDocument/2006/relationships/notesMaster" Target="/ppt/notesMasters/notesMaster1.xml" Id="Ra83ba70c527a414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9637f7e0fa7414a" /><Relationship Type="http://schemas.openxmlformats.org/officeDocument/2006/relationships/notesMaster" Target="/ppt/notesMasters/notesMaster1.xml" Id="R8f293669ea98467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7ee68741aea4dd7" /><Relationship Type="http://schemas.openxmlformats.org/officeDocument/2006/relationships/notesMaster" Target="/ppt/notesMasters/notesMaster1.xml" Id="Rf781e5a4d4264e9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0cda8285bf342f2" /><Relationship Type="http://schemas.openxmlformats.org/officeDocument/2006/relationships/notesMaster" Target="/ppt/notesMasters/notesMaster1.xml" Id="R039355fe2b5742b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c10e99e9453489a" /><Relationship Type="http://schemas.openxmlformats.org/officeDocument/2006/relationships/notesMaster" Target="/ppt/notesMasters/notesMaster1.xml" Id="R67436eff452c43e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a66925ce6fc40a0" /><Relationship Type="http://schemas.openxmlformats.org/officeDocument/2006/relationships/notesMaster" Target="/ppt/notesMasters/notesMaster1.xml" Id="R19ec6851f3a3482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a4c17cf20754dff" /><Relationship Type="http://schemas.openxmlformats.org/officeDocument/2006/relationships/notesMaster" Target="/ppt/notesMasters/notesMaster1.xml" Id="R4fda81498b99465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e759c9ffa5b40bd" /><Relationship Type="http://schemas.openxmlformats.org/officeDocument/2006/relationships/notesMaster" Target="/ppt/notesMasters/notesMaster1.xml" Id="R802ebe71a9d14cc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Ohtani contract. Ask what 'worth it' would have to mean before accepting answers about the size of the number.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1: Introduction to Sports Economics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headline to establish the method: identify the decision maker, objective, constraints, timing, alternatives, and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1: Introduction to Sports Economics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the definition broad enough to cover the whole course. Sports business facts matter when they reveal a choice, constraint, institution, or consequence.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1: Introduction to Sports Economics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Trace one loop at a time. Ask students how a media agreement could affect payroll, scheduling, fan access, and franchise value.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1: Introduction to Sports Economics (canonical project draft).</a:t>
            </a:r>
          </a:p>
          <a:p xmlns:a="http://schemas.openxmlformats.org/drawingml/2006/main">
            <a:r>
              <a:t>- Project-reviewed Chapter 1 figures from figures/ch01-introduction/.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Students often hear that sports are a laboratory and assume that every comparison is causal. Separate abundant measurement from credible counterfactual variation.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1: Introduction to Sports Economics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Treat this as the reusable checklist for the book. Return to it when later chapters evaluate prices, league rules, labor restrictions, and public subsidies.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1: Introduction to Sports Economics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roster construction or stadium spending. The opportunity cost is the best alternative use, not every imaginable alternative added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1: Introduction to Sports Economics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counterfactual explicitly. The word will recur throughout the book, and students are unlikely to know it at the beginning.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1: Introduction to Sports Economics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students to classify a claim as theoretical, descriptive, predictive, or causal before evaluating its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1: Introduction to Sports Economics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current headlines and have students place each one in a family. Some stories span several families; that is a feature of the course.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1: Introduction to Sports Economics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Demonstrate a short tutoring exchange. Have the tutor adapt after a wrong answer instead of immediately revealing a solution.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1: Introduction to Sports Economics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Start with the visual pattern before coefficients. One point represents one MLB team, and the conclusion is descriptive rather than causal.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1: Introduction to Sports Economics (canonical project draft).</a:t>
            </a:r>
          </a:p>
          <a:p xmlns:a="http://schemas.openxmlformats.org/drawingml/2006/main">
            <a:r>
              <a:t>- Project-reviewed Chapter 1 figures from figures/ch01-introduction/.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why BA and OPS coefficients cannot be compared by magnitude alone: a 0.010 change represents different movement on different scales.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1: Introduction to Sports Economics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Have students calculate one residual verbally. A residual is not automatically an error or bad observation; it is what the fitted model did not predict for that case.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1: Introduction to Sports Economics (canonical project draft).</a:t>
            </a:r>
          </a:p>
          <a:p xmlns:a="http://schemas.openxmlformats.org/drawingml/2006/main">
            <a:r>
              <a:t>- Project-reviewed Chapter 1 figures from figures/ch01-introduction/.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rivalry, opponent strength, timing, and seat location as examples of demand conditions. Multiple regression can control measured factors but cannot guarantee that every relevant factor was included.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1: Introduction to Sports Economics (canonical project draft).</a:t>
            </a:r>
          </a:p>
          <a:p xmlns:a="http://schemas.openxmlformats.org/drawingml/2006/main">
            <a:r>
              <a:t>- Project-reviewed Chapter 1 figures from figures/ch01-introduction/.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returning to the opening headline. Students should now be able to improve the question even before knowing the later models.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1: Introduction to Sports Economics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c1a82b0d5f433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6675b1809314664" /><Relationship Type="http://schemas.openxmlformats.org/officeDocument/2006/relationships/slideLayout" Target="/ppt/slideLayouts/slideLayout1.xml" Id="R441ba55d334b42c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41ba55d334b42c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ae631f4c8f4b8d" /><Relationship Type="http://schemas.openxmlformats.org/officeDocument/2006/relationships/notesSlide" Target="/ppt/notesSlides/notesSlide1.xml" Id="Rc1e5a523b8f9413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c57e1a1a72495e" /><Relationship Type="http://schemas.openxmlformats.org/officeDocument/2006/relationships/notesSlide" Target="/ppt/notesSlides/notesSlide2.xml" Id="Ra36a4ce174a94f6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687ee18b414fbd" /><Relationship Type="http://schemas.openxmlformats.org/officeDocument/2006/relationships/notesSlide" Target="/ppt/notesSlides/notesSlide3.xml" Id="R665d7ad454de4d6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85e4503ce54707" /><Relationship Type="http://schemas.openxmlformats.org/officeDocument/2006/relationships/image" Target="/ppt/media/image.png" Id="R592cd56254024dab" /><Relationship Type="http://schemas.openxmlformats.org/officeDocument/2006/relationships/notesSlide" Target="/ppt/notesSlides/notesSlide4.xml" Id="Rc349a862ae86489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a099baff634f1a" /><Relationship Type="http://schemas.openxmlformats.org/officeDocument/2006/relationships/notesSlide" Target="/ppt/notesSlides/notesSlide5.xml" Id="Rb48f391ed6744df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ae17bb9abb4f53" /><Relationship Type="http://schemas.openxmlformats.org/officeDocument/2006/relationships/notesSlide" Target="/ppt/notesSlides/notesSlide6.xml" Id="Red6bd562f371475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50fcaf8a914c92" /><Relationship Type="http://schemas.openxmlformats.org/officeDocument/2006/relationships/notesSlide" Target="/ppt/notesSlides/notesSlide7.xml" Id="Reb2e54d6058d471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fba6c133c34c0f" /><Relationship Type="http://schemas.openxmlformats.org/officeDocument/2006/relationships/notesSlide" Target="/ppt/notesSlides/notesSlide8.xml" Id="Reb03923bb1bd496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77d90b0c5a4184" /><Relationship Type="http://schemas.openxmlformats.org/officeDocument/2006/relationships/notesSlide" Target="/ppt/notesSlides/notesSlide9.xml" Id="R5aab292898e946d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0a9d15a7344c68" /><Relationship Type="http://schemas.openxmlformats.org/officeDocument/2006/relationships/notesSlide" Target="/ppt/notesSlides/notesSlide10.xml" Id="Ra992c12b9e384f3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764d4bebb34641" /><Relationship Type="http://schemas.openxmlformats.org/officeDocument/2006/relationships/notesSlide" Target="/ppt/notesSlides/notesSlide11.xml" Id="R5d3c3e0ad5a04d4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bf2c07424243de" /><Relationship Type="http://schemas.openxmlformats.org/officeDocument/2006/relationships/image" Target="/ppt/media/image2.png" Id="R28121265353a4734" /><Relationship Type="http://schemas.openxmlformats.org/officeDocument/2006/relationships/notesSlide" Target="/ppt/notesSlides/notesSlide12.xml" Id="R78c07216272646d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81852af0d64296" /><Relationship Type="http://schemas.openxmlformats.org/officeDocument/2006/relationships/notesSlide" Target="/ppt/notesSlides/notesSlide13.xml" Id="R137a803921424c3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6e8a7a00fe41a7" /><Relationship Type="http://schemas.openxmlformats.org/officeDocument/2006/relationships/image" Target="/ppt/media/image3.png" Id="Raf557ade847241d3" /><Relationship Type="http://schemas.openxmlformats.org/officeDocument/2006/relationships/notesSlide" Target="/ppt/notesSlides/notesSlide14.xml" Id="R19b2f1e198ba4cd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5b515f4ea1476d" /><Relationship Type="http://schemas.openxmlformats.org/officeDocument/2006/relationships/image" Target="/ppt/media/image4.png" Id="Rbea36e53a2c248f8" /><Relationship Type="http://schemas.openxmlformats.org/officeDocument/2006/relationships/notesSlide" Target="/ppt/notesSlides/notesSlide15.xml" Id="R72d25aa7ebe342e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3d8fd982d24d7c" /><Relationship Type="http://schemas.openxmlformats.org/officeDocument/2006/relationships/notesSlide" Target="/ppt/notesSlides/notesSlide16.xml" Id="R88c9c8b3868d421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deck-supertitle">
            <a:extLst xmlns:a="http://schemas.openxmlformats.org/drawingml/2006/main">
              <a:ext uri="{FF2B5EF4-FFF2-40B4-BE49-F238E27FC236}">
                <a16:creationId xmlns:a16="http://schemas.microsoft.com/office/drawing/2014/main" id="{7FC9C094-3054-4422-95AB-6C848C3F9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2" name="deck-title">
            <a:extLst xmlns:a="http://schemas.openxmlformats.org/drawingml/2006/main">
              <a:ext uri="{FF2B5EF4-FFF2-40B4-BE49-F238E27FC236}">
                <a16:creationId xmlns:a16="http://schemas.microsoft.com/office/drawing/2014/main" id="{94338AAE-0468-4A29-ADDB-FDAA3C7B5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96202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5100" b="1" i="0">
                <a:solidFill>
                  <a:srgbClr val="1D2A33"/>
                </a:solidFill>
                <a:latin typeface="Georgia"/>
                <a:ea typeface="Georgia"/>
                <a:cs typeface="Georgia"/>
              </a:defRPr>
            </a:pPr>
            <a:r>
              <a:rPr sz="5100" b="1" i="0">
                <a:solidFill>
                  <a:srgbClr val="1D2A33"/>
                </a:solidFill>
                <a:latin typeface="Georgia"/>
                <a:ea typeface="Georgia"/>
                <a:cs typeface="Georgia"/>
              </a:rPr>
              <a:t>Introduction to Sports Economics</a:t>
            </a:r>
          </a:p>
        </p:txBody>
      </p:sp>
      <p:sp>
        <p:nvSpPr>
          <p:cNvPr id="3" name="deck-subtitle">
            <a:extLst xmlns:a="http://schemas.openxmlformats.org/drawingml/2006/main">
              <a:ext uri="{FF2B5EF4-FFF2-40B4-BE49-F238E27FC236}">
                <a16:creationId xmlns:a16="http://schemas.microsoft.com/office/drawing/2014/main" id="{B9F29EDF-AEDA-42D4-AA22-EC066583E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57750"/>
            <a:ext cx="781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Chapter 1 · Turn sports headlines into economic questions</a:t>
            </a:r>
          </a:p>
        </p:txBody>
      </p:sp>
      <p:sp>
        <p:nvSpPr>
          <p:cNvPr id="4" name="title-field">
            <a:extLst xmlns:a="http://schemas.openxmlformats.org/drawingml/2006/main">
              <a:ext uri="{FF2B5EF4-FFF2-40B4-BE49-F238E27FC236}">
                <a16:creationId xmlns:a16="http://schemas.microsoft.com/office/drawing/2014/main" id="{1FA76D3A-4E76-4B0B-BFA9-7EC68DE46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152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4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deck-number">
            <a:extLst xmlns:a="http://schemas.openxmlformats.org/drawingml/2006/main">
              <a:ext uri="{FF2B5EF4-FFF2-40B4-BE49-F238E27FC236}">
                <a16:creationId xmlns:a16="http://schemas.microsoft.com/office/drawing/2014/main" id="{7D1E83A0-15AC-4970-8D39-03E0ECEA2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105400"/>
            <a:ext cx="1524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52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2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1037294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2455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27ADDB-6289-449E-AA07-325162BBB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9A52A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9A52A"/>
                </a:solidFill>
                <a:latin typeface="Aptos"/>
                <a:ea typeface="Aptos"/>
                <a:cs typeface="Aptos"/>
              </a:rPr>
              <a:t>CHAPTER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F57AF1-D46E-419F-B8A8-1C22D08AE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11391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large number is not yet an economic question</a:t>
            </a:r>
          </a:p>
        </p:txBody>
      </p:sp>
      <p:sp>
        <p:nvSpPr>
          <p:cNvPr id="3" name="big-statement">
            <a:extLst xmlns:a="http://schemas.openxmlformats.org/drawingml/2006/main">
              <a:ext uri="{FF2B5EF4-FFF2-40B4-BE49-F238E27FC236}">
                <a16:creationId xmlns:a16="http://schemas.microsoft.com/office/drawing/2014/main" id="{62195DD9-580F-4673-90D8-6D8210629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809750"/>
            <a:ext cx="10191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675" b="1" i="0">
                <a:solidFill>
                  <a:srgbClr val="C9A52A"/>
                </a:solidFill>
                <a:latin typeface="Georgia"/>
                <a:ea typeface="Georgia"/>
                <a:cs typeface="Georgia"/>
              </a:defRPr>
            </a:pPr>
            <a:r>
              <a:rPr sz="3675" b="1" i="0">
                <a:solidFill>
                  <a:srgbClr val="C9A52A"/>
                </a:solidFill>
                <a:latin typeface="Georgia"/>
                <a:ea typeface="Georgia"/>
                <a:cs typeface="Georgia"/>
              </a:rPr>
              <a:t>Was Shohei Ohtani worth $700 million?</a:t>
            </a:r>
          </a:p>
        </p:txBody>
      </p:sp>
      <p:sp>
        <p:nvSpPr>
          <p:cNvPr id="4" name="bullet-mark-1">
            <a:extLst xmlns:a="http://schemas.openxmlformats.org/drawingml/2006/main">
              <a:ext uri="{FF2B5EF4-FFF2-40B4-BE49-F238E27FC236}">
                <a16:creationId xmlns:a16="http://schemas.microsoft.com/office/drawing/2014/main" id="{57503279-3A0F-4B31-A3BD-E2AFD7571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6576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C9A52A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C9A52A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5" name="bullet-1">
            <a:extLst xmlns:a="http://schemas.openxmlformats.org/drawingml/2006/main">
              <a:ext uri="{FF2B5EF4-FFF2-40B4-BE49-F238E27FC236}">
                <a16:creationId xmlns:a16="http://schemas.microsoft.com/office/drawing/2014/main" id="{9D26387C-D6DD-4ECD-8B05-6597450D4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67125"/>
            <a:ext cx="8248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Worth it to whom—and relative to what alternative?</a:t>
            </a:r>
          </a:p>
        </p:txBody>
      </p:sp>
      <p:sp>
        <p:nvSpPr>
          <p:cNvPr id="6" name="bullet-mark-2">
            <a:extLst xmlns:a="http://schemas.openxmlformats.org/drawingml/2006/main">
              <a:ext uri="{FF2B5EF4-FFF2-40B4-BE49-F238E27FC236}">
                <a16:creationId xmlns:a16="http://schemas.microsoft.com/office/drawing/2014/main" id="{9BC60B45-4B06-4FFA-8582-83E03374B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291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C9A52A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C9A52A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7" name="bullet-2">
            <a:extLst xmlns:a="http://schemas.openxmlformats.org/drawingml/2006/main">
              <a:ext uri="{FF2B5EF4-FFF2-40B4-BE49-F238E27FC236}">
                <a16:creationId xmlns:a16="http://schemas.microsoft.com/office/drawing/2014/main" id="{55F6F76F-756A-4BFB-8EBF-1A6CCEC73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238625"/>
            <a:ext cx="8248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Measured by wins, attention, revenue, profit, or long-run value?</a:t>
            </a:r>
          </a:p>
        </p:txBody>
      </p:sp>
      <p:sp>
        <p:nvSpPr>
          <p:cNvPr id="8" name="bullet-mark-3">
            <a:extLst xmlns:a="http://schemas.openxmlformats.org/drawingml/2006/main">
              <a:ext uri="{FF2B5EF4-FFF2-40B4-BE49-F238E27FC236}">
                <a16:creationId xmlns:a16="http://schemas.microsoft.com/office/drawing/2014/main" id="{B7AD97C1-3391-40A8-B667-651CBA7D0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006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C9A52A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C9A52A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bullet-3">
            <a:extLst xmlns:a="http://schemas.openxmlformats.org/drawingml/2006/main">
              <a:ext uri="{FF2B5EF4-FFF2-40B4-BE49-F238E27FC236}">
                <a16:creationId xmlns:a16="http://schemas.microsoft.com/office/drawing/2014/main" id="{9B8930BD-6E41-4039-A6E6-3FBA2D964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810125"/>
            <a:ext cx="8248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How did deferral change timing without making the commitment free?</a:t>
            </a:r>
          </a:p>
        </p:txBody>
      </p:sp>
    </p:spTree>
    <p:extLst>
      <p:ext uri="{BB962C8B-B14F-4D97-AF65-F5344CB8AC3E}">
        <p14:creationId xmlns:p14="http://schemas.microsoft.com/office/powerpoint/2010/main" val="6707230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E9F30E3C-0FA1-4A8A-A409-98C127F4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1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E6424A0-E865-4338-9CAC-1B34CEFF4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Sports economics is applied microeconomics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666233A-C66D-4228-B849-9AF8BF99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AE4488A2-593A-459D-AFEB-DADECDD6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B86116B1-01AE-495B-8DFF-436EDFD6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24000F-431B-4308-8773-2F9E8B97F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504950"/>
            <a:ext cx="994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THE SUBJECT</a:t>
            </a:r>
          </a:p>
        </p:txBody>
      </p:sp>
      <p:sp>
        <p:nvSpPr>
          <p:cNvPr id="7" name="bullet-mark-1">
            <a:extLst xmlns:a="http://schemas.openxmlformats.org/drawingml/2006/main">
              <a:ext uri="{FF2B5EF4-FFF2-40B4-BE49-F238E27FC236}">
                <a16:creationId xmlns:a16="http://schemas.microsoft.com/office/drawing/2014/main" id="{7B1F3E8B-8EAB-46C7-A3AF-1EC68B44E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9431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8" name="bullet-1">
            <a:extLst xmlns:a="http://schemas.openxmlformats.org/drawingml/2006/main">
              <a:ext uri="{FF2B5EF4-FFF2-40B4-BE49-F238E27FC236}">
                <a16:creationId xmlns:a16="http://schemas.microsoft.com/office/drawing/2014/main" id="{31B5ECA1-ED1D-4A04-915A-F2E171905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952625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14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Fans choose among attendance, viewing, merchandise, and other uses of time and money.</a:t>
            </a:r>
          </a:p>
        </p:txBody>
      </p:sp>
      <p:sp>
        <p:nvSpPr>
          <p:cNvPr id="9" name="bullet-mark-2">
            <a:extLst xmlns:a="http://schemas.openxmlformats.org/drawingml/2006/main">
              <a:ext uri="{FF2B5EF4-FFF2-40B4-BE49-F238E27FC236}">
                <a16:creationId xmlns:a16="http://schemas.microsoft.com/office/drawing/2014/main" id="{DC5191D0-8DED-4DDA-9515-1DBBA895C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4317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" name="bullet-2">
            <a:extLst xmlns:a="http://schemas.openxmlformats.org/drawingml/2006/main">
              <a:ext uri="{FF2B5EF4-FFF2-40B4-BE49-F238E27FC236}">
                <a16:creationId xmlns:a16="http://schemas.microsoft.com/office/drawing/2014/main" id="{477C7AFC-5F1F-42DD-AA54-DF9258C0D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552700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Athletes choose among contracts, training, risk, and career opportunities.</a:t>
            </a:r>
          </a:p>
        </p:txBody>
      </p:sp>
      <p:sp>
        <p:nvSpPr>
          <p:cNvPr id="11" name="bullet-mark-3">
            <a:extLst xmlns:a="http://schemas.openxmlformats.org/drawingml/2006/main">
              <a:ext uri="{FF2B5EF4-FFF2-40B4-BE49-F238E27FC236}">
                <a16:creationId xmlns:a16="http://schemas.microsoft.com/office/drawing/2014/main" id="{C8F05EC7-D865-4CF6-8BD2-2CA93AB1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14325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C0943632-125E-45F3-A6A7-1CBA2DB16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152775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Teams price products, assemble rosters, sell attention, and invest in facilities.</a:t>
            </a:r>
          </a:p>
        </p:txBody>
      </p:sp>
      <p:sp>
        <p:nvSpPr>
          <p:cNvPr id="13" name="bullet-mark-4">
            <a:extLst xmlns:a="http://schemas.openxmlformats.org/drawingml/2006/main">
              <a:ext uri="{FF2B5EF4-FFF2-40B4-BE49-F238E27FC236}">
                <a16:creationId xmlns:a16="http://schemas.microsoft.com/office/drawing/2014/main" id="{2CE44E6E-F199-4D4D-8AD8-341149AB5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74332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4" name="bullet-4">
            <a:extLst xmlns:a="http://schemas.openxmlformats.org/drawingml/2006/main">
              <a:ext uri="{FF2B5EF4-FFF2-40B4-BE49-F238E27FC236}">
                <a16:creationId xmlns:a16="http://schemas.microsoft.com/office/drawing/2014/main" id="{13B0A158-8C5C-40B7-B9AA-E37EE775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752850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Leagues write rules that organize cooperation among competitors.</a:t>
            </a:r>
          </a:p>
        </p:txBody>
      </p:sp>
      <p:sp>
        <p:nvSpPr>
          <p:cNvPr id="15" name="bullet-mark-5">
            <a:extLst xmlns:a="http://schemas.openxmlformats.org/drawingml/2006/main">
              <a:ext uri="{FF2B5EF4-FFF2-40B4-BE49-F238E27FC236}">
                <a16:creationId xmlns:a16="http://schemas.microsoft.com/office/drawing/2014/main" id="{820FB0C5-BC83-4B1F-BDCA-CD0FB31B7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3434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6" name="bullet-5">
            <a:extLst xmlns:a="http://schemas.openxmlformats.org/drawingml/2006/main">
              <a:ext uri="{FF2B5EF4-FFF2-40B4-BE49-F238E27FC236}">
                <a16:creationId xmlns:a16="http://schemas.microsoft.com/office/drawing/2014/main" id="{49A5E209-88C8-4F8F-BAB7-35DB8BD77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4352925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Governments influence facilities, gambling, labor, education, and health.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D00178-7D5D-4CDF-93B4-69C1B712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44830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The setting is sports; the tools are economics.</a:t>
            </a:r>
          </a:p>
        </p:txBody>
      </p:sp>
    </p:spTree>
    <p:extLst>
      <p:ext uri="{BB962C8B-B14F-4D97-AF65-F5344CB8AC3E}">
        <p14:creationId xmlns:p14="http://schemas.microsoft.com/office/powerpoint/2010/main" val="436486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49BCA132-84EA-4615-A6DA-AA5D98000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1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D819048-5CE9-4729-8380-52ECF98B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The sports economy is an interconnected system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8D2E654-57FC-4DB4-A950-BE3BAE1C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425B53D7-6E02-4723-85B6-E7BE53EC4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F7C6BD07-F21B-4637-BE8C-3C4D91836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2cd56254024dab"/>
          <a:stretch xmlns:a="http://schemas.openxmlformats.org/drawingml/2006/main"/>
        </p:blipFill>
        <p:spPr>
          <a:xfrm xmlns:a="http://schemas.openxmlformats.org/drawingml/2006/main">
            <a:off x="1986983" y="1381125"/>
            <a:ext cx="8218033" cy="42862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6EA232-447C-4A6E-BB33-C06855390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43575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A change in one relationship can alter incentives throughout the system.</a:t>
            </a:r>
          </a:p>
        </p:txBody>
      </p:sp>
    </p:spTree>
    <p:extLst>
      <p:ext uri="{BB962C8B-B14F-4D97-AF65-F5344CB8AC3E}">
        <p14:creationId xmlns:p14="http://schemas.microsoft.com/office/powerpoint/2010/main" val="17915606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DA734F3B-0D3C-4885-B0CB-4CC7AC2C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1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7F9502A-2E42-4877-BC46-5E71C7CD0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Sports provide rich data—not automatic experiments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A335858-FA85-4115-8517-5834AB12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C0CCC5EE-41A8-47A7-B460-0F2C0150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1AED3DC4-B58C-43DE-9418-26A752E25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6" name="panel-1">
            <a:extLst xmlns:a="http://schemas.openxmlformats.org/drawingml/2006/main">
              <a:ext uri="{FF2B5EF4-FFF2-40B4-BE49-F238E27FC236}">
                <a16:creationId xmlns:a16="http://schemas.microsoft.com/office/drawing/2014/main" id="{C6C66370-CCCC-429C-8820-612CD266D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09750"/>
            <a:ext cx="53149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8"/>
          </a:solidFill>
          <a:ln xmlns:a="http://schemas.openxmlformats.org/drawingml/2006/main" w="9525">
            <a:solidFill>
              <a:srgbClr val="CBD4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DACEB1-4812-47C9-9F07-5E49D2BB3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89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176B91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76B91"/>
                </a:solidFill>
                <a:latin typeface="Aptos"/>
                <a:ea typeface="Aptos"/>
                <a:cs typeface="Aptos"/>
              </a:rPr>
              <a:t>WHAT HELPS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950925-1B1C-4B79-8AF5-C8BF17EE1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4857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325" b="1" i="0">
                <a:solidFill>
                  <a:srgbClr val="176B91"/>
                </a:solidFill>
                <a:latin typeface="Georgia"/>
                <a:ea typeface="Georgia"/>
                <a:cs typeface="Georgia"/>
              </a:defRPr>
            </a:pPr>
            <a:r>
              <a:rPr sz="2325" b="1" i="0">
                <a:solidFill>
                  <a:srgbClr val="176B91"/>
                </a:solidFill>
                <a:latin typeface="Georgia"/>
                <a:ea typeface="Georgia"/>
                <a:cs typeface="Georgia"/>
              </a:rPr>
              <a:t>Visible rules and repeated outcomes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B55833-FBDF-4ACF-98BA-9A4ECBF4D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76625"/>
            <a:ext cx="4781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Contracts, schedules, standings, prices, audiences, and performance measures create unusually observable settings.</a:t>
            </a:r>
          </a:p>
        </p:txBody>
      </p:sp>
      <p:sp>
        <p:nvSpPr>
          <p:cNvPr id="10" name="panel-2">
            <a:extLst xmlns:a="http://schemas.openxmlformats.org/drawingml/2006/main">
              <a:ext uri="{FF2B5EF4-FFF2-40B4-BE49-F238E27FC236}">
                <a16:creationId xmlns:a16="http://schemas.microsoft.com/office/drawing/2014/main" id="{526156D2-7853-48C8-9AFE-6828C52F4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53149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EF"/>
          </a:solidFill>
          <a:ln xmlns:a="http://schemas.openxmlformats.org/drawingml/2006/main" w="9525">
            <a:solidFill>
              <a:srgbClr val="CBD4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94D7AF-4E0F-4A60-8D0D-6C3DEBA4D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38350"/>
            <a:ext cx="489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4F8F73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4F8F73"/>
                </a:solidFill>
                <a:latin typeface="Aptos"/>
                <a:ea typeface="Aptos"/>
                <a:cs typeface="Aptos"/>
              </a:rPr>
              <a:t>WHAT REMAINS HARD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179A82-83DA-4220-8DCA-E7D489824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76500"/>
            <a:ext cx="4857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325" b="1" i="0">
                <a:solidFill>
                  <a:srgbClr val="4F8F73"/>
                </a:solidFill>
                <a:latin typeface="Georgia"/>
                <a:ea typeface="Georgia"/>
                <a:cs typeface="Georgia"/>
              </a:defRPr>
            </a:pPr>
            <a:r>
              <a:rPr sz="2325" b="1" i="0">
                <a:solidFill>
                  <a:srgbClr val="4F8F73"/>
                </a:solidFill>
                <a:latin typeface="Georgia"/>
                <a:ea typeface="Georgia"/>
                <a:cs typeface="Georgia"/>
              </a:rPr>
              <a:t>Cause and selection still mix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7C3658-CF7B-46B3-9978-46FDF35EB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476625"/>
            <a:ext cx="4781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Popular games get higher prices; winning raises revenue; revenue can also help teams acquire talent.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833720-A8DE-40A1-B391-7715AFD28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48300"/>
            <a:ext cx="971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A large sports dataset is evidence, but research design determines the claim.</a:t>
            </a:r>
          </a:p>
        </p:txBody>
      </p:sp>
    </p:spTree>
    <p:extLst>
      <p:ext uri="{BB962C8B-B14F-4D97-AF65-F5344CB8AC3E}">
        <p14:creationId xmlns:p14="http://schemas.microsoft.com/office/powerpoint/2010/main" val="210557905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6D777AFD-F7F3-470F-953D-414075820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1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B6CD702-BB92-4C0C-A25A-370356EE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The economist's method follows six questions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6F6F2C5-FDB6-413B-94D6-9A2F696D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BC878D85-9BA6-45F6-A92D-2550CA2F5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18CCA0B1-AC6B-47CA-9E5B-7D2479CE4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2F33FD-D397-4D34-B969-2E278C81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1666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step-rule-1">
            <a:extLst xmlns:a="http://schemas.openxmlformats.org/drawingml/2006/main">
              <a:ext uri="{FF2B5EF4-FFF2-40B4-BE49-F238E27FC236}">
                <a16:creationId xmlns:a16="http://schemas.microsoft.com/office/drawing/2014/main" id="{9F73FCA7-7B32-4C0A-867A-3F2CEDCC4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1666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EBA4FA-14EB-47DC-97B8-D74A7C4F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9375"/>
            <a:ext cx="16668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defRPr>
            </a:pPr>
            <a:r>
              <a: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rPr>
              <a:t>Constraints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43FD1A-25DD-46CD-9C71-C9CB745B8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0"/>
            <a:ext cx="16668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What limits the choice?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75B9E7-3535-4019-9EF0-DAFAD11CD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1809750"/>
            <a:ext cx="1666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step-rule-2">
            <a:extLst xmlns:a="http://schemas.openxmlformats.org/drawingml/2006/main">
              <a:ext uri="{FF2B5EF4-FFF2-40B4-BE49-F238E27FC236}">
                <a16:creationId xmlns:a16="http://schemas.microsoft.com/office/drawing/2014/main" id="{5386B957-E4EF-498D-B2BD-FFBF08AD1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333625"/>
            <a:ext cx="1666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F12391-EFD5-41B5-82F4-A1F76191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619375"/>
            <a:ext cx="16668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defRPr>
            </a:pPr>
            <a:r>
              <a: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rPr>
              <a:t>Incentives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FAFB71-5E5A-4652-93C0-A5B8730C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619500"/>
            <a:ext cx="16668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Which benefit or cost changes?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E3E964-ECCC-4946-B5EA-260F5C4C7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809750"/>
            <a:ext cx="1666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step-rule-3">
            <a:extLst xmlns:a="http://schemas.openxmlformats.org/drawingml/2006/main">
              <a:ext uri="{FF2B5EF4-FFF2-40B4-BE49-F238E27FC236}">
                <a16:creationId xmlns:a16="http://schemas.microsoft.com/office/drawing/2014/main" id="{B0378341-B714-4961-A440-56D01887C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33625"/>
            <a:ext cx="1666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6D2A00-FD63-4791-ADD9-A9A14944F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619375"/>
            <a:ext cx="16668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defRPr>
            </a:pPr>
            <a:r>
              <a: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rPr>
              <a:t>Models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A05280-D58D-406A-9023-A78FEDB2D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619500"/>
            <a:ext cx="16668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Which details can we simplify?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17C781-A918-48B0-9715-3CDD65F46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809750"/>
            <a:ext cx="1666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9" name="step-rule-4">
            <a:extLst xmlns:a="http://schemas.openxmlformats.org/drawingml/2006/main">
              <a:ext uri="{FF2B5EF4-FFF2-40B4-BE49-F238E27FC236}">
                <a16:creationId xmlns:a16="http://schemas.microsoft.com/office/drawing/2014/main" id="{72DD7D1B-0849-4BC3-9ACE-D6084910C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2333625"/>
            <a:ext cx="1666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9A73C9-8876-4158-BF8B-C0AFEE16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2619375"/>
            <a:ext cx="16668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defRPr>
            </a:pPr>
            <a:r>
              <a: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rPr>
              <a:t>Institutions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882B5D-C1BB-4EE5-B730-66AB062A1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3619500"/>
            <a:ext cx="16668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Which rules organize the choice?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01AD43-4848-48A6-A1C8-89E63A645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809750"/>
            <a:ext cx="1666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3" name="step-rule-5">
            <a:extLst xmlns:a="http://schemas.openxmlformats.org/drawingml/2006/main">
              <a:ext uri="{FF2B5EF4-FFF2-40B4-BE49-F238E27FC236}">
                <a16:creationId xmlns:a16="http://schemas.microsoft.com/office/drawing/2014/main" id="{82A826B9-81BF-46DF-9ECC-66010403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333625"/>
            <a:ext cx="1666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5A154D-A3F7-4AFD-8B03-7D100D338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19375"/>
            <a:ext cx="16668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defRPr>
            </a:pPr>
            <a:r>
              <a: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rPr>
              <a:t>Alternative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DEDBEF-9AD8-4275-AC48-6EABCED5D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619500"/>
            <a:ext cx="16668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What would likely happen otherwise?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20D846-6990-4F5D-AD2C-9FD0F04A1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1809750"/>
            <a:ext cx="1666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7" name="step-rule-6">
            <a:extLst xmlns:a="http://schemas.openxmlformats.org/drawingml/2006/main">
              <a:ext uri="{FF2B5EF4-FFF2-40B4-BE49-F238E27FC236}">
                <a16:creationId xmlns:a16="http://schemas.microsoft.com/office/drawing/2014/main" id="{BA3C247B-32C6-4205-B063-4F4985987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333625"/>
            <a:ext cx="1666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170230-5A65-4C7E-8496-DC21E321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619375"/>
            <a:ext cx="16668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defRPr>
            </a:pPr>
            <a:r>
              <a: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rPr>
              <a:t>Evidence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E3ABA7E-23F0-4341-A7A4-9BD757A32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3619500"/>
            <a:ext cx="16668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What can the source establish?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6E2027-6524-4636-9623-4A07687CE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29250"/>
            <a:ext cx="971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The method turns a plausible story into a disciplined argument.</a:t>
            </a:r>
          </a:p>
        </p:txBody>
      </p:sp>
    </p:spTree>
    <p:extLst>
      <p:ext uri="{BB962C8B-B14F-4D97-AF65-F5344CB8AC3E}">
        <p14:creationId xmlns:p14="http://schemas.microsoft.com/office/powerpoint/2010/main" val="11996845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C72B54B2-CEEA-4DCA-A76F-C9622675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1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7F6B856-9DB7-4121-935D-230DCE2E8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Constraints create trade-offs and opportunity costs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6372AEC-FF48-411D-B13C-A3483DB1C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7B3864B6-C7CD-44D4-8500-38EC7845B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90CA2F20-198F-4F95-97D7-CD0295F6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6" name="panel-1">
            <a:extLst xmlns:a="http://schemas.openxmlformats.org/drawingml/2006/main">
              <a:ext uri="{FF2B5EF4-FFF2-40B4-BE49-F238E27FC236}">
                <a16:creationId xmlns:a16="http://schemas.microsoft.com/office/drawing/2014/main" id="{4EBE48F3-3BDC-49D1-BFF0-84848FBD8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09750"/>
            <a:ext cx="53149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8"/>
          </a:solidFill>
          <a:ln xmlns:a="http://schemas.openxmlformats.org/drawingml/2006/main" w="9525">
            <a:solidFill>
              <a:srgbClr val="CBD4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3D4E3E-BBF1-4D3A-B9B9-C34F70902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89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176B91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76B91"/>
                </a:solidFill>
                <a:latin typeface="Aptos"/>
                <a:ea typeface="Aptos"/>
                <a:cs typeface="Aptos"/>
              </a:rPr>
              <a:t>CONSTRAINT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7921ED-689E-4D94-A0F1-DC0F5D7F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4857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325" b="1" i="0">
                <a:solidFill>
                  <a:srgbClr val="176B91"/>
                </a:solidFill>
                <a:latin typeface="Georgia"/>
                <a:ea typeface="Georgia"/>
                <a:cs typeface="Georgia"/>
              </a:defRPr>
            </a:pPr>
            <a:r>
              <a:rPr sz="2325" b="1" i="0">
                <a:solidFill>
                  <a:srgbClr val="176B91"/>
                </a:solidFill>
                <a:latin typeface="Georgia"/>
                <a:ea typeface="Georgia"/>
                <a:cs typeface="Georgia"/>
              </a:rPr>
              <a:t>Not every option is feasible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AA25CE-F199-4F99-8125-A4E2EE88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76625"/>
            <a:ext cx="4781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A roster, schedule, stadium, budget, and hour of attention all have limits.</a:t>
            </a:r>
          </a:p>
        </p:txBody>
      </p:sp>
      <p:sp>
        <p:nvSpPr>
          <p:cNvPr id="10" name="panel-2">
            <a:extLst xmlns:a="http://schemas.openxmlformats.org/drawingml/2006/main">
              <a:ext uri="{FF2B5EF4-FFF2-40B4-BE49-F238E27FC236}">
                <a16:creationId xmlns:a16="http://schemas.microsoft.com/office/drawing/2014/main" id="{C7ADBDC5-376F-4E5E-BA18-A14800384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53149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EF"/>
          </a:solidFill>
          <a:ln xmlns:a="http://schemas.openxmlformats.org/drawingml/2006/main" w="9525">
            <a:solidFill>
              <a:srgbClr val="CBD4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E44F7A-17E8-4313-A618-40D11EF46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38350"/>
            <a:ext cx="489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4F8F73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4F8F73"/>
                </a:solidFill>
                <a:latin typeface="Aptos"/>
                <a:ea typeface="Aptos"/>
                <a:cs typeface="Aptos"/>
              </a:rPr>
              <a:t>OPPORTUNITY COST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04432A-9FF4-4917-82CC-4F9A8A4CF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76500"/>
            <a:ext cx="4857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325" b="1" i="0">
                <a:solidFill>
                  <a:srgbClr val="4F8F73"/>
                </a:solidFill>
                <a:latin typeface="Georgia"/>
                <a:ea typeface="Georgia"/>
                <a:cs typeface="Georgia"/>
              </a:defRPr>
            </a:pPr>
            <a:r>
              <a:rPr sz="2325" b="1" i="0">
                <a:solidFill>
                  <a:srgbClr val="4F8F73"/>
                </a:solidFill>
                <a:latin typeface="Georgia"/>
                <a:ea typeface="Georgia"/>
                <a:cs typeface="Georgia"/>
              </a:rPr>
              <a:t>Choosing one option gives up another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658781-BC1E-475D-863A-2BD0CE1C6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476625"/>
            <a:ext cx="4781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The relevant cost is the value of the best forgone alternative—not only the money paid.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2FEC9A-339D-417B-9ED2-6CCC7B3D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48300"/>
            <a:ext cx="971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Always ask what disappears when a choice is made.</a:t>
            </a:r>
          </a:p>
        </p:txBody>
      </p:sp>
    </p:spTree>
    <p:extLst>
      <p:ext uri="{BB962C8B-B14F-4D97-AF65-F5344CB8AC3E}">
        <p14:creationId xmlns:p14="http://schemas.microsoft.com/office/powerpoint/2010/main" val="175883152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2455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882E88-246B-4F2B-8CB4-690DA5626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9A52A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9A52A"/>
                </a:solidFill>
                <a:latin typeface="Aptos"/>
                <a:ea typeface="Aptos"/>
                <a:cs typeface="Aptos"/>
              </a:rPr>
              <a:t>CHAPTER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67EE1D-86F8-45F1-815A-6233E00F8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11391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counterfactual is a disciplined comparison</a:t>
            </a:r>
          </a:p>
        </p:txBody>
      </p:sp>
      <p:sp>
        <p:nvSpPr>
          <p:cNvPr id="3" name="big-statement">
            <a:extLst xmlns:a="http://schemas.openxmlformats.org/drawingml/2006/main">
              <a:ext uri="{FF2B5EF4-FFF2-40B4-BE49-F238E27FC236}">
                <a16:creationId xmlns:a16="http://schemas.microsoft.com/office/drawing/2014/main" id="{EDC34B40-B7B9-436D-9441-EEEF5F625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809750"/>
            <a:ext cx="10191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675" b="1" i="0">
                <a:solidFill>
                  <a:srgbClr val="C9A52A"/>
                </a:solidFill>
                <a:latin typeface="Georgia"/>
                <a:ea typeface="Georgia"/>
                <a:cs typeface="Georgia"/>
              </a:defRPr>
            </a:pPr>
            <a:r>
              <a:rPr sz="3675" b="1" i="0">
                <a:solidFill>
                  <a:srgbClr val="C9A52A"/>
                </a:solidFill>
                <a:latin typeface="Georgia"/>
                <a:ea typeface="Georgia"/>
                <a:cs typeface="Georgia"/>
              </a:rPr>
              <a:t>What would likely have happened under a different choice or policy?</a:t>
            </a:r>
          </a:p>
        </p:txBody>
      </p:sp>
      <p:sp>
        <p:nvSpPr>
          <p:cNvPr id="4" name="bullet-mark-1">
            <a:extLst xmlns:a="http://schemas.openxmlformats.org/drawingml/2006/main">
              <a:ext uri="{FF2B5EF4-FFF2-40B4-BE49-F238E27FC236}">
                <a16:creationId xmlns:a16="http://schemas.microsoft.com/office/drawing/2014/main" id="{7C8F6054-B923-4C7F-B055-BFBAF1AC4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6576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C9A52A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C9A52A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5" name="bullet-1">
            <a:extLst xmlns:a="http://schemas.openxmlformats.org/drawingml/2006/main">
              <a:ext uri="{FF2B5EF4-FFF2-40B4-BE49-F238E27FC236}">
                <a16:creationId xmlns:a16="http://schemas.microsoft.com/office/drawing/2014/main" id="{65FF9D25-73F1-40BA-B1FC-46084B63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67125"/>
            <a:ext cx="8248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Compare a stadium outcome with the likely no-stadium path—not with zero.</a:t>
            </a:r>
          </a:p>
        </p:txBody>
      </p:sp>
      <p:sp>
        <p:nvSpPr>
          <p:cNvPr id="6" name="bullet-mark-2">
            <a:extLst xmlns:a="http://schemas.openxmlformats.org/drawingml/2006/main">
              <a:ext uri="{FF2B5EF4-FFF2-40B4-BE49-F238E27FC236}">
                <a16:creationId xmlns:a16="http://schemas.microsoft.com/office/drawing/2014/main" id="{21FDAA5C-223D-4F3A-88DB-EF94F5E8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291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C9A52A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C9A52A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7" name="bullet-2">
            <a:extLst xmlns:a="http://schemas.openxmlformats.org/drawingml/2006/main">
              <a:ext uri="{FF2B5EF4-FFF2-40B4-BE49-F238E27FC236}">
                <a16:creationId xmlns:a16="http://schemas.microsoft.com/office/drawing/2014/main" id="{B323901D-15FD-4E0C-905A-581ADCB93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238625"/>
            <a:ext cx="8248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Compare a pricing change with otherwise similar demand conditions.</a:t>
            </a:r>
          </a:p>
        </p:txBody>
      </p:sp>
      <p:sp>
        <p:nvSpPr>
          <p:cNvPr id="8" name="bullet-mark-3">
            <a:extLst xmlns:a="http://schemas.openxmlformats.org/drawingml/2006/main">
              <a:ext uri="{FF2B5EF4-FFF2-40B4-BE49-F238E27FC236}">
                <a16:creationId xmlns:a16="http://schemas.microsoft.com/office/drawing/2014/main" id="{110EAB54-E6B5-425F-BE2D-74B874F8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006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C9A52A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C9A52A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bullet-3">
            <a:extLst xmlns:a="http://schemas.openxmlformats.org/drawingml/2006/main">
              <a:ext uri="{FF2B5EF4-FFF2-40B4-BE49-F238E27FC236}">
                <a16:creationId xmlns:a16="http://schemas.microsoft.com/office/drawing/2014/main" id="{BDD980C3-4200-49E5-8645-E1D41F10B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810125"/>
            <a:ext cx="8248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State the alternative even when a precise causal estimate is unavailable.</a:t>
            </a:r>
          </a:p>
        </p:txBody>
      </p:sp>
    </p:spTree>
    <p:extLst>
      <p:ext uri="{BB962C8B-B14F-4D97-AF65-F5344CB8AC3E}">
        <p14:creationId xmlns:p14="http://schemas.microsoft.com/office/powerpoint/2010/main" val="10740744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2D519FF3-97C3-4D7E-95C7-14BB19217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1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628C721-E7E3-48C0-B42A-56CF1B0BB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Evidence must match the claim being made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1612E61-5C64-459F-A0C8-929F628B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C0C2ECEF-1DD8-45EC-8244-E31EC0856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0E0BE87B-3390-4912-9996-7C3B97D96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6" name="panel-1">
            <a:extLst xmlns:a="http://schemas.openxmlformats.org/drawingml/2006/main">
              <a:ext uri="{FF2B5EF4-FFF2-40B4-BE49-F238E27FC236}">
                <a16:creationId xmlns:a16="http://schemas.microsoft.com/office/drawing/2014/main" id="{CB970544-EBCD-41FF-B260-7D2E9BC5D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09750"/>
            <a:ext cx="53149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8"/>
          </a:solidFill>
          <a:ln xmlns:a="http://schemas.openxmlformats.org/drawingml/2006/main" w="9525">
            <a:solidFill>
              <a:srgbClr val="CBD4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31C386-9F2D-4071-951A-F4799685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89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176B91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76B91"/>
                </a:solidFill>
                <a:latin typeface="Aptos"/>
                <a:ea typeface="Aptos"/>
                <a:cs typeface="Aptos"/>
              </a:rPr>
              <a:t>DESCRIBE AND PREDICT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72CF77-7232-46BA-8197-FDEA93FA3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4857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325" b="1" i="0">
                <a:solidFill>
                  <a:srgbClr val="176B91"/>
                </a:solidFill>
                <a:latin typeface="Georgia"/>
                <a:ea typeface="Georgia"/>
                <a:cs typeface="Georgia"/>
              </a:defRPr>
            </a:pPr>
            <a:r>
              <a:rPr sz="2325" b="1" i="0">
                <a:solidFill>
                  <a:srgbClr val="176B91"/>
                </a:solidFill>
                <a:latin typeface="Georgia"/>
                <a:ea typeface="Georgia"/>
                <a:cs typeface="Georgia"/>
              </a:rPr>
              <a:t>What happened—and what forecasts?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71F653-564E-4FCC-B2B7-19A9CC727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76625"/>
            <a:ext cx="4781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Contracts, attendance series, surveys, and regressions can establish terms, patterns, reported preferences, and predictive relationships.</a:t>
            </a:r>
          </a:p>
        </p:txBody>
      </p:sp>
      <p:sp>
        <p:nvSpPr>
          <p:cNvPr id="10" name="panel-2">
            <a:extLst xmlns:a="http://schemas.openxmlformats.org/drawingml/2006/main">
              <a:ext uri="{FF2B5EF4-FFF2-40B4-BE49-F238E27FC236}">
                <a16:creationId xmlns:a16="http://schemas.microsoft.com/office/drawing/2014/main" id="{8EC2523F-5C52-4E10-90BA-76017435B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53149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EF"/>
          </a:solidFill>
          <a:ln xmlns:a="http://schemas.openxmlformats.org/drawingml/2006/main" w="9525">
            <a:solidFill>
              <a:srgbClr val="CBD4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9DED3F-CFB6-4D29-8B17-348C1728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38350"/>
            <a:ext cx="489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4F8F73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4F8F73"/>
                </a:solidFill>
                <a:latin typeface="Aptos"/>
                <a:ea typeface="Aptos"/>
                <a:cs typeface="Aptos"/>
              </a:rPr>
              <a:t>EXPLAIN CAUSE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36FDC3-0D6C-4D23-9668-F2E6C0572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76500"/>
            <a:ext cx="4857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325" b="1" i="0">
                <a:solidFill>
                  <a:srgbClr val="4F8F73"/>
                </a:solidFill>
                <a:latin typeface="Georgia"/>
                <a:ea typeface="Georgia"/>
                <a:cs typeface="Georgia"/>
              </a:defRPr>
            </a:pPr>
            <a:r>
              <a:rPr sz="2325" b="1" i="0">
                <a:solidFill>
                  <a:srgbClr val="4F8F73"/>
                </a:solidFill>
                <a:latin typeface="Georgia"/>
                <a:ea typeface="Georgia"/>
                <a:cs typeface="Georgia"/>
              </a:rPr>
              <a:t>What would change if X changed?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9B337F-A65C-46DC-9CFF-EC0E57B76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476625"/>
            <a:ext cx="4781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Causal claims require a credible comparison, experiment, policy change, or research design that supports the counterfactual.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26EB48-646F-41E5-84B5-66DA679C9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48300"/>
            <a:ext cx="971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Correlation can be useful without answering a causal question.</a:t>
            </a:r>
          </a:p>
        </p:txBody>
      </p:sp>
    </p:spTree>
    <p:extLst>
      <p:ext uri="{BB962C8B-B14F-4D97-AF65-F5344CB8AC3E}">
        <p14:creationId xmlns:p14="http://schemas.microsoft.com/office/powerpoint/2010/main" val="75944717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DF9D7B84-FDE0-4170-AD08-D1525287F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1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3446FA2-A785-4CF2-BF97-B2DB44AA9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Most sports headlines hide one of five questions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BD156D0-8B76-4A68-9999-B6EE767D0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479CE9CC-D716-4E25-BAFB-FD7E3DE52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5A908F90-61FD-45DE-BC87-4B8237D69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6" name="bullet-mark-1">
            <a:extLst xmlns:a="http://schemas.openxmlformats.org/drawingml/2006/main">
              <a:ext uri="{FF2B5EF4-FFF2-40B4-BE49-F238E27FC236}">
                <a16:creationId xmlns:a16="http://schemas.microsoft.com/office/drawing/2014/main" id="{A3767223-02A6-4A72-ACF6-115703B45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0497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7" name="bullet-1">
            <a:extLst xmlns:a="http://schemas.openxmlformats.org/drawingml/2006/main">
              <a:ext uri="{FF2B5EF4-FFF2-40B4-BE49-F238E27FC236}">
                <a16:creationId xmlns:a16="http://schemas.microsoft.com/office/drawing/2014/main" id="{61E69FF0-0781-4513-B65F-13BC43BDD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714500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Prices, products, and the value of audience attention</a:t>
            </a:r>
          </a:p>
        </p:txBody>
      </p:sp>
      <p:sp>
        <p:nvSpPr>
          <p:cNvPr id="8" name="bullet-mark-2">
            <a:extLst xmlns:a="http://schemas.openxmlformats.org/drawingml/2006/main">
              <a:ext uri="{FF2B5EF4-FFF2-40B4-BE49-F238E27FC236}">
                <a16:creationId xmlns:a16="http://schemas.microsoft.com/office/drawing/2014/main" id="{A6D8F066-90FF-4E37-8971-1357EE85C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30505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510B0D19-4B96-4E0D-BE54-00016BB44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314575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Labor, rosters, productivity, and bargaining power</a:t>
            </a:r>
          </a:p>
        </p:txBody>
      </p:sp>
      <p:sp>
        <p:nvSpPr>
          <p:cNvPr id="10" name="bullet-mark-3">
            <a:extLst xmlns:a="http://schemas.openxmlformats.org/drawingml/2006/main">
              <a:ext uri="{FF2B5EF4-FFF2-40B4-BE49-F238E27FC236}">
                <a16:creationId xmlns:a16="http://schemas.microsoft.com/office/drawing/2014/main" id="{F0B9C1A8-DBB2-4CF7-B9F9-BC0E7697A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90512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bullet-3">
            <a:extLst xmlns:a="http://schemas.openxmlformats.org/drawingml/2006/main">
              <a:ext uri="{FF2B5EF4-FFF2-40B4-BE49-F238E27FC236}">
                <a16:creationId xmlns:a16="http://schemas.microsoft.com/office/drawing/2014/main" id="{B6028266-6038-48C7-9B47-ACF9BDB7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914650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Competition, cooperation, league rules, and antitrust</a:t>
            </a:r>
          </a:p>
        </p:txBody>
      </p:sp>
      <p:sp>
        <p:nvSpPr>
          <p:cNvPr id="12" name="bullet-mark-4">
            <a:extLst xmlns:a="http://schemas.openxmlformats.org/drawingml/2006/main">
              <a:ext uri="{FF2B5EF4-FFF2-40B4-BE49-F238E27FC236}">
                <a16:creationId xmlns:a16="http://schemas.microsoft.com/office/drawing/2014/main" id="{3251CB48-C80B-47B1-AE6C-EFB586D26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5052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3" name="bullet-4">
            <a:extLst xmlns:a="http://schemas.openxmlformats.org/drawingml/2006/main">
              <a:ext uri="{FF2B5EF4-FFF2-40B4-BE49-F238E27FC236}">
                <a16:creationId xmlns:a16="http://schemas.microsoft.com/office/drawing/2014/main" id="{952BFC35-B06D-4834-AC49-DA740048F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514725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Public claims about stadiums, gambling, health, and major events</a:t>
            </a:r>
          </a:p>
        </p:txBody>
      </p:sp>
      <p:sp>
        <p:nvSpPr>
          <p:cNvPr id="14" name="bullet-mark-5">
            <a:extLst xmlns:a="http://schemas.openxmlformats.org/drawingml/2006/main">
              <a:ext uri="{FF2B5EF4-FFF2-40B4-BE49-F238E27FC236}">
                <a16:creationId xmlns:a16="http://schemas.microsoft.com/office/drawing/2014/main" id="{ECD10E68-2516-4339-BEB6-25A6BCA0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10527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5" name="bullet-5">
            <a:extLst xmlns:a="http://schemas.openxmlformats.org/drawingml/2006/main">
              <a:ext uri="{FF2B5EF4-FFF2-40B4-BE49-F238E27FC236}">
                <a16:creationId xmlns:a16="http://schemas.microsoft.com/office/drawing/2014/main" id="{6C919C1E-4391-4F9A-9581-51A0A4608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4114800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Data, prediction, causal inference, and decision making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5C468C-551F-4BF6-9372-BC225FD67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44830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The course develops a small set of tools and applies them repeatedly.</a:t>
            </a:r>
          </a:p>
        </p:txBody>
      </p:sp>
    </p:spTree>
    <p:extLst>
      <p:ext uri="{BB962C8B-B14F-4D97-AF65-F5344CB8AC3E}">
        <p14:creationId xmlns:p14="http://schemas.microsoft.com/office/powerpoint/2010/main" val="195929363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4FC6AB67-DF6C-47AE-9895-BFBC6E1F1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1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028FE8D-0803-48F0-AA99-E6E7CB96C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AI works best when the chapter anchors the session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A8559CE-9C0F-4927-B69E-AF14E3638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7FC36F57-458E-4A6C-9F80-65BC688D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4CAF1FE1-7612-49D0-A421-F458E8013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A34308-09BB-4E23-A455-745F2A81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504950"/>
            <a:ext cx="994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STUDY WORKFLOW</a:t>
            </a:r>
          </a:p>
        </p:txBody>
      </p:sp>
      <p:sp>
        <p:nvSpPr>
          <p:cNvPr id="7" name="bullet-mark-1">
            <a:extLst xmlns:a="http://schemas.openxmlformats.org/drawingml/2006/main">
              <a:ext uri="{FF2B5EF4-FFF2-40B4-BE49-F238E27FC236}">
                <a16:creationId xmlns:a16="http://schemas.microsoft.com/office/drawing/2014/main" id="{4B1D4AED-D9D4-4B72-B1D1-A26E4DEA4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9431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8" name="bullet-1">
            <a:extLst xmlns:a="http://schemas.openxmlformats.org/drawingml/2006/main">
              <a:ext uri="{FF2B5EF4-FFF2-40B4-BE49-F238E27FC236}">
                <a16:creationId xmlns:a16="http://schemas.microsoft.com/office/drawing/2014/main" id="{B60CE2CD-5285-462D-B2EC-D34BEBF13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952625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Upload the chapter Markdown and ask the tutor to rely on that file.</a:t>
            </a:r>
          </a:p>
        </p:txBody>
      </p:sp>
      <p:sp>
        <p:nvSpPr>
          <p:cNvPr id="9" name="bullet-mark-2">
            <a:extLst xmlns:a="http://schemas.openxmlformats.org/drawingml/2006/main">
              <a:ext uri="{FF2B5EF4-FFF2-40B4-BE49-F238E27FC236}">
                <a16:creationId xmlns:a16="http://schemas.microsoft.com/office/drawing/2014/main" id="{8D9FC5D0-CA72-4DA9-BDA1-268A0880C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4317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" name="bullet-2">
            <a:extLst xmlns:a="http://schemas.openxmlformats.org/drawingml/2006/main">
              <a:ext uri="{FF2B5EF4-FFF2-40B4-BE49-F238E27FC236}">
                <a16:creationId xmlns:a16="http://schemas.microsoft.com/office/drawing/2014/main" id="{BE803655-20F9-4BE8-82D3-DFEFC3D92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552700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Specify the audience, topic, task, and constraints.</a:t>
            </a:r>
          </a:p>
        </p:txBody>
      </p:sp>
      <p:sp>
        <p:nvSpPr>
          <p:cNvPr id="11" name="bullet-mark-3">
            <a:extLst xmlns:a="http://schemas.openxmlformats.org/drawingml/2006/main">
              <a:ext uri="{FF2B5EF4-FFF2-40B4-BE49-F238E27FC236}">
                <a16:creationId xmlns:a16="http://schemas.microsoft.com/office/drawing/2014/main" id="{5DD867CF-E4AC-4C76-B19D-7B550A589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14325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380095BA-0B0F-42D6-9F68-CA567B92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152775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Request one question at a time and require an explanation after each answer.</a:t>
            </a:r>
          </a:p>
        </p:txBody>
      </p:sp>
      <p:sp>
        <p:nvSpPr>
          <p:cNvPr id="13" name="bullet-mark-4">
            <a:extLst xmlns:a="http://schemas.openxmlformats.org/drawingml/2006/main">
              <a:ext uri="{FF2B5EF4-FFF2-40B4-BE49-F238E27FC236}">
                <a16:creationId xmlns:a16="http://schemas.microsoft.com/office/drawing/2014/main" id="{2CAF8AFC-AF9D-4D60-838B-ACCCCC210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74332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4" name="bullet-4">
            <a:extLst xmlns:a="http://schemas.openxmlformats.org/drawingml/2006/main">
              <a:ext uri="{FF2B5EF4-FFF2-40B4-BE49-F238E27FC236}">
                <a16:creationId xmlns:a16="http://schemas.microsoft.com/office/drawing/2014/main" id="{BBF54136-7294-483D-AA93-823C312B7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752850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Ask for new applications, not copied review questions.</a:t>
            </a:r>
          </a:p>
        </p:txBody>
      </p:sp>
      <p:sp>
        <p:nvSpPr>
          <p:cNvPr id="15" name="bullet-mark-5">
            <a:extLst xmlns:a="http://schemas.openxmlformats.org/drawingml/2006/main">
              <a:ext uri="{FF2B5EF4-FFF2-40B4-BE49-F238E27FC236}">
                <a16:creationId xmlns:a16="http://schemas.microsoft.com/office/drawing/2014/main" id="{FBF73E17-33FD-4CEA-AC0D-4491D3F86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3434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6" name="bullet-5">
            <a:extLst xmlns:a="http://schemas.openxmlformats.org/drawingml/2006/main">
              <a:ext uri="{FF2B5EF4-FFF2-40B4-BE49-F238E27FC236}">
                <a16:creationId xmlns:a16="http://schemas.microsoft.com/office/drawing/2014/main" id="{48998126-A555-4615-A0FF-3B06806D4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4352925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Challenge unclear assumptions, units, and causal language.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961DE4-C99A-48BE-8BFF-8FBBA018C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44830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AI lowers the cost of practice; it does not remove the need for judgment.</a:t>
            </a:r>
          </a:p>
        </p:txBody>
      </p:sp>
    </p:spTree>
    <p:extLst>
      <p:ext uri="{BB962C8B-B14F-4D97-AF65-F5344CB8AC3E}">
        <p14:creationId xmlns:p14="http://schemas.microsoft.com/office/powerpoint/2010/main" val="14949725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BA54C7C2-3F81-49B0-8120-018AB2FD5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1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A23FB94-5A3C-4942-8390-23374DC23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OPS fit team scoring better than batting average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49BF074-4062-4C6B-B5D3-9E623E53C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4ED4526C-085E-491C-B219-7A5DC78D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4647317E-BD6B-4CB0-8FF8-683E4C2E8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121265353a4734"/>
          <a:stretch xmlns:a="http://schemas.openxmlformats.org/drawingml/2006/main"/>
        </p:blipFill>
        <p:spPr>
          <a:xfrm xmlns:a="http://schemas.openxmlformats.org/drawingml/2006/main">
            <a:off x="2199409" y="1381125"/>
            <a:ext cx="7793182" cy="42862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ACFE69-47B8-4C88-A7A8-DF4145FFA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43575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In the 2025 team sample, OPS had the stronger linear relationship with runs per game.</a:t>
            </a:r>
          </a:p>
        </p:txBody>
      </p:sp>
    </p:spTree>
    <p:extLst>
      <p:ext uri="{BB962C8B-B14F-4D97-AF65-F5344CB8AC3E}">
        <p14:creationId xmlns:p14="http://schemas.microsoft.com/office/powerpoint/2010/main" val="18766103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FCC1368A-57F8-4CC8-9B8C-88DC4363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1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7BE6EDF-A376-4837-B950-421CB2A20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Regression translates a pattern into a fitted line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A4290E6-B41F-45FA-85B5-8B6BAE4DF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BEC1E7C3-2BBF-47F6-838E-7A4850093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28E75727-54AC-48F7-9A0A-7E48219B9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6" name="panel-1">
            <a:extLst xmlns:a="http://schemas.openxmlformats.org/drawingml/2006/main">
              <a:ext uri="{FF2B5EF4-FFF2-40B4-BE49-F238E27FC236}">
                <a16:creationId xmlns:a16="http://schemas.microsoft.com/office/drawing/2014/main" id="{9232EF94-3B50-4F0E-A051-E9CB58FE3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09750"/>
            <a:ext cx="53149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8"/>
          </a:solidFill>
          <a:ln xmlns:a="http://schemas.openxmlformats.org/drawingml/2006/main" w="9525">
            <a:solidFill>
              <a:srgbClr val="CBD4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B30F40-BD28-4DDA-ABD3-D0AB4C268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89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176B91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76B91"/>
                </a:solidFill>
                <a:latin typeface="Aptos"/>
                <a:ea typeface="Aptos"/>
                <a:cs typeface="Aptos"/>
              </a:rPr>
              <a:t>SLOPE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57F7B9-2DA8-449A-BAB9-2AB2C1EC8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4857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325" b="1" i="0">
                <a:solidFill>
                  <a:srgbClr val="176B91"/>
                </a:solidFill>
                <a:latin typeface="Georgia"/>
                <a:ea typeface="Georgia"/>
                <a:cs typeface="Georgia"/>
              </a:defRPr>
            </a:pPr>
            <a:r>
              <a:rPr sz="2325" b="1" i="0">
                <a:solidFill>
                  <a:srgbClr val="176B91"/>
                </a:solidFill>
                <a:latin typeface="Georgia"/>
                <a:ea typeface="Georgia"/>
                <a:cs typeface="Georgia"/>
              </a:rPr>
              <a:t>How the fitted outcome changes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D4BE4F-1255-4AAA-90ED-326C410B0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76625"/>
            <a:ext cx="4781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Interpret the direction, size, variables, and units. Do not call an association causal without a design.</a:t>
            </a:r>
          </a:p>
        </p:txBody>
      </p:sp>
      <p:sp>
        <p:nvSpPr>
          <p:cNvPr id="10" name="panel-2">
            <a:extLst xmlns:a="http://schemas.openxmlformats.org/drawingml/2006/main">
              <a:ext uri="{FF2B5EF4-FFF2-40B4-BE49-F238E27FC236}">
                <a16:creationId xmlns:a16="http://schemas.microsoft.com/office/drawing/2014/main" id="{05E5B7B5-B912-4B8F-BA58-64CC5C0B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53149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EF"/>
          </a:solidFill>
          <a:ln xmlns:a="http://schemas.openxmlformats.org/drawingml/2006/main" w="9525">
            <a:solidFill>
              <a:srgbClr val="CBD4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46FA79-B21A-4A42-94CE-E1A62AE9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38350"/>
            <a:ext cx="489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4F8F73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4F8F73"/>
                </a:solidFill>
                <a:latin typeface="Aptos"/>
                <a:ea typeface="Aptos"/>
                <a:cs typeface="Aptos"/>
              </a:rPr>
              <a:t>R²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8B4059-2E05-48D6-958F-A93079BAF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76500"/>
            <a:ext cx="4857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325" b="1" i="0">
                <a:solidFill>
                  <a:srgbClr val="4F8F73"/>
                </a:solidFill>
                <a:latin typeface="Georgia"/>
                <a:ea typeface="Georgia"/>
                <a:cs typeface="Georgia"/>
              </a:defRPr>
            </a:pPr>
            <a:r>
              <a:rPr sz="2325" b="1" i="0">
                <a:solidFill>
                  <a:srgbClr val="4F8F73"/>
                </a:solidFill>
                <a:latin typeface="Georgia"/>
                <a:ea typeface="Georgia"/>
                <a:cs typeface="Georgia"/>
              </a:rPr>
              <a:t>How tightly the line fits this sample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3110EE-EB19-4F3C-B7A3-5A4D4C01E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476625"/>
            <a:ext cx="4781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A higher value means more observed outcome variation is accounted for—not that the model is true or causal.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682E99-ECF6-47A7-AA51-C358CEB3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48300"/>
            <a:ext cx="971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Translate every statistic back into the variables and sample.</a:t>
            </a:r>
          </a:p>
        </p:txBody>
      </p:sp>
    </p:spTree>
    <p:extLst>
      <p:ext uri="{BB962C8B-B14F-4D97-AF65-F5344CB8AC3E}">
        <p14:creationId xmlns:p14="http://schemas.microsoft.com/office/powerpoint/2010/main" val="23102569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CFEEE981-8114-48BB-9521-AB92BCD9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1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E3EA0DB-EE0E-4222-A492-94771DAF4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A residual is observed minus predicted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5BB3517-89CC-411E-8C60-38F1F238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AAB4348C-2A54-4C70-A8AA-A74B73BA5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EDAF394D-8D30-4040-8265-47F80EE3D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557ade847241d3"/>
          <a:stretch xmlns:a="http://schemas.openxmlformats.org/drawingml/2006/main"/>
        </p:blipFill>
        <p:spPr>
          <a:xfrm xmlns:a="http://schemas.openxmlformats.org/drawingml/2006/main">
            <a:off x="3326870" y="1381125"/>
            <a:ext cx="5538259" cy="42862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DE5091-51D3-4A63-98E3-277237A18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43575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A positive residual means the observed outcome lies above the fitted prediction.</a:t>
            </a:r>
          </a:p>
        </p:txBody>
      </p:sp>
    </p:spTree>
    <p:extLst>
      <p:ext uri="{BB962C8B-B14F-4D97-AF65-F5344CB8AC3E}">
        <p14:creationId xmlns:p14="http://schemas.microsoft.com/office/powerpoint/2010/main" val="62908423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47308592-5361-403C-870C-8895A3434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1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08FE589-A0B3-4468-BD7E-1C2D6B63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Price and attendance can rise together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EE5C48C-E235-49F5-A48B-2F9B4E7C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AB533599-FC25-466D-8D7A-423E4B87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9B03ED9A-1EF8-4048-A652-E906E5EB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a36e53a2c248f8"/>
          <a:stretch xmlns:a="http://schemas.openxmlformats.org/drawingml/2006/main"/>
        </p:blipFill>
        <p:spPr>
          <a:xfrm xmlns:a="http://schemas.openxmlformats.org/drawingml/2006/main">
            <a:off x="781050" y="1524357"/>
            <a:ext cx="10629900" cy="3999786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D4CAA9-6BBB-4591-A943-085BDE540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43575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The raw association mixes the price response with underlying game demand.</a:t>
            </a:r>
          </a:p>
        </p:txBody>
      </p:sp>
    </p:spTree>
    <p:extLst>
      <p:ext uri="{BB962C8B-B14F-4D97-AF65-F5344CB8AC3E}">
        <p14:creationId xmlns:p14="http://schemas.microsoft.com/office/powerpoint/2010/main" val="212451293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E2736C-9E53-40AA-A6E0-01BC350BA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3150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Think like an economist before choosing a model</a:t>
            </a:r>
          </a:p>
        </p:txBody>
      </p:sp>
      <p:sp>
        <p:nvSpPr>
          <p:cNvPr id="2" name="bullet-mark-1">
            <a:extLst xmlns:a="http://schemas.openxmlformats.org/drawingml/2006/main">
              <a:ext uri="{FF2B5EF4-FFF2-40B4-BE49-F238E27FC236}">
                <a16:creationId xmlns:a16="http://schemas.microsoft.com/office/drawing/2014/main" id="{EB9B56C4-3E75-463E-9AB8-1CE84BDD1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022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9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3" name="bullet-1">
            <a:extLst xmlns:a="http://schemas.openxmlformats.org/drawingml/2006/main">
              <a:ext uri="{FF2B5EF4-FFF2-40B4-BE49-F238E27FC236}">
                <a16:creationId xmlns:a16="http://schemas.microsoft.com/office/drawing/2014/main" id="{6CF99AEF-1CA1-46F6-9A5F-146F9E323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809750"/>
            <a:ext cx="920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95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Identify the decision maker, objective, and constraint.</a:t>
            </a:r>
          </a:p>
        </p:txBody>
      </p:sp>
      <p:sp>
        <p:nvSpPr>
          <p:cNvPr id="4" name="bullet-mark-2">
            <a:extLst xmlns:a="http://schemas.openxmlformats.org/drawingml/2006/main">
              <a:ext uri="{FF2B5EF4-FFF2-40B4-BE49-F238E27FC236}">
                <a16:creationId xmlns:a16="http://schemas.microsoft.com/office/drawing/2014/main" id="{DD4F1C5B-7D5E-4DDC-ABF3-F1BCC5671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1935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9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DD636C08-AB69-4498-8384-CB4F7851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428875"/>
            <a:ext cx="920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95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Name the incentive and likely margin of response.</a:t>
            </a:r>
          </a:p>
        </p:txBody>
      </p:sp>
      <p:sp>
        <p:nvSpPr>
          <p:cNvPr id="6" name="bullet-mark-3">
            <a:extLst xmlns:a="http://schemas.openxmlformats.org/drawingml/2006/main">
              <a:ext uri="{FF2B5EF4-FFF2-40B4-BE49-F238E27FC236}">
                <a16:creationId xmlns:a16="http://schemas.microsoft.com/office/drawing/2014/main" id="{DA7ACB78-C7D7-40C4-96D5-3A11F18A4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3847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9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7" name="bullet-3">
            <a:extLst xmlns:a="http://schemas.openxmlformats.org/drawingml/2006/main">
              <a:ext uri="{FF2B5EF4-FFF2-40B4-BE49-F238E27FC236}">
                <a16:creationId xmlns:a16="http://schemas.microsoft.com/office/drawing/2014/main" id="{94FB7848-A8A2-46D9-9075-557F563E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048000"/>
            <a:ext cx="920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95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Describe the institution and the relevant counterfactual.</a:t>
            </a:r>
          </a:p>
        </p:txBody>
      </p:sp>
      <p:sp>
        <p:nvSpPr>
          <p:cNvPr id="8" name="bullet-mark-4">
            <a:extLst xmlns:a="http://schemas.openxmlformats.org/drawingml/2006/main">
              <a:ext uri="{FF2B5EF4-FFF2-40B4-BE49-F238E27FC236}">
                <a16:creationId xmlns:a16="http://schemas.microsoft.com/office/drawing/2014/main" id="{F69AE5E7-3793-48FD-BFE6-FDF8A48A6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576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9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bullet-4">
            <a:extLst xmlns:a="http://schemas.openxmlformats.org/drawingml/2006/main">
              <a:ext uri="{FF2B5EF4-FFF2-40B4-BE49-F238E27FC236}">
                <a16:creationId xmlns:a16="http://schemas.microsoft.com/office/drawing/2014/main" id="{8569F7C1-4BAA-472C-BCC3-68A752BF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67125"/>
            <a:ext cx="920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95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Match the evidence to a theoretical, descriptive, predictive, or causal claim.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B3EEFB-BA9C-4C90-87AE-FA937B52F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24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950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Next: incentives, opportunity cost, demand, supply, equilibrium, and elasticity.</a:t>
            </a:r>
          </a:p>
        </p:txBody>
      </p:sp>
    </p:spTree>
    <p:extLst>
      <p:ext uri="{BB962C8B-B14F-4D97-AF65-F5344CB8AC3E}">
        <p14:creationId xmlns:p14="http://schemas.microsoft.com/office/powerpoint/2010/main" val="145479735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2026-08-28T16:44:15.0570000Z</dcterms:created>
  <dcterms:modified xsi:type="dcterms:W3CDTF">2026-08-28T16:44:15.0570000Z</dcterms:modified>
</coreProperties>
</file>