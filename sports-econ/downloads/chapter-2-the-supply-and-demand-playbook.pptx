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f8f9947e1e4bfc" /><Relationship Type="http://schemas.openxmlformats.org/officeDocument/2006/relationships/extended-properties" Target="/docProps/app.xml" Id="R9bed6423aa78448a" /><Relationship Type="http://schemas.openxmlformats.org/officeDocument/2006/relationships/officeDocument" Target="/ppt/presentation.xml" Id="Rb1bbf4742a254d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6341ec2f6b4113"/>
  </p:sldMasterIdLst>
  <p:notesMasterIdLst>
    <p:notesMasterId xmlns:r="http://schemas.openxmlformats.org/officeDocument/2006/relationships" r:id="Rdb73b54d23624c65"/>
  </p:notesMasterIdLst>
  <p:sldIdLst>
    <p:sldId xmlns:r="http://schemas.openxmlformats.org/officeDocument/2006/relationships" id="256" r:id="R9de39235424a4ba9"/>
    <p:sldId xmlns:r="http://schemas.openxmlformats.org/officeDocument/2006/relationships" id="257" r:id="Reb26291540ef41ee"/>
    <p:sldId xmlns:r="http://schemas.openxmlformats.org/officeDocument/2006/relationships" id="258" r:id="Rf976b98b01fa4b73"/>
    <p:sldId xmlns:r="http://schemas.openxmlformats.org/officeDocument/2006/relationships" id="259" r:id="Rc1d79ec7132f47fe"/>
    <p:sldId xmlns:r="http://schemas.openxmlformats.org/officeDocument/2006/relationships" id="260" r:id="R5d8f8f1485d746e2"/>
    <p:sldId xmlns:r="http://schemas.openxmlformats.org/officeDocument/2006/relationships" id="261" r:id="R0b5b65b570704f20"/>
    <p:sldId xmlns:r="http://schemas.openxmlformats.org/officeDocument/2006/relationships" id="262" r:id="R1ebd2fb2d87742fe"/>
    <p:sldId xmlns:r="http://schemas.openxmlformats.org/officeDocument/2006/relationships" id="263" r:id="R2b29c86c51084763"/>
    <p:sldId xmlns:r="http://schemas.openxmlformats.org/officeDocument/2006/relationships" id="264" r:id="Rf89e0784e833454d"/>
    <p:sldId xmlns:r="http://schemas.openxmlformats.org/officeDocument/2006/relationships" id="265" r:id="R618d3cb9d9d5490c"/>
    <p:sldId xmlns:r="http://schemas.openxmlformats.org/officeDocument/2006/relationships" id="266" r:id="R1007bd6565844e6d"/>
    <p:sldId xmlns:r="http://schemas.openxmlformats.org/officeDocument/2006/relationships" id="267" r:id="R02645d6864854d2b"/>
    <p:sldId xmlns:r="http://schemas.openxmlformats.org/officeDocument/2006/relationships" id="268" r:id="R20d60d32e7eb476f"/>
    <p:sldId xmlns:r="http://schemas.openxmlformats.org/officeDocument/2006/relationships" id="269" r:id="Ra517136c39494101"/>
    <p:sldId xmlns:r="http://schemas.openxmlformats.org/officeDocument/2006/relationships" id="270" r:id="R976c1bebdaf84f67"/>
    <p:sldId xmlns:r="http://schemas.openxmlformats.org/officeDocument/2006/relationships" id="271" r:id="R6caea55c96cc4aab"/>
    <p:sldId xmlns:r="http://schemas.openxmlformats.org/officeDocument/2006/relationships" id="272" r:id="R12dbced84c21438c"/>
    <p:sldId xmlns:r="http://schemas.openxmlformats.org/officeDocument/2006/relationships" id="273" r:id="R4ab0f3d17347427b"/>
    <p:sldId xmlns:r="http://schemas.openxmlformats.org/officeDocument/2006/relationships" id="274" r:id="Re75c10d96fd548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0fd1f383c1488e" /><Relationship Type="http://schemas.openxmlformats.org/officeDocument/2006/relationships/slideMaster" Target="/ppt/slideMasters/slideMaster1.xml" Id="R576341ec2f6b4113" /><Relationship Type="http://schemas.openxmlformats.org/officeDocument/2006/relationships/notesMaster" Target="/ppt/notesMasters/notesMaster1.xml" Id="Rdb73b54d23624c65" /><Relationship Type="http://schemas.openxmlformats.org/officeDocument/2006/relationships/presProps" Target="/ppt/presProps.xml" Id="R91bcedd37e0845eb" /><Relationship Type="http://schemas.openxmlformats.org/officeDocument/2006/relationships/tableStyles" Target="/ppt/tableStyles.xml" Id="R2c1fd29e7b354e5d" /><Relationship Type="http://schemas.openxmlformats.org/officeDocument/2006/relationships/slide" Target="/ppt/slides/slide1.xml" Id="R9de39235424a4ba9" /><Relationship Type="http://schemas.openxmlformats.org/officeDocument/2006/relationships/slide" Target="/ppt/slides/slide2.xml" Id="Reb26291540ef41ee" /><Relationship Type="http://schemas.openxmlformats.org/officeDocument/2006/relationships/slide" Target="/ppt/slides/slide3.xml" Id="Rf976b98b01fa4b73" /><Relationship Type="http://schemas.openxmlformats.org/officeDocument/2006/relationships/slide" Target="/ppt/slides/slide4.xml" Id="Rc1d79ec7132f47fe" /><Relationship Type="http://schemas.openxmlformats.org/officeDocument/2006/relationships/slide" Target="/ppt/slides/slide5.xml" Id="R5d8f8f1485d746e2" /><Relationship Type="http://schemas.openxmlformats.org/officeDocument/2006/relationships/slide" Target="/ppt/slides/slide6.xml" Id="R0b5b65b570704f20" /><Relationship Type="http://schemas.openxmlformats.org/officeDocument/2006/relationships/slide" Target="/ppt/slides/slide7.xml" Id="R1ebd2fb2d87742fe" /><Relationship Type="http://schemas.openxmlformats.org/officeDocument/2006/relationships/slide" Target="/ppt/slides/slide8.xml" Id="R2b29c86c51084763" /><Relationship Type="http://schemas.openxmlformats.org/officeDocument/2006/relationships/slide" Target="/ppt/slides/slide9.xml" Id="Rf89e0784e833454d" /><Relationship Type="http://schemas.openxmlformats.org/officeDocument/2006/relationships/slide" Target="/ppt/slides/slide10.xml" Id="R618d3cb9d9d5490c" /><Relationship Type="http://schemas.openxmlformats.org/officeDocument/2006/relationships/slide" Target="/ppt/slides/slide11.xml" Id="R1007bd6565844e6d" /><Relationship Type="http://schemas.openxmlformats.org/officeDocument/2006/relationships/slide" Target="/ppt/slides/slide12.xml" Id="R02645d6864854d2b" /><Relationship Type="http://schemas.openxmlformats.org/officeDocument/2006/relationships/slide" Target="/ppt/slides/slide13.xml" Id="R20d60d32e7eb476f" /><Relationship Type="http://schemas.openxmlformats.org/officeDocument/2006/relationships/slide" Target="/ppt/slides/slide14.xml" Id="Ra517136c39494101" /><Relationship Type="http://schemas.openxmlformats.org/officeDocument/2006/relationships/slide" Target="/ppt/slides/slide15.xml" Id="R976c1bebdaf84f67" /><Relationship Type="http://schemas.openxmlformats.org/officeDocument/2006/relationships/slide" Target="/ppt/slides/slide16.xml" Id="R6caea55c96cc4aab" /><Relationship Type="http://schemas.openxmlformats.org/officeDocument/2006/relationships/slide" Target="/ppt/slides/slide17.xml" Id="R12dbced84c21438c" /><Relationship Type="http://schemas.openxmlformats.org/officeDocument/2006/relationships/slide" Target="/ppt/slides/slide18.xml" Id="R4ab0f3d17347427b" /><Relationship Type="http://schemas.openxmlformats.org/officeDocument/2006/relationships/slide" Target="/ppt/slides/slide19.xml" Id="Re75c10d96fd548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6ded37627344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4e455cf89a43df" /><Relationship Type="http://schemas.openxmlformats.org/officeDocument/2006/relationships/notesMaster" Target="/ppt/notesMasters/notesMaster1.xml" Id="R05f98c6c36fe43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161df910a64efd" /><Relationship Type="http://schemas.openxmlformats.org/officeDocument/2006/relationships/notesMaster" Target="/ppt/notesMasters/notesMaster1.xml" Id="R672e895e681448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d7cec15d864a80" /><Relationship Type="http://schemas.openxmlformats.org/officeDocument/2006/relationships/notesMaster" Target="/ppt/notesMasters/notesMaster1.xml" Id="R794650ae07d944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fb7b7252d54292" /><Relationship Type="http://schemas.openxmlformats.org/officeDocument/2006/relationships/notesMaster" Target="/ppt/notesMasters/notesMaster1.xml" Id="Rf2ceb968b7ca49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c5066b1dda4ad4" /><Relationship Type="http://schemas.openxmlformats.org/officeDocument/2006/relationships/notesMaster" Target="/ppt/notesMasters/notesMaster1.xml" Id="Rab68b97507f34d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49f1a29bd34946" /><Relationship Type="http://schemas.openxmlformats.org/officeDocument/2006/relationships/notesMaster" Target="/ppt/notesMasters/notesMaster1.xml" Id="Re07ed468126e45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ed61439b4a427f" /><Relationship Type="http://schemas.openxmlformats.org/officeDocument/2006/relationships/notesMaster" Target="/ppt/notesMasters/notesMaster1.xml" Id="R07c45f87473f4e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a31dee3efb4a56" /><Relationship Type="http://schemas.openxmlformats.org/officeDocument/2006/relationships/notesMaster" Target="/ppt/notesMasters/notesMaster1.xml" Id="R5b3cc8e15c064e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fb70cb317643c0" /><Relationship Type="http://schemas.openxmlformats.org/officeDocument/2006/relationships/notesMaster" Target="/ppt/notesMasters/notesMaster1.xml" Id="R96a60585ff7e4e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6f484d906c4bff" /><Relationship Type="http://schemas.openxmlformats.org/officeDocument/2006/relationships/notesMaster" Target="/ppt/notesMasters/notesMaster1.xml" Id="R1a9512c3dd99449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763b1f984f4f34" /><Relationship Type="http://schemas.openxmlformats.org/officeDocument/2006/relationships/notesMaster" Target="/ppt/notesMasters/notesMaster1.xml" Id="R05a6d196aa3a40d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1d2a6583924c01" /><Relationship Type="http://schemas.openxmlformats.org/officeDocument/2006/relationships/notesMaster" Target="/ppt/notesMasters/notesMaster1.xml" Id="Rf2acbdabe6744b6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0a91cbcffd140c1" /><Relationship Type="http://schemas.openxmlformats.org/officeDocument/2006/relationships/notesMaster" Target="/ppt/notesMasters/notesMaster1.xml" Id="Red25baecf141473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bd59128504d4e4c" /><Relationship Type="http://schemas.openxmlformats.org/officeDocument/2006/relationships/notesMaster" Target="/ppt/notesMasters/notesMaster1.xml" Id="Ra55808c0767c457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d977980a154d05" /><Relationship Type="http://schemas.openxmlformats.org/officeDocument/2006/relationships/notesMaster" Target="/ppt/notesMasters/notesMaster1.xml" Id="R06c48d2a53db40b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7319fd0cbdc4e96" /><Relationship Type="http://schemas.openxmlformats.org/officeDocument/2006/relationships/notesMaster" Target="/ppt/notesMasters/notesMaster1.xml" Id="Ra5010b52f97541e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a25ce1c6c634907" /><Relationship Type="http://schemas.openxmlformats.org/officeDocument/2006/relationships/notesMaster" Target="/ppt/notesMasters/notesMaster1.xml" Id="R31ba80ac287a497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9c036453964479b" /><Relationship Type="http://schemas.openxmlformats.org/officeDocument/2006/relationships/notesMaster" Target="/ppt/notesMasters/notesMaster1.xml" Id="R0bb3735455de446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bb84aaf4ac54e42" /><Relationship Type="http://schemas.openxmlformats.org/officeDocument/2006/relationships/notesMaster" Target="/ppt/notesMasters/notesMaster1.xml" Id="R8964dc6445b943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Begin with a familiar sports-market change and resist drawing a curve immediately. First ask which decision maker changed, which incentive changed, and what is being held fixed.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chapter deliberately begins with the standard economic toolkit. Sports examples apply the concepts; they do not replace the general definitions.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tickets, viewing, roster spots, venue time, and sponsorship inventory to illustrate scarcity without redefining it as a sports-only idea.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marginal thinking to later ticket-pricing analysis, but do not introduce monopoly pricing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general determinants first. Then apply them to team quality, rivalry, weather, streaming access, and alternative entertainment.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Have students identify the cause before reading the result. Point A and Point B belong to the same curve only in the movement panel.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- Project-reviewed Chapter 2 figures from figures/ch02-supply-demand/.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broadcast inventory, merchandise, concessions, and venue dates. Remind students that a team may have substantial long-run options even when one event has fixed capacity.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fixed event capacity from long-run venue capacity. Teams can later redesign sections, expand venues, or change the number and type of events.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- Project-reviewed Chapter 2 figures from figures/ch02-supply-demand/.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Stress market clearing. A price above equilibrium creates surplus; a price below equilibrium creates shortage. Describe likely adjustment without implying that adjustment is instant or costless.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- Project-reviewed Chapter 2 figures from figures/ch02-supply-demand/.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students narrate the chain. Simultaneous shifts require separate analysis of the price and quantity effects.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each panel using the comparative-statics process. Then ask what is ambiguous if demand rises while supply falls at the same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- Project-reviewed Chapter 2 figures from figures/ch02-supply-demand/.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Greek letter epsilon consistently. The signed value records direction; the absolute value determines the conventional classification.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fan can be inelastic for one rivalry game and much more elastic across a season or across entertainment alternatives.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 one numerical example slowly. For undergraduates, the main learning goal is interpreting responsiveness; algebra can be assigned selectively.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Revenue is price times quantity, not profit. The result assumes the comparison isolates a movement along a demand curve rather than a demand shift.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- Project-reviewed Chapter 2 figures from figures/ch02-supply-demand/.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streaming services and attending versus watching as potential substitute relationships. Complementarity can arise between tickets and transportation or between viewing and related subscriptions.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bridge to Chapter 4. A team faces confounding, changing products, heterogeneous buyers, and strategic price selection.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chapter's signature classroom discussion. Emphasize that absolute ability and comparative advantage answer different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students to narrate one current sports-market change from cause to predicted equilibrium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b6491c1be344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2da5f6ba374b1d" /><Relationship Type="http://schemas.openxmlformats.org/officeDocument/2006/relationships/slideLayout" Target="/ppt/slideLayouts/slideLayout1.xml" Id="Rd010f3d55ef542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10f3d55ef542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2d5330b5464aa9" /><Relationship Type="http://schemas.openxmlformats.org/officeDocument/2006/relationships/notesSlide" Target="/ppt/notesSlides/notesSlide1.xml" Id="R448fa700812a4d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5f3693fd8431d" /><Relationship Type="http://schemas.openxmlformats.org/officeDocument/2006/relationships/notesSlide" Target="/ppt/notesSlides/notesSlide2.xml" Id="R9949e2037e2a4b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842ffa45a4a72" /><Relationship Type="http://schemas.openxmlformats.org/officeDocument/2006/relationships/notesSlide" Target="/ppt/notesSlides/notesSlide3.xml" Id="R1b79f07e8e764b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3354731114bca" /><Relationship Type="http://schemas.openxmlformats.org/officeDocument/2006/relationships/notesSlide" Target="/ppt/notesSlides/notesSlide4.xml" Id="R29223c3c8bbc43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a4845ee5674586" /><Relationship Type="http://schemas.openxmlformats.org/officeDocument/2006/relationships/notesSlide" Target="/ppt/notesSlides/notesSlide5.xml" Id="Rbaa301880bce4d7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9579680f66429a" /><Relationship Type="http://schemas.openxmlformats.org/officeDocument/2006/relationships/image" Target="/ppt/media/image.png" Id="R7c0c78c9366f4651" /><Relationship Type="http://schemas.openxmlformats.org/officeDocument/2006/relationships/notesSlide" Target="/ppt/notesSlides/notesSlide6.xml" Id="R7e918a2ff8fa4b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8b55e805eb4214" /><Relationship Type="http://schemas.openxmlformats.org/officeDocument/2006/relationships/notesSlide" Target="/ppt/notesSlides/notesSlide7.xml" Id="Rf5d156d9062a46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6f0169394b4004" /><Relationship Type="http://schemas.openxmlformats.org/officeDocument/2006/relationships/image" Target="/ppt/media/image2.png" Id="Rdaed2d2c73b24879" /><Relationship Type="http://schemas.openxmlformats.org/officeDocument/2006/relationships/notesSlide" Target="/ppt/notesSlides/notesSlide8.xml" Id="R00de390b0f164cc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48c33b1cf54a88" /><Relationship Type="http://schemas.openxmlformats.org/officeDocument/2006/relationships/image" Target="/ppt/media/image3.png" Id="R6879569d9a184ea8" /><Relationship Type="http://schemas.openxmlformats.org/officeDocument/2006/relationships/notesSlide" Target="/ppt/notesSlides/notesSlide9.xml" Id="Rcc164e69f4c54f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28075bd19042ba" /><Relationship Type="http://schemas.openxmlformats.org/officeDocument/2006/relationships/notesSlide" Target="/ppt/notesSlides/notesSlide10.xml" Id="Rfb81061b19874e0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a862b0268349da" /><Relationship Type="http://schemas.openxmlformats.org/officeDocument/2006/relationships/image" Target="/ppt/media/image4.png" Id="R5d700256043549ab" /><Relationship Type="http://schemas.openxmlformats.org/officeDocument/2006/relationships/notesSlide" Target="/ppt/notesSlides/notesSlide11.xml" Id="R5b3905f0ff5344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c4070a4b6c4b52" /><Relationship Type="http://schemas.openxmlformats.org/officeDocument/2006/relationships/notesSlide" Target="/ppt/notesSlides/notesSlide12.xml" Id="R1fb09df103fd4d7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68df0def574536" /><Relationship Type="http://schemas.openxmlformats.org/officeDocument/2006/relationships/notesSlide" Target="/ppt/notesSlides/notesSlide13.xml" Id="Rc808cbe5436344f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67a95363804034" /><Relationship Type="http://schemas.openxmlformats.org/officeDocument/2006/relationships/notesSlide" Target="/ppt/notesSlides/notesSlide14.xml" Id="R8e0d125c41b54ba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97be91e1ae4c17" /><Relationship Type="http://schemas.openxmlformats.org/officeDocument/2006/relationships/image" Target="/ppt/media/image5.png" Id="R041b4e20f19f44b1" /><Relationship Type="http://schemas.openxmlformats.org/officeDocument/2006/relationships/notesSlide" Target="/ppt/notesSlides/notesSlide15.xml" Id="Re1f6cc7bdc12410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ef4ba1a074ad0" /><Relationship Type="http://schemas.openxmlformats.org/officeDocument/2006/relationships/notesSlide" Target="/ppt/notesSlides/notesSlide16.xml" Id="R4b235569e02c46a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e4b6a1b9d464e" /><Relationship Type="http://schemas.openxmlformats.org/officeDocument/2006/relationships/notesSlide" Target="/ppt/notesSlides/notesSlide17.xml" Id="Rcbdb24073767451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55029aed684fff" /><Relationship Type="http://schemas.openxmlformats.org/officeDocument/2006/relationships/notesSlide" Target="/ppt/notesSlides/notesSlide18.xml" Id="R957e4786fd84407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e1ae341fa4c18" /><Relationship Type="http://schemas.openxmlformats.org/officeDocument/2006/relationships/notesSlide" Target="/ppt/notesSlides/notesSlide19.xml" Id="Rd298e5cf3fc1450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deck-supertitle">
            <a:extLst xmlns:a="http://schemas.openxmlformats.org/drawingml/2006/main">
              <a:ext uri="{FF2B5EF4-FFF2-40B4-BE49-F238E27FC236}">
                <a16:creationId xmlns:a16="http://schemas.microsoft.com/office/drawing/2014/main" id="{41A1145E-AD30-4AF1-B68F-387E718A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2" name="deck-title">
            <a:extLst xmlns:a="http://schemas.openxmlformats.org/drawingml/2006/main">
              <a:ext uri="{FF2B5EF4-FFF2-40B4-BE49-F238E27FC236}">
                <a16:creationId xmlns:a16="http://schemas.microsoft.com/office/drawing/2014/main" id="{EE8E42AD-5347-45DB-87C8-F7C1D779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9620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5100" b="1" i="0">
                <a:solidFill>
                  <a:srgbClr val="1D2A33"/>
                </a:solidFill>
                <a:latin typeface="Georgia"/>
                <a:ea typeface="Georgia"/>
                <a:cs typeface="Georgia"/>
              </a:defRPr>
            </a:pPr>
            <a:r>
              <a:rPr sz="5100" b="1" i="0">
                <a:solidFill>
                  <a:srgbClr val="1D2A33"/>
                </a:solidFill>
                <a:latin typeface="Georgia"/>
                <a:ea typeface="Georgia"/>
                <a:cs typeface="Georgia"/>
              </a:rPr>
              <a:t>The Supply and Demand Playbook</a:t>
            </a:r>
          </a:p>
        </p:txBody>
      </p:sp>
      <p:sp>
        <p:nvSpPr>
          <p:cNvPr id="3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7D24AC12-FEE2-43FA-83BB-69DE0C40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Chapter 2 · From incentives to disciplined market predictions</a:t>
            </a:r>
          </a:p>
        </p:txBody>
      </p:sp>
      <p:sp>
        <p:nvSpPr>
          <p:cNvPr id="4" name="title-field">
            <a:extLst xmlns:a="http://schemas.openxmlformats.org/drawingml/2006/main">
              <a:ext uri="{FF2B5EF4-FFF2-40B4-BE49-F238E27FC236}">
                <a16:creationId xmlns:a16="http://schemas.microsoft.com/office/drawing/2014/main" id="{B213A482-F787-4D17-8B68-EA082EC6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152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4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eck-number">
            <a:extLst xmlns:a="http://schemas.openxmlformats.org/drawingml/2006/main">
              <a:ext uri="{FF2B5EF4-FFF2-40B4-BE49-F238E27FC236}">
                <a16:creationId xmlns:a16="http://schemas.microsoft.com/office/drawing/2014/main" id="{F041710A-141D-4F20-8319-D26D2BA2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1054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2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2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367138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455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1FD96-B33B-4CCA-826C-BC9C2311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C44C3-C3F2-4E8B-8E66-E38121FA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11391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curves come after the economic reasoning</a:t>
            </a:r>
          </a:p>
        </p:txBody>
      </p:sp>
      <p:sp>
        <p:nvSpPr>
          <p:cNvPr id="3" name="big-statement">
            <a:extLst xmlns:a="http://schemas.openxmlformats.org/drawingml/2006/main">
              <a:ext uri="{FF2B5EF4-FFF2-40B4-BE49-F238E27FC236}">
                <a16:creationId xmlns:a16="http://schemas.microsoft.com/office/drawing/2014/main" id="{B4211BEB-77AE-4793-A07B-5921B595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10191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675" b="1" i="0">
                <a:solidFill>
                  <a:srgbClr val="C9A52A"/>
                </a:solidFill>
                <a:latin typeface="Georgia"/>
                <a:ea typeface="Georgia"/>
                <a:cs typeface="Georgia"/>
              </a:defRPr>
            </a:pPr>
            <a:r>
              <a:rPr sz="3675" b="1" i="0">
                <a:solidFill>
                  <a:srgbClr val="C9A52A"/>
                </a:solidFill>
                <a:latin typeface="Georgia"/>
                <a:ea typeface="Georgia"/>
                <a:cs typeface="Georgia"/>
              </a:rPr>
              <a:t>Scarcity, opportunity cost, incentives, substitution, and ceteris paribus come first.</a:t>
            </a:r>
          </a:p>
        </p:txBody>
      </p:sp>
    </p:spTree>
    <p:extLst>
      <p:ext uri="{BB962C8B-B14F-4D97-AF65-F5344CB8AC3E}">
        <p14:creationId xmlns:p14="http://schemas.microsoft.com/office/powerpoint/2010/main" val="3171787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7C8C7A9E-5A68-4199-9B2A-E2D42CC6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080BBB-EDF9-4BAD-9D98-ACC2FB27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Five ideas prepare the market model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7EB5366-84CB-47F6-9E17-D20C50BC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632EACB6-1F37-4956-804D-62B498A0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0DED060-B41B-4985-8F87-8BB2CC51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6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D1317FC5-6EE4-488B-9CE8-F868B4AA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049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B0FC32A8-E3A8-4124-93C5-C9C99FFD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7145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Scarcity: wants exceed the resources available to satisfy them.</a:t>
            </a:r>
          </a:p>
        </p:txBody>
      </p:sp>
      <p:sp>
        <p:nvSpPr>
          <p:cNvPr id="8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857AFD94-9315-4CF0-B770-4C1A0D60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050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519888BF-14F2-463E-BC97-0D9EAF68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31457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Opportunity cost: a choice gives up the best alternative.</a:t>
            </a:r>
          </a:p>
        </p:txBody>
      </p:sp>
      <p:sp>
        <p:nvSpPr>
          <p:cNvPr id="10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5D38C788-D3D0-46BE-A2F7-C1D11C13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051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4CD0C1A6-6A74-4FC3-A129-1CB143AE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1465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Incentives: people adjust when expected benefits or costs change.</a:t>
            </a:r>
          </a:p>
        </p:txBody>
      </p:sp>
      <p:sp>
        <p:nvSpPr>
          <p:cNvPr id="12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D6BB91BC-168D-4D26-B3A8-DCA0E275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052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B323D466-FE1B-4D16-B40F-3C221C02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5147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Substitution: buyers and sellers look for alternatives when conditions change.</a:t>
            </a:r>
          </a:p>
        </p:txBody>
      </p:sp>
      <p:sp>
        <p:nvSpPr>
          <p:cNvPr id="14" name="bullet-mark-5">
            <a:extLst xmlns:a="http://schemas.openxmlformats.org/drawingml/2006/main">
              <a:ext uri="{FF2B5EF4-FFF2-40B4-BE49-F238E27FC236}">
                <a16:creationId xmlns:a16="http://schemas.microsoft.com/office/drawing/2014/main" id="{F3403A9D-C743-45C1-B6E7-6C96F42F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052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bullet-5">
            <a:extLst xmlns:a="http://schemas.openxmlformats.org/drawingml/2006/main">
              <a:ext uri="{FF2B5EF4-FFF2-40B4-BE49-F238E27FC236}">
                <a16:creationId xmlns:a16="http://schemas.microsoft.com/office/drawing/2014/main" id="{7ED67FED-252F-4D6F-8589-CCC8DD18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1148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Ceteris paribus: isolate one relationship by holding other relevant conditions fixed.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3F4FDE-62CE-414C-A9C3-710366E7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483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Demand and supply summarize choices made under constraints.</a:t>
            </a:r>
          </a:p>
        </p:txBody>
      </p:sp>
    </p:spTree>
    <p:extLst>
      <p:ext uri="{BB962C8B-B14F-4D97-AF65-F5344CB8AC3E}">
        <p14:creationId xmlns:p14="http://schemas.microsoft.com/office/powerpoint/2010/main" val="5830112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0937C10-F135-47B1-AF79-155B2C1E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9073EC-BAB8-4626-B7B1-8CB5DCDD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Marginal reasoning focuses on the next unit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1BD592A-03C5-4B62-98D2-E5AAD83A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35A99A88-EF59-407D-808E-91A0024E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D6D4DE4-E6E0-4EC6-9EF1-B47A692C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F6E411A2-FBE7-4F90-B124-306CC7BC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13AFE-2959-4951-BCB8-9694D295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02A203-ECAD-410F-96B3-1658C87A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Is the next unit worth its price?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31E2B4-9724-46F8-A267-7B47AC48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 fan compares the additional benefit of one more ticket, subscription, or hour of viewing with its additional cost.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01783DB5-C880-4E82-84A2-545C077C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114A6B-92CC-4FB6-8343-D7CC00B4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SELLER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1CB11A-EA5A-4356-AC47-B94EC39F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Is the next unit worth providing?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CEAD45-0931-405B-8ED4-BC67916B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 team or venue compares the additional revenue from another unit with the additional cost and relevant capacity constraint.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E1CB4B-6AF7-4C2A-AA77-7AC80663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Economic choices respond at the margin, not necessarily all at once.</a:t>
            </a:r>
          </a:p>
        </p:txBody>
      </p:sp>
    </p:spTree>
    <p:extLst>
      <p:ext uri="{BB962C8B-B14F-4D97-AF65-F5344CB8AC3E}">
        <p14:creationId xmlns:p14="http://schemas.microsoft.com/office/powerpoint/2010/main" val="11957299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BC7C339-0DAD-4992-BC1B-11256ECF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9475B6-334E-40B3-B6A8-CA2F4F28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Demand has standard determinants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1E17E3D-D39C-4717-B78C-2085C9EF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3D915BAF-48EF-4984-8AF5-CBD5320E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75062FBC-B92A-4A35-8993-EEAA3033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612F29-7AA4-4ADE-9898-3E1F9A52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04950"/>
            <a:ext cx="994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A DEMAND SHIFT CHANGES WILLINGNESS TO BUY AT EVERY PRICE</a:t>
            </a:r>
          </a:p>
        </p:txBody>
      </p:sp>
      <p:sp>
        <p:nvSpPr>
          <p:cNvPr id="7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7B177644-2B01-4D7B-9C66-BF1CD70E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943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FF2FD7C1-A3E0-491A-8BAC-242A03A8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526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Income and purchasing power</a:t>
            </a:r>
          </a:p>
        </p:txBody>
      </p:sp>
      <p:sp>
        <p:nvSpPr>
          <p:cNvPr id="9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106DA331-B3F2-4934-B18D-CD38D960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431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3C8647C5-E2DC-4D49-9492-58A6065A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5527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Prices of substitutes and complements</a:t>
            </a:r>
          </a:p>
        </p:txBody>
      </p:sp>
      <p:sp>
        <p:nvSpPr>
          <p:cNvPr id="11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5C2A055E-FF21-4AD8-96D1-E7A0ACFC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432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DC7D487E-D02F-4957-A8A6-6E636B0E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15277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Tastes, expectations, and information</a:t>
            </a:r>
          </a:p>
        </p:txBody>
      </p:sp>
      <p:sp>
        <p:nvSpPr>
          <p:cNvPr id="13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072540EE-A5A0-4336-9691-5AA763DB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433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bullet-4">
            <a:extLst xmlns:a="http://schemas.openxmlformats.org/drawingml/2006/main">
              <a:ext uri="{FF2B5EF4-FFF2-40B4-BE49-F238E27FC236}">
                <a16:creationId xmlns:a16="http://schemas.microsoft.com/office/drawing/2014/main" id="{E9F6E92C-4ECD-4084-8E88-2C534185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75285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Number and composition of buyers</a:t>
            </a:r>
          </a:p>
        </p:txBody>
      </p:sp>
      <p:sp>
        <p:nvSpPr>
          <p:cNvPr id="15" name="bullet-mark-5">
            <a:extLst xmlns:a="http://schemas.openxmlformats.org/drawingml/2006/main">
              <a:ext uri="{FF2B5EF4-FFF2-40B4-BE49-F238E27FC236}">
                <a16:creationId xmlns:a16="http://schemas.microsoft.com/office/drawing/2014/main" id="{26070E74-1749-4F25-9BD5-3159631F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434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6" name="bullet-5">
            <a:extLst xmlns:a="http://schemas.openxmlformats.org/drawingml/2006/main">
              <a:ext uri="{FF2B5EF4-FFF2-40B4-BE49-F238E27FC236}">
                <a16:creationId xmlns:a16="http://schemas.microsoft.com/office/drawing/2014/main" id="{B8D7C4AA-5A78-4343-AD3A-DD996E3B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3529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Quality, convenience, timing, and other product characteristics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DC0497-CB67-43E1-B97A-DA207D36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483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The product's own price does not shift its demand curve.</a:t>
            </a:r>
          </a:p>
        </p:txBody>
      </p:sp>
    </p:spTree>
    <p:extLst>
      <p:ext uri="{BB962C8B-B14F-4D97-AF65-F5344CB8AC3E}">
        <p14:creationId xmlns:p14="http://schemas.microsoft.com/office/powerpoint/2010/main" val="277968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A3D6A92-2C52-4A1C-997A-66A08FEC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C8B568-E8AC-4B81-A5E6-64A88E26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Own price moves quantity demanded along the curve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55C46A1-0CE4-4CCB-8D98-8A253520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3D31BDAE-8767-4620-ABE4-A1056D3B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0796BE6-1644-467B-802D-2865E2A2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0c78c9366f4651"/>
          <a:stretch xmlns:a="http://schemas.openxmlformats.org/drawingml/2006/main"/>
        </p:blipFill>
        <p:spPr>
          <a:xfrm xmlns:a="http://schemas.openxmlformats.org/drawingml/2006/main">
            <a:off x="1866216" y="1381125"/>
            <a:ext cx="8459569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BB410C-14C2-4CEC-BD02-D3575B35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A change in another demand determinant shifts the entire curve.</a:t>
            </a:r>
          </a:p>
        </p:txBody>
      </p:sp>
    </p:spTree>
    <p:extLst>
      <p:ext uri="{BB962C8B-B14F-4D97-AF65-F5344CB8AC3E}">
        <p14:creationId xmlns:p14="http://schemas.microsoft.com/office/powerpoint/2010/main" val="7753538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866CFBA4-533E-4B60-904F-6313BA40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63AA75-FC3A-4A45-80CB-A77492BE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Supply also has standard determinants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784FA51-DB28-4C95-9E00-C983DF04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FA0993F1-8760-4A9E-8F18-99F5CEF1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0E12262-AF23-485D-A04C-BFEC187E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BFF478-D096-4D58-8CA7-76C78F10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04950"/>
            <a:ext cx="994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A SUPPLY SHIFT CHANGES WILLINGNESS TO SELL AT EVERY PRICE</a:t>
            </a:r>
          </a:p>
        </p:txBody>
      </p:sp>
      <p:sp>
        <p:nvSpPr>
          <p:cNvPr id="7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02F56119-89E1-4ACE-8348-EA72AFC3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943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EE709908-C05B-4F6D-984E-336F79B6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526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Input prices and production costs</a:t>
            </a:r>
          </a:p>
        </p:txBody>
      </p:sp>
      <p:sp>
        <p:nvSpPr>
          <p:cNvPr id="9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E6388121-0767-4C77-A2BD-E52186DE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431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777F4D31-32C3-4B7C-97B6-8EDB6A44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5527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Technology and productivity</a:t>
            </a:r>
          </a:p>
        </p:txBody>
      </p:sp>
      <p:sp>
        <p:nvSpPr>
          <p:cNvPr id="11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555E57DE-E3C6-4FF5-BDE7-C2C87F18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432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1DC3B94F-075B-4A7F-8AEF-7598B2F4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15277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Taxes, subsidies, and regulation</a:t>
            </a:r>
          </a:p>
        </p:txBody>
      </p:sp>
      <p:sp>
        <p:nvSpPr>
          <p:cNvPr id="13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02E8F529-06DB-4735-9171-B9332372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433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bullet-4">
            <a:extLst xmlns:a="http://schemas.openxmlformats.org/drawingml/2006/main">
              <a:ext uri="{FF2B5EF4-FFF2-40B4-BE49-F238E27FC236}">
                <a16:creationId xmlns:a16="http://schemas.microsoft.com/office/drawing/2014/main" id="{5D318D9D-D079-4B2C-8DD4-45B51FB2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75285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Expectations and the number of sellers</a:t>
            </a:r>
          </a:p>
        </p:txBody>
      </p:sp>
      <p:sp>
        <p:nvSpPr>
          <p:cNvPr id="15" name="bullet-mark-5">
            <a:extLst xmlns:a="http://schemas.openxmlformats.org/drawingml/2006/main">
              <a:ext uri="{FF2B5EF4-FFF2-40B4-BE49-F238E27FC236}">
                <a16:creationId xmlns:a16="http://schemas.microsoft.com/office/drawing/2014/main" id="{EBBFD15D-6930-456D-B538-A96A8C2D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434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6" name="bullet-5">
            <a:extLst xmlns:a="http://schemas.openxmlformats.org/drawingml/2006/main">
              <a:ext uri="{FF2B5EF4-FFF2-40B4-BE49-F238E27FC236}">
                <a16:creationId xmlns:a16="http://schemas.microsoft.com/office/drawing/2014/main" id="{9DB53450-068D-4AE5-98CB-B2741521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3529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Capacity and the time available to adjust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FD8186-5715-4AA3-AD2B-EFD0C666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483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The product's own price changes quantity supplied, not supply itself.</a:t>
            </a:r>
          </a:p>
        </p:txBody>
      </p:sp>
    </p:spTree>
    <p:extLst>
      <p:ext uri="{BB962C8B-B14F-4D97-AF65-F5344CB8AC3E}">
        <p14:creationId xmlns:p14="http://schemas.microsoft.com/office/powerpoint/2010/main" val="20201033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D820D55-D709-4A34-B832-C143B495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672327-C1A9-491D-B816-B16A0A52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Capacity can make short-run supply vertical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30F6A64-EBF0-4319-B76D-12042F85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D7B969D1-68B9-4417-B63D-E71E3F15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156DD4A-2301-4B03-B132-F8B4154A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d2d2c73b24879"/>
          <a:stretch xmlns:a="http://schemas.openxmlformats.org/drawingml/2006/main"/>
        </p:blipFill>
        <p:spPr>
          <a:xfrm xmlns:a="http://schemas.openxmlformats.org/drawingml/2006/main">
            <a:off x="1698242" y="1381125"/>
            <a:ext cx="8795516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AFA4E1-91A7-43D4-BE11-109E31D0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For one defined event, no price can create more seats than the venue contains.</a:t>
            </a:r>
          </a:p>
        </p:txBody>
      </p:sp>
    </p:spTree>
    <p:extLst>
      <p:ext uri="{BB962C8B-B14F-4D97-AF65-F5344CB8AC3E}">
        <p14:creationId xmlns:p14="http://schemas.microsoft.com/office/powerpoint/2010/main" val="8589436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918AAAF-D62C-4916-B121-7E27E1E6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D90457-DF77-4DD9-9DEE-15376B01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Equilibrium is the market-clearing outcome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913291F-5F90-45E3-A962-CEE1B637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26702E40-EBFB-4C88-B40B-97B36161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982DEFB-129C-46B2-B798-6DE72CB0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79569d9a184ea8"/>
          <a:stretch xmlns:a="http://schemas.openxmlformats.org/drawingml/2006/main"/>
        </p:blipFill>
        <p:spPr>
          <a:xfrm xmlns:a="http://schemas.openxmlformats.org/drawingml/2006/main">
            <a:off x="1262978" y="1381125"/>
            <a:ext cx="9666043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7B3B00-4230-465D-B86F-892C082E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At equilibrium, planned quantity demanded equals planned quantity supplied.</a:t>
            </a:r>
          </a:p>
        </p:txBody>
      </p:sp>
    </p:spTree>
    <p:extLst>
      <p:ext uri="{BB962C8B-B14F-4D97-AF65-F5344CB8AC3E}">
        <p14:creationId xmlns:p14="http://schemas.microsoft.com/office/powerpoint/2010/main" val="10908725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B6EF2F9-54F5-4585-A5EC-3E0366DF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F31AF31-79A3-4441-B4E6-35EAC9A8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Comparative statics uses a repeatable process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D670E38-0E92-4C7F-8196-9BC24CC4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177510C4-4B29-4013-8C5B-30133EB4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173A185-3CB4-4A74-BF3F-907E26D8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7DC56-E5EF-467D-BEA0-A094EE79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04216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step-rule-1">
            <a:extLst xmlns:a="http://schemas.openxmlformats.org/drawingml/2006/main">
              <a:ext uri="{FF2B5EF4-FFF2-40B4-BE49-F238E27FC236}">
                <a16:creationId xmlns:a16="http://schemas.microsoft.com/office/drawing/2014/main" id="{944B8455-7C95-46D3-BFB2-1B6FE0F6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20421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2DE700-1BC4-4125-9AA3-8370AB43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9375"/>
            <a:ext cx="204216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Name the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25B7F8-232B-463C-AB54-653B8807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0"/>
            <a:ext cx="204216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Define the product, place, and time period.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B7F835-9ADC-45E0-B13F-342E9BD5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1809750"/>
            <a:ext cx="204216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rule-2">
            <a:extLst xmlns:a="http://schemas.openxmlformats.org/drawingml/2006/main">
              <a:ext uri="{FF2B5EF4-FFF2-40B4-BE49-F238E27FC236}">
                <a16:creationId xmlns:a16="http://schemas.microsoft.com/office/drawing/2014/main" id="{1C07BD19-ADE3-4037-9F50-81AD03C4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333625"/>
            <a:ext cx="20421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65F5FA-8D24-4DB3-ABDB-7F3C0019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619375"/>
            <a:ext cx="204216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Identify the cause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2F6956-012D-48F8-9BC2-3298F386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3619500"/>
            <a:ext cx="204216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Which determinant changed?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94A92-9794-4417-9142-E9BB6C87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09750"/>
            <a:ext cx="204216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step-rule-3">
            <a:extLst xmlns:a="http://schemas.openxmlformats.org/drawingml/2006/main">
              <a:ext uri="{FF2B5EF4-FFF2-40B4-BE49-F238E27FC236}">
                <a16:creationId xmlns:a16="http://schemas.microsoft.com/office/drawing/2014/main" id="{75EDB2E7-ECDD-491B-A84C-F7DCEC02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333625"/>
            <a:ext cx="20421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74A5EA-2A9E-45ED-96BF-F01C36B1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619375"/>
            <a:ext cx="204216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Choose the curve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53FD37-9D8A-406F-83A0-1D009BA3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619500"/>
            <a:ext cx="204216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Demand, supply, or both?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26FB18-1AB6-48CE-BA18-5326D34A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1809750"/>
            <a:ext cx="204216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step-rule-4">
            <a:extLst xmlns:a="http://schemas.openxmlformats.org/drawingml/2006/main">
              <a:ext uri="{FF2B5EF4-FFF2-40B4-BE49-F238E27FC236}">
                <a16:creationId xmlns:a16="http://schemas.microsoft.com/office/drawing/2014/main" id="{3416C8AD-979A-4854-B649-0C02E6FA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2333625"/>
            <a:ext cx="20421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1DE914-979A-4A0F-BFB8-8D2FDEE9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2619375"/>
            <a:ext cx="204216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Choose direction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DA1E5C-D7DE-4470-9865-08EAC174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3619500"/>
            <a:ext cx="204216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Increase or decrease?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4708FA-5C2A-4C00-9DB6-74633900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1809750"/>
            <a:ext cx="204216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3" name="step-rule-5">
            <a:extLst xmlns:a="http://schemas.openxmlformats.org/drawingml/2006/main">
              <a:ext uri="{FF2B5EF4-FFF2-40B4-BE49-F238E27FC236}">
                <a16:creationId xmlns:a16="http://schemas.microsoft.com/office/drawing/2014/main" id="{B80BF25D-1C51-47AB-816A-E5FAD043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333625"/>
            <a:ext cx="20421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AB4C8B-9B10-4385-8F7E-19C73FD9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619375"/>
            <a:ext cx="204216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Compare equilibria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0D9BE-07F1-46FD-8545-71B8B53F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619500"/>
            <a:ext cx="204216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What happens to price and quantity?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3F3CFB-128F-4D7F-92C9-4284EF25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971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Do not jump from a story directly to a memorized arrow.</a:t>
            </a:r>
          </a:p>
        </p:txBody>
      </p:sp>
    </p:spTree>
    <p:extLst>
      <p:ext uri="{BB962C8B-B14F-4D97-AF65-F5344CB8AC3E}">
        <p14:creationId xmlns:p14="http://schemas.microsoft.com/office/powerpoint/2010/main" val="11461702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E644C5F-61A5-4301-A6F0-D20E5D55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91A420-740F-492D-A4C4-FF4386A8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Different shifts create different equilibrium changes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2D238D4-2DE8-450F-8EDA-0A701DB3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3C324F8A-7FBD-46D6-ADCF-6CC5FF78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D58020E3-D4F7-4E01-AEAA-864CBE46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700256043549ab"/>
          <a:stretch xmlns:a="http://schemas.openxmlformats.org/drawingml/2006/main"/>
        </p:blipFill>
        <p:spPr>
          <a:xfrm xmlns:a="http://schemas.openxmlformats.org/drawingml/2006/main">
            <a:off x="1692762" y="1381125"/>
            <a:ext cx="8806476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3D590-F660-4923-A95E-F890884B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Demand up raises price and quantity; supply down raises price but lowers quantity.</a:t>
            </a:r>
          </a:p>
        </p:txBody>
      </p:sp>
    </p:spTree>
    <p:extLst>
      <p:ext uri="{BB962C8B-B14F-4D97-AF65-F5344CB8AC3E}">
        <p14:creationId xmlns:p14="http://schemas.microsoft.com/office/powerpoint/2010/main" val="5285627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2455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A482B9-DE14-40C4-ACD8-F757204D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A98ED-1826-47F8-B31C-542DBD3A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11391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Elasticity measures responsiveness in percentages</a:t>
            </a:r>
          </a:p>
        </p:txBody>
      </p:sp>
      <p:sp>
        <p:nvSpPr>
          <p:cNvPr id="3" name="big-statement">
            <a:extLst xmlns:a="http://schemas.openxmlformats.org/drawingml/2006/main">
              <a:ext uri="{FF2B5EF4-FFF2-40B4-BE49-F238E27FC236}">
                <a16:creationId xmlns:a16="http://schemas.microsoft.com/office/drawing/2014/main" id="{E09DD06B-7A97-4DD4-8A03-C99DB116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1019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225" b="1" i="0">
                <a:solidFill>
                  <a:srgbClr val="C9A52A"/>
                </a:solidFill>
                <a:latin typeface="Georgia"/>
                <a:ea typeface="Georgia"/>
                <a:cs typeface="Georgia"/>
              </a:defRPr>
            </a:pPr>
            <a:r>
              <a:rPr sz="3225" b="1" i="0">
                <a:solidFill>
                  <a:srgbClr val="C9A52A"/>
                </a:solidFill>
                <a:latin typeface="Georgia"/>
                <a:ea typeface="Georgia"/>
                <a:cs typeface="Georgia"/>
              </a:rPr>
              <a:t>εd = percentage change in quantity demanded ÷ percentage change in price</a:t>
            </a:r>
          </a:p>
        </p:txBody>
      </p:sp>
      <p:sp>
        <p:nvSpPr>
          <p:cNvPr id="4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ACAD9ED0-16EF-4E8F-9C45-E5573EB2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57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9CDA6410-B284-4D7F-AB01-B8D7CBF9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67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negative sign records the usual inverse price–quantity relationship.</a:t>
            </a:r>
          </a:p>
        </p:txBody>
      </p:sp>
      <p:sp>
        <p:nvSpPr>
          <p:cNvPr id="6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BFFAC4C4-F8BC-4340-BD37-BFE81669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29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2">
            <a:extLst xmlns:a="http://schemas.openxmlformats.org/drawingml/2006/main">
              <a:ext uri="{FF2B5EF4-FFF2-40B4-BE49-F238E27FC236}">
                <a16:creationId xmlns:a16="http://schemas.microsoft.com/office/drawing/2014/main" id="{6B7BC099-3559-4B03-8280-75826056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386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|εd| to classify demand as elastic, unit elastic, or inelastic.</a:t>
            </a:r>
          </a:p>
        </p:txBody>
      </p:sp>
      <p:sp>
        <p:nvSpPr>
          <p:cNvPr id="8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27B74441-F3D9-498F-B152-D9D1B129E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00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3">
            <a:extLst xmlns:a="http://schemas.openxmlformats.org/drawingml/2006/main">
              <a:ext uri="{FF2B5EF4-FFF2-40B4-BE49-F238E27FC236}">
                <a16:creationId xmlns:a16="http://schemas.microsoft.com/office/drawing/2014/main" id="{EDF20E9F-DBFE-4E2C-8879-8B122BA1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810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Elasticity is not the same thing as the slope of a demand curve.</a:t>
            </a:r>
          </a:p>
        </p:txBody>
      </p:sp>
    </p:spTree>
    <p:extLst>
      <p:ext uri="{BB962C8B-B14F-4D97-AF65-F5344CB8AC3E}">
        <p14:creationId xmlns:p14="http://schemas.microsoft.com/office/powerpoint/2010/main" val="14608647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2A266E5-01EE-4902-9413-09187CA3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714DE4-1DF7-4DEC-A76A-12E00A8D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Elasticity depends on available adjustment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FAB6207-97E1-4EE8-AA80-334D7783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0734692D-19BD-4F43-8BE3-1CB4E314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86E0A77-7C49-4854-B70A-27B5516E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C80C031C-482C-4058-B7BC-5E01ABCE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987493-F23A-4724-B742-B50865D4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LESS RESPONSIVE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F11B28-0055-4719-AD67-91A21B7B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Few substitutes and little 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55AD4C-DF74-4644-8C18-42CAF5859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Strong loyalty, small budget share, urgency, and short adjustment periods tend to reduce price responsiveness.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6339C14E-B2E5-4026-8DBB-AED3CC22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3EB334-736E-4714-9AFD-03EC3B92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MORE RESPONSIVE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06F90F-883A-421B-B5A4-01F94DCE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More substitutes and more 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95F79C-74D3-4B74-9C3F-3645809C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Alternative games, platforms, entertainment, and longer adjustment periods tend to increase responsiveness.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00FD07-9345-4BFC-BF03-E9C17061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Elasticity belongs to a defined comparison—not permanently to a product label.</a:t>
            </a:r>
          </a:p>
        </p:txBody>
      </p:sp>
    </p:spTree>
    <p:extLst>
      <p:ext uri="{BB962C8B-B14F-4D97-AF65-F5344CB8AC3E}">
        <p14:creationId xmlns:p14="http://schemas.microsoft.com/office/powerpoint/2010/main" val="82406014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2455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D67C99-749C-40DE-B15D-99BD0443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A59CC2-743C-4F7E-8F9A-909F7794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11391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midpoint formula treats both directions symmetrically</a:t>
            </a:r>
          </a:p>
        </p:txBody>
      </p:sp>
      <p:sp>
        <p:nvSpPr>
          <p:cNvPr id="3" name="big-statement">
            <a:extLst xmlns:a="http://schemas.openxmlformats.org/drawingml/2006/main">
              <a:ext uri="{FF2B5EF4-FFF2-40B4-BE49-F238E27FC236}">
                <a16:creationId xmlns:a16="http://schemas.microsoft.com/office/drawing/2014/main" id="{26019BC0-6991-4A9F-BA7F-B0EA66D0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1019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075" b="1" i="0">
                <a:solidFill>
                  <a:srgbClr val="C9A52A"/>
                </a:solidFill>
                <a:latin typeface="Georgia"/>
                <a:ea typeface="Georgia"/>
                <a:cs typeface="Georgia"/>
              </a:defRPr>
            </a:pPr>
            <a:r>
              <a:rPr sz="3075" b="1" i="0">
                <a:solidFill>
                  <a:srgbClr val="C9A52A"/>
                </a:solidFill>
                <a:latin typeface="Georgia"/>
                <a:ea typeface="Georgia"/>
                <a:cs typeface="Georgia"/>
              </a:rPr>
              <a:t>%ΔQ = (Q₂ − Q₁) ÷ [(Q₁ + Q₂)/2] × 100</a:t>
            </a:r>
          </a:p>
        </p:txBody>
      </p:sp>
      <p:sp>
        <p:nvSpPr>
          <p:cNvPr id="4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C434CD36-6392-40BA-A27A-A9D010B8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57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C94BD018-3F60-4526-B183-FDE40669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67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Apply the same midpoint convention to price.</a:t>
            </a:r>
          </a:p>
        </p:txBody>
      </p:sp>
      <p:sp>
        <p:nvSpPr>
          <p:cNvPr id="6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F85D5EA0-81C8-40DE-B0EE-28C08F05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29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2">
            <a:extLst xmlns:a="http://schemas.openxmlformats.org/drawingml/2006/main">
              <a:ext uri="{FF2B5EF4-FFF2-40B4-BE49-F238E27FC236}">
                <a16:creationId xmlns:a16="http://schemas.microsoft.com/office/drawing/2014/main" id="{31E7251A-AECD-4239-AFCA-B6563B45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386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supplied percentage changes directly when a problem already gives them.</a:t>
            </a:r>
          </a:p>
        </p:txBody>
      </p:sp>
      <p:sp>
        <p:nvSpPr>
          <p:cNvPr id="8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AD0D134A-63CF-407A-90CD-A8DD1D4D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00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3">
            <a:extLst xmlns:a="http://schemas.openxmlformats.org/drawingml/2006/main">
              <a:ext uri="{FF2B5EF4-FFF2-40B4-BE49-F238E27FC236}">
                <a16:creationId xmlns:a16="http://schemas.microsoft.com/office/drawing/2014/main" id="{6D08F29D-678E-4480-8A79-9BA3040A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810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formula is a measurement convention—not an additional economic theory.</a:t>
            </a:r>
          </a:p>
        </p:txBody>
      </p:sp>
    </p:spTree>
    <p:extLst>
      <p:ext uri="{BB962C8B-B14F-4D97-AF65-F5344CB8AC3E}">
        <p14:creationId xmlns:p14="http://schemas.microsoft.com/office/powerpoint/2010/main" val="940881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A2D60C3-C478-4D73-8722-2F80ABFF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567DA6-5898-42CF-9CD1-4E2A9F0F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Elasticity predicts the total-revenue response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2D8F672-6C71-4967-A3FC-508D1F52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D9626494-8F03-43E4-9A38-D3712F7C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80E1DBD-4BF0-422D-83B9-3D523F4D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b4e20f19f44b1"/>
          <a:stretch xmlns:a="http://schemas.openxmlformats.org/drawingml/2006/main"/>
        </p:blipFill>
        <p:spPr>
          <a:xfrm xmlns:a="http://schemas.openxmlformats.org/drawingml/2006/main">
            <a:off x="1812341" y="1381125"/>
            <a:ext cx="8567317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E222C9-0A4A-4383-A048-FDCF7F8B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Price and total revenue move together under inelastic demand and oppositely under elastic demand.</a:t>
            </a:r>
          </a:p>
        </p:txBody>
      </p:sp>
    </p:spTree>
    <p:extLst>
      <p:ext uri="{BB962C8B-B14F-4D97-AF65-F5344CB8AC3E}">
        <p14:creationId xmlns:p14="http://schemas.microsoft.com/office/powerpoint/2010/main" val="31145761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2379152F-3D6F-4087-81E1-AD426747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418CA7E-0BE1-46C9-9492-1CB4FCB7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Three elasticities answer different questions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7266E97-C004-4104-82B4-F9CF8B6B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00698D2C-7D65-405E-AA82-A42AE85D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AC862414-5204-49D2-BCC9-08DB75F3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6FF03535-4491-43D5-9E9A-49712BED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5623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335075-4A83-402A-A7AD-C2B1F444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OWN PRICE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9F2E69-BE6F-40F5-9BE1-1AF30DFD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31051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How does quantity respond to its price?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88790-C6BB-4213-B2C5-200439C7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30289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Price elasticity of demand connects price changes to quantity demanded and total revenue.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51C021D3-B568-4FC3-87F5-B0A6DAFA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09750"/>
            <a:ext cx="35623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DEBD1-24DE-40ED-8C9C-F835D3F8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INCOME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D92958-2EDB-466B-9D7D-AB6A295D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76500"/>
            <a:ext cx="31051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How does demand respond to income?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FF166-6564-4FBF-89EA-EC628F0E1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76625"/>
            <a:ext cx="30289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Income elasticity distinguishes normal and inferior goods and helps anticipate market changes.</a:t>
            </a:r>
          </a:p>
        </p:txBody>
      </p:sp>
      <p:sp>
        <p:nvSpPr>
          <p:cNvPr id="14" name="panel-3">
            <a:extLst xmlns:a="http://schemas.openxmlformats.org/drawingml/2006/main">
              <a:ext uri="{FF2B5EF4-FFF2-40B4-BE49-F238E27FC236}">
                <a16:creationId xmlns:a16="http://schemas.microsoft.com/office/drawing/2014/main" id="{5B27C88D-4E37-40A5-AFCA-66A8EB7D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09750"/>
            <a:ext cx="35623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7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CDCF27-EA44-47CE-8C53-458FAE96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CROSS PRICE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47E84F-AF30-4053-820E-F15EC355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76500"/>
            <a:ext cx="31051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C6532D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C6532D"/>
                </a:solidFill>
                <a:latin typeface="Georgia"/>
                <a:ea typeface="Georgia"/>
                <a:cs typeface="Georgia"/>
              </a:rPr>
              <a:t>How does another price affect demand?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60BA1C-CD33-4389-8390-841642E9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76625"/>
            <a:ext cx="30289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Cross-price elasticity helps identify substitutes, complements, and competitive boundaries.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8AB65A-0AE8-4514-9559-DE631D65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Price elasticity of supply separately measures sellers' quantity response.</a:t>
            </a:r>
          </a:p>
        </p:txBody>
      </p:sp>
    </p:spTree>
    <p:extLst>
      <p:ext uri="{BB962C8B-B14F-4D97-AF65-F5344CB8AC3E}">
        <p14:creationId xmlns:p14="http://schemas.microsoft.com/office/powerpoint/2010/main" val="11327127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FA720163-013B-4FA2-82EE-944A3CEF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562079-B815-45C1-8499-7D3AC37A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Teams estimate elasticity rather than merely calculate it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701776E-8567-4D92-BDC0-F9422F8C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1DB7107D-94AD-448E-8132-5B61A7C6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FEA6B2E-4811-4C24-8C3F-578C6980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6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0E9BC683-D8A2-489F-AAF3-2E29167C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049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6E0F5FBC-7CC3-4316-B855-9D77440B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7145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Compare similar seats, games, and customer groups over time.</a:t>
            </a:r>
          </a:p>
        </p:txBody>
      </p:sp>
      <p:sp>
        <p:nvSpPr>
          <p:cNvPr id="8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98F453EE-959D-4130-9AA3-CEA28581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050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0C4C4439-B4DA-4BC3-9A9A-4D10FA5B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31457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Use controlled promotions or price experiments when feasible.</a:t>
            </a:r>
          </a:p>
        </p:txBody>
      </p:sp>
      <p:sp>
        <p:nvSpPr>
          <p:cNvPr id="10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5E49BCE8-36CC-4A77-A6AC-0602AADD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051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2B3F2784-C139-47C3-A617-17DCDC42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1465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Account for opponent, timing, team quality, weather, inventory, and resale conditions.</a:t>
            </a:r>
          </a:p>
        </p:txBody>
      </p:sp>
      <p:sp>
        <p:nvSpPr>
          <p:cNvPr id="12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F3E8256B-F250-47F5-8104-5F39FC92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052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712BF3C5-8B77-423C-89B8-7BEE8CD5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5147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Recognize that the team chooses prices partly because it anticipates demand.</a:t>
            </a:r>
          </a:p>
        </p:txBody>
      </p:sp>
      <p:sp>
        <p:nvSpPr>
          <p:cNvPr id="14" name="bullet-mark-5">
            <a:extLst xmlns:a="http://schemas.openxmlformats.org/drawingml/2006/main">
              <a:ext uri="{FF2B5EF4-FFF2-40B4-BE49-F238E27FC236}">
                <a16:creationId xmlns:a16="http://schemas.microsoft.com/office/drawing/2014/main" id="{3C45DF3D-C120-40A4-9699-4B99DB56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052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bullet-5">
            <a:extLst xmlns:a="http://schemas.openxmlformats.org/drawingml/2006/main">
              <a:ext uri="{FF2B5EF4-FFF2-40B4-BE49-F238E27FC236}">
                <a16:creationId xmlns:a16="http://schemas.microsoft.com/office/drawing/2014/main" id="{757FB077-8147-4D85-A282-DCE701AD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1148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Use historical estimates as uncertain inputs into future pricing decisions.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8B9B95-2649-4220-BCEA-93BFC81D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483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The Bills implicitly need a demand model, not one isolated midpoint calculation.</a:t>
            </a:r>
          </a:p>
        </p:txBody>
      </p:sp>
    </p:spTree>
    <p:extLst>
      <p:ext uri="{BB962C8B-B14F-4D97-AF65-F5344CB8AC3E}">
        <p14:creationId xmlns:p14="http://schemas.microsoft.com/office/powerpoint/2010/main" val="156863607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8BF073EF-4B72-457C-B13B-57EEEC61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13C73ED-2631-4783-9D99-27420C1C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Specialization depends on opportunity cost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D265A18-491E-4F9C-A62B-E2EE454D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CD20C48E-AFB8-4635-8BEF-CABCBBD1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C0EC433-60FA-47BD-8663-5F894D8F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D665BD44-4AD0-4D34-8D36-C736FC25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17CBE-47C3-4154-B737-DE21AAB7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BABE RUTH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2F9F17-AB08-4402-98C5-D9E7A637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Great at two roles—more valuable in 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F60EED-EC3C-471A-9501-A0B6C1BE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The relevant question is not whether Ruth could pitch, but whether pitching displaced an even more valuable use of his time and talent.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05F56955-0CFD-42A6-A8A4-8B0A6A04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EBB96E-FD3C-47A3-940C-D06782E2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SHOHEI OHTANI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A975BD-3135-4A5A-960A-B7485941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Technology and talent can change the trade-off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554665-DE8B-4E30-8DFC-57E50ED3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Ohtani's two-way success shows that specialization is a prediction based on opportunity cost, not a universal rule that forbids dual production.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041E66-32BF-45F5-ADF9-DA5CBE7D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Comparative advantage is useful here as an application—not a trade-theory detour.</a:t>
            </a:r>
          </a:p>
        </p:txBody>
      </p:sp>
    </p:spTree>
    <p:extLst>
      <p:ext uri="{BB962C8B-B14F-4D97-AF65-F5344CB8AC3E}">
        <p14:creationId xmlns:p14="http://schemas.microsoft.com/office/powerpoint/2010/main" val="150734708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788EF7-477E-4D0A-9F81-3A9E9590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3150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Use the playbook before drawing a conclusion</a:t>
            </a:r>
          </a:p>
        </p:txBody>
      </p:sp>
      <p:sp>
        <p:nvSpPr>
          <p:cNvPr id="2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AC8EC1B9-3100-4F8A-B85C-B47434AA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02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83519EA9-01C7-4B88-981C-4A0D4D26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809750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Start with incentives, alternatives, and ceteris paribus.</a:t>
            </a:r>
          </a:p>
        </p:txBody>
      </p:sp>
      <p:sp>
        <p:nvSpPr>
          <p:cNvPr id="4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45EE87B8-3FCC-4F2A-AF93-0B7D9B20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193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9AFC3E91-500F-475B-B783-E21A59AF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28875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Separate movements along curves from shifts of curves.</a:t>
            </a:r>
          </a:p>
        </p:txBody>
      </p:sp>
      <p:sp>
        <p:nvSpPr>
          <p:cNvPr id="6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41E71471-6487-4335-AF56-C6EE9B6B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384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752B32C1-0659-4AEA-AE7E-79AAEC70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48000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Use equilibrium to identify the market-clearing outcome.</a:t>
            </a:r>
          </a:p>
        </p:txBody>
      </p:sp>
      <p:sp>
        <p:nvSpPr>
          <p:cNvPr id="8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931F1D5F-F72D-4640-8FBF-13F2C56E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4">
            <a:extLst xmlns:a="http://schemas.openxmlformats.org/drawingml/2006/main">
              <a:ext uri="{FF2B5EF4-FFF2-40B4-BE49-F238E27FC236}">
                <a16:creationId xmlns:a16="http://schemas.microsoft.com/office/drawing/2014/main" id="{B8AA546B-A168-456A-86FB-CA343745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67125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Use elasticity to measure—not merely label—responsiveness.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424EDF-F170-495D-9BDC-CEDBDFE2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24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Next: surplus, price controls, taxes, externalities, and policy analysis.</a:t>
            </a:r>
          </a:p>
        </p:txBody>
      </p:sp>
    </p:spTree>
    <p:extLst>
      <p:ext uri="{BB962C8B-B14F-4D97-AF65-F5344CB8AC3E}">
        <p14:creationId xmlns:p14="http://schemas.microsoft.com/office/powerpoint/2010/main" val="6265334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2026-09-08T17:03:40.8070000Z</dcterms:created>
  <dcterms:modified xsi:type="dcterms:W3CDTF">2026-09-08T17:03:40.8080000Z</dcterms:modified>
</coreProperties>
</file>