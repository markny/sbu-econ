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b29e19aa344e19" /><Relationship Type="http://schemas.openxmlformats.org/officeDocument/2006/relationships/extended-properties" Target="/docProps/app.xml" Id="Rabd9d5dd5c7649b1" /><Relationship Type="http://schemas.openxmlformats.org/officeDocument/2006/relationships/officeDocument" Target="/ppt/presentation.xml" Id="R2d951006c23d41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52ee95b98a4f7b"/>
  </p:sldMasterIdLst>
  <p:notesMasterIdLst>
    <p:notesMasterId xmlns:r="http://schemas.openxmlformats.org/officeDocument/2006/relationships" r:id="R736e5bf1ffeb4d12"/>
  </p:notesMasterIdLst>
  <p:sldIdLst>
    <p:sldId xmlns:r="http://schemas.openxmlformats.org/officeDocument/2006/relationships" id="256" r:id="Ra93fb614b01a4b2b"/>
    <p:sldId xmlns:r="http://schemas.openxmlformats.org/officeDocument/2006/relationships" id="257" r:id="R27c24a2cce554c4e"/>
    <p:sldId xmlns:r="http://schemas.openxmlformats.org/officeDocument/2006/relationships" id="258" r:id="R81ab207dad5d4b91"/>
    <p:sldId xmlns:r="http://schemas.openxmlformats.org/officeDocument/2006/relationships" id="259" r:id="R8e012f3fccfe4bed"/>
    <p:sldId xmlns:r="http://schemas.openxmlformats.org/officeDocument/2006/relationships" id="260" r:id="Rbc82143294cb4839"/>
    <p:sldId xmlns:r="http://schemas.openxmlformats.org/officeDocument/2006/relationships" id="261" r:id="Rd5e36c9d67604c59"/>
    <p:sldId xmlns:r="http://schemas.openxmlformats.org/officeDocument/2006/relationships" id="262" r:id="Rc4ccf08f13f74994"/>
    <p:sldId xmlns:r="http://schemas.openxmlformats.org/officeDocument/2006/relationships" id="263" r:id="R7ead8fcfd9524145"/>
    <p:sldId xmlns:r="http://schemas.openxmlformats.org/officeDocument/2006/relationships" id="264" r:id="R2d1d6e82fd5744c7"/>
    <p:sldId xmlns:r="http://schemas.openxmlformats.org/officeDocument/2006/relationships" id="265" r:id="R26e0853d366b4089"/>
    <p:sldId xmlns:r="http://schemas.openxmlformats.org/officeDocument/2006/relationships" id="266" r:id="R568caeb7eff64da4"/>
    <p:sldId xmlns:r="http://schemas.openxmlformats.org/officeDocument/2006/relationships" id="267" r:id="R320c5ded5b454226"/>
    <p:sldId xmlns:r="http://schemas.openxmlformats.org/officeDocument/2006/relationships" id="268" r:id="Rf7c6f1828ed941d9"/>
    <p:sldId xmlns:r="http://schemas.openxmlformats.org/officeDocument/2006/relationships" id="269" r:id="R47bdec06b1304658"/>
    <p:sldId xmlns:r="http://schemas.openxmlformats.org/officeDocument/2006/relationships" id="270" r:id="R75640052108d482a"/>
    <p:sldId xmlns:r="http://schemas.openxmlformats.org/officeDocument/2006/relationships" id="271" r:id="Rbef2e080a01542a3"/>
    <p:sldId xmlns:r="http://schemas.openxmlformats.org/officeDocument/2006/relationships" id="272" r:id="R155d9c52ce704eff"/>
    <p:sldId xmlns:r="http://schemas.openxmlformats.org/officeDocument/2006/relationships" id="273" r:id="Rf76d427803854461"/>
    <p:sldId xmlns:r="http://schemas.openxmlformats.org/officeDocument/2006/relationships" id="274" r:id="Raa99ad132cad47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a3f6ec92ed41dd" /><Relationship Type="http://schemas.openxmlformats.org/officeDocument/2006/relationships/slideMaster" Target="/ppt/slideMasters/slideMaster1.xml" Id="R8752ee95b98a4f7b" /><Relationship Type="http://schemas.openxmlformats.org/officeDocument/2006/relationships/notesMaster" Target="/ppt/notesMasters/notesMaster1.xml" Id="R736e5bf1ffeb4d12" /><Relationship Type="http://schemas.openxmlformats.org/officeDocument/2006/relationships/presProps" Target="/ppt/presProps.xml" Id="R83a637fbf2474fd7" /><Relationship Type="http://schemas.openxmlformats.org/officeDocument/2006/relationships/tableStyles" Target="/ppt/tableStyles.xml" Id="R0aa5c352f7b34e2f" /><Relationship Type="http://schemas.openxmlformats.org/officeDocument/2006/relationships/slide" Target="/ppt/slides/slide1.xml" Id="Ra93fb614b01a4b2b" /><Relationship Type="http://schemas.openxmlformats.org/officeDocument/2006/relationships/slide" Target="/ppt/slides/slide2.xml" Id="R27c24a2cce554c4e" /><Relationship Type="http://schemas.openxmlformats.org/officeDocument/2006/relationships/slide" Target="/ppt/slides/slide3.xml" Id="R81ab207dad5d4b91" /><Relationship Type="http://schemas.openxmlformats.org/officeDocument/2006/relationships/slide" Target="/ppt/slides/slide4.xml" Id="R8e012f3fccfe4bed" /><Relationship Type="http://schemas.openxmlformats.org/officeDocument/2006/relationships/slide" Target="/ppt/slides/slide5.xml" Id="Rbc82143294cb4839" /><Relationship Type="http://schemas.openxmlformats.org/officeDocument/2006/relationships/slide" Target="/ppt/slides/slide6.xml" Id="Rd5e36c9d67604c59" /><Relationship Type="http://schemas.openxmlformats.org/officeDocument/2006/relationships/slide" Target="/ppt/slides/slide7.xml" Id="Rc4ccf08f13f74994" /><Relationship Type="http://schemas.openxmlformats.org/officeDocument/2006/relationships/slide" Target="/ppt/slides/slide8.xml" Id="R7ead8fcfd9524145" /><Relationship Type="http://schemas.openxmlformats.org/officeDocument/2006/relationships/slide" Target="/ppt/slides/slide9.xml" Id="R2d1d6e82fd5744c7" /><Relationship Type="http://schemas.openxmlformats.org/officeDocument/2006/relationships/slide" Target="/ppt/slides/slide10.xml" Id="R26e0853d366b4089" /><Relationship Type="http://schemas.openxmlformats.org/officeDocument/2006/relationships/slide" Target="/ppt/slides/slide11.xml" Id="R568caeb7eff64da4" /><Relationship Type="http://schemas.openxmlformats.org/officeDocument/2006/relationships/slide" Target="/ppt/slides/slide12.xml" Id="R320c5ded5b454226" /><Relationship Type="http://schemas.openxmlformats.org/officeDocument/2006/relationships/slide" Target="/ppt/slides/slide13.xml" Id="Rf7c6f1828ed941d9" /><Relationship Type="http://schemas.openxmlformats.org/officeDocument/2006/relationships/slide" Target="/ppt/slides/slide14.xml" Id="R47bdec06b1304658" /><Relationship Type="http://schemas.openxmlformats.org/officeDocument/2006/relationships/slide" Target="/ppt/slides/slide15.xml" Id="R75640052108d482a" /><Relationship Type="http://schemas.openxmlformats.org/officeDocument/2006/relationships/slide" Target="/ppt/slides/slide16.xml" Id="Rbef2e080a01542a3" /><Relationship Type="http://schemas.openxmlformats.org/officeDocument/2006/relationships/slide" Target="/ppt/slides/slide17.xml" Id="R155d9c52ce704eff" /><Relationship Type="http://schemas.openxmlformats.org/officeDocument/2006/relationships/slide" Target="/ppt/slides/slide18.xml" Id="Rf76d427803854461" /><Relationship Type="http://schemas.openxmlformats.org/officeDocument/2006/relationships/slide" Target="/ppt/slides/slide19.xml" Id="Raa99ad132cad47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f4264bd72b45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cc28410a8b4992" /><Relationship Type="http://schemas.openxmlformats.org/officeDocument/2006/relationships/notesMaster" Target="/ppt/notesMasters/notesMaster1.xml" Id="R43ce124b506f40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ccdb3f822141f4" /><Relationship Type="http://schemas.openxmlformats.org/officeDocument/2006/relationships/notesMaster" Target="/ppt/notesMasters/notesMaster1.xml" Id="R30c830c9437d4b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4da09357734282" /><Relationship Type="http://schemas.openxmlformats.org/officeDocument/2006/relationships/notesMaster" Target="/ppt/notesMasters/notesMaster1.xml" Id="R20bcf8a6fc3840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29368097604524" /><Relationship Type="http://schemas.openxmlformats.org/officeDocument/2006/relationships/notesMaster" Target="/ppt/notesMasters/notesMaster1.xml" Id="R34dbc3f6405440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6ae34d189248e1" /><Relationship Type="http://schemas.openxmlformats.org/officeDocument/2006/relationships/notesMaster" Target="/ppt/notesMasters/notesMaster1.xml" Id="Rb4ab3cc513834f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b1f2259ff04ca9" /><Relationship Type="http://schemas.openxmlformats.org/officeDocument/2006/relationships/notesMaster" Target="/ppt/notesMasters/notesMaster1.xml" Id="Rf9ae78cdc0d04f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e7b5dbe9e142c3" /><Relationship Type="http://schemas.openxmlformats.org/officeDocument/2006/relationships/notesMaster" Target="/ppt/notesMasters/notesMaster1.xml" Id="R8539ca93ca8c4a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d9990055d744d0" /><Relationship Type="http://schemas.openxmlformats.org/officeDocument/2006/relationships/notesMaster" Target="/ppt/notesMasters/notesMaster1.xml" Id="Re2e0edef735149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750e2cf3d94f93" /><Relationship Type="http://schemas.openxmlformats.org/officeDocument/2006/relationships/notesMaster" Target="/ppt/notesMasters/notesMaster1.xml" Id="R6dbb975fa1fe42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6e74735c724011" /><Relationship Type="http://schemas.openxmlformats.org/officeDocument/2006/relationships/notesMaster" Target="/ppt/notesMasters/notesMaster1.xml" Id="Raa6004e626a940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483a10ac8b4af8" /><Relationship Type="http://schemas.openxmlformats.org/officeDocument/2006/relationships/notesMaster" Target="/ppt/notesMasters/notesMaster1.xml" Id="R9882229d8fe24b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a5bf2d32f44132" /><Relationship Type="http://schemas.openxmlformats.org/officeDocument/2006/relationships/notesMaster" Target="/ppt/notesMasters/notesMaster1.xml" Id="R6427b5128f5b41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42da1945484fec" /><Relationship Type="http://schemas.openxmlformats.org/officeDocument/2006/relationships/notesMaster" Target="/ppt/notesMasters/notesMaster1.xml" Id="Rb9e961acf5dc4d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b0af449aec457d" /><Relationship Type="http://schemas.openxmlformats.org/officeDocument/2006/relationships/notesMaster" Target="/ppt/notesMasters/notesMaster1.xml" Id="R29fbe103b7d342c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7b2db6db6c4751" /><Relationship Type="http://schemas.openxmlformats.org/officeDocument/2006/relationships/notesMaster" Target="/ppt/notesMasters/notesMaster1.xml" Id="R3bfc1277bfe4490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0cd7d0c1ae49f9" /><Relationship Type="http://schemas.openxmlformats.org/officeDocument/2006/relationships/notesMaster" Target="/ppt/notesMasters/notesMaster1.xml" Id="R8ae5c4006c9542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4ed2ecb787428c" /><Relationship Type="http://schemas.openxmlformats.org/officeDocument/2006/relationships/notesMaster" Target="/ppt/notesMasters/notesMaster1.xml" Id="R5d98010f6df349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69f5bc72c4340d0" /><Relationship Type="http://schemas.openxmlformats.org/officeDocument/2006/relationships/notesMaster" Target="/ppt/notesMasters/notesMaster1.xml" Id="Rac527355f4c145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da0b6f730ed45db" /><Relationship Type="http://schemas.openxmlformats.org/officeDocument/2006/relationships/notesMaster" Target="/ppt/notesMasters/notesMaster1.xml" Id="R218a20a676c4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Begin with a familiar sports-market change and resist drawing a curve immediately. First ask which decision maker changed, which incentive changed, and what is being held fixed.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chapter deliberately begins with the standard economic toolkit. Sports examples apply the concepts; they do not replace the general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tickets, viewing, roster spots, venue time, and sponsorship inventory to illustrate scarcity without redefining it as a sports-only idea.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marginal thinking to later ticket-pricing analysis, but do not introduce monopoly pricing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general determinants first. Then apply them to team quality, rivalry, weather, streaming access, and alternative entertainment.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students identify the cause before reading the result. Point A and Point B belong to the same curve only in the movement panel.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broadcast inventory, merchandise, concessions, and venue dates. Remind students that a team may have substantial long-run options even when one event has fixed capacity.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fixed event capacity from long-run venue capacity. Teams can later redesign sections, expand venues, or change the number and type of events.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market clearing. A price above equilibrium creates surplus; a price below equilibrium creates shortage. Describe likely adjustment without implying that adjustment is instant or costless.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students narrate the chain. Simultaneous shifts require separate analysis of the price and quantity effects.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each panel using the comparative-statics process. Then ask what is ambiguous if demand rises while supply falls at the same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Greek letter epsilon consistently. The signed value records direction; the absolute value determines the conventional classification.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fan can be inelastic for one rivalry game and much more elastic across a season or across entertainment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one numerical example slowly. For undergraduates, the main learning goal is interpreting responsiveness; algebra can be assigned selectively.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Revenue is price times quantity, not profit. The result assumes the comparison isolates a movement along a demand curve rather than a demand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- Project-reviewed Chapter 2 figures from figures/ch02-supply-demand/.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streaming services and attending versus watching as potential substitute relationships. Complementarity can arise between tickets and transportation or between viewing and related subscriptions.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bridge to Chapter 4. A team faces confounding, changing products, heterogeneous buyers, and strategic price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chapter's signature classroom discussion. Emphasize that absolute ability and comparative advantage answer different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students to narrate one current sports-market change from cause to predicted equilibrium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Sports Economics V2, Chapter 2: The Supply and Demand Playbook (canonical project draft).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5b1c821c7e45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075581632c46dc" /><Relationship Type="http://schemas.openxmlformats.org/officeDocument/2006/relationships/slideLayout" Target="/ppt/slideLayouts/slideLayout1.xml" Id="R5a1f6f69d0b946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1f6f69d0b946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b31bc7b9f44e0" /><Relationship Type="http://schemas.openxmlformats.org/officeDocument/2006/relationships/notesSlide" Target="/ppt/notesSlides/notesSlide1.xml" Id="Rc0da2a1f773349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9a2d196554e64" /><Relationship Type="http://schemas.openxmlformats.org/officeDocument/2006/relationships/notesSlide" Target="/ppt/notesSlides/notesSlide2.xml" Id="R4dcd7b5acc8f48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40b2a84f143ff" /><Relationship Type="http://schemas.openxmlformats.org/officeDocument/2006/relationships/notesSlide" Target="/ppt/notesSlides/notesSlide3.xml" Id="R810487077ed54b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771bfdae7428a" /><Relationship Type="http://schemas.openxmlformats.org/officeDocument/2006/relationships/notesSlide" Target="/ppt/notesSlides/notesSlide4.xml" Id="R34d249a31ffc4d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549686bd44f61" /><Relationship Type="http://schemas.openxmlformats.org/officeDocument/2006/relationships/notesSlide" Target="/ppt/notesSlides/notesSlide5.xml" Id="R2007fa3f07ab4c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505dea73745c8" /><Relationship Type="http://schemas.openxmlformats.org/officeDocument/2006/relationships/image" Target="/ppt/media/image.png" Id="R72de4c16ea914fef" /><Relationship Type="http://schemas.openxmlformats.org/officeDocument/2006/relationships/notesSlide" Target="/ppt/notesSlides/notesSlide6.xml" Id="Rf0898a46733740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0c56511284537" /><Relationship Type="http://schemas.openxmlformats.org/officeDocument/2006/relationships/notesSlide" Target="/ppt/notesSlides/notesSlide7.xml" Id="R5c33c59d4bee42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fc719dc6b4b3f" /><Relationship Type="http://schemas.openxmlformats.org/officeDocument/2006/relationships/image" Target="/ppt/media/image2.png" Id="R907a3ebaedc64d31" /><Relationship Type="http://schemas.openxmlformats.org/officeDocument/2006/relationships/notesSlide" Target="/ppt/notesSlides/notesSlide8.xml" Id="R6116635422204d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46c14ebde47f8" /><Relationship Type="http://schemas.openxmlformats.org/officeDocument/2006/relationships/image" Target="/ppt/media/image3.png" Id="R491ca0c6c4c24420" /><Relationship Type="http://schemas.openxmlformats.org/officeDocument/2006/relationships/notesSlide" Target="/ppt/notesSlides/notesSlide9.xml" Id="Rcaa20ef3dafe4f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a890248a14b96" /><Relationship Type="http://schemas.openxmlformats.org/officeDocument/2006/relationships/notesSlide" Target="/ppt/notesSlides/notesSlide10.xml" Id="R90ac06bd7d20420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c0f9c4c05465b" /><Relationship Type="http://schemas.openxmlformats.org/officeDocument/2006/relationships/image" Target="/ppt/media/image4.png" Id="R0e85c0858827406b" /><Relationship Type="http://schemas.openxmlformats.org/officeDocument/2006/relationships/notesSlide" Target="/ppt/notesSlides/notesSlide11.xml" Id="Rfa412e5a68964ab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9f9c08937426f" /><Relationship Type="http://schemas.openxmlformats.org/officeDocument/2006/relationships/notesSlide" Target="/ppt/notesSlides/notesSlide12.xml" Id="R77869051774947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abaceace34bbd" /><Relationship Type="http://schemas.openxmlformats.org/officeDocument/2006/relationships/notesSlide" Target="/ppt/notesSlides/notesSlide13.xml" Id="R18606351120b4f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9c93c543249e5" /><Relationship Type="http://schemas.openxmlformats.org/officeDocument/2006/relationships/notesSlide" Target="/ppt/notesSlides/notesSlide14.xml" Id="R90864cfe06514f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8477f78b74b05" /><Relationship Type="http://schemas.openxmlformats.org/officeDocument/2006/relationships/image" Target="/ppt/media/image5.png" Id="R12a2b73194fe415d" /><Relationship Type="http://schemas.openxmlformats.org/officeDocument/2006/relationships/notesSlide" Target="/ppt/notesSlides/notesSlide15.xml" Id="Rcb25dfabc6ff4bb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9ff6dfb164f71" /><Relationship Type="http://schemas.openxmlformats.org/officeDocument/2006/relationships/notesSlide" Target="/ppt/notesSlides/notesSlide16.xml" Id="R0363dd83cd4c4c1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bae345d5f44f1" /><Relationship Type="http://schemas.openxmlformats.org/officeDocument/2006/relationships/notesSlide" Target="/ppt/notesSlides/notesSlide17.xml" Id="R1139704534a245a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851be7930460c" /><Relationship Type="http://schemas.openxmlformats.org/officeDocument/2006/relationships/notesSlide" Target="/ppt/notesSlides/notesSlide18.xml" Id="Re4d05c354bd846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91e599ad646c2" /><Relationship Type="http://schemas.openxmlformats.org/officeDocument/2006/relationships/notesSlide" Target="/ppt/notesSlides/notesSlide19.xml" Id="Rdc7d14c844814e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deck-supertitle">
            <a:extLst xmlns:a="http://schemas.openxmlformats.org/drawingml/2006/main">
              <a:ext uri="{FF2B5EF4-FFF2-40B4-BE49-F238E27FC236}">
                <a16:creationId xmlns:a16="http://schemas.microsoft.com/office/drawing/2014/main" id="{559B9AA3-4D4C-426A-81CF-B09B9829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421DD16B-BBD4-4381-B103-9E020BED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9620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 i="0">
                <a:solidFill>
                  <a:srgbClr val="1D2A33"/>
                </a:solidFill>
                <a:latin typeface="Georgia"/>
                <a:ea typeface="Georgia"/>
                <a:cs typeface="Georgia"/>
              </a:defRPr>
            </a:pPr>
            <a:r>
              <a:rPr sz="5100" b="1" i="0">
                <a:solidFill>
                  <a:srgbClr val="1D2A33"/>
                </a:solidFill>
                <a:latin typeface="Georgia"/>
                <a:ea typeface="Georgia"/>
                <a:cs typeface="Georgia"/>
              </a:rPr>
              <a:t>The Supply and Demand Playbook</a:t>
            </a:r>
          </a:p>
        </p:txBody>
      </p:sp>
      <p:sp>
        <p:nvSpPr>
          <p:cNvPr id="3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BE060271-4DD7-4E6E-8100-DBDE6A1E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Chapter 2 · From incentives to disciplined market predictions</a:t>
            </a:r>
          </a:p>
        </p:txBody>
      </p:sp>
      <p:sp>
        <p:nvSpPr>
          <p:cNvPr id="4" name="title-field">
            <a:extLst xmlns:a="http://schemas.openxmlformats.org/drawingml/2006/main">
              <a:ext uri="{FF2B5EF4-FFF2-40B4-BE49-F238E27FC236}">
                <a16:creationId xmlns:a16="http://schemas.microsoft.com/office/drawing/2014/main" id="{5CFC464A-26A7-447E-9532-232BF95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152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4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ck-number">
            <a:extLst xmlns:a="http://schemas.openxmlformats.org/drawingml/2006/main">
              <a:ext uri="{FF2B5EF4-FFF2-40B4-BE49-F238E27FC236}">
                <a16:creationId xmlns:a16="http://schemas.microsoft.com/office/drawing/2014/main" id="{86789468-3AFB-4289-8AC9-417C3502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1054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2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2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458384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450A4-DFB8-42AA-BC70-F9A98129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7BE6D-D822-4D13-AA3C-121BF386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curves come after the economic reasoning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1A2AC90F-2929-46F5-8DC5-65EC5704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10191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Scarcity, opportunity cost, incentives, substitution, and ceteris paribus come first.</a:t>
            </a:r>
          </a:p>
        </p:txBody>
      </p:sp>
    </p:spTree>
    <p:extLst>
      <p:ext uri="{BB962C8B-B14F-4D97-AF65-F5344CB8AC3E}">
        <p14:creationId xmlns:p14="http://schemas.microsoft.com/office/powerpoint/2010/main" val="1614634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56C4DED-9A31-4C26-A39E-9F256795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8C9ADC-8731-48CF-880A-D70F96B4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Five ideas prepare the market model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81E0787-0645-43CB-B6EC-4F89A105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BF76F871-018B-4859-B9D7-C1E2FA8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221A8DD-D3E9-485D-81A5-51D5F9B9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6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54A44746-DBF5-48C1-980F-6209793B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049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9FD842C1-1EB4-43B9-8B4C-5E9EDE9E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7145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Scarcity: wants exceed the resources available to satisfy them.</a:t>
            </a:r>
          </a:p>
        </p:txBody>
      </p:sp>
      <p:sp>
        <p:nvSpPr>
          <p:cNvPr id="8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2070636D-30CA-421A-9D01-43050015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050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0ED42DB1-B617-46CD-8072-272DDE92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3145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Opportunity cost: a choice gives up the best alternative.</a:t>
            </a:r>
          </a:p>
        </p:txBody>
      </p:sp>
      <p:sp>
        <p:nvSpPr>
          <p:cNvPr id="10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6D919BE0-7475-492C-8441-D92D2E34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051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16DD9C69-FE47-4B99-B2DE-DD56AEC4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146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Incentives: people adjust when expected benefits or costs change.</a:t>
            </a:r>
          </a:p>
        </p:txBody>
      </p:sp>
      <p:sp>
        <p:nvSpPr>
          <p:cNvPr id="12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ED51647C-2021-45BF-9BED-1DF63C82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052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650BF553-279E-44BA-9120-1675F8FF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5147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Substitution: buyers and sellers look for alternatives when conditions change.</a:t>
            </a:r>
          </a:p>
        </p:txBody>
      </p:sp>
      <p:sp>
        <p:nvSpPr>
          <p:cNvPr id="14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EAAC520B-6AE8-418E-BD79-9F417039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052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bullet-5">
            <a:extLst xmlns:a="http://schemas.openxmlformats.org/drawingml/2006/main">
              <a:ext uri="{FF2B5EF4-FFF2-40B4-BE49-F238E27FC236}">
                <a16:creationId xmlns:a16="http://schemas.microsoft.com/office/drawing/2014/main" id="{4FC30AC0-9A0F-477B-B28E-B1F75060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1148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Ceteris paribus: isolate one relationship by holding other relevant conditions fixed.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AACDE-F001-4B9A-BDBF-532AE3C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Demand and supply summarize choices made under constraints.</a:t>
            </a:r>
          </a:p>
        </p:txBody>
      </p:sp>
    </p:spTree>
    <p:extLst>
      <p:ext uri="{BB962C8B-B14F-4D97-AF65-F5344CB8AC3E}">
        <p14:creationId xmlns:p14="http://schemas.microsoft.com/office/powerpoint/2010/main" val="1476483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9547A3D-C107-4487-8BFC-B94BC62A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B9220F-DBC5-4953-889E-65095F0C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Marginal reasoning focuses on the next unit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5AAE608-774F-48A5-91ED-DD3C5094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BA7D1450-DB27-4AE3-BA63-A730BF96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75DB41F-9789-4583-80BF-A480ECE3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4C6DDA6A-E82B-4784-B76D-157AE40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56F15-AF27-4842-BCC2-1D2B1860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34FEA-416E-45F1-A3C6-4E7E253F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Is the next unit worth its price?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B8AB6A-2A8C-416D-A2C1-34FACB9C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fan compares the additional benefit of one more ticket, subscription, or hour of viewing with its additional cost.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4D67CAF7-D35E-49CC-8D02-F22192AF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73B10-F67C-40D5-A283-31756A54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SELLER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CEFBAF-56D2-401F-9962-4C991B4E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Is the next unit worth providing?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3C967C-BAF7-488E-81D9-5CD2BF85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 team or venue compares the additional revenue from another unit with the additional cost and relevant capacity constraint.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F9614-8AED-4927-A757-77FA4A58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Economic choices respond at the margin, not necessarily all at once.</a:t>
            </a:r>
          </a:p>
        </p:txBody>
      </p:sp>
    </p:spTree>
    <p:extLst>
      <p:ext uri="{BB962C8B-B14F-4D97-AF65-F5344CB8AC3E}">
        <p14:creationId xmlns:p14="http://schemas.microsoft.com/office/powerpoint/2010/main" val="14266658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12FE7B3-695F-4967-8445-13FDF43C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5F689B-B51C-4C41-B242-9C6FB5CB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Demand has standard determinants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285AD2B-D9AF-4035-9058-CB6CCC96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FB034CE0-5DF1-4D80-9842-FEA7840D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4A6D13C-0F44-4D84-8D0B-772DA61C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CDDA60-86E6-498B-92AB-1A76DC57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994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A DEMAND SHIFT CHANGES WILLINGNESS TO BUY AT EVERY PRICE</a:t>
            </a:r>
          </a:p>
        </p:txBody>
      </p:sp>
      <p:sp>
        <p:nvSpPr>
          <p:cNvPr id="7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63353184-6DCA-4FC6-B33B-6B72562F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48D761E7-12C0-47CB-972B-392B281E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526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Income and purchasing power</a:t>
            </a:r>
          </a:p>
        </p:txBody>
      </p:sp>
      <p:sp>
        <p:nvSpPr>
          <p:cNvPr id="9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56C074D5-FD91-4B76-BBB4-5F520EB5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5E4F7BB4-9EC4-4E6B-9DFD-3A440D83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527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Prices of substitutes and complements</a:t>
            </a:r>
          </a:p>
        </p:txBody>
      </p:sp>
      <p:sp>
        <p:nvSpPr>
          <p:cNvPr id="11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AB389203-35BF-4A36-B60C-A0571E36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5D23755E-D2BD-4C5F-81CC-1D0E187D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1527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Tastes, expectations, and information</a:t>
            </a:r>
          </a:p>
        </p:txBody>
      </p:sp>
      <p:sp>
        <p:nvSpPr>
          <p:cNvPr id="13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2AB183F3-22DE-4CA6-B817-C51E756A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433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bullet-4">
            <a:extLst xmlns:a="http://schemas.openxmlformats.org/drawingml/2006/main">
              <a:ext uri="{FF2B5EF4-FFF2-40B4-BE49-F238E27FC236}">
                <a16:creationId xmlns:a16="http://schemas.microsoft.com/office/drawing/2014/main" id="{63A0392C-F01D-4B2E-B57B-F28AFD6B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528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Number and composition of buyers</a:t>
            </a:r>
          </a:p>
        </p:txBody>
      </p:sp>
      <p:sp>
        <p:nvSpPr>
          <p:cNvPr id="15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97BAA6E1-73B0-4A4C-ADBD-CAB54F5E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bullet-5">
            <a:extLst xmlns:a="http://schemas.openxmlformats.org/drawingml/2006/main">
              <a:ext uri="{FF2B5EF4-FFF2-40B4-BE49-F238E27FC236}">
                <a16:creationId xmlns:a16="http://schemas.microsoft.com/office/drawing/2014/main" id="{1AE6D17D-1A0F-45D1-A16F-BCC964DB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3529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Quality, convenience, timing, and other product characteristics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7EC9D-5A79-4E3C-A0C3-AB9DA40D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product's own price does not shift its demand curve.</a:t>
            </a:r>
          </a:p>
        </p:txBody>
      </p:sp>
    </p:spTree>
    <p:extLst>
      <p:ext uri="{BB962C8B-B14F-4D97-AF65-F5344CB8AC3E}">
        <p14:creationId xmlns:p14="http://schemas.microsoft.com/office/powerpoint/2010/main" val="8066357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F1CD557-4E0C-4151-B006-F3B965A9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427D91-22A9-467A-BECD-D479852B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Own price moves quantity demanded along the curve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F400429-FCF1-4199-BED4-78A013DD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6230DE23-694B-4D9F-B7B3-D5B1CAEE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AD8CD9B-47BD-4DE9-A94D-783F3A65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e4c16ea914fef"/>
          <a:stretch xmlns:a="http://schemas.openxmlformats.org/drawingml/2006/main"/>
        </p:blipFill>
        <p:spPr>
          <a:xfrm xmlns:a="http://schemas.openxmlformats.org/drawingml/2006/main">
            <a:off x="1866216" y="1381125"/>
            <a:ext cx="8459569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FF201-9F3C-4BB9-A57B-4215AE60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 change in another demand determinant shifts the entire curve.</a:t>
            </a:r>
          </a:p>
        </p:txBody>
      </p:sp>
    </p:spTree>
    <p:extLst>
      <p:ext uri="{BB962C8B-B14F-4D97-AF65-F5344CB8AC3E}">
        <p14:creationId xmlns:p14="http://schemas.microsoft.com/office/powerpoint/2010/main" val="8206271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95726EB-FBA0-4B72-93F0-815F1410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EC4A9C-7AD5-4DF2-BCC8-D5817580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Supply also has standard determinants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7E7F742-6504-4E31-A44F-888599D9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DF914DDE-112D-444A-9638-99067FF3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F0129EF-8ED4-4062-84C2-852345DC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00CB6-6CB1-49D8-9908-05D24B8F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994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A SUPPLY SHIFT CHANGES WILLINGNESS TO SELL AT EVERY PRICE</a:t>
            </a:r>
          </a:p>
        </p:txBody>
      </p:sp>
      <p:sp>
        <p:nvSpPr>
          <p:cNvPr id="7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231112DA-3FDB-44FD-946B-3696B25B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43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4970A0F2-7BD4-4A66-ABAC-E1A947D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526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Input prices and production costs</a:t>
            </a:r>
          </a:p>
        </p:txBody>
      </p:sp>
      <p:sp>
        <p:nvSpPr>
          <p:cNvPr id="9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2D9BDE1D-1DCC-413D-B53D-A37642BD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2A06F649-EAB5-4F45-B570-BFC4942B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5527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Technology and productivity</a:t>
            </a:r>
          </a:p>
        </p:txBody>
      </p:sp>
      <p:sp>
        <p:nvSpPr>
          <p:cNvPr id="11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6232699C-B7A8-4ECF-BB7F-69793497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325FE5F4-47F2-432D-ACF3-1F46BC2E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1527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Taxes, subsidies, and regulation</a:t>
            </a:r>
          </a:p>
        </p:txBody>
      </p:sp>
      <p:sp>
        <p:nvSpPr>
          <p:cNvPr id="13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BF4E18D1-9156-4F45-9B8D-6726C14B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433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bullet-4">
            <a:extLst xmlns:a="http://schemas.openxmlformats.org/drawingml/2006/main">
              <a:ext uri="{FF2B5EF4-FFF2-40B4-BE49-F238E27FC236}">
                <a16:creationId xmlns:a16="http://schemas.microsoft.com/office/drawing/2014/main" id="{C9C3C8C5-0CFE-426A-8CD5-0CEB9ACD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528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Expectations and the number of sellers</a:t>
            </a:r>
          </a:p>
        </p:txBody>
      </p:sp>
      <p:sp>
        <p:nvSpPr>
          <p:cNvPr id="15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1C30C8AF-C7CA-4AB6-A21C-C333B772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bullet-5">
            <a:extLst xmlns:a="http://schemas.openxmlformats.org/drawingml/2006/main">
              <a:ext uri="{FF2B5EF4-FFF2-40B4-BE49-F238E27FC236}">
                <a16:creationId xmlns:a16="http://schemas.microsoft.com/office/drawing/2014/main" id="{903A9DDA-12C1-4F32-AC10-06779EFC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3529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Capacity and the time available to adjust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27E5CA-FF8D-4299-91F3-BFBE128F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product's own price changes quantity supplied, not supply itself.</a:t>
            </a:r>
          </a:p>
        </p:txBody>
      </p:sp>
    </p:spTree>
    <p:extLst>
      <p:ext uri="{BB962C8B-B14F-4D97-AF65-F5344CB8AC3E}">
        <p14:creationId xmlns:p14="http://schemas.microsoft.com/office/powerpoint/2010/main" val="18823505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32A1036-D24D-48CB-880B-0EDF3DF3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EF8F38-4009-4758-B39F-E49D5654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Capacity can make short-run supply vertical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3D737EE-EB66-4587-87A7-FED7E5DB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BBC99185-C73C-4753-A351-AA5E2452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1DAB03C-B4D5-42C8-AE47-C523E5D7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a3ebaedc64d31"/>
          <a:stretch xmlns:a="http://schemas.openxmlformats.org/drawingml/2006/main"/>
        </p:blipFill>
        <p:spPr>
          <a:xfrm xmlns:a="http://schemas.openxmlformats.org/drawingml/2006/main">
            <a:off x="1698242" y="1381125"/>
            <a:ext cx="8795516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C561F-ABFB-448B-B211-87A2815C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For one defined event, no price can create more seats than the venue contains.</a:t>
            </a:r>
          </a:p>
        </p:txBody>
      </p:sp>
    </p:spTree>
    <p:extLst>
      <p:ext uri="{BB962C8B-B14F-4D97-AF65-F5344CB8AC3E}">
        <p14:creationId xmlns:p14="http://schemas.microsoft.com/office/powerpoint/2010/main" val="555681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08C20F85-B660-45D6-A4AB-D9BF864D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9A2034-DD57-4819-8620-42AC065B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Equilibrium is the market-clearing outcome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E72AF3C-75B5-4160-B7EF-0C12B8DC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DE48CBD0-C631-43CC-B480-269CEDA2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2BABD51-5A0B-47D8-A4E5-0FD20D05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ca0c6c4c24420"/>
          <a:stretch xmlns:a="http://schemas.openxmlformats.org/drawingml/2006/main"/>
        </p:blipFill>
        <p:spPr>
          <a:xfrm xmlns:a="http://schemas.openxmlformats.org/drawingml/2006/main">
            <a:off x="1262978" y="1381125"/>
            <a:ext cx="9666043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5B729-27FE-4059-A12D-730F357B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At equilibrium, planned quantity demanded equals planned quantity supplied.</a:t>
            </a:r>
          </a:p>
        </p:txBody>
      </p:sp>
    </p:spTree>
    <p:extLst>
      <p:ext uri="{BB962C8B-B14F-4D97-AF65-F5344CB8AC3E}">
        <p14:creationId xmlns:p14="http://schemas.microsoft.com/office/powerpoint/2010/main" val="16113204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9CC289F-EF3E-4337-89DF-21FCCEF7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F37557-DD07-4533-BB23-BBF6555E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Comparative statics uses a repeatable process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362747-BB35-4C07-9D52-65B649E0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FC1BD2D1-5177-4DF1-B151-09167F26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69952DD-BE59-499B-8B18-D2E7C5EC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3A30C-DE0A-432F-953F-B118B90C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step-rule-1">
            <a:extLst xmlns:a="http://schemas.openxmlformats.org/drawingml/2006/main">
              <a:ext uri="{FF2B5EF4-FFF2-40B4-BE49-F238E27FC236}">
                <a16:creationId xmlns:a16="http://schemas.microsoft.com/office/drawing/2014/main" id="{F53AF53E-E638-4B30-894D-05DFA8A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0231A-4259-407E-AD16-11CCC5CE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Name the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C8D66-4EA9-42DE-9B48-D921F5DB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Define the product, place, and time period.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C06A0F-A6B2-4C42-AD26-FD68AC5A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rule-2">
            <a:extLst xmlns:a="http://schemas.openxmlformats.org/drawingml/2006/main">
              <a:ext uri="{FF2B5EF4-FFF2-40B4-BE49-F238E27FC236}">
                <a16:creationId xmlns:a16="http://schemas.microsoft.com/office/drawing/2014/main" id="{0E23F6C3-6978-436A-8387-F9C5FA49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930374-405E-4A82-A694-37F42CA7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Identify the cause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2BAC4D-36A8-4BDE-BDEE-7D3C0782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Which determinant changed?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668C6-E7D5-4661-8B4E-9A8FBD9D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step-rule-3">
            <a:extLst xmlns:a="http://schemas.openxmlformats.org/drawingml/2006/main">
              <a:ext uri="{FF2B5EF4-FFF2-40B4-BE49-F238E27FC236}">
                <a16:creationId xmlns:a16="http://schemas.microsoft.com/office/drawing/2014/main" id="{24EEE08E-596E-47BA-A5A9-12730732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CACA33-74F9-4A98-BE30-ED7B6D4E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Choose the curve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B06BC0-02CB-4EDD-8AA6-2A43759A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Demand, supply, or both?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90425-9C0C-4D6D-8CFB-A5F1DE7C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step-rule-4">
            <a:extLst xmlns:a="http://schemas.openxmlformats.org/drawingml/2006/main">
              <a:ext uri="{FF2B5EF4-FFF2-40B4-BE49-F238E27FC236}">
                <a16:creationId xmlns:a16="http://schemas.microsoft.com/office/drawing/2014/main" id="{C3AC5FD6-1E7D-4C6B-827F-58E7D490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C08594-9E10-4082-B064-B9540C39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Choose direction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9D2AFA-FFBE-4CED-9EBB-E8ABC994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Increase or decrease?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B42E64-EE58-4F37-9599-61C5AF26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1809750"/>
            <a:ext cx="204216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3" name="step-rule-5">
            <a:extLst xmlns:a="http://schemas.openxmlformats.org/drawingml/2006/main">
              <a:ext uri="{FF2B5EF4-FFF2-40B4-BE49-F238E27FC236}">
                <a16:creationId xmlns:a16="http://schemas.microsoft.com/office/drawing/2014/main" id="{25A4499F-0530-47A1-AA6B-DE42F264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333625"/>
            <a:ext cx="20421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74244-4DD6-4A3A-8007-A60527C3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19375"/>
            <a:ext cx="204216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2455E"/>
                </a:solidFill>
                <a:latin typeface="Georgia"/>
                <a:ea typeface="Georgia"/>
                <a:cs typeface="Georgia"/>
              </a:rPr>
              <a:t>Compare equilibria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8B5619-D106-4F37-BB8C-28871B1C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619500"/>
            <a:ext cx="204216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What happens to price and quantity?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E12E32-3244-4CBC-96D4-E6D3AA04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971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Do not jump from a story directly to a memorized arrow.</a:t>
            </a:r>
          </a:p>
        </p:txBody>
      </p:sp>
    </p:spTree>
    <p:extLst>
      <p:ext uri="{BB962C8B-B14F-4D97-AF65-F5344CB8AC3E}">
        <p14:creationId xmlns:p14="http://schemas.microsoft.com/office/powerpoint/2010/main" val="18083093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C469759-E08C-42E4-BE57-193E530C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7ADCED-6B90-414F-B181-A971A7BB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Different shifts create different equilibrium changes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9D74D05-F0D0-447A-A2FA-1E70BE76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D96371DB-F455-477B-805A-5D6F8875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49F63FC-7D0A-4982-82C9-48F40DEC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5c0858827406b"/>
          <a:stretch xmlns:a="http://schemas.openxmlformats.org/drawingml/2006/main"/>
        </p:blipFill>
        <p:spPr>
          <a:xfrm xmlns:a="http://schemas.openxmlformats.org/drawingml/2006/main">
            <a:off x="1692762" y="1381125"/>
            <a:ext cx="8806476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7F84C-FAE9-4D8C-B155-286FA61A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Demand up raises price and quantity; supply down raises price but lowers quantity.</a:t>
            </a:r>
          </a:p>
        </p:txBody>
      </p:sp>
    </p:spTree>
    <p:extLst>
      <p:ext uri="{BB962C8B-B14F-4D97-AF65-F5344CB8AC3E}">
        <p14:creationId xmlns:p14="http://schemas.microsoft.com/office/powerpoint/2010/main" val="18991930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1163F-5606-47BA-AA79-9D662F5C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959F5-B9AE-48E8-8BC2-F4D07B07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Elasticity measures responsiveness in percentages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A8228DD8-28ED-4508-BF0A-00B52AC6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22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22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εd = percentage change in quantity demanded ÷ percentage change in price</a:t>
            </a:r>
          </a:p>
        </p:txBody>
      </p:sp>
      <p:sp>
        <p:nvSpPr>
          <p:cNvPr id="4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8B3637A7-7CCC-4A5F-8AE0-1D547DF7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CE78E34B-99D9-4797-BBE4-7874E891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negative sign records the usual inverse price–quantity relationship.</a:t>
            </a:r>
          </a:p>
        </p:txBody>
      </p:sp>
      <p:sp>
        <p:nvSpPr>
          <p:cNvPr id="6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754E12FE-CAD4-4845-B943-C9092A22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29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B104422F-9166-4B2B-9011-560A7B9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|εd| to classify demand as elastic, unit elastic, or inelastic.</a:t>
            </a:r>
          </a:p>
        </p:txBody>
      </p:sp>
      <p:sp>
        <p:nvSpPr>
          <p:cNvPr id="8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DCA7CF56-695D-499A-B23A-55C54D9B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00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3">
            <a:extLst xmlns:a="http://schemas.openxmlformats.org/drawingml/2006/main">
              <a:ext uri="{FF2B5EF4-FFF2-40B4-BE49-F238E27FC236}">
                <a16:creationId xmlns:a16="http://schemas.microsoft.com/office/drawing/2014/main" id="{12C2E630-3A54-4103-AE75-5D71DE16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10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Elasticity is not the same thing as the slope of a demand curve.</a:t>
            </a:r>
          </a:p>
        </p:txBody>
      </p:sp>
    </p:spTree>
    <p:extLst>
      <p:ext uri="{BB962C8B-B14F-4D97-AF65-F5344CB8AC3E}">
        <p14:creationId xmlns:p14="http://schemas.microsoft.com/office/powerpoint/2010/main" val="11957902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B2FF324-A2CB-4CD5-A801-11220C63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B21787-093B-4536-BE9F-F6F5513F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Elasticity depends on available adjustment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026759E-DEAA-42B6-BC19-0FBB4FE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5DA2D79D-126B-44BF-84F6-EAA0D007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377D262-FE6F-4598-9C1F-A5B0BAF4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C63629CE-1C53-4B1A-A30C-53837055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6755D-AF23-47E8-BD80-E5AF2D45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LESS RESPONSIVE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BED03-E3CD-4A36-91C9-19359FEB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Few substitutes and little 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8A714-C73D-470D-9E84-0C103DA1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Strong loyalty, small budget share, urgency, and short adjustment periods tend to reduce price responsiveness.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B43FA1BF-A0C1-4EC0-957B-363E678F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3E2B7-78AD-4129-83EB-9C8E36E4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MORE RESPONSIVE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C700A-817B-45A4-81AC-C9B1851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More substitutes and more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C0511-9125-4C4B-8F5C-70D5DE58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Alternative games, platforms, entertainment, and longer adjustment periods tend to increase responsiveness.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233752-64AF-4385-9412-46A3AA9C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Elasticity belongs to a defined comparison—not permanently to a product label.</a:t>
            </a:r>
          </a:p>
        </p:txBody>
      </p:sp>
    </p:spTree>
    <p:extLst>
      <p:ext uri="{BB962C8B-B14F-4D97-AF65-F5344CB8AC3E}">
        <p14:creationId xmlns:p14="http://schemas.microsoft.com/office/powerpoint/2010/main" val="16935438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2455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9C98A-B00B-4C0D-9436-BCC064F7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EBA5E-B3FF-4FC8-B4A2-017D98BF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midpoint formula treats both directions symmetrically</a:t>
            </a:r>
          </a:p>
        </p:txBody>
      </p:sp>
      <p:sp>
        <p:nvSpPr>
          <p:cNvPr id="3" name="big-statement">
            <a:extLst xmlns:a="http://schemas.openxmlformats.org/drawingml/2006/main">
              <a:ext uri="{FF2B5EF4-FFF2-40B4-BE49-F238E27FC236}">
                <a16:creationId xmlns:a16="http://schemas.microsoft.com/office/drawing/2014/main" id="{A92309BA-2278-45EE-82E7-464E29D3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075" b="1" i="0">
                <a:solidFill>
                  <a:srgbClr val="C9A52A"/>
                </a:solidFill>
                <a:latin typeface="Georgia"/>
                <a:ea typeface="Georgia"/>
                <a:cs typeface="Georgia"/>
              </a:defRPr>
            </a:pPr>
            <a:r>
              <a:rPr sz="3075" b="1" i="0">
                <a:solidFill>
                  <a:srgbClr val="C9A52A"/>
                </a:solidFill>
                <a:latin typeface="Georgia"/>
                <a:ea typeface="Georgia"/>
                <a:cs typeface="Georgia"/>
              </a:rPr>
              <a:t>%ΔQ = (Q₂ − Q₁) ÷ [(Q₁ + Q₂)/2] × 100</a:t>
            </a:r>
          </a:p>
        </p:txBody>
      </p:sp>
      <p:sp>
        <p:nvSpPr>
          <p:cNvPr id="4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69EFB515-3DEB-4679-B8EA-223A8BF7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1">
            <a:extLst xmlns:a="http://schemas.openxmlformats.org/drawingml/2006/main">
              <a:ext uri="{FF2B5EF4-FFF2-40B4-BE49-F238E27FC236}">
                <a16:creationId xmlns:a16="http://schemas.microsoft.com/office/drawing/2014/main" id="{D5BCF8EB-E867-466C-8A4B-38EA99EC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Apply the same midpoint convention to price.</a:t>
            </a:r>
          </a:p>
        </p:txBody>
      </p:sp>
      <p:sp>
        <p:nvSpPr>
          <p:cNvPr id="6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A77389AC-9A00-4623-8AA2-9932A70E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291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FBEFEB9C-40B1-422A-9FB3-47784128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supplied percentage changes directly when a problem already gives them.</a:t>
            </a:r>
          </a:p>
        </p:txBody>
      </p:sp>
      <p:sp>
        <p:nvSpPr>
          <p:cNvPr id="8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05C846C0-4AC4-429A-9418-75CD6785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00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C9A52A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A52A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3">
            <a:extLst xmlns:a="http://schemas.openxmlformats.org/drawingml/2006/main">
              <a:ext uri="{FF2B5EF4-FFF2-40B4-BE49-F238E27FC236}">
                <a16:creationId xmlns:a16="http://schemas.microsoft.com/office/drawing/2014/main" id="{FC39827F-188E-42CD-9925-06E84E39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10125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formula is a measurement convention—not an additional economic theory.</a:t>
            </a:r>
          </a:p>
        </p:txBody>
      </p:sp>
    </p:spTree>
    <p:extLst>
      <p:ext uri="{BB962C8B-B14F-4D97-AF65-F5344CB8AC3E}">
        <p14:creationId xmlns:p14="http://schemas.microsoft.com/office/powerpoint/2010/main" val="13488084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3C8DC3E-71E1-4D6D-B1D4-D66FB7F2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0ED004-4948-4DF6-9C6F-2FD0B354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Elasticity predicts the total-revenue response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DD7DA99-37D1-47BF-ADDE-308CB78A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A018424F-E6AE-46EF-9C57-4BD8774D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69456CD-ECF6-4D6C-9BDA-FA5C91DB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b73194fe415d"/>
          <a:stretch xmlns:a="http://schemas.openxmlformats.org/drawingml/2006/main"/>
        </p:blipFill>
        <p:spPr>
          <a:xfrm xmlns:a="http://schemas.openxmlformats.org/drawingml/2006/main">
            <a:off x="1812341" y="1381125"/>
            <a:ext cx="8567317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9FB24-9D1E-451A-906F-B2B3A87E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435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Price and total revenue move together under inelastic demand and oppositely under elastic demand.</a:t>
            </a:r>
          </a:p>
        </p:txBody>
      </p:sp>
    </p:spTree>
    <p:extLst>
      <p:ext uri="{BB962C8B-B14F-4D97-AF65-F5344CB8AC3E}">
        <p14:creationId xmlns:p14="http://schemas.microsoft.com/office/powerpoint/2010/main" val="9793119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C04EC12-6343-4452-B028-42E35FBC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9ACD40-D598-482F-8C85-FD7DA943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Three elasticities answer different questions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98C8AEE-5798-4421-B729-547A3D8C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1CB2C327-CC8A-4C7B-8740-7269BE75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60530EB-5F67-46A5-91D9-39A4D7F7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A3478FC8-62E3-4DE0-877E-70A4E650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38B91-0041-4FB0-8F96-FC659A25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OWN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F1EBD-0DA7-42D3-A361-E9D0E3EE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3105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How does quantity respond to its price?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C17BE-D86D-4089-8F49-CD52F71C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30289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Price elasticity of demand connects price changes to quantity demanded and total revenue.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A9437BD4-377B-48EB-91BB-119052A2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357FC-46CB-4F55-8C36-A2660239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INCOME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0A390-2E35-40FB-850E-C26DDDD0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105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How does demand respond to income?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EB711-CC73-4C2A-95D2-0524300F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76625"/>
            <a:ext cx="30289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Income elasticity distinguishes normal and inferior goods and helps anticipate market changes.</a:t>
            </a:r>
          </a:p>
        </p:txBody>
      </p:sp>
      <p:sp>
        <p:nvSpPr>
          <p:cNvPr id="14" name="panel-3">
            <a:extLst xmlns:a="http://schemas.openxmlformats.org/drawingml/2006/main">
              <a:ext uri="{FF2B5EF4-FFF2-40B4-BE49-F238E27FC236}">
                <a16:creationId xmlns:a16="http://schemas.microsoft.com/office/drawing/2014/main" id="{951E4220-DDB9-4665-9C90-D758390A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7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2E00B-F1D0-4020-944D-F84A6401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CROSS PRICE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08E22E-865B-448A-9856-B7A63E89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76500"/>
            <a:ext cx="31051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C6532D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C6532D"/>
                </a:solidFill>
                <a:latin typeface="Georgia"/>
                <a:ea typeface="Georgia"/>
                <a:cs typeface="Georgia"/>
              </a:rPr>
              <a:t>How does another price affect demand?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8B2F5D-772F-4946-B342-92269667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0289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Cross-price elasticity helps identify substitutes, complements, and competitive boundaries.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BEEF26-5D26-43EF-B9B5-298636BE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Price elasticity of supply separately measures sellers' quantity response.</a:t>
            </a:r>
          </a:p>
        </p:txBody>
      </p:sp>
    </p:spTree>
    <p:extLst>
      <p:ext uri="{BB962C8B-B14F-4D97-AF65-F5344CB8AC3E}">
        <p14:creationId xmlns:p14="http://schemas.microsoft.com/office/powerpoint/2010/main" val="17204889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3DEB131-5419-44FF-B4CF-1F435B8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123AD2-F1F2-4F6B-87FF-44BDF5AF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Teams estimate elasticity rather than merely calculate it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E39101A-33F8-4EFD-9F74-5C597CDF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3BA12EDF-81B3-4337-BF4E-2DFA7540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C4A2DE2-6A96-4E74-A210-6795BE2D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3CC496EB-E0E3-420C-8209-CBEFFE4F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049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46546681-54CA-4A22-8B63-D1F079CE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7145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Compare similar seats, games, and customer groups over time.</a:t>
            </a:r>
          </a:p>
        </p:txBody>
      </p:sp>
      <p:sp>
        <p:nvSpPr>
          <p:cNvPr id="8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0E423D2C-71B7-400A-9B9B-EEEAEB8B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050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42B02614-97AB-4444-ABCA-CE94BEEA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31457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controlled promotions or price experiments when feasible.</a:t>
            </a:r>
          </a:p>
        </p:txBody>
      </p:sp>
      <p:sp>
        <p:nvSpPr>
          <p:cNvPr id="10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A1D0702A-5C3A-4230-BAAB-89002357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051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6F2E58F2-1B8E-4E06-8487-753CA35C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1465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Account for opponent, timing, team quality, weather, inventory, and resale conditions.</a:t>
            </a:r>
          </a:p>
        </p:txBody>
      </p:sp>
      <p:sp>
        <p:nvSpPr>
          <p:cNvPr id="12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E4C0C78B-67C6-483A-8CD3-7B786181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052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6A2A6193-7D4C-4F09-9650-AB65C0D1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514725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Recognize that the team chooses prices partly because it anticipates demand.</a:t>
            </a:r>
          </a:p>
        </p:txBody>
      </p:sp>
      <p:sp>
        <p:nvSpPr>
          <p:cNvPr id="14" name="bullet-mark-5">
            <a:extLst xmlns:a="http://schemas.openxmlformats.org/drawingml/2006/main">
              <a:ext uri="{FF2B5EF4-FFF2-40B4-BE49-F238E27FC236}">
                <a16:creationId xmlns:a16="http://schemas.microsoft.com/office/drawing/2014/main" id="{14F2ECD4-C65C-4E9D-8E3E-E370D737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052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bullet-5">
            <a:extLst xmlns:a="http://schemas.openxmlformats.org/drawingml/2006/main">
              <a:ext uri="{FF2B5EF4-FFF2-40B4-BE49-F238E27FC236}">
                <a16:creationId xmlns:a16="http://schemas.microsoft.com/office/drawing/2014/main" id="{04CBCB42-ABC3-4EB6-934D-6DEC2E88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114800"/>
            <a:ext cx="910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87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historical estimates as uncertain inputs into future pricing decisions.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BB678-17BC-4BA4-94B8-7A0AAFEB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4830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The Bills implicitly need a demand model, not one isolated midpoint calculation.</a:t>
            </a:r>
          </a:p>
        </p:txBody>
      </p:sp>
    </p:spTree>
    <p:extLst>
      <p:ext uri="{BB962C8B-B14F-4D97-AF65-F5344CB8AC3E}">
        <p14:creationId xmlns:p14="http://schemas.microsoft.com/office/powerpoint/2010/main" val="6865761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26736C5-5749-40F8-BDE6-DE5E1705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CHAPTER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6574D6-60F3-4CE0-B4CB-87234987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Specialization depends on opportunity cost</a:t>
            </a:r>
          </a:p>
        </p:txBody>
      </p:sp>
      <p:sp>
        <p:nvSpPr>
          <p:cNvPr id="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38D64AC-DAFA-4AA8-95D9-6F7B25DB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book">
            <a:extLst xmlns:a="http://schemas.openxmlformats.org/drawingml/2006/main">
              <a:ext uri="{FF2B5EF4-FFF2-40B4-BE49-F238E27FC236}">
                <a16:creationId xmlns:a16="http://schemas.microsoft.com/office/drawing/2014/main" id="{928DBD2C-69C8-4145-9D4A-40A4D4CB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SPORTS ECONOMICS</a:t>
            </a:r>
          </a:p>
        </p:txBody>
      </p:sp>
      <p:sp>
        <p:nvSpPr>
          <p:cNvPr id="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372737B-B36B-4919-864A-A81A66C4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 i="0">
                <a:solidFill>
                  <a:srgbClr val="5F6F79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5F6F79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panel-1">
            <a:extLst xmlns:a="http://schemas.openxmlformats.org/drawingml/2006/main">
              <a:ext uri="{FF2B5EF4-FFF2-40B4-BE49-F238E27FC236}">
                <a16:creationId xmlns:a16="http://schemas.microsoft.com/office/drawing/2014/main" id="{5AD59FE9-8E16-467B-9D27-1E2677B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8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E76D6-02A0-46C2-97D8-A95360F2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176B91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76B91"/>
                </a:solidFill>
                <a:latin typeface="Aptos"/>
                <a:ea typeface="Aptos"/>
                <a:cs typeface="Aptos"/>
              </a:rPr>
              <a:t>BABE RUTH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D769D-853E-4368-A2BA-0CA9C4CC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176B91"/>
                </a:solidFill>
                <a:latin typeface="Georgia"/>
                <a:ea typeface="Georgia"/>
                <a:cs typeface="Georgia"/>
              </a:rPr>
              <a:t>Great at two roles—more valuable in 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C776E9-B2C2-433D-A67B-7E842BDC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The relevant question is not whether Ruth could pitch, but whether pitching displaced an even more valuable use of his time and talent.</a:t>
            </a:r>
          </a:p>
        </p:txBody>
      </p:sp>
      <p:sp>
        <p:nvSpPr>
          <p:cNvPr id="10" name="panel-2">
            <a:extLst xmlns:a="http://schemas.openxmlformats.org/drawingml/2006/main">
              <a:ext uri="{FF2B5EF4-FFF2-40B4-BE49-F238E27FC236}">
                <a16:creationId xmlns:a16="http://schemas.microsoft.com/office/drawing/2014/main" id="{751C9C23-AA92-4330-8BA1-B2FC8051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314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EF"/>
          </a:solidFill>
          <a:ln xmlns:a="http://schemas.openxmlformats.org/drawingml/2006/main" w="9525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0303AE-F59F-4CF3-8D71-249C3F7F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4F8F73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4F8F73"/>
                </a:solidFill>
                <a:latin typeface="Aptos"/>
                <a:ea typeface="Aptos"/>
                <a:cs typeface="Aptos"/>
              </a:rPr>
              <a:t>SHOHEI OHTANI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2E04F7-A508-4372-AF5C-2EB06934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4857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4F8F73"/>
                </a:solidFill>
                <a:latin typeface="Georgia"/>
                <a:ea typeface="Georgia"/>
                <a:cs typeface="Georgia"/>
              </a:rPr>
              <a:t>Technology and talent can change the trade-off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E77C1-0E65-4CE4-B78A-455EFCFB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781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Ohtani's two-way success shows that specialization is a prediction based on opportunity cost, not a universal rule that forbids dual production.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11171D-DC52-4A1C-826B-B5DB6462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483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Comparative advantage is useful here as an application—not a trade-theory detour.</a:t>
            </a:r>
          </a:p>
        </p:txBody>
      </p:sp>
    </p:spTree>
    <p:extLst>
      <p:ext uri="{BB962C8B-B14F-4D97-AF65-F5344CB8AC3E}">
        <p14:creationId xmlns:p14="http://schemas.microsoft.com/office/powerpoint/2010/main" val="41490858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2CD63-69A9-41E6-A7C5-A5FC10B4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the playbook before drawing a conclusion</a:t>
            </a:r>
          </a:p>
        </p:txBody>
      </p:sp>
      <p:sp>
        <p:nvSpPr>
          <p:cNvPr id="2" name="bullet-mark-1">
            <a:extLst xmlns:a="http://schemas.openxmlformats.org/drawingml/2006/main">
              <a:ext uri="{FF2B5EF4-FFF2-40B4-BE49-F238E27FC236}">
                <a16:creationId xmlns:a16="http://schemas.microsoft.com/office/drawing/2014/main" id="{49A63365-0D5D-4B30-860C-18CB7A05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022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90995AF3-1AED-45DD-B73A-ED6DA874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09750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Start with incentives, alternatives, and ceteris paribus.</a:t>
            </a:r>
          </a:p>
        </p:txBody>
      </p:sp>
      <p:sp>
        <p:nvSpPr>
          <p:cNvPr id="4" name="bullet-mark-2">
            <a:extLst xmlns:a="http://schemas.openxmlformats.org/drawingml/2006/main">
              <a:ext uri="{FF2B5EF4-FFF2-40B4-BE49-F238E27FC236}">
                <a16:creationId xmlns:a16="http://schemas.microsoft.com/office/drawing/2014/main" id="{3AC08ACF-E74B-4477-BC8E-D4D82DE2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76FDB0A1-D10B-4F8D-9495-23443104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28875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Separate movements along curves from shifts of curves.</a:t>
            </a:r>
          </a:p>
        </p:txBody>
      </p:sp>
      <p:sp>
        <p:nvSpPr>
          <p:cNvPr id="6" name="bullet-mark-3">
            <a:extLst xmlns:a="http://schemas.openxmlformats.org/drawingml/2006/main">
              <a:ext uri="{FF2B5EF4-FFF2-40B4-BE49-F238E27FC236}">
                <a16:creationId xmlns:a16="http://schemas.microsoft.com/office/drawing/2014/main" id="{6C02C4BC-F932-4A48-B896-405F816C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38475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bullet-3">
            <a:extLst xmlns:a="http://schemas.openxmlformats.org/drawingml/2006/main">
              <a:ext uri="{FF2B5EF4-FFF2-40B4-BE49-F238E27FC236}">
                <a16:creationId xmlns:a16="http://schemas.microsoft.com/office/drawing/2014/main" id="{09C56B23-3306-4587-9512-4B942C3E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48000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equilibrium to identify the market-clearing outcome.</a:t>
            </a:r>
          </a:p>
        </p:txBody>
      </p:sp>
      <p:sp>
        <p:nvSpPr>
          <p:cNvPr id="8" name="bullet-mark-4">
            <a:extLst xmlns:a="http://schemas.openxmlformats.org/drawingml/2006/main">
              <a:ext uri="{FF2B5EF4-FFF2-40B4-BE49-F238E27FC236}">
                <a16:creationId xmlns:a16="http://schemas.microsoft.com/office/drawing/2014/main" id="{9E774001-66F4-4335-B6E5-A01E4095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22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C6532D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C6532D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bullet-4">
            <a:extLst xmlns:a="http://schemas.openxmlformats.org/drawingml/2006/main">
              <a:ext uri="{FF2B5EF4-FFF2-40B4-BE49-F238E27FC236}">
                <a16:creationId xmlns:a16="http://schemas.microsoft.com/office/drawing/2014/main" id="{E9143C11-A42D-42B3-979E-B54EA658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67125"/>
            <a:ext cx="920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1D2A33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1D2A33"/>
                </a:solidFill>
                <a:latin typeface="Aptos"/>
                <a:ea typeface="Aptos"/>
                <a:cs typeface="Aptos"/>
              </a:rPr>
              <a:t>Use elasticity to measure—not merely label—responsiveness.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7CD99-46DE-4714-BFD3-9B2B9C58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12455E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2455E"/>
                </a:solidFill>
                <a:latin typeface="Aptos"/>
                <a:ea typeface="Aptos"/>
                <a:cs typeface="Aptos"/>
              </a:rPr>
              <a:t>Next: surplus, price controls, taxes, externalities, and policy analysis.</a:t>
            </a:r>
          </a:p>
        </p:txBody>
      </p:sp>
    </p:spTree>
    <p:extLst>
      <p:ext uri="{BB962C8B-B14F-4D97-AF65-F5344CB8AC3E}">
        <p14:creationId xmlns:p14="http://schemas.microsoft.com/office/powerpoint/2010/main" val="925768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2026-08-28T16:44:20.6600000Z</dcterms:created>
  <dcterms:modified xsi:type="dcterms:W3CDTF">2026-08-28T16:44:20.6600000Z</dcterms:modified>
</coreProperties>
</file>