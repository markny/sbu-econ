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562fc1df6b4301" /><Relationship Type="http://schemas.openxmlformats.org/officeDocument/2006/relationships/extended-properties" Target="/docProps/app.xml" Id="R0bf8ee5545dd4428" /><Relationship Type="http://schemas.openxmlformats.org/officeDocument/2006/relationships/officeDocument" Target="/ppt/presentation.xml" Id="R69f4fd83e239403c" /></Relationships>
</file>

<file path=ppt/presentation.xml><?xml version="1.0" encoding="utf-8"?>
<p:presentation xmlns:p="http://schemas.openxmlformats.org/presentationml/2006/main">
  <p:sldMasterIdLst>
    <p:sldMasterId xmlns:r="http://schemas.openxmlformats.org/officeDocument/2006/relationships" id="2147483648" r:id="R85b9162cb2a04b84"/>
  </p:sldMasterIdLst>
  <p:notesMasterIdLst>
    <p:notesMasterId xmlns:r="http://schemas.openxmlformats.org/officeDocument/2006/relationships" r:id="R3e38a254f8c841c1"/>
  </p:notesMasterIdLst>
  <p:sldIdLst>
    <p:sldId xmlns:r="http://schemas.openxmlformats.org/officeDocument/2006/relationships" id="256" r:id="R709ade6407d44e4e"/>
    <p:sldId xmlns:r="http://schemas.openxmlformats.org/officeDocument/2006/relationships" id="257" r:id="R08141e7c8c55451d"/>
    <p:sldId xmlns:r="http://schemas.openxmlformats.org/officeDocument/2006/relationships" id="258" r:id="Rc65530bd5c4d41af"/>
    <p:sldId xmlns:r="http://schemas.openxmlformats.org/officeDocument/2006/relationships" id="259" r:id="R458c1e84c3784f3b"/>
    <p:sldId xmlns:r="http://schemas.openxmlformats.org/officeDocument/2006/relationships" id="260" r:id="R5343d23d12bb4e9f"/>
    <p:sldId xmlns:r="http://schemas.openxmlformats.org/officeDocument/2006/relationships" id="261" r:id="R286e333a3519405e"/>
    <p:sldId xmlns:r="http://schemas.openxmlformats.org/officeDocument/2006/relationships" id="262" r:id="Red4a86870d524887"/>
    <p:sldId xmlns:r="http://schemas.openxmlformats.org/officeDocument/2006/relationships" id="263" r:id="Rd4dafe99021d4286"/>
    <p:sldId xmlns:r="http://schemas.openxmlformats.org/officeDocument/2006/relationships" id="264" r:id="Rd1c1a49f5ba04e6d"/>
    <p:sldId xmlns:r="http://schemas.openxmlformats.org/officeDocument/2006/relationships" id="265" r:id="R69a138f1804b40b3"/>
    <p:sldId xmlns:r="http://schemas.openxmlformats.org/officeDocument/2006/relationships" id="266" r:id="R2a79682746764183"/>
    <p:sldId xmlns:r="http://schemas.openxmlformats.org/officeDocument/2006/relationships" id="267" r:id="R06aa166ad8b64db4"/>
    <p:sldId xmlns:r="http://schemas.openxmlformats.org/officeDocument/2006/relationships" id="268" r:id="R49fc9f007cef454b"/>
    <p:sldId xmlns:r="http://schemas.openxmlformats.org/officeDocument/2006/relationships" id="269" r:id="R2cae2a162c6e4986"/>
    <p:sldId xmlns:r="http://schemas.openxmlformats.org/officeDocument/2006/relationships" id="270" r:id="R81174b55edd644b8"/>
    <p:sldId xmlns:r="http://schemas.openxmlformats.org/officeDocument/2006/relationships" id="271" r:id="R3dbce4790e264b68"/>
    <p:sldId xmlns:r="http://schemas.openxmlformats.org/officeDocument/2006/relationships" id="272" r:id="R8d46d0e13fbc43f1"/>
    <p:sldId xmlns:r="http://schemas.openxmlformats.org/officeDocument/2006/relationships" id="273" r:id="R0e9704f22c07433f"/>
    <p:sldId xmlns:r="http://schemas.openxmlformats.org/officeDocument/2006/relationships" id="274" r:id="Rca209484f6ed4fb2"/>
    <p:sldId xmlns:r="http://schemas.openxmlformats.org/officeDocument/2006/relationships" id="275" r:id="Rac1964377ac6460e"/>
    <p:sldId xmlns:r="http://schemas.openxmlformats.org/officeDocument/2006/relationships" id="276" r:id="Rf4620f2bbb3049e3"/>
    <p:sldId xmlns:r="http://schemas.openxmlformats.org/officeDocument/2006/relationships" id="277" r:id="Re9523e23df844a7b"/>
    <p:sldId xmlns:r="http://schemas.openxmlformats.org/officeDocument/2006/relationships" id="278" r:id="Re1d513b13d054173"/>
    <p:sldId xmlns:r="http://schemas.openxmlformats.org/officeDocument/2006/relationships" id="279" r:id="R908de3f32c6e4e43"/>
    <p:sldId xmlns:r="http://schemas.openxmlformats.org/officeDocument/2006/relationships" id="280" r:id="R452a727fb94c4e03"/>
    <p:sldId xmlns:r="http://schemas.openxmlformats.org/officeDocument/2006/relationships" id="281" r:id="Rf3d42843b2764259"/>
    <p:sldId xmlns:r="http://schemas.openxmlformats.org/officeDocument/2006/relationships" id="282" r:id="R393ab3df4f144b55"/>
    <p:sldId xmlns:r="http://schemas.openxmlformats.org/officeDocument/2006/relationships" id="283" r:id="Ref5561e3ae3f4803"/>
    <p:sldId xmlns:r="http://schemas.openxmlformats.org/officeDocument/2006/relationships" id="284" r:id="R464b7636779c4341"/>
    <p:sldId xmlns:r="http://schemas.openxmlformats.org/officeDocument/2006/relationships" id="285" r:id="Rec78e9897a8046a4"/>
    <p:sldId xmlns:r="http://schemas.openxmlformats.org/officeDocument/2006/relationships" id="286" r:id="R234b7a2a81344e54"/>
    <p:sldId xmlns:r="http://schemas.openxmlformats.org/officeDocument/2006/relationships" id="287" r:id="R452bb12a90ec4ac4"/>
    <p:sldId xmlns:r="http://schemas.openxmlformats.org/officeDocument/2006/relationships" id="288" r:id="Ra6e9363932a04247"/>
    <p:sldId xmlns:r="http://schemas.openxmlformats.org/officeDocument/2006/relationships" id="289" r:id="R64b61cfd74fd42cb"/>
    <p:sldId xmlns:r="http://schemas.openxmlformats.org/officeDocument/2006/relationships" id="290" r:id="R31da6bf7c843463a"/>
    <p:sldId xmlns:r="http://schemas.openxmlformats.org/officeDocument/2006/relationships" id="291" r:id="R55b669da90ec4587"/>
    <p:sldId xmlns:r="http://schemas.openxmlformats.org/officeDocument/2006/relationships" id="292" r:id="R90e60c0d228346bd"/>
    <p:sldId xmlns:r="http://schemas.openxmlformats.org/officeDocument/2006/relationships" id="293" r:id="R9acd64bbdf234290"/>
    <p:sldId xmlns:r="http://schemas.openxmlformats.org/officeDocument/2006/relationships" id="294" r:id="R49640f4d63934842"/>
    <p:sldId xmlns:r="http://schemas.openxmlformats.org/officeDocument/2006/relationships" id="295" r:id="Rd149843250c24565"/>
    <p:sldId xmlns:r="http://schemas.openxmlformats.org/officeDocument/2006/relationships" id="296" r:id="Rd79ed84af1d34082"/>
    <p:sldId xmlns:r="http://schemas.openxmlformats.org/officeDocument/2006/relationships" id="297" r:id="R9585221a4c914b23"/>
    <p:sldId xmlns:r="http://schemas.openxmlformats.org/officeDocument/2006/relationships" id="298" r:id="Re5dc633c3e1d4040"/>
    <p:sldId xmlns:r="http://schemas.openxmlformats.org/officeDocument/2006/relationships" id="299" r:id="R8ed390113b5f4916"/>
    <p:sldId xmlns:r="http://schemas.openxmlformats.org/officeDocument/2006/relationships" id="300" r:id="R45235e672c034b45"/>
    <p:sldId xmlns:r="http://schemas.openxmlformats.org/officeDocument/2006/relationships" id="301" r:id="Raecd0db8b9eb418b"/>
    <p:sldId xmlns:r="http://schemas.openxmlformats.org/officeDocument/2006/relationships" id="302" r:id="Rb3d3ffdc471c4449"/>
    <p:sldId xmlns:r="http://schemas.openxmlformats.org/officeDocument/2006/relationships" id="303" r:id="R4d993f4cd2564d43"/>
    <p:sldId xmlns:r="http://schemas.openxmlformats.org/officeDocument/2006/relationships" id="304" r:id="R5b23771912ee43f0"/>
    <p:sldId xmlns:r="http://schemas.openxmlformats.org/officeDocument/2006/relationships" id="305" r:id="R5eef67be148643c5"/>
    <p:sldId xmlns:r="http://schemas.openxmlformats.org/officeDocument/2006/relationships" id="306" r:id="R54f740a92ed5479d"/>
    <p:sldId xmlns:r="http://schemas.openxmlformats.org/officeDocument/2006/relationships" id="307" r:id="Rc1cf0ea2175c4f5b"/>
    <p:sldId xmlns:r="http://schemas.openxmlformats.org/officeDocument/2006/relationships" id="308" r:id="Re3a5ddb932d54886"/>
    <p:sldId xmlns:r="http://schemas.openxmlformats.org/officeDocument/2006/relationships" id="309" r:id="R652bd130e28f4e08"/>
    <p:sldId xmlns:r="http://schemas.openxmlformats.org/officeDocument/2006/relationships" id="310" r:id="R94c010c324594c58"/>
    <p:sldId xmlns:r="http://schemas.openxmlformats.org/officeDocument/2006/relationships" id="311" r:id="Re855ad8bd31e4900"/>
    <p:sldId xmlns:r="http://schemas.openxmlformats.org/officeDocument/2006/relationships" id="312" r:id="Rc992ea55dcb04857"/>
    <p:sldId xmlns:r="http://schemas.openxmlformats.org/officeDocument/2006/relationships" id="313" r:id="Rbaa93e686a93435a"/>
    <p:sldId xmlns:r="http://schemas.openxmlformats.org/officeDocument/2006/relationships" id="314" r:id="R8820704eafcd4adb"/>
    <p:sldId xmlns:r="http://schemas.openxmlformats.org/officeDocument/2006/relationships" id="315" r:id="R2abba5471dfd452e"/>
    <p:sldId xmlns:r="http://schemas.openxmlformats.org/officeDocument/2006/relationships" id="316" r:id="Re0413156deb048e6"/>
    <p:sldId xmlns:r="http://schemas.openxmlformats.org/officeDocument/2006/relationships" id="317" r:id="Rca0c7c0f59b04a28"/>
    <p:sldId xmlns:r="http://schemas.openxmlformats.org/officeDocument/2006/relationships" id="318" r:id="R170452193df743c1"/>
    <p:sldId xmlns:r="http://schemas.openxmlformats.org/officeDocument/2006/relationships" id="319" r:id="Rf0a6a2cd47924770"/>
    <p:sldId xmlns:r="http://schemas.openxmlformats.org/officeDocument/2006/relationships" id="320" r:id="Rf7872bec37844119"/>
    <p:sldId xmlns:r="http://schemas.openxmlformats.org/officeDocument/2006/relationships" id="321" r:id="R9a27e360765947fb"/>
    <p:sldId xmlns:r="http://schemas.openxmlformats.org/officeDocument/2006/relationships" id="322" r:id="R515f3c48c819436a"/>
    <p:sldId xmlns:r="http://schemas.openxmlformats.org/officeDocument/2006/relationships" id="323" r:id="Rffafbc6dadcf4114"/>
    <p:sldId xmlns:r="http://schemas.openxmlformats.org/officeDocument/2006/relationships" id="324" r:id="Rf3a4d0f764bb4cb6"/>
    <p:sldId xmlns:r="http://schemas.openxmlformats.org/officeDocument/2006/relationships" id="325" r:id="R05f3b241f99b4a7c"/>
    <p:sldId xmlns:r="http://schemas.openxmlformats.org/officeDocument/2006/relationships" id="326" r:id="Rdb691fe843e341e7"/>
    <p:sldId xmlns:r="http://schemas.openxmlformats.org/officeDocument/2006/relationships" id="327" r:id="R92609e99201d44dd"/>
    <p:sldId xmlns:r="http://schemas.openxmlformats.org/officeDocument/2006/relationships" id="328" r:id="R1ef98b5e953d4f6f"/>
    <p:sldId xmlns:r="http://schemas.openxmlformats.org/officeDocument/2006/relationships" id="329" r:id="R35a04eaed1304c76"/>
    <p:sldId xmlns:r="http://schemas.openxmlformats.org/officeDocument/2006/relationships" id="330" r:id="Rd3c9494f40b44c88"/>
    <p:sldId xmlns:r="http://schemas.openxmlformats.org/officeDocument/2006/relationships" id="331" r:id="R04b2d05bc62145ab"/>
    <p:sldId xmlns:r="http://schemas.openxmlformats.org/officeDocument/2006/relationships" id="332" r:id="R306253537bf945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55b3bb25a54896" /><Relationship Type="http://schemas.openxmlformats.org/officeDocument/2006/relationships/slideMaster" Target="/ppt/slideMasters/slideMaster1.xml" Id="R85b9162cb2a04b84" /><Relationship Type="http://schemas.openxmlformats.org/officeDocument/2006/relationships/notesMaster" Target="/ppt/notesMasters/notesMaster1.xml" Id="R3e38a254f8c841c1" /><Relationship Type="http://schemas.openxmlformats.org/officeDocument/2006/relationships/presProps" Target="/ppt/presProps.xml" Id="Ra5336c8d11b14f6f" /><Relationship Type="http://schemas.openxmlformats.org/officeDocument/2006/relationships/tableStyles" Target="/ppt/tableStyles.xml" Id="R42928ea94d0f42f8" /><Relationship Type="http://schemas.openxmlformats.org/officeDocument/2006/relationships/slide" Target="/ppt/slides/slide1.xml" Id="R709ade6407d44e4e" /><Relationship Type="http://schemas.openxmlformats.org/officeDocument/2006/relationships/slide" Target="/ppt/slides/slide2.xml" Id="R08141e7c8c55451d" /><Relationship Type="http://schemas.openxmlformats.org/officeDocument/2006/relationships/slide" Target="/ppt/slides/slide3.xml" Id="Rc65530bd5c4d41af" /><Relationship Type="http://schemas.openxmlformats.org/officeDocument/2006/relationships/slide" Target="/ppt/slides/slide4.xml" Id="R458c1e84c3784f3b" /><Relationship Type="http://schemas.openxmlformats.org/officeDocument/2006/relationships/slide" Target="/ppt/slides/slide5.xml" Id="R5343d23d12bb4e9f" /><Relationship Type="http://schemas.openxmlformats.org/officeDocument/2006/relationships/slide" Target="/ppt/slides/slide6.xml" Id="R286e333a3519405e" /><Relationship Type="http://schemas.openxmlformats.org/officeDocument/2006/relationships/slide" Target="/ppt/slides/slide7.xml" Id="Red4a86870d524887" /><Relationship Type="http://schemas.openxmlformats.org/officeDocument/2006/relationships/slide" Target="/ppt/slides/slide8.xml" Id="Rd4dafe99021d4286" /><Relationship Type="http://schemas.openxmlformats.org/officeDocument/2006/relationships/slide" Target="/ppt/slides/slide9.xml" Id="Rd1c1a49f5ba04e6d" /><Relationship Type="http://schemas.openxmlformats.org/officeDocument/2006/relationships/slide" Target="/ppt/slides/slide10.xml" Id="R69a138f1804b40b3" /><Relationship Type="http://schemas.openxmlformats.org/officeDocument/2006/relationships/slide" Target="/ppt/slides/slide11.xml" Id="R2a79682746764183" /><Relationship Type="http://schemas.openxmlformats.org/officeDocument/2006/relationships/slide" Target="/ppt/slides/slide12.xml" Id="R06aa166ad8b64db4" /><Relationship Type="http://schemas.openxmlformats.org/officeDocument/2006/relationships/slide" Target="/ppt/slides/slide13.xml" Id="R49fc9f007cef454b" /><Relationship Type="http://schemas.openxmlformats.org/officeDocument/2006/relationships/slide" Target="/ppt/slides/slide14.xml" Id="R2cae2a162c6e4986" /><Relationship Type="http://schemas.openxmlformats.org/officeDocument/2006/relationships/slide" Target="/ppt/slides/slide15.xml" Id="R81174b55edd644b8" /><Relationship Type="http://schemas.openxmlformats.org/officeDocument/2006/relationships/slide" Target="/ppt/slides/slide16.xml" Id="R3dbce4790e264b68" /><Relationship Type="http://schemas.openxmlformats.org/officeDocument/2006/relationships/slide" Target="/ppt/slides/slide17.xml" Id="R8d46d0e13fbc43f1" /><Relationship Type="http://schemas.openxmlformats.org/officeDocument/2006/relationships/slide" Target="/ppt/slides/slide18.xml" Id="R0e9704f22c07433f" /><Relationship Type="http://schemas.openxmlformats.org/officeDocument/2006/relationships/slide" Target="/ppt/slides/slide19.xml" Id="Rca209484f6ed4fb2" /><Relationship Type="http://schemas.openxmlformats.org/officeDocument/2006/relationships/slide" Target="/ppt/slides/slide20.xml" Id="Rac1964377ac6460e" /><Relationship Type="http://schemas.openxmlformats.org/officeDocument/2006/relationships/slide" Target="/ppt/slides/slide21.xml" Id="Rf4620f2bbb3049e3" /><Relationship Type="http://schemas.openxmlformats.org/officeDocument/2006/relationships/slide" Target="/ppt/slides/slide22.xml" Id="Re9523e23df844a7b" /><Relationship Type="http://schemas.openxmlformats.org/officeDocument/2006/relationships/slide" Target="/ppt/slides/slide23.xml" Id="Re1d513b13d054173" /><Relationship Type="http://schemas.openxmlformats.org/officeDocument/2006/relationships/slide" Target="/ppt/slides/slide24.xml" Id="R908de3f32c6e4e43" /><Relationship Type="http://schemas.openxmlformats.org/officeDocument/2006/relationships/slide" Target="/ppt/slides/slide25.xml" Id="R452a727fb94c4e03" /><Relationship Type="http://schemas.openxmlformats.org/officeDocument/2006/relationships/slide" Target="/ppt/slides/slide26.xml" Id="Rf3d42843b2764259" /><Relationship Type="http://schemas.openxmlformats.org/officeDocument/2006/relationships/slide" Target="/ppt/slides/slide27.xml" Id="R393ab3df4f144b55" /><Relationship Type="http://schemas.openxmlformats.org/officeDocument/2006/relationships/slide" Target="/ppt/slides/slide28.xml" Id="Ref5561e3ae3f4803" /><Relationship Type="http://schemas.openxmlformats.org/officeDocument/2006/relationships/slide" Target="/ppt/slides/slide29.xml" Id="R464b7636779c4341" /><Relationship Type="http://schemas.openxmlformats.org/officeDocument/2006/relationships/slide" Target="/ppt/slides/slide30.xml" Id="Rec78e9897a8046a4" /><Relationship Type="http://schemas.openxmlformats.org/officeDocument/2006/relationships/slide" Target="/ppt/slides/slide31.xml" Id="R234b7a2a81344e54" /><Relationship Type="http://schemas.openxmlformats.org/officeDocument/2006/relationships/slide" Target="/ppt/slides/slide32.xml" Id="R452bb12a90ec4ac4" /><Relationship Type="http://schemas.openxmlformats.org/officeDocument/2006/relationships/slide" Target="/ppt/slides/slide33.xml" Id="Ra6e9363932a04247" /><Relationship Type="http://schemas.openxmlformats.org/officeDocument/2006/relationships/slide" Target="/ppt/slides/slide34.xml" Id="R64b61cfd74fd42cb" /><Relationship Type="http://schemas.openxmlformats.org/officeDocument/2006/relationships/slide" Target="/ppt/slides/slide35.xml" Id="R31da6bf7c843463a" /><Relationship Type="http://schemas.openxmlformats.org/officeDocument/2006/relationships/slide" Target="/ppt/slides/slide36.xml" Id="R55b669da90ec4587" /><Relationship Type="http://schemas.openxmlformats.org/officeDocument/2006/relationships/slide" Target="/ppt/slides/slide37.xml" Id="R90e60c0d228346bd" /><Relationship Type="http://schemas.openxmlformats.org/officeDocument/2006/relationships/slide" Target="/ppt/slides/slide38.xml" Id="R9acd64bbdf234290" /><Relationship Type="http://schemas.openxmlformats.org/officeDocument/2006/relationships/slide" Target="/ppt/slides/slide39.xml" Id="R49640f4d63934842" /><Relationship Type="http://schemas.openxmlformats.org/officeDocument/2006/relationships/slide" Target="/ppt/slides/slide40.xml" Id="Rd149843250c24565" /><Relationship Type="http://schemas.openxmlformats.org/officeDocument/2006/relationships/slide" Target="/ppt/slides/slide41.xml" Id="Rd79ed84af1d34082" /><Relationship Type="http://schemas.openxmlformats.org/officeDocument/2006/relationships/slide" Target="/ppt/slides/slide42.xml" Id="R9585221a4c914b23" /><Relationship Type="http://schemas.openxmlformats.org/officeDocument/2006/relationships/slide" Target="/ppt/slides/slide43.xml" Id="Re5dc633c3e1d4040" /><Relationship Type="http://schemas.openxmlformats.org/officeDocument/2006/relationships/slide" Target="/ppt/slides/slide44.xml" Id="R8ed390113b5f4916" /><Relationship Type="http://schemas.openxmlformats.org/officeDocument/2006/relationships/slide" Target="/ppt/slides/slide45.xml" Id="R45235e672c034b45" /><Relationship Type="http://schemas.openxmlformats.org/officeDocument/2006/relationships/slide" Target="/ppt/slides/slide46.xml" Id="Raecd0db8b9eb418b" /><Relationship Type="http://schemas.openxmlformats.org/officeDocument/2006/relationships/slide" Target="/ppt/slides/slide47.xml" Id="Rb3d3ffdc471c4449" /><Relationship Type="http://schemas.openxmlformats.org/officeDocument/2006/relationships/slide" Target="/ppt/slides/slide48.xml" Id="R4d993f4cd2564d43" /><Relationship Type="http://schemas.openxmlformats.org/officeDocument/2006/relationships/slide" Target="/ppt/slides/slide49.xml" Id="R5b23771912ee43f0" /><Relationship Type="http://schemas.openxmlformats.org/officeDocument/2006/relationships/slide" Target="/ppt/slides/slide50.xml" Id="R5eef67be148643c5" /><Relationship Type="http://schemas.openxmlformats.org/officeDocument/2006/relationships/slide" Target="/ppt/slides/slide51.xml" Id="R54f740a92ed5479d" /><Relationship Type="http://schemas.openxmlformats.org/officeDocument/2006/relationships/slide" Target="/ppt/slides/slide52.xml" Id="Rc1cf0ea2175c4f5b" /><Relationship Type="http://schemas.openxmlformats.org/officeDocument/2006/relationships/slide" Target="/ppt/slides/slide53.xml" Id="Re3a5ddb932d54886" /><Relationship Type="http://schemas.openxmlformats.org/officeDocument/2006/relationships/slide" Target="/ppt/slides/slide54.xml" Id="R652bd130e28f4e08" /><Relationship Type="http://schemas.openxmlformats.org/officeDocument/2006/relationships/slide" Target="/ppt/slides/slide55.xml" Id="R94c010c324594c58" /><Relationship Type="http://schemas.openxmlformats.org/officeDocument/2006/relationships/slide" Target="/ppt/slides/slide56.xml" Id="Re855ad8bd31e4900" /><Relationship Type="http://schemas.openxmlformats.org/officeDocument/2006/relationships/slide" Target="/ppt/slides/slide57.xml" Id="Rc992ea55dcb04857" /><Relationship Type="http://schemas.openxmlformats.org/officeDocument/2006/relationships/slide" Target="/ppt/slides/slide58.xml" Id="Rbaa93e686a93435a" /><Relationship Type="http://schemas.openxmlformats.org/officeDocument/2006/relationships/slide" Target="/ppt/slides/slide59.xml" Id="R8820704eafcd4adb" /><Relationship Type="http://schemas.openxmlformats.org/officeDocument/2006/relationships/slide" Target="/ppt/slides/slide60.xml" Id="R2abba5471dfd452e" /><Relationship Type="http://schemas.openxmlformats.org/officeDocument/2006/relationships/slide" Target="/ppt/slides/slide61.xml" Id="Re0413156deb048e6" /><Relationship Type="http://schemas.openxmlformats.org/officeDocument/2006/relationships/slide" Target="/ppt/slides/slide62.xml" Id="Rca0c7c0f59b04a28" /><Relationship Type="http://schemas.openxmlformats.org/officeDocument/2006/relationships/slide" Target="/ppt/slides/slide63.xml" Id="R170452193df743c1" /><Relationship Type="http://schemas.openxmlformats.org/officeDocument/2006/relationships/slide" Target="/ppt/slides/slide64.xml" Id="Rf0a6a2cd47924770" /><Relationship Type="http://schemas.openxmlformats.org/officeDocument/2006/relationships/slide" Target="/ppt/slides/slide65.xml" Id="Rf7872bec37844119" /><Relationship Type="http://schemas.openxmlformats.org/officeDocument/2006/relationships/slide" Target="/ppt/slides/slide66.xml" Id="R9a27e360765947fb" /><Relationship Type="http://schemas.openxmlformats.org/officeDocument/2006/relationships/slide" Target="/ppt/slides/slide67.xml" Id="R515f3c48c819436a" /><Relationship Type="http://schemas.openxmlformats.org/officeDocument/2006/relationships/slide" Target="/ppt/slides/slide68.xml" Id="Rffafbc6dadcf4114" /><Relationship Type="http://schemas.openxmlformats.org/officeDocument/2006/relationships/slide" Target="/ppt/slides/slide69.xml" Id="Rf3a4d0f764bb4cb6" /><Relationship Type="http://schemas.openxmlformats.org/officeDocument/2006/relationships/slide" Target="/ppt/slides/slide70.xml" Id="R05f3b241f99b4a7c" /><Relationship Type="http://schemas.openxmlformats.org/officeDocument/2006/relationships/slide" Target="/ppt/slides/slide71.xml" Id="Rdb691fe843e341e7" /><Relationship Type="http://schemas.openxmlformats.org/officeDocument/2006/relationships/slide" Target="/ppt/slides/slide72.xml" Id="R92609e99201d44dd" /><Relationship Type="http://schemas.openxmlformats.org/officeDocument/2006/relationships/slide" Target="/ppt/slides/slide73.xml" Id="R1ef98b5e953d4f6f" /><Relationship Type="http://schemas.openxmlformats.org/officeDocument/2006/relationships/slide" Target="/ppt/slides/slide74.xml" Id="R35a04eaed1304c76" /><Relationship Type="http://schemas.openxmlformats.org/officeDocument/2006/relationships/slide" Target="/ppt/slides/slide75.xml" Id="Rd3c9494f40b44c88" /><Relationship Type="http://schemas.openxmlformats.org/officeDocument/2006/relationships/slide" Target="/ppt/slides/slide76.xml" Id="R04b2d05bc62145ab" /><Relationship Type="http://schemas.openxmlformats.org/officeDocument/2006/relationships/slide" Target="/ppt/slides/slide77.xml" Id="R306253537bf945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f76ebdc9cb47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11e02c5b164f09" /><Relationship Type="http://schemas.openxmlformats.org/officeDocument/2006/relationships/notesMaster" Target="/ppt/notesMasters/notesMaster1.xml" Id="R511e9df226414a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f7e4961c244ed3" /><Relationship Type="http://schemas.openxmlformats.org/officeDocument/2006/relationships/notesMaster" Target="/ppt/notesMasters/notesMaster1.xml" Id="R141110c4982f4d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20e5716f204ece" /><Relationship Type="http://schemas.openxmlformats.org/officeDocument/2006/relationships/notesMaster" Target="/ppt/notesMasters/notesMaster1.xml" Id="R172d227c305049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b8fb35674e46fb" /><Relationship Type="http://schemas.openxmlformats.org/officeDocument/2006/relationships/notesMaster" Target="/ppt/notesMasters/notesMaster1.xml" Id="R4c2054e845a749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e762921c964139" /><Relationship Type="http://schemas.openxmlformats.org/officeDocument/2006/relationships/notesMaster" Target="/ppt/notesMasters/notesMaster1.xml" Id="Re0d9786f50a041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40739474654a51" /><Relationship Type="http://schemas.openxmlformats.org/officeDocument/2006/relationships/notesMaster" Target="/ppt/notesMasters/notesMaster1.xml" Id="R00c1ad6b6e0447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84f2ffd26b44e6" /><Relationship Type="http://schemas.openxmlformats.org/officeDocument/2006/relationships/notesMaster" Target="/ppt/notesMasters/notesMaster1.xml" Id="Rcbe91dce351442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fdb74ce1824530" /><Relationship Type="http://schemas.openxmlformats.org/officeDocument/2006/relationships/notesMaster" Target="/ppt/notesMasters/notesMaster1.xml" Id="R863ad8eb50a342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ed20dec3fb45d4" /><Relationship Type="http://schemas.openxmlformats.org/officeDocument/2006/relationships/notesMaster" Target="/ppt/notesMasters/notesMaster1.xml" Id="R8120e6bfcb1a4e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c26f9b154b49e2" /><Relationship Type="http://schemas.openxmlformats.org/officeDocument/2006/relationships/notesMaster" Target="/ppt/notesMasters/notesMaster1.xml" Id="Rc041be64e4ae4c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be3d580dc144b1" /><Relationship Type="http://schemas.openxmlformats.org/officeDocument/2006/relationships/notesMaster" Target="/ppt/notesMasters/notesMaster1.xml" Id="R3cf944c3e45d49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d4e357f7f04028" /><Relationship Type="http://schemas.openxmlformats.org/officeDocument/2006/relationships/notesMaster" Target="/ppt/notesMasters/notesMaster1.xml" Id="R968646b2a21e44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18bff6bcc64b2f" /><Relationship Type="http://schemas.openxmlformats.org/officeDocument/2006/relationships/notesMaster" Target="/ppt/notesMasters/notesMaster1.xml" Id="Rf8e1290628c445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fa807d936a4346" /><Relationship Type="http://schemas.openxmlformats.org/officeDocument/2006/relationships/notesMaster" Target="/ppt/notesMasters/notesMaster1.xml" Id="R8923eec3ff9943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ce2c2ec49d4a20" /><Relationship Type="http://schemas.openxmlformats.org/officeDocument/2006/relationships/notesMaster" Target="/ppt/notesMasters/notesMaster1.xml" Id="Rc6c840ac790a40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4a09077ffea425f" /><Relationship Type="http://schemas.openxmlformats.org/officeDocument/2006/relationships/notesMaster" Target="/ppt/notesMasters/notesMaster1.xml" Id="Ra1b5eed1d48649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b83fc5bfdf4e61" /><Relationship Type="http://schemas.openxmlformats.org/officeDocument/2006/relationships/notesMaster" Target="/ppt/notesMasters/notesMaster1.xml" Id="R3a5e5cdc81b241e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5547df01ba4dce" /><Relationship Type="http://schemas.openxmlformats.org/officeDocument/2006/relationships/notesMaster" Target="/ppt/notesMasters/notesMaster1.xml" Id="Rff0bea2a220d4b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e8029c8ae3b4e20" /><Relationship Type="http://schemas.openxmlformats.org/officeDocument/2006/relationships/notesMaster" Target="/ppt/notesMasters/notesMaster1.xml" Id="R1e7d20b0d326462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f399e36c13d45d3" /><Relationship Type="http://schemas.openxmlformats.org/officeDocument/2006/relationships/notesMaster" Target="/ppt/notesMasters/notesMaster1.xml" Id="Ra3d8c04e43e8447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321fecb7f74b4f" /><Relationship Type="http://schemas.openxmlformats.org/officeDocument/2006/relationships/notesMaster" Target="/ppt/notesMasters/notesMaster1.xml" Id="R46350a9d8c14430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ee29d7dff8843eb" /><Relationship Type="http://schemas.openxmlformats.org/officeDocument/2006/relationships/notesMaster" Target="/ppt/notesMasters/notesMaster1.xml" Id="Rfcac060ded3d4d7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63a941bb52d4014" /><Relationship Type="http://schemas.openxmlformats.org/officeDocument/2006/relationships/notesMaster" Target="/ppt/notesMasters/notesMaster1.xml" Id="Rae243640da5e46a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24059c29cfe4b37" /><Relationship Type="http://schemas.openxmlformats.org/officeDocument/2006/relationships/notesMaster" Target="/ppt/notesMasters/notesMaster1.xml" Id="Ra00732069f2c48a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ef318d2d97e4aee" /><Relationship Type="http://schemas.openxmlformats.org/officeDocument/2006/relationships/notesMaster" Target="/ppt/notesMasters/notesMaster1.xml" Id="R757d556d71ad408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84f76344b6c49fc" /><Relationship Type="http://schemas.openxmlformats.org/officeDocument/2006/relationships/notesMaster" Target="/ppt/notesMasters/notesMaster1.xml" Id="Rae83751d5b9246b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6d6bd6562d34228" /><Relationship Type="http://schemas.openxmlformats.org/officeDocument/2006/relationships/notesMaster" Target="/ppt/notesMasters/notesMaster1.xml" Id="R91355e9f5d4f431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e161f70c57b4a94" /><Relationship Type="http://schemas.openxmlformats.org/officeDocument/2006/relationships/notesMaster" Target="/ppt/notesMasters/notesMaster1.xml" Id="R34752d96ab5c4e3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e88c3c023bd444a" /><Relationship Type="http://schemas.openxmlformats.org/officeDocument/2006/relationships/notesMaster" Target="/ppt/notesMasters/notesMaster1.xml" Id="Racbb3aa2b6d242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4c812e39dfd4e7e" /><Relationship Type="http://schemas.openxmlformats.org/officeDocument/2006/relationships/notesMaster" Target="/ppt/notesMasters/notesMaster1.xml" Id="Re533140a9295426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3b8f531de004bf9" /><Relationship Type="http://schemas.openxmlformats.org/officeDocument/2006/relationships/notesMaster" Target="/ppt/notesMasters/notesMaster1.xml" Id="Rebad68c44a674ce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d9f24ba461943f4" /><Relationship Type="http://schemas.openxmlformats.org/officeDocument/2006/relationships/notesMaster" Target="/ppt/notesMasters/notesMaster1.xml" Id="Rc1f4800808d84e7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0d65306ffd74e7f" /><Relationship Type="http://schemas.openxmlformats.org/officeDocument/2006/relationships/notesMaster" Target="/ppt/notesMasters/notesMaster1.xml" Id="R64e4528266c5430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f0bd29e92e941de" /><Relationship Type="http://schemas.openxmlformats.org/officeDocument/2006/relationships/notesMaster" Target="/ppt/notesMasters/notesMaster1.xml" Id="R34f1273e6acb48a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a93ac358cac47a4" /><Relationship Type="http://schemas.openxmlformats.org/officeDocument/2006/relationships/notesMaster" Target="/ppt/notesMasters/notesMaster1.xml" Id="R0bb79f90379f437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db133129ed347ed" /><Relationship Type="http://schemas.openxmlformats.org/officeDocument/2006/relationships/notesMaster" Target="/ppt/notesMasters/notesMaster1.xml" Id="Racfaa799c78e42f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3ea3b181641465d" /><Relationship Type="http://schemas.openxmlformats.org/officeDocument/2006/relationships/notesMaster" Target="/ppt/notesMasters/notesMaster1.xml" Id="Rbe326166a66f40f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0fe019af8ac45bb" /><Relationship Type="http://schemas.openxmlformats.org/officeDocument/2006/relationships/notesMaster" Target="/ppt/notesMasters/notesMaster1.xml" Id="R3e8e0014a6324a6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2e937bfd1a7457f" /><Relationship Type="http://schemas.openxmlformats.org/officeDocument/2006/relationships/notesMaster" Target="/ppt/notesMasters/notesMaster1.xml" Id="R0c6f0c3da4e4426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6e2dea8ea9c4c05" /><Relationship Type="http://schemas.openxmlformats.org/officeDocument/2006/relationships/notesMaster" Target="/ppt/notesMasters/notesMaster1.xml" Id="Ra6c723e8bcc34bd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0e93bdfc1f34f91" /><Relationship Type="http://schemas.openxmlformats.org/officeDocument/2006/relationships/notesMaster" Target="/ppt/notesMasters/notesMaster1.xml" Id="R5577b80f5fc843d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ee9c5912d98453d" /><Relationship Type="http://schemas.openxmlformats.org/officeDocument/2006/relationships/notesMaster" Target="/ppt/notesMasters/notesMaster1.xml" Id="Re535db008ccc4d4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62512768e814092" /><Relationship Type="http://schemas.openxmlformats.org/officeDocument/2006/relationships/notesMaster" Target="/ppt/notesMasters/notesMaster1.xml" Id="R394507485d7d4e4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94c57fc25024029" /><Relationship Type="http://schemas.openxmlformats.org/officeDocument/2006/relationships/notesMaster" Target="/ppt/notesMasters/notesMaster1.xml" Id="R6c7dcc5760ce4da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a1fc4d56e4448ba" /><Relationship Type="http://schemas.openxmlformats.org/officeDocument/2006/relationships/notesMaster" Target="/ppt/notesMasters/notesMaster1.xml" Id="R3cbf4ea47fe04f0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7acb410d9bc4822" /><Relationship Type="http://schemas.openxmlformats.org/officeDocument/2006/relationships/notesMaster" Target="/ppt/notesMasters/notesMaster1.xml" Id="Re7a90e9af18f4b9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42d8a52b65c4e18" /><Relationship Type="http://schemas.openxmlformats.org/officeDocument/2006/relationships/notesMaster" Target="/ppt/notesMasters/notesMaster1.xml" Id="R76ce51a71e03471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afc9eaaf8b047aa" /><Relationship Type="http://schemas.openxmlformats.org/officeDocument/2006/relationships/notesMaster" Target="/ppt/notesMasters/notesMaster1.xml" Id="Rdc63b0921f1143e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e2710881bf748ae" /><Relationship Type="http://schemas.openxmlformats.org/officeDocument/2006/relationships/notesMaster" Target="/ppt/notesMasters/notesMaster1.xml" Id="R2e1c557ccff44c8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cb475962c1e4971" /><Relationship Type="http://schemas.openxmlformats.org/officeDocument/2006/relationships/notesMaster" Target="/ppt/notesMasters/notesMaster1.xml" Id="R60536af1880c4cc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bb1f771f68b4d83" /><Relationship Type="http://schemas.openxmlformats.org/officeDocument/2006/relationships/notesMaster" Target="/ppt/notesMasters/notesMaster1.xml" Id="R742d58eccd20465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323ecd0880b43df" /><Relationship Type="http://schemas.openxmlformats.org/officeDocument/2006/relationships/notesMaster" Target="/ppt/notesMasters/notesMaster1.xml" Id="R5298a49faae4472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d6d5a95bdd34cfc" /><Relationship Type="http://schemas.openxmlformats.org/officeDocument/2006/relationships/notesMaster" Target="/ppt/notesMasters/notesMaster1.xml" Id="Reb352ed9bf854d7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5c2d91616d04ad3" /><Relationship Type="http://schemas.openxmlformats.org/officeDocument/2006/relationships/notesMaster" Target="/ppt/notesMasters/notesMaster1.xml" Id="Rb5620e8beefb423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e74b4cb4f9e47b8" /><Relationship Type="http://schemas.openxmlformats.org/officeDocument/2006/relationships/notesMaster" Target="/ppt/notesMasters/notesMaster1.xml" Id="R207595f67bef4ba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0e1f353df7f4f94" /><Relationship Type="http://schemas.openxmlformats.org/officeDocument/2006/relationships/notesMaster" Target="/ppt/notesMasters/notesMaster1.xml" Id="R7dbc3abc97d8413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1bdf7dac9334461" /><Relationship Type="http://schemas.openxmlformats.org/officeDocument/2006/relationships/notesMaster" Target="/ppt/notesMasters/notesMaster1.xml" Id="Rb07e7f8aca1c48c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a673c4ed1844863" /><Relationship Type="http://schemas.openxmlformats.org/officeDocument/2006/relationships/notesMaster" Target="/ppt/notesMasters/notesMaster1.xml" Id="R267e885e35fc40c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ea84c7be92c436e" /><Relationship Type="http://schemas.openxmlformats.org/officeDocument/2006/relationships/notesMaster" Target="/ppt/notesMasters/notesMaster1.xml" Id="Rabe8e512a6904aa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6c6808c218e40a1" /><Relationship Type="http://schemas.openxmlformats.org/officeDocument/2006/relationships/notesMaster" Target="/ppt/notesMasters/notesMaster1.xml" Id="R4e79a2d41f4744c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d8b5c945c7e44ae" /><Relationship Type="http://schemas.openxmlformats.org/officeDocument/2006/relationships/notesMaster" Target="/ppt/notesMasters/notesMaster1.xml" Id="Reea3affca7fa414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dbe05e9f5374459" /><Relationship Type="http://schemas.openxmlformats.org/officeDocument/2006/relationships/notesMaster" Target="/ppt/notesMasters/notesMaster1.xml" Id="Rf677d4a019e642ec"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66013b7cbf84ace" /><Relationship Type="http://schemas.openxmlformats.org/officeDocument/2006/relationships/notesMaster" Target="/ppt/notesMasters/notesMaster1.xml" Id="Ra3e27bd5160849f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0f872bccfc04769" /><Relationship Type="http://schemas.openxmlformats.org/officeDocument/2006/relationships/notesMaster" Target="/ppt/notesMasters/notesMaster1.xml" Id="Rf4fd49b6f8fe4c5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8491dc9a33384edc" /><Relationship Type="http://schemas.openxmlformats.org/officeDocument/2006/relationships/notesMaster" Target="/ppt/notesMasters/notesMaster1.xml" Id="R5df1fc83ffb04fbc"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09206f40e5d34a21" /><Relationship Type="http://schemas.openxmlformats.org/officeDocument/2006/relationships/notesMaster" Target="/ppt/notesMasters/notesMaster1.xml" Id="R41c99cebf94a4b1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7a7e13b3a954c69" /><Relationship Type="http://schemas.openxmlformats.org/officeDocument/2006/relationships/notesMaster" Target="/ppt/notesMasters/notesMaster1.xml" Id="Reb464b79db0d40d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5628e03927245af" /><Relationship Type="http://schemas.openxmlformats.org/officeDocument/2006/relationships/notesMaster" Target="/ppt/notesMasters/notesMaster1.xml" Id="R215dabbcbd1340ef"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104c9c0843b44d0" /><Relationship Type="http://schemas.openxmlformats.org/officeDocument/2006/relationships/notesMaster" Target="/ppt/notesMasters/notesMaster1.xml" Id="R25bc0fb41e3942a3"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af9d3da448f4134" /><Relationship Type="http://schemas.openxmlformats.org/officeDocument/2006/relationships/notesMaster" Target="/ppt/notesMasters/notesMaster1.xml" Id="Rd9dceb546c984dd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75f2257483746ca" /><Relationship Type="http://schemas.openxmlformats.org/officeDocument/2006/relationships/notesMaster" Target="/ppt/notesMasters/notesMaster1.xml" Id="R486bbc2072b84186"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f7d9bf84319448f9" /><Relationship Type="http://schemas.openxmlformats.org/officeDocument/2006/relationships/notesMaster" Target="/ppt/notesMasters/notesMaster1.xml" Id="Rc1d9566bcb634520"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616071d778544f2b" /><Relationship Type="http://schemas.openxmlformats.org/officeDocument/2006/relationships/notesMaster" Target="/ppt/notesMasters/notesMaster1.xml" Id="Ree0a49d9512b40e3"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64562095c4954305" /><Relationship Type="http://schemas.openxmlformats.org/officeDocument/2006/relationships/notesMaster" Target="/ppt/notesMasters/notesMaster1.xml" Id="R41fdf2dec1124e45"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9b5e1f69bcc7412e" /><Relationship Type="http://schemas.openxmlformats.org/officeDocument/2006/relationships/notesMaster" Target="/ppt/notesMasters/notesMaster1.xml" Id="R4556a2a8ca684fb5"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c7a60ea9bbe44f50" /><Relationship Type="http://schemas.openxmlformats.org/officeDocument/2006/relationships/notesMaster" Target="/ppt/notesMasters/notesMaster1.xml" Id="Ra1b4389cf87f4c06"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5d6192cea924463a" /><Relationship Type="http://schemas.openxmlformats.org/officeDocument/2006/relationships/notesMaster" Target="/ppt/notesMasters/notesMaster1.xml" Id="Ra912bd5ff12c48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Supply and Demand Playbook</a:t>
            </a:r>
          </a:p>
          <a:p xmlns:a="http://schemas.openxmlformats.org/drawingml/2006/main">
            <a:r>
              <a:t>Mode: Lesson</a:t>
            </a:r>
          </a:p>
          <a:p xmlns:a="http://schemas.openxmlformats.org/drawingml/2006/main">
            <a:r>
              <a:t/>
            </a:r>
          </a:p>
          <a:p xmlns:a="http://schemas.openxmlformats.org/drawingml/2006/main">
            <a:r>
              <a:t>This is a multi-session chapter companion, not a one-lecture summary. Core concepts precede worked calculations; practice is at the end. The book remains the semantic source.</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Supply and Demand Playbook</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Learning Goals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Learning Goals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Economic Toolkit Before The Curves</a:t>
            </a:r>
          </a:p>
          <a:p xmlns:a="http://schemas.openxmlformats.org/drawingml/2006/main">
            <a:r>
              <a:t>Mode: Lesson</a:t>
            </a:r>
          </a:p>
          <a:p xmlns:a="http://schemas.openxmlformats.org/drawingml/2006/main">
            <a:r>
              <a:t/>
            </a:r>
          </a:p>
          <a:p xmlns:a="http://schemas.openxmlformats.org/drawingml/2006/main">
            <a:r>
              <a:t>Scarcity is not the same as absolute rarity. Ask what a wealthy team still cannot do without giving something else up.</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Economic Toolkit Before The Curves</a:t>
            </a:r>
          </a:p>
          <a:p xmlns:a="http://schemas.openxmlformats.org/drawingml/2006/main">
            <a:r>
              <a:t>Mode: Lesson</a:t>
            </a:r>
          </a:p>
          <a:p xmlns:a="http://schemas.openxmlformats.org/drawingml/2006/main">
            <a:r>
              <a:t/>
            </a:r>
          </a:p>
          <a:p xmlns:a="http://schemas.openxmlformats.org/drawingml/2006/main">
            <a:r>
              <a:t>Distinguish forward-looking opportunity costs from sunk expenses. Do not add every rejected alternative together.</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Economic Toolkit Before The Curves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Economic Toolkit Before The Curves</a:t>
            </a:r>
          </a:p>
          <a:p xmlns:a="http://schemas.openxmlformats.org/drawingml/2006/main">
            <a:r>
              <a:t>Mode: Lesson</a:t>
            </a:r>
          </a:p>
          <a:p xmlns:a="http://schemas.openxmlformats.org/drawingml/2006/main">
            <a:r>
              <a:t/>
            </a:r>
          </a:p>
          <a:p xmlns:a="http://schemas.openxmlformats.org/drawingml/2006/main">
            <a:r>
              <a:t>The stadium can be expensive while the added cost of filling another seat is low. This is an incremental decision, not a claim that every empty seat should be sold at any price.</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Economic Toolkit Before The Curves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Economic Toolkit Before The Curves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Economic Toolkit Before The Curves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Economic Toolkit Before The Curves</a:t>
            </a:r>
          </a:p>
          <a:p xmlns:a="http://schemas.openxmlformats.org/drawingml/2006/main">
            <a:r>
              <a:t>Mode: Lesson</a:t>
            </a:r>
          </a:p>
          <a:p xmlns:a="http://schemas.openxmlformats.org/drawingml/2006/main">
            <a:r>
              <a:t/>
            </a:r>
          </a:p>
          <a:p xmlns:a="http://schemas.openxmlformats.org/drawingml/2006/main">
            <a:r>
              <a:t>These are the same seasons and figures as the chapter, current through the completed 2025 season. Ruth led the AL in home runs in 1918; 29 was the then-record in 1919. Sources are in the chapter’s two footnotes.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 https://baseballhall.org/hall-of-famers/ruth-babe</a:t>
            </a:r>
          </a:p>
          <a:p xmlns:a="http://schemas.openxmlformats.org/drawingml/2006/main">
            <a:r>
              <a:t>- https://baseballhall.org/discover/museum/babe-ruth-his-life-and-legend</a:t>
            </a:r>
          </a:p>
          <a:p xmlns:a="http://schemas.openxmlformats.org/drawingml/2006/main">
            <a:r>
              <a:t>- https://www.mlb.com/press-release/shohei-ohtani-honored-with-commissioners-historic-achievement-award</a:t>
            </a:r>
          </a:p>
          <a:p xmlns:a="http://schemas.openxmlformats.org/drawingml/2006/main">
            <a:r>
              <a:t>- https://www.mlb.com/news/shohei-ohtani-wins-2025-nl-mvp-award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The Economic Toolkit Before The Curves</a:t>
            </a:r>
          </a:p>
          <a:p xmlns:a="http://schemas.openxmlformats.org/drawingml/2006/main">
            <a:r>
              <a:t>Mode: Lesson</a:t>
            </a:r>
          </a:p>
          <a:p xmlns:a="http://schemas.openxmlformats.org/drawingml/2006/main">
            <a:r>
              <a:t/>
            </a:r>
          </a:p>
          <a:p xmlns:a="http://schemas.openxmlformats.org/drawingml/2006/main">
            <a:r>
              <a:t>Ohtani does not disprove comparative advantage, and Ruth does not prove every talented athlete must specialize. This is an opportunity-cost application, not the foundation of a trade-theory unit.</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 https://www.mlb.com/news/mlb-two-way-player-rules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Demand: The Buyer's Side Of The Market</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Demand: The Buyer's Side Of The Market</a:t>
            </a:r>
          </a:p>
          <a:p xmlns:a="http://schemas.openxmlformats.org/drawingml/2006/main">
            <a:r>
              <a:t>Mode: Lesson</a:t>
            </a:r>
          </a:p>
          <a:p xmlns:a="http://schemas.openxmlformats.org/drawingml/2006/main">
            <a:r>
              <a:t/>
            </a:r>
          </a:p>
          <a:p xmlns:a="http://schemas.openxmlformats.org/drawingml/2006/main">
            <a:r>
              <a:t>Read across a row before comparing rows. These hypothetical ticket counts are not the small teaching quantities in Figure 2.1.</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Demand: The Buyer's Side Of The Market</a:t>
            </a:r>
          </a:p>
          <a:p xmlns:a="http://schemas.openxmlformats.org/drawingml/2006/main">
            <a:r>
              <a:t>Mode: Lesson</a:t>
            </a:r>
          </a:p>
          <a:p xmlns:a="http://schemas.openxmlformats.org/drawingml/2006/main">
            <a:r>
              <a:t/>
            </a:r>
          </a:p>
          <a:p xmlns:a="http://schemas.openxmlformats.org/drawingml/2006/main">
            <a:r>
              <a:t>Connect the downward pattern to Table 2.1. Each point represents one row; the curve summarizes the relationship, not a sequence of observed games.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Demand: The Buyer's Side Of The Market</a:t>
            </a:r>
          </a:p>
          <a:p xmlns:a="http://schemas.openxmlformats.org/drawingml/2006/main">
            <a:r>
              <a:t>Mode: Lesson</a:t>
            </a:r>
          </a:p>
          <a:p xmlns:a="http://schemas.openxmlformats.org/drawingml/2006/main">
            <a:r>
              <a:t/>
            </a:r>
          </a:p>
          <a:p xmlns:a="http://schemas.openxmlformats.org/drawingml/2006/main">
            <a:r>
              <a:t>Use the book’s five categories, in order. A normal good has higher demand as income rises; an inferior good has lower demand for the specified buyers/product. These are not judgments about product quality.</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Demand: The Buyer's Side Of The Market</a:t>
            </a:r>
          </a:p>
          <a:p xmlns:a="http://schemas.openxmlformats.org/drawingml/2006/main">
            <a:r>
              <a:t>Mode: Lesson</a:t>
            </a:r>
          </a:p>
          <a:p xmlns:a="http://schemas.openxmlformats.org/drawingml/2006/main">
            <a:r>
              <a:t/>
            </a:r>
          </a:p>
          <a:p xmlns:a="http://schemas.openxmlformats.org/drawingml/2006/main">
            <a:r>
              <a:t>Sports examples belong inside the general categories. A star signing affects tastes or expected team quality; visitors can change the number of buyers.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Demand: The Buyer's Side Of The Market</a:t>
            </a:r>
          </a:p>
          <a:p xmlns:a="http://schemas.openxmlformats.org/drawingml/2006/main">
            <a:r>
              <a:t>Mode: Lesson</a:t>
            </a:r>
          </a:p>
          <a:p xmlns:a="http://schemas.openxmlformats.org/drawingml/2006/main">
            <a:r>
              <a:t/>
            </a:r>
          </a:p>
          <a:p xmlns:a="http://schemas.openxmlformats.org/drawingml/2006/main">
            <a:r>
              <a:t>Left: P falls from 70 to 50 and Q rises from 6 to 10 on D. Right: at the same P = 60, Q rises from 8 to 12 when D shifts right. Read the shift horizontally. These are separate hypothetical teaching curves, not Table 2.1’s ticket counts.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Demand: The Buyer's Side Of The Market</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Supply: The Seller's Side Of The Market</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Supply: The Seller's Side Of The Market</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Supply: The Seller's Side Of The Market</a:t>
            </a:r>
          </a:p>
          <a:p xmlns:a="http://schemas.openxmlformats.org/drawingml/2006/main">
            <a:r>
              <a:t>Mode: Lesson</a:t>
            </a:r>
          </a:p>
          <a:p xmlns:a="http://schemas.openxmlformats.org/drawingml/2006/main">
            <a:r>
              <a:t/>
            </a:r>
          </a:p>
          <a:p xmlns:a="http://schemas.openxmlformats.org/drawingml/2006/main">
            <a:r>
              <a:t>The whole schedule is supply. Plot price vertically and quantity horizontally. These values differ from the small hypothetical quantities in Figure 2.2.</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Supply: The Seller's Side Of The Market</a:t>
            </a:r>
          </a:p>
          <a:p xmlns:a="http://schemas.openxmlformats.org/drawingml/2006/main">
            <a:r>
              <a:t>Mode: Lesson</a:t>
            </a:r>
          </a:p>
          <a:p xmlns:a="http://schemas.openxmlformats.org/drawingml/2006/main">
            <a:r>
              <a:t/>
            </a:r>
          </a:p>
          <a:p xmlns:a="http://schemas.openxmlformats.org/drawingml/2006/main">
            <a:r>
              <a:t>Keep the book’s six categories distinct. Policy enters through marginal benefits or costs; this slide does not yet analyze a tax wedge.</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Supply: The Seller's Side Of The Market</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Supply: The Seller's Side Of The Market</a:t>
            </a:r>
          </a:p>
          <a:p xmlns:a="http://schemas.openxmlformats.org/drawingml/2006/main">
            <a:r>
              <a:t>Mode: Lesson</a:t>
            </a:r>
          </a:p>
          <a:p xmlns:a="http://schemas.openxmlformats.org/drawingml/2006/main">
            <a:r>
              <a:t/>
            </a:r>
          </a:p>
          <a:p xmlns:a="http://schemas.openxmlformats.org/drawingml/2006/main">
            <a:r>
              <a:t>Left: own price rises from 40 to 60 and quantity supplied rises from 4 to 8. Right: at P = 60, supply falls from 8 to 4 when input costs rise. No demand curve or equilibrium is shown here. Lower input costs reverse the shift.</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Supply: The Seller's Side Of The Market</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Supply: The Seller's Side Of The Market</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Supply: The Seller's Side Of The Market</a:t>
            </a:r>
          </a:p>
          <a:p xmlns:a="http://schemas.openxmlformats.org/drawingml/2006/main">
            <a:r>
              <a:t>Mode: Lesson</a:t>
            </a:r>
          </a:p>
          <a:p xmlns:a="http://schemas.openxmlformats.org/drawingml/2006/main">
            <a:r>
              <a:t/>
            </a:r>
          </a:p>
          <a:p xmlns:a="http://schemas.openxmlformats.org/drawingml/2006/main">
            <a:r>
              <a:t>This model assumes one event, a fixed venue configuration, and all available admissions offered. It is not a claim that demand or ticket pricing is irrelevant. The team’s pricing decision returns in Chapter 4.</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Equilibrium And Market Adjustment</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Equilibrium And Market Adjustment</a:t>
            </a:r>
          </a:p>
          <a:p xmlns:a="http://schemas.openxmlformats.org/drawingml/2006/main">
            <a:r>
              <a:t>Mode: Worked calculation</a:t>
            </a:r>
          </a:p>
          <a:p xmlns:a="http://schemas.openxmlformats.org/drawingml/2006/main">
            <a:r>
              <a:t/>
            </a:r>
          </a:p>
          <a:p xmlns:a="http://schemas.openxmlformats.org/drawingml/2006/main">
            <a:r>
              <a:t>Because both equations give P, set their right-hand sides equal. Q is a teaching quantity without empirical units.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Equilibrium And Market Adjustment</a:t>
            </a:r>
          </a:p>
          <a:p xmlns:a="http://schemas.openxmlformats.org/drawingml/2006/main">
            <a:r>
              <a:t>Mode: Worked calculation</a:t>
            </a:r>
          </a:p>
          <a:p xmlns:a="http://schemas.openxmlformats.org/drawingml/2006/main">
            <a:r>
              <a:t/>
            </a:r>
          </a:p>
          <a:p xmlns:a="http://schemas.openxmlformats.org/drawingml/2006/main">
            <a:r>
              <a:t>Do not substitute P into an expression expecting Q. The supply calculation is a check, not a second equilibrium.</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Equilibrium And Market Adjustment</a:t>
            </a:r>
          </a:p>
          <a:p xmlns:a="http://schemas.openxmlformats.org/drawingml/2006/main">
            <a:r>
              <a:t>Mode: Lesson</a:t>
            </a:r>
          </a:p>
          <a:p xmlns:a="http://schemas.openxmlformats.org/drawingml/2006/main">
            <a:r>
              <a:t/>
            </a:r>
          </a:p>
          <a:p xmlns:a="http://schemas.openxmlformats.org/drawingml/2006/main">
            <a:r>
              <a:t>At P=70, demand implies Q=6 and supply Q=10. At P=50, demand implies Q=10 and supply Q=6. Subtract quantities only after identifying the relevant side.</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Equilibrium And Market Adjustment</a:t>
            </a:r>
          </a:p>
          <a:p xmlns:a="http://schemas.openxmlformats.org/drawingml/2006/main">
            <a:r>
              <a:t>Mode: Lesson</a:t>
            </a:r>
          </a:p>
          <a:p xmlns:a="http://schemas.openxmlformats.org/drawingml/2006/main">
            <a:r>
              <a:t/>
            </a:r>
          </a:p>
          <a:p xmlns:a="http://schemas.openxmlformats.org/drawingml/2006/main">
            <a:r>
              <a:t>Above P*=60 there is excess supply (a surplus); below it there is a shortage. These labels describe a market imbalance, not the consumer/producer surplus introduced in Chapter 3.</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Equilibrium And Market Adjustment</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Comparative Statics: From A Story To A Prediction</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Comparative Statics: From A Story To A Prediction</a:t>
            </a:r>
          </a:p>
          <a:p xmlns:a="http://schemas.openxmlformats.org/drawingml/2006/main">
            <a:r>
              <a:t>Mode: Lesson</a:t>
            </a:r>
          </a:p>
          <a:p xmlns:a="http://schemas.openxmlformats.org/drawingml/2006/main">
            <a:r>
              <a:t/>
            </a:r>
          </a:p>
          <a:p xmlns:a="http://schemas.openxmlformats.org/drawingml/2006/main">
            <a:r>
              <a:t>For a decrease in supply, use the higher jersey-material-cost example. Each prediction holds the other curve fixed.</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Comparative Statics: From A Story To A Prediction</a:t>
            </a:r>
          </a:p>
          <a:p xmlns:a="http://schemas.openxmlformats.org/drawingml/2006/main">
            <a:r>
              <a:t>Mode: Lesson</a:t>
            </a:r>
          </a:p>
          <a:p xmlns:a="http://schemas.openxmlformats.org/drawingml/2006/main">
            <a:r>
              <a:t/>
            </a:r>
          </a:p>
          <a:p xmlns:a="http://schemas.openxmlformats.org/drawingml/2006/main">
            <a:r>
              <a:t>Left: D shifts right; equilibrium moves from (8,60) to (10,70). Right: S shifts left; equilibrium moves from (8,60) to (6,70). Horizontal arrows show shifts; the equilibrium comparison then uses both curves.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Comparative Statics: From A Story To A Prediction</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Comparative Statics: From A Story To A Prediction</a:t>
            </a:r>
          </a:p>
          <a:p xmlns:a="http://schemas.openxmlformats.org/drawingml/2006/main">
            <a:r>
              <a:t>Mode: Discussion</a:t>
            </a:r>
          </a:p>
          <a:p xmlns:a="http://schemas.openxmlformats.org/drawingml/2006/main">
            <a:r>
              <a:t/>
            </a:r>
          </a:p>
          <a:p xmlns:a="http://schemas.openxmlformats.org/drawingml/2006/main">
            <a:r>
              <a:t>Book Study and Learn prompts. Answers: 1 demand right, P/Q up; 2 supply left, P up Q down; 3 demand and supply right, Q up P ambiguous; 4 demand and supply left, Q down P ambiguous. Define the market and time period before answering; apply the standard competitive model. Shared practice app: https://sbu-econ.org/supply-demand-shift-practice/?course=sports-econ. Start with One Event, then try Two Events. No calculations are required. Substitutes and complements are cases of related-good prices; weather is an operating condition.</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Core concept</a:t>
            </a:r>
          </a:p>
          <a:p xmlns:a="http://schemas.openxmlformats.org/drawingml/2006/main">
            <a:r>
              <a:t/>
            </a:r>
          </a:p>
          <a:p xmlns:a="http://schemas.openxmlformats.org/drawingml/2006/main">
            <a:r>
              <a:t>Read epsilon subscript d. Percentage changes make the measure unit-free. For ordinary downward-sloping demand the sign is negative.</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Worked calculation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Lesson</a:t>
            </a:r>
          </a:p>
          <a:p xmlns:a="http://schemas.openxmlformats.org/drawingml/2006/main">
            <a:r>
              <a:t/>
            </a:r>
          </a:p>
          <a:p xmlns:a="http://schemas.openxmlformats.org/drawingml/2006/main">
            <a:r>
              <a:t>Elasticity depends on the product, buyers, price range, and time horizon. The same fan can respond differently across games.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Worked calculation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Worked calculation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Worked calculation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Worked calculation</a:t>
            </a:r>
          </a:p>
          <a:p xmlns:a="http://schemas.openxmlformats.org/drawingml/2006/main">
            <a:r>
              <a:t/>
            </a:r>
          </a:p>
          <a:p xmlns:a="http://schemas.openxmlformats.org/drawingml/2006/main">
            <a:r>
              <a:t>The midpoint quantity base is 9,000, so −2,000/9,000≈−22.22%. Compare against the same initial $500,000 revenue.</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Lesson</a:t>
            </a:r>
          </a:p>
          <a:p xmlns:a="http://schemas.openxmlformats.org/drawingml/2006/main">
            <a:r>
              <a:t/>
            </a:r>
          </a:p>
          <a:p xmlns:a="http://schemas.openxmlformats.org/drawingml/2006/main">
            <a:r>
              <a:t>The rectangles represent P×Q. Left: quantity falls to 9,000 and revenue rises to $540,000 (inelastic). Right: quantity falls to 8,000 and revenue falls to $480,000 (elastic). Both start at $50 and 10,000, for $500,000.</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Elasticity: Measuring Responsiveness</a:t>
            </a:r>
          </a:p>
          <a:p xmlns:a="http://schemas.openxmlformats.org/drawingml/2006/main">
            <a:r>
              <a:t>Mode: Lesson</a:t>
            </a:r>
          </a:p>
          <a:p xmlns:a="http://schemas.openxmlformats.org/drawingml/2006/main">
            <a:r>
              <a:t/>
            </a:r>
          </a:p>
          <a:p xmlns:a="http://schemas.openxmlformats.org/drawingml/2006/main">
            <a:r>
              <a:t>Apply the rule to the relevant price range, holding demand conditions fixed. Chapter 4 develops the team’s pricing problem; this is not yet a complete profit-maximization rule.</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Other Elasticities</a:t>
            </a:r>
          </a:p>
          <a:p xmlns:a="http://schemas.openxmlformats.org/drawingml/2006/main">
            <a:r>
              <a:t>Mode: Core concept</a:t>
            </a:r>
          </a:p>
          <a:p xmlns:a="http://schemas.openxmlformats.org/drawingml/2006/main">
            <a:r>
              <a:t/>
            </a:r>
          </a:p>
          <a:p xmlns:a="http://schemas.openxmlformats.org/drawingml/2006/main">
            <a:r>
              <a:t>Fixed available admissions to one game have zero price elasticity of supply under the chapter’s assumptions. Merchandise producers can adjust over a longer horizon.</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Other Elasticities</a:t>
            </a:r>
          </a:p>
          <a:p xmlns:a="http://schemas.openxmlformats.org/drawingml/2006/main">
            <a:r>
              <a:t>Mode: Core concept</a:t>
            </a:r>
          </a:p>
          <a:p xmlns:a="http://schemas.openxmlformats.org/drawingml/2006/main">
            <a:r>
              <a:t/>
            </a:r>
          </a:p>
          <a:p xmlns:a="http://schemas.openxmlformats.org/drawingml/2006/main">
            <a:r>
              <a:t>Do not assume that every ticket is a luxury, or that premium and value products have the same income response. Inferior is an economic response classification, not a quality judgment.</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Other Elasticities</a:t>
            </a:r>
          </a:p>
          <a:p xmlns:a="http://schemas.openxmlformats.org/drawingml/2006/main">
            <a:r>
              <a:t>Mode: Core concept</a:t>
            </a:r>
          </a:p>
          <a:p xmlns:a="http://schemas.openxmlformats.org/drawingml/2006/main">
            <a:r>
              <a:t/>
            </a:r>
          </a:p>
          <a:p xmlns:a="http://schemas.openxmlformats.org/drawingml/2006/main">
            <a:r>
              <a:t>The numerator is the percentage change in quantity demanded for x, with its own price and other factors held fixed. The denominator is the price of a different good. Tickets and parking may be complements; viewing and attendance are context-dependent.</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Other Elasticities</a:t>
            </a:r>
          </a:p>
          <a:p xmlns:a="http://schemas.openxmlformats.org/drawingml/2006/main">
            <a:r>
              <a:t>Mode: Lesson</a:t>
            </a:r>
          </a:p>
          <a:p xmlns:a="http://schemas.openxmlformats.org/drawingml/2006/main">
            <a:r>
              <a:t/>
            </a:r>
          </a:p>
          <a:p xmlns:a="http://schemas.openxmlformats.org/drawingml/2006/main">
            <a:r>
              <a:t>Classify own-price demand as elastic above 1 in magnitude, unit elastic at 1, and inelastic below 1. Larger supply elasticity means a stronger quantity response. Formulas and classifications are taught on the preceding slides.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Other Elasticities</a:t>
            </a:r>
          </a:p>
          <a:p xmlns:a="http://schemas.openxmlformats.org/drawingml/2006/main">
            <a:r>
              <a:t>Mode: Lesson</a:t>
            </a:r>
          </a:p>
          <a:p xmlns:a="http://schemas.openxmlformats.org/drawingml/2006/main">
            <a:r>
              <a:t/>
            </a:r>
          </a:p>
          <a:p xmlns:a="http://schemas.openxmlformats.org/drawingml/2006/main">
            <a:r>
              <a:t>This is the second half of Table 2.3, split for projection rather than squeezed onto one slide. Both ratios use percentage changes. Signs require evidence for the defined products and buyers.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How Could A Team Estimate Elasticity?</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How Could A Team Estimate Elasticity?</a:t>
            </a:r>
          </a:p>
          <a:p xmlns:a="http://schemas.openxmlformats.org/drawingml/2006/main">
            <a:r>
              <a:t>Mode: Lesson</a:t>
            </a:r>
          </a:p>
          <a:p xmlns:a="http://schemas.openxmlformats.org/drawingml/2006/main">
            <a:r>
              <a:t/>
            </a:r>
          </a:p>
          <a:p xmlns:a="http://schemas.openxmlformats.org/drawingml/2006/main">
            <a:r>
              <a:t>This is a plausible method, not a verified description of the Bills’ internal model. Controls do not automatically remove all confounding. Elasticity can vary across products, buyers, and price ranges.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Big Picture</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Big Picture</a:t>
            </a:r>
          </a:p>
          <a:p xmlns:a="http://schemas.openxmlformats.org/drawingml/2006/main">
            <a:r>
              <a:t>Mode: Lesson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Review Questions</a:t>
            </a:r>
          </a:p>
          <a:p xmlns:a="http://schemas.openxmlformats.org/drawingml/2006/main">
            <a:r>
              <a:t>Mode: Review</a:t>
            </a:r>
          </a:p>
          <a:p xmlns:a="http://schemas.openxmlformats.org/drawingml/2006/main">
            <a:r>
              <a:t/>
            </a:r>
          </a:p>
          <a:p xmlns:a="http://schemas.openxmlformats.org/drawingml/2006/main">
            <a:r>
              <a:t>Use these exact chapter questions for retrieval practice. Ask students to explain mechanisms before drawing or calculating. Detailed applications and calculation answers follow.</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Review Questions</a:t>
            </a:r>
          </a:p>
          <a:p xmlns:a="http://schemas.openxmlformats.org/drawingml/2006/main">
            <a:r>
              <a:t>Mode: Review</a:t>
            </a:r>
          </a:p>
          <a:p xmlns:a="http://schemas.openxmlformats.org/drawingml/2006/main">
            <a:r>
              <a:t/>
            </a:r>
          </a:p>
          <a:p xmlns:a="http://schemas.openxmlformats.org/drawingml/2006/main">
            <a:r>
              <a:t>Use these exact chapter questions for retrieval practice. Ask students to explain mechanisms before drawing or calculating. Detailed applications and calculation answers follow.</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Review Questions</a:t>
            </a:r>
          </a:p>
          <a:p xmlns:a="http://schemas.openxmlformats.org/drawingml/2006/main">
            <a:r>
              <a:t>Mode: Review</a:t>
            </a:r>
          </a:p>
          <a:p xmlns:a="http://schemas.openxmlformats.org/drawingml/2006/main">
            <a:r>
              <a:t/>
            </a:r>
          </a:p>
          <a:p xmlns:a="http://schemas.openxmlformats.org/drawingml/2006/main">
            <a:r>
              <a:t>Use these exact chapter questions for retrieval practice. Ask students to explain mechanisms before drawing or calculating. Detailed applications and calculation answers follow.</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Review Questions</a:t>
            </a:r>
          </a:p>
          <a:p xmlns:a="http://schemas.openxmlformats.org/drawingml/2006/main">
            <a:r>
              <a:t>Mode: Review</a:t>
            </a:r>
          </a:p>
          <a:p xmlns:a="http://schemas.openxmlformats.org/drawingml/2006/main">
            <a:r>
              <a:t/>
            </a:r>
          </a:p>
          <a:p xmlns:a="http://schemas.openxmlformats.org/drawingml/2006/main">
            <a:r>
              <a:t>Use these exact chapter questions for retrieval practice. Ask students to explain mechanisms before drawing or calculating. Detailed applications and calculation answers follow.</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Problems And Applications</a:t>
            </a:r>
          </a:p>
          <a:p xmlns:a="http://schemas.openxmlformats.org/drawingml/2006/main">
            <a:r>
              <a:t>Mode: Practice</a:t>
            </a:r>
          </a:p>
          <a:p xmlns:a="http://schemas.openxmlformats.org/drawingml/2006/main">
            <a:r>
              <a:t/>
            </a:r>
          </a:p>
          <a:p xmlns:a="http://schemas.openxmlformats.org/drawingml/2006/main">
            <a:r>
              <a:t>Answer: movement along unchanged demand, assuming other determinants fixed. Midpoint %Q = 1,500/6,750=22.22%; %P=−10/75=−13.33%; epsilon_d≈−1.67, elastic. Revenue rises from $480,000 to $525,000.</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Problems And Applications</a:t>
            </a:r>
          </a:p>
          <a:p xmlns:a="http://schemas.openxmlformats.org/drawingml/2006/main">
            <a:r>
              <a:t>Mode: Practice</a:t>
            </a:r>
          </a:p>
          <a:p xmlns:a="http://schemas.openxmlformats.org/drawingml/2006/main">
            <a:r>
              <a:t/>
            </a:r>
          </a:p>
          <a:p xmlns:a="http://schemas.openxmlformats.org/drawingml/2006/main">
            <a:r>
              <a:t>2: Demand shifts right, so P and Q can rise without violating the law of demand. 3: Supply shifts left; P rises and Q falls with demand unchanged. A 15% input-price change does not imply a 15% output-price or quantity change.</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Problems And Applications</a:t>
            </a:r>
          </a:p>
          <a:p xmlns:a="http://schemas.openxmlformats.org/drawingml/2006/main">
            <a:r>
              <a:t>Mode: Practice</a:t>
            </a:r>
          </a:p>
          <a:p xmlns:a="http://schemas.openxmlformats.org/drawingml/2006/main">
            <a:r>
              <a:t/>
            </a:r>
          </a:p>
          <a:p xmlns:a="http://schemas.openxmlformats.org/drawingml/2006/main">
            <a:r>
              <a:t>Initial: 120=6Q, Q=20 thousand and P=60. New: 144=6Q, Q=24 thousand and P=68. A rightward demand shift raises price by 8 and quantity by 4 thousand.</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Problems And Applications</a:t>
            </a:r>
          </a:p>
          <a:p xmlns:a="http://schemas.openxmlformats.org/drawingml/2006/main">
            <a:r>
              <a:t>Mode: Practice</a:t>
            </a:r>
          </a:p>
          <a:p xmlns:a="http://schemas.openxmlformats.org/drawingml/2006/main">
            <a:r>
              <a:t/>
            </a:r>
          </a:p>
          <a:p xmlns:a="http://schemas.openxmlformats.org/drawingml/2006/main">
            <a:r>
              <a:t>5: Surplus of 3,000. Sellers may reduce output/future offerings or accumulate unsold inventory until sales adjust; for perishable tickets, some may remain unsold. Appropriate non-price changes in terms/product can alter purchases. 6: epsilon_d=−4/8=−0.5, inelastic; revenue rises. Exact revenue factor 1.08×0.96=1.036, or +3.6%; the exact percentage is not required.</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Problems And Applications</a:t>
            </a:r>
          </a:p>
          <a:p xmlns:a="http://schemas.openxmlformats.org/drawingml/2006/main">
            <a:r>
              <a:t>Mode: Practice</a:t>
            </a:r>
          </a:p>
          <a:p xmlns:a="http://schemas.openxmlformats.org/drawingml/2006/main">
            <a:r>
              <a:t/>
            </a:r>
          </a:p>
          <a:p xmlns:a="http://schemas.openxmlformats.org/drawingml/2006/main">
            <a:r>
              <a:t>7: epsilon_xy=−5/20=−0.25; complements in this comparison if other determinants are fixed. Association alone is not causation. 8: epsilon_I=15/10=1.5, normal for this product and population; not a universal elasticity for the team’s other ticket products.</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Problems And Applications</a:t>
            </a:r>
          </a:p>
          <a:p xmlns:a="http://schemas.openxmlformats.org/drawingml/2006/main">
            <a:r>
              <a:t>Mode: Practice</a:t>
            </a:r>
          </a:p>
          <a:p xmlns:a="http://schemas.openxmlformats.org/drawingml/2006/main">
            <a:r>
              <a:t/>
            </a:r>
          </a:p>
          <a:p xmlns:a="http://schemas.openxmlformats.org/drawingml/2006/main">
            <a:r>
              <a:t>9: Under fixed-admissions assumptions, epsilon_s=0; merchandise supply can respond positively as inputs adjust. 10: P rises. Demand growth raises Q, while the supply decrease lowers Q, so relative shift sizes determine net Q.</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Evidence Activity</a:t>
            </a:r>
          </a:p>
          <a:p xmlns:a="http://schemas.openxmlformats.org/drawingml/2006/main">
            <a:r>
              <a:t>Mode: Application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Evidence Activity</a:t>
            </a:r>
          </a:p>
          <a:p xmlns:a="http://schemas.openxmlformats.org/drawingml/2006/main">
            <a:r>
              <a:t>Mode: Application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Evidence Activity</a:t>
            </a:r>
          </a:p>
          <a:p xmlns:a="http://schemas.openxmlformats.org/drawingml/2006/main">
            <a:r>
              <a:t>Mode: Application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section: Source Notes</a:t>
            </a:r>
          </a:p>
          <a:p xmlns:a="http://schemas.openxmlformats.org/drawingml/2006/main">
            <a:r>
              <a:t>Mode: Reference</a:t>
            </a:r>
          </a:p>
          <a:p xmlns:a="http://schemas.openxmlformats.org/drawingml/2006/main">
            <a:r>
              <a:t/>
            </a:r>
          </a:p>
          <a:p xmlns:a="http://schemas.openxmlformats.org/drawingml/2006/main">
            <a:r>
              <a:t>Source text: draft-chapters/ch02-the-supply-and-demand-playbook.md. Ruth and Ohtani data are carried over from the chapter’s documented sources, not newly researched for this deck. Chapter citations appear in the relevant slide notes. Do not treat the proposed Bills estimation approach as verified internal practice.</a:t>
            </a:r>
          </a:p>
          <a:p xmlns:a="http://schemas.openxmlformats.org/drawingml/2006/main">
            <a:r>
              <a:t/>
            </a:r>
          </a:p>
          <a:p xmlns:a="http://schemas.openxmlformats.org/drawingml/2006/main">
            <a:r>
              <a:t>[Sources]</a:t>
            </a:r>
          </a:p>
          <a:p xmlns:a="http://schemas.openxmlformats.org/drawingml/2006/main">
            <a:r>
              <a:t>- draft-chapters/ch02-the-supply-and-demand-playbook.md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c373e08baa4a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ad3c42701f4cdb" /><Relationship Type="http://schemas.openxmlformats.org/officeDocument/2006/relationships/slideLayout" Target="/ppt/slideLayouts/slideLayout1.xml" Id="R0c3e74b91b1c4d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3e74b91b1c4d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7d10f484124bb7" /><Relationship Type="http://schemas.openxmlformats.org/officeDocument/2006/relationships/notesSlide" Target="/ppt/notesSlides/notesSlide1.xml" Id="R5ac4f940b77c4d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8b886d1adb4c2f" /><Relationship Type="http://schemas.openxmlformats.org/officeDocument/2006/relationships/notesSlide" Target="/ppt/notesSlides/notesSlide2.xml" Id="Rf8237b0d6eb740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d1e4d6aafa45dc" /><Relationship Type="http://schemas.openxmlformats.org/officeDocument/2006/relationships/notesSlide" Target="/ppt/notesSlides/notesSlide3.xml" Id="R418dd9f6be934c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2c03c470f74194" /><Relationship Type="http://schemas.openxmlformats.org/officeDocument/2006/relationships/notesSlide" Target="/ppt/notesSlides/notesSlide4.xml" Id="R1d4e801d488548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9cf18d85434045" /><Relationship Type="http://schemas.openxmlformats.org/officeDocument/2006/relationships/notesSlide" Target="/ppt/notesSlides/notesSlide5.xml" Id="Rce5ae3fd24094e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83fea4804942ab" /><Relationship Type="http://schemas.openxmlformats.org/officeDocument/2006/relationships/notesSlide" Target="/ppt/notesSlides/notesSlide6.xml" Id="R88c0d9e319c04a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d1765601464b90" /><Relationship Type="http://schemas.openxmlformats.org/officeDocument/2006/relationships/notesSlide" Target="/ppt/notesSlides/notesSlide7.xml" Id="Re90cee251c0f40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72ef4520b24ce8" /><Relationship Type="http://schemas.openxmlformats.org/officeDocument/2006/relationships/notesSlide" Target="/ppt/notesSlides/notesSlide8.xml" Id="Rd0b65520e4554e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7f963e30614a87" /><Relationship Type="http://schemas.openxmlformats.org/officeDocument/2006/relationships/notesSlide" Target="/ppt/notesSlides/notesSlide9.xml" Id="Rcfea423e881949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dbd3cb1e884d0c" /><Relationship Type="http://schemas.openxmlformats.org/officeDocument/2006/relationships/notesSlide" Target="/ppt/notesSlides/notesSlide10.xml" Id="R093d552130c946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08a8855540468f" /><Relationship Type="http://schemas.openxmlformats.org/officeDocument/2006/relationships/notesSlide" Target="/ppt/notesSlides/notesSlide11.xml" Id="R94b5958154ee48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11afe2d4eae479e" /><Relationship Type="http://schemas.openxmlformats.org/officeDocument/2006/relationships/notesSlide" Target="/ppt/notesSlides/notesSlide12.xml" Id="Re1e805df34d943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4dd320267554c90" /><Relationship Type="http://schemas.openxmlformats.org/officeDocument/2006/relationships/notesSlide" Target="/ppt/notesSlides/notesSlide13.xml" Id="R051b303c690f47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b8496c069314687" /><Relationship Type="http://schemas.openxmlformats.org/officeDocument/2006/relationships/notesSlide" Target="/ppt/notesSlides/notesSlide14.xml" Id="R066dd7a00b824f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c461582036a4595" /><Relationship Type="http://schemas.openxmlformats.org/officeDocument/2006/relationships/notesSlide" Target="/ppt/notesSlides/notesSlide15.xml" Id="R0ade119d080041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3170c7bb842475e" /><Relationship Type="http://schemas.openxmlformats.org/officeDocument/2006/relationships/notesSlide" Target="/ppt/notesSlides/notesSlide16.xml" Id="R98286401d65b493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b8dd0ca9768492e" /><Relationship Type="http://schemas.openxmlformats.org/officeDocument/2006/relationships/notesSlide" Target="/ppt/notesSlides/notesSlide17.xml" Id="R636aa2f872b945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7bb4bafabc54062" /><Relationship Type="http://schemas.openxmlformats.org/officeDocument/2006/relationships/notesSlide" Target="/ppt/notesSlides/notesSlide18.xml" Id="Rf2bf7972c5d745d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933c8c410bd4231" /><Relationship Type="http://schemas.openxmlformats.org/officeDocument/2006/relationships/image" Target="/ppt/media/image.png" Id="R54ec36bff7764403" /><Relationship Type="http://schemas.openxmlformats.org/officeDocument/2006/relationships/notesSlide" Target="/ppt/notesSlides/notesSlide19.xml" Id="R100c488787de4a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e30ba3c26984280" /><Relationship Type="http://schemas.openxmlformats.org/officeDocument/2006/relationships/notesSlide" Target="/ppt/notesSlides/notesSlide20.xml" Id="Rd143da00f36e45a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2165cedaca54c08" /><Relationship Type="http://schemas.openxmlformats.org/officeDocument/2006/relationships/notesSlide" Target="/ppt/notesSlides/notesSlide21.xml" Id="R9d03ccbbc3904a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f95048e2f944c06" /><Relationship Type="http://schemas.openxmlformats.org/officeDocument/2006/relationships/notesSlide" Target="/ppt/notesSlides/notesSlide22.xml" Id="Rab4630f278af43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b3be3902c884d5d" /><Relationship Type="http://schemas.openxmlformats.org/officeDocument/2006/relationships/notesSlide" Target="/ppt/notesSlides/notesSlide23.xml" Id="Rc5a63f9554564a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8cf887d16da4f60" /><Relationship Type="http://schemas.openxmlformats.org/officeDocument/2006/relationships/notesSlide" Target="/ppt/notesSlides/notesSlide24.xml" Id="Ra52317cd16b5465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2ae4d9293eb4cc0" /><Relationship Type="http://schemas.openxmlformats.org/officeDocument/2006/relationships/notesSlide" Target="/ppt/notesSlides/notesSlide25.xml" Id="R07451640666e451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c2c6739d28446d5" /><Relationship Type="http://schemas.openxmlformats.org/officeDocument/2006/relationships/image" Target="/ppt/media/image2.png" Id="Re9f6a4b59a7142ee" /><Relationship Type="http://schemas.openxmlformats.org/officeDocument/2006/relationships/notesSlide" Target="/ppt/notesSlides/notesSlide26.xml" Id="R44449299128f490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b07fba92163422b" /><Relationship Type="http://schemas.openxmlformats.org/officeDocument/2006/relationships/notesSlide" Target="/ppt/notesSlides/notesSlide27.xml" Id="R5e186b49734749e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69fb24db5c0429f" /><Relationship Type="http://schemas.openxmlformats.org/officeDocument/2006/relationships/notesSlide" Target="/ppt/notesSlides/notesSlide28.xml" Id="Rf59d0b6cd67c404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206ed2984b14ca0" /><Relationship Type="http://schemas.openxmlformats.org/officeDocument/2006/relationships/image" Target="/ppt/media/image3.png" Id="Rb276addca6c04f50" /><Relationship Type="http://schemas.openxmlformats.org/officeDocument/2006/relationships/notesSlide" Target="/ppt/notesSlides/notesSlide29.xml" Id="Rf96c0791ff62464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86da3fb155a46a3" /><Relationship Type="http://schemas.openxmlformats.org/officeDocument/2006/relationships/notesSlide" Target="/ppt/notesSlides/notesSlide30.xml" Id="Rb8906f853fb044d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bc0ef57b6fb49fc" /><Relationship Type="http://schemas.openxmlformats.org/officeDocument/2006/relationships/notesSlide" Target="/ppt/notesSlides/notesSlide31.xml" Id="Rb9d9bff44bc449f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1fdec7747994d55" /><Relationship Type="http://schemas.openxmlformats.org/officeDocument/2006/relationships/notesSlide" Target="/ppt/notesSlides/notesSlide32.xml" Id="R98d7e225c2c8412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e476b1eb729406b" /><Relationship Type="http://schemas.openxmlformats.org/officeDocument/2006/relationships/notesSlide" Target="/ppt/notesSlides/notesSlide33.xml" Id="R1540cd833a71453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57ead13d02f4062" /><Relationship Type="http://schemas.openxmlformats.org/officeDocument/2006/relationships/image" Target="/ppt/media/image4.png" Id="Rb9e2af6c3f24432f" /><Relationship Type="http://schemas.openxmlformats.org/officeDocument/2006/relationships/notesSlide" Target="/ppt/notesSlides/notesSlide34.xml" Id="R9d16202148654db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6b38ce9e76643dc" /><Relationship Type="http://schemas.openxmlformats.org/officeDocument/2006/relationships/notesSlide" Target="/ppt/notesSlides/notesSlide35.xml" Id="R87bb6f88781442a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86c0ebb56b94577" /><Relationship Type="http://schemas.openxmlformats.org/officeDocument/2006/relationships/notesSlide" Target="/ppt/notesSlides/notesSlide36.xml" Id="Rd6f2cd01de264d8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20084f0555b4aee" /><Relationship Type="http://schemas.openxmlformats.org/officeDocument/2006/relationships/notesSlide" Target="/ppt/notesSlides/notesSlide37.xml" Id="R2c41301a8f15401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4364a9ff7644b20" /><Relationship Type="http://schemas.openxmlformats.org/officeDocument/2006/relationships/image" Target="/ppt/media/image5.png" Id="R0928cc8b3bfc47ca" /><Relationship Type="http://schemas.openxmlformats.org/officeDocument/2006/relationships/notesSlide" Target="/ppt/notesSlides/notesSlide38.xml" Id="R6bda3a4f998144b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b28d901f8dc429b" /><Relationship Type="http://schemas.openxmlformats.org/officeDocument/2006/relationships/notesSlide" Target="/ppt/notesSlides/notesSlide39.xml" Id="R4453ff806d0e40c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0f2547058624c1e" /><Relationship Type="http://schemas.openxmlformats.org/officeDocument/2006/relationships/notesSlide" Target="/ppt/notesSlides/notesSlide40.xml" Id="Rb8edb6993bbb469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5daeb59c5c34d95" /><Relationship Type="http://schemas.openxmlformats.org/officeDocument/2006/relationships/notesSlide" Target="/ppt/notesSlides/notesSlide41.xml" Id="R90da02c52ad746f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e1ee650aeb24389" /><Relationship Type="http://schemas.openxmlformats.org/officeDocument/2006/relationships/notesSlide" Target="/ppt/notesSlides/notesSlide42.xml" Id="Rf5089ed3b2a94ae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0441714d6c8425d" /><Relationship Type="http://schemas.openxmlformats.org/officeDocument/2006/relationships/notesSlide" Target="/ppt/notesSlides/notesSlide43.xml" Id="Rdf04d7d250484c9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3d3cbcc68aa4c29" /><Relationship Type="http://schemas.openxmlformats.org/officeDocument/2006/relationships/notesSlide" Target="/ppt/notesSlides/notesSlide44.xml" Id="Rbdf6fd4597324b0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4c936845ed04e35" /><Relationship Type="http://schemas.openxmlformats.org/officeDocument/2006/relationships/notesSlide" Target="/ppt/notesSlides/notesSlide45.xml" Id="Rf8b2b1be02b54b8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9952b8d5c9b4b0b" /><Relationship Type="http://schemas.openxmlformats.org/officeDocument/2006/relationships/notesSlide" Target="/ppt/notesSlides/notesSlide46.xml" Id="Rd1942fb66fcf424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163f94f0eed54ca3" /><Relationship Type="http://schemas.openxmlformats.org/officeDocument/2006/relationships/notesSlide" Target="/ppt/notesSlides/notesSlide47.xml" Id="Rebfdbca7051b4d9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e0c1cb67b3849dd" /><Relationship Type="http://schemas.openxmlformats.org/officeDocument/2006/relationships/notesSlide" Target="/ppt/notesSlides/notesSlide48.xml" Id="R4f3698ee28444bf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925db7f3caa44a3" /><Relationship Type="http://schemas.openxmlformats.org/officeDocument/2006/relationships/notesSlide" Target="/ppt/notesSlides/notesSlide49.xml" Id="R55b330d3f108461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ae2570dc7b904255" /><Relationship Type="http://schemas.openxmlformats.org/officeDocument/2006/relationships/notesSlide" Target="/ppt/notesSlides/notesSlide50.xml" Id="R068d521457a84d3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8997a69d9f04763" /><Relationship Type="http://schemas.openxmlformats.org/officeDocument/2006/relationships/notesSlide" Target="/ppt/notesSlides/notesSlide51.xml" Id="R376e4e5f8cff406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021c189e57e4b52" /><Relationship Type="http://schemas.openxmlformats.org/officeDocument/2006/relationships/notesSlide" Target="/ppt/notesSlides/notesSlide52.xml" Id="Rce88411099144fa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a09b07c4def40ef" /><Relationship Type="http://schemas.openxmlformats.org/officeDocument/2006/relationships/image" Target="/ppt/media/image6.png" Id="Rdc88d4e7586b457f" /><Relationship Type="http://schemas.openxmlformats.org/officeDocument/2006/relationships/notesSlide" Target="/ppt/notesSlides/notesSlide53.xml" Id="Rf04a54fb22e2442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4650a9a1c3d4c67" /><Relationship Type="http://schemas.openxmlformats.org/officeDocument/2006/relationships/notesSlide" Target="/ppt/notesSlides/notesSlide54.xml" Id="Reb4a5b417cda472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ea36426cb6a464b" /><Relationship Type="http://schemas.openxmlformats.org/officeDocument/2006/relationships/notesSlide" Target="/ppt/notesSlides/notesSlide55.xml" Id="R7eb8cf4d8497456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2ab40793d3a040f8" /><Relationship Type="http://schemas.openxmlformats.org/officeDocument/2006/relationships/notesSlide" Target="/ppt/notesSlides/notesSlide56.xml" Id="R3a3a4be046974a4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86275b5ca0b48e2" /><Relationship Type="http://schemas.openxmlformats.org/officeDocument/2006/relationships/notesSlide" Target="/ppt/notesSlides/notesSlide57.xml" Id="R74e1625aaec74c5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960b4875db54ce3" /><Relationship Type="http://schemas.openxmlformats.org/officeDocument/2006/relationships/notesSlide" Target="/ppt/notesSlides/notesSlide58.xml" Id="R963872a17c4f4b7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d3a3bb41aec414a" /><Relationship Type="http://schemas.openxmlformats.org/officeDocument/2006/relationships/notesSlide" Target="/ppt/notesSlides/notesSlide59.xml" Id="R84146051d5194a0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4b3b5a261c034531" /><Relationship Type="http://schemas.openxmlformats.org/officeDocument/2006/relationships/notesSlide" Target="/ppt/notesSlides/notesSlide60.xml" Id="R8ac18d842e68401a"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191685ab1edc41f8" /><Relationship Type="http://schemas.openxmlformats.org/officeDocument/2006/relationships/notesSlide" Target="/ppt/notesSlides/notesSlide61.xml" Id="Rff3e7a6f6a564463"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0f61367e17574a3e" /><Relationship Type="http://schemas.openxmlformats.org/officeDocument/2006/relationships/notesSlide" Target="/ppt/notesSlides/notesSlide62.xml" Id="Rad37856d0460452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310d501bf524b20" /><Relationship Type="http://schemas.openxmlformats.org/officeDocument/2006/relationships/notesSlide" Target="/ppt/notesSlides/notesSlide63.xml" Id="Rabd77f6fe1d140b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14cc430f32664d1b" /><Relationship Type="http://schemas.openxmlformats.org/officeDocument/2006/relationships/notesSlide" Target="/ppt/notesSlides/notesSlide64.xml" Id="Redbc13adffa14a56"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b3622e1494ff40fc" /><Relationship Type="http://schemas.openxmlformats.org/officeDocument/2006/relationships/notesSlide" Target="/ppt/notesSlides/notesSlide65.xml" Id="R0fd8503484034669"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01eb106f2b274779" /><Relationship Type="http://schemas.openxmlformats.org/officeDocument/2006/relationships/notesSlide" Target="/ppt/notesSlides/notesSlide66.xml" Id="R628353f5494a46b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4145db3472284d41" /><Relationship Type="http://schemas.openxmlformats.org/officeDocument/2006/relationships/notesSlide" Target="/ppt/notesSlides/notesSlide67.xml" Id="R63263fb9bedf490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9d66407f65f14ab1" /><Relationship Type="http://schemas.openxmlformats.org/officeDocument/2006/relationships/notesSlide" Target="/ppt/notesSlides/notesSlide68.xml" Id="R99978da4da044d33"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78005b144cf3479f" /><Relationship Type="http://schemas.openxmlformats.org/officeDocument/2006/relationships/notesSlide" Target="/ppt/notesSlides/notesSlide69.xml" Id="Re28bcc9699c24462"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933373b8ed084e62" /><Relationship Type="http://schemas.openxmlformats.org/officeDocument/2006/relationships/notesSlide" Target="/ppt/notesSlides/notesSlide70.xml" Id="R23946505790c4680"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89fd176a509f4586" /><Relationship Type="http://schemas.openxmlformats.org/officeDocument/2006/relationships/notesSlide" Target="/ppt/notesSlides/notesSlide71.xml" Id="R9c4c47dee7b444cc"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612618717fed40f5" /><Relationship Type="http://schemas.openxmlformats.org/officeDocument/2006/relationships/notesSlide" Target="/ppt/notesSlides/notesSlide72.xml" Id="R94d04f82db2b4e2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d131af01001e488c" /><Relationship Type="http://schemas.openxmlformats.org/officeDocument/2006/relationships/notesSlide" Target="/ppt/notesSlides/notesSlide73.xml" Id="R530e19e7b5d7483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f3294a4bd15d4b29" /><Relationship Type="http://schemas.openxmlformats.org/officeDocument/2006/relationships/notesSlide" Target="/ppt/notesSlides/notesSlide74.xml" Id="R3abce29f0e6c4a08"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77ba0aafb114480b" /><Relationship Type="http://schemas.openxmlformats.org/officeDocument/2006/relationships/notesSlide" Target="/ppt/notesSlides/notesSlide75.xml" Id="R304efe0d482b4b3b"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76dd66857ac742ea" /><Relationship Type="http://schemas.openxmlformats.org/officeDocument/2006/relationships/notesSlide" Target="/ppt/notesSlides/notesSlide76.xml" Id="R02140c1342a84a99"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de422ca78706457f" /><Relationship Type="http://schemas.openxmlformats.org/officeDocument/2006/relationships/notesSlide" Target="/ppt/notesSlides/notesSlide77.xml" Id="R6a104b8cd0f545f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AF3B194-394E-461C-AFC2-92ECCC0FA71E}"/>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CB82FD7F-EAA5-4AC7-A688-2326AA732FE3}"/>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4050" b="1" i="0">
                <a:solidFill>
                  <a:srgbClr val="1D2A33"/>
                </a:solidFill>
                <a:latin typeface="Georgia"/>
                <a:ea typeface="Georgia"/>
                <a:cs typeface="Georgia"/>
              </a:defRPr>
            </a:pPr>
            <a:r>
              <a:rPr sz="4050" b="1" i="0">
                <a:solidFill>
                  <a:srgbClr val="1D2A33"/>
                </a:solidFill>
                <a:latin typeface="Georgia"/>
                <a:ea typeface="Georgia"/>
                <a:cs typeface="Georgia"/>
              </a:rPr>
              <a:t>The Supply and Demand Playbook</a:t>
            </a:r>
          </a:p>
        </p:txBody>
      </p:sp>
      <p:sp>
        <p:nvSpPr>
          <p:cNvPr id="3" name="text-2">
            <a:extLst xmlns:a="http://schemas.openxmlformats.org/drawingml/2006/main">
              <a:ext uri="{FF2B5EF4-FFF2-40B4-BE49-F238E27FC236}">
                <a16:creationId xmlns:a16="http://schemas.microsoft.com/office/drawing/2014/main" id="{DD84C8DA-09F9-46F3-818C-AE548DB7C502}"/>
              </a:ext>
            </a:extLst>
          </p:cNvPr>
          <p:cNvSpPr>
            <a:spLocks xmlns:a="http://schemas.openxmlformats.org/drawingml/2006/main" noGrp="1"/>
          </p:cNvSpPr>
          <p:nvPr/>
        </p:nvSpPr>
        <p:spPr>
          <a:xfrm xmlns:a="http://schemas.openxmlformats.org/drawingml/2006/main">
            <a:off x="685800" y="2190750"/>
            <a:ext cx="1047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150" b="0" i="0">
                <a:solidFill>
                  <a:srgbClr val="12455E"/>
                </a:solidFill>
                <a:latin typeface="Georgia"/>
                <a:ea typeface="Georgia"/>
                <a:cs typeface="Georgia"/>
              </a:defRPr>
            </a:pPr>
            <a:r>
              <a:rPr sz="3150" b="0" i="0">
                <a:solidFill>
                  <a:srgbClr val="12455E"/>
                </a:solidFill>
                <a:latin typeface="Georgia"/>
                <a:ea typeface="Georgia"/>
                <a:cs typeface="Georgia"/>
              </a:rPr>
              <a:t>How do choices become prices, quantities, and market adjustments?</a:t>
            </a:r>
          </a:p>
        </p:txBody>
      </p:sp>
      <p:sp>
        <p:nvSpPr>
          <p:cNvPr id="4" name="text-3">
            <a:extLst xmlns:a="http://schemas.openxmlformats.org/drawingml/2006/main">
              <a:ext uri="{FF2B5EF4-FFF2-40B4-BE49-F238E27FC236}">
                <a16:creationId xmlns:a16="http://schemas.microsoft.com/office/drawing/2014/main" id="{03A835E8-5440-404B-BD31-B4A8474C7AAC}"/>
              </a:ext>
            </a:extLst>
          </p:cNvPr>
          <p:cNvSpPr>
            <a:spLocks xmlns:a="http://schemas.openxmlformats.org/drawingml/2006/main" noGrp="1"/>
          </p:cNvSpPr>
          <p:nvPr/>
        </p:nvSpPr>
        <p:spPr>
          <a:xfrm xmlns:a="http://schemas.openxmlformats.org/drawingml/2006/main">
            <a:off x="723900" y="4171950"/>
            <a:ext cx="103822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250" b="0" i="0">
                <a:solidFill>
                  <a:srgbClr val="1D2A33"/>
                </a:solidFill>
                <a:latin typeface="Aptos"/>
                <a:ea typeface="Aptos"/>
                <a:cs typeface="Aptos"/>
              </a:defRPr>
            </a:pPr>
            <a:r>
              <a:t>Chapter 2 · Sports Economics</a:t>
            </a:r>
          </a:p>
          <a:p xmlns:a="http://schemas.openxmlformats.org/drawingml/2006/main">
            <a:pPr marL="254000" indent="-152400" algn="l">
              <a:spcAft>
                <a:spcPts val="1600"/>
              </a:spcAft>
              <a:buChar char="•"/>
              <a:defRPr sz="2250" b="0" i="0">
                <a:solidFill>
                  <a:srgbClr val="1D2A33"/>
                </a:solidFill>
                <a:latin typeface="Aptos"/>
                <a:ea typeface="Aptos"/>
                <a:cs typeface="Aptos"/>
              </a:defRPr>
            </a:pPr>
            <a:r>
              <a:t>From economic reasoning to curves—and then to responsiveness.</a:t>
            </a:r>
          </a:p>
        </p:txBody>
      </p:sp>
      <p:sp>
        <p:nvSpPr>
          <p:cNvPr id="5" name="">
            <a:extLst xmlns:a="http://schemas.openxmlformats.org/drawingml/2006/main">
              <a:ext uri="{FF2B5EF4-FFF2-40B4-BE49-F238E27FC236}">
                <a16:creationId xmlns:a16="http://schemas.microsoft.com/office/drawing/2014/main" id="{947F02DD-1151-45CF-AD75-C379BED6D333}"/>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C6085B8E-A6C8-495E-92F7-782DE1EC5FBD}"/>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Supply and Demand Playbook</a:t>
            </a:r>
          </a:p>
        </p:txBody>
      </p:sp>
      <p:sp>
        <p:nvSpPr>
          <p:cNvPr id="7" name="text-6">
            <a:extLst xmlns:a="http://schemas.openxmlformats.org/drawingml/2006/main">
              <a:ext uri="{FF2B5EF4-FFF2-40B4-BE49-F238E27FC236}">
                <a16:creationId xmlns:a16="http://schemas.microsoft.com/office/drawing/2014/main" id="{6781B610-FB6E-46A3-8B92-027D54251DD2}"/>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a:t>
            </a:r>
          </a:p>
        </p:txBody>
      </p:sp>
    </p:spTree>
    <p:extLst>
      <p:ext uri="{BB962C8B-B14F-4D97-AF65-F5344CB8AC3E}">
        <p14:creationId xmlns:p14="http://schemas.microsoft.com/office/powerpoint/2010/main" val="18453435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90DD6F8-CEF5-4FF0-9885-7530B789F34B}"/>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B2B9558C-D4D5-4DCF-9960-1DF55BC9BC75}"/>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A star arrives. Prices and attendance rise.</a:t>
            </a:r>
          </a:p>
        </p:txBody>
      </p:sp>
      <p:sp>
        <p:nvSpPr>
          <p:cNvPr id="3" name="text-2">
            <a:extLst xmlns:a="http://schemas.openxmlformats.org/drawingml/2006/main">
              <a:ext uri="{FF2B5EF4-FFF2-40B4-BE49-F238E27FC236}">
                <a16:creationId xmlns:a16="http://schemas.microsoft.com/office/drawing/2014/main" id="{EBF59133-A2F9-416F-8FD8-C861594B9C54}"/>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Fans are willing to pay more to watch the team.</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Yet the law of demand says higher prices reduce quantity demanded.</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How can both statements be true?</a:t>
            </a:r>
          </a:p>
        </p:txBody>
      </p:sp>
      <p:sp>
        <p:nvSpPr>
          <p:cNvPr id="4" name="text-3">
            <a:extLst xmlns:a="http://schemas.openxmlformats.org/drawingml/2006/main">
              <a:ext uri="{FF2B5EF4-FFF2-40B4-BE49-F238E27FC236}">
                <a16:creationId xmlns:a16="http://schemas.microsoft.com/office/drawing/2014/main" id="{D5458C0E-3A51-4CCE-AEBB-04E1DFF8A476}"/>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Keep the question in mind as we distinguish movements from shifts.</a:t>
            </a:r>
          </a:p>
        </p:txBody>
      </p:sp>
      <p:sp>
        <p:nvSpPr>
          <p:cNvPr id="5" name="">
            <a:extLst xmlns:a="http://schemas.openxmlformats.org/drawingml/2006/main">
              <a:ext uri="{FF2B5EF4-FFF2-40B4-BE49-F238E27FC236}">
                <a16:creationId xmlns:a16="http://schemas.microsoft.com/office/drawing/2014/main" id="{4D52D80F-48AC-4754-8114-F88021EA4C6D}"/>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1CC97C07-C34D-4496-BD55-2547B3217713}"/>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Supply and Demand Playbook</a:t>
            </a:r>
          </a:p>
        </p:txBody>
      </p:sp>
      <p:sp>
        <p:nvSpPr>
          <p:cNvPr id="7" name="text-6">
            <a:extLst xmlns:a="http://schemas.openxmlformats.org/drawingml/2006/main">
              <a:ext uri="{FF2B5EF4-FFF2-40B4-BE49-F238E27FC236}">
                <a16:creationId xmlns:a16="http://schemas.microsoft.com/office/drawing/2014/main" id="{1737220E-6495-44CC-A4FB-8BF255D22FE0}"/>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a:t>
            </a:r>
          </a:p>
        </p:txBody>
      </p:sp>
    </p:spTree>
    <p:extLst>
      <p:ext uri="{BB962C8B-B14F-4D97-AF65-F5344CB8AC3E}">
        <p14:creationId xmlns:p14="http://schemas.microsoft.com/office/powerpoint/2010/main" val="11900731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52BA685-7EB9-461B-9633-E53847B9186E}"/>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66A21916-608D-43BF-A1E2-566390D6D697}"/>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Learning goals · Choices and markets</a:t>
            </a:r>
          </a:p>
        </p:txBody>
      </p:sp>
      <p:sp>
        <p:nvSpPr>
          <p:cNvPr id="3" name="text-2">
            <a:extLst xmlns:a="http://schemas.openxmlformats.org/drawingml/2006/main">
              <a:ext uri="{FF2B5EF4-FFF2-40B4-BE49-F238E27FC236}">
                <a16:creationId xmlns:a16="http://schemas.microsoft.com/office/drawing/2014/main" id="{8FB4520D-D946-415B-A57D-FC71939D7153}"/>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250" b="0" i="0">
                <a:solidFill>
                  <a:srgbClr val="1D2A33"/>
                </a:solidFill>
                <a:latin typeface="Aptos"/>
                <a:ea typeface="Aptos"/>
                <a:cs typeface="Aptos"/>
              </a:defRPr>
            </a:pPr>
            <a:r>
              <a:t>explain scarcity, opportunity cost, incentives, marginal thinking, substitution, and ceteris paribus</a:t>
            </a:r>
          </a:p>
          <a:p xmlns:a="http://schemas.openxmlformats.org/drawingml/2006/main">
            <a:pPr marL="254000" indent="-152400" algn="l">
              <a:spcAft>
                <a:spcPts val="1600"/>
              </a:spcAft>
              <a:buChar char="•"/>
              <a:defRPr sz="2250" b="0" i="0">
                <a:solidFill>
                  <a:srgbClr val="1D2A33"/>
                </a:solidFill>
                <a:latin typeface="Aptos"/>
                <a:ea typeface="Aptos"/>
                <a:cs typeface="Aptos"/>
              </a:defRPr>
            </a:pPr>
            <a:r>
              <a:t>distinguish demand from quantity demanded and supply from quantity supplied</a:t>
            </a:r>
          </a:p>
          <a:p xmlns:a="http://schemas.openxmlformats.org/drawingml/2006/main">
            <a:pPr marL="254000" indent="-152400" algn="l">
              <a:spcAft>
                <a:spcPts val="1600"/>
              </a:spcAft>
              <a:buChar char="•"/>
              <a:defRPr sz="2250" b="0" i="0">
                <a:solidFill>
                  <a:srgbClr val="1D2A33"/>
                </a:solidFill>
                <a:latin typeface="Aptos"/>
                <a:ea typeface="Aptos"/>
                <a:cs typeface="Aptos"/>
              </a:defRPr>
            </a:pPr>
            <a:r>
              <a:t>identify the standard determinants of demand and supply</a:t>
            </a:r>
          </a:p>
          <a:p xmlns:a="http://schemas.openxmlformats.org/drawingml/2006/main">
            <a:pPr marL="254000" indent="-152400" algn="l">
              <a:spcAft>
                <a:spcPts val="1600"/>
              </a:spcAft>
              <a:buChar char="•"/>
              <a:defRPr sz="2250" b="0" i="0">
                <a:solidFill>
                  <a:srgbClr val="1D2A33"/>
                </a:solidFill>
                <a:latin typeface="Aptos"/>
                <a:ea typeface="Aptos"/>
                <a:cs typeface="Aptos"/>
              </a:defRPr>
            </a:pPr>
            <a:r>
              <a:t>distinguish a movement along a curve from a shift of the curve</a:t>
            </a:r>
          </a:p>
          <a:p xmlns:a="http://schemas.openxmlformats.org/drawingml/2006/main">
            <a:pPr marL="254000" indent="-152400" algn="l">
              <a:spcAft>
                <a:spcPts val="1600"/>
              </a:spcAft>
              <a:buChar char="•"/>
              <a:defRPr sz="2250" b="0" i="0">
                <a:solidFill>
                  <a:srgbClr val="1D2A33"/>
                </a:solidFill>
                <a:latin typeface="Aptos"/>
                <a:ea typeface="Aptos"/>
                <a:cs typeface="Aptos"/>
              </a:defRPr>
            </a:pPr>
            <a:r>
              <a:t>find market equilibrium and explain shortages and excess supply</a:t>
            </a:r>
          </a:p>
          <a:p xmlns:a="http://schemas.openxmlformats.org/drawingml/2006/main">
            <a:pPr marL="254000" indent="-152400" algn="l">
              <a:spcAft>
                <a:spcPts val="1600"/>
              </a:spcAft>
              <a:buChar char="•"/>
              <a:defRPr sz="2250" b="0" i="0">
                <a:solidFill>
                  <a:srgbClr val="1D2A33"/>
                </a:solidFill>
                <a:latin typeface="Aptos"/>
                <a:ea typeface="Aptos"/>
                <a:cs typeface="Aptos"/>
              </a:defRPr>
            </a:pPr>
            <a:r>
              <a:t>use comparative statics to predict changes in equilibrium price and quantity</a:t>
            </a:r>
          </a:p>
        </p:txBody>
      </p:sp>
      <p:sp>
        <p:nvSpPr>
          <p:cNvPr id="4" name="">
            <a:extLst xmlns:a="http://schemas.openxmlformats.org/drawingml/2006/main">
              <a:ext uri="{FF2B5EF4-FFF2-40B4-BE49-F238E27FC236}">
                <a16:creationId xmlns:a16="http://schemas.microsoft.com/office/drawing/2014/main" id="{634F4155-7C31-465A-BE5C-CC9285E0F1A5}"/>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9541D542-869C-464C-B1A2-4AE83177A6B7}"/>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Learning Goals</a:t>
            </a:r>
          </a:p>
        </p:txBody>
      </p:sp>
      <p:sp>
        <p:nvSpPr>
          <p:cNvPr id="6" name="text-5">
            <a:extLst xmlns:a="http://schemas.openxmlformats.org/drawingml/2006/main">
              <a:ext uri="{FF2B5EF4-FFF2-40B4-BE49-F238E27FC236}">
                <a16:creationId xmlns:a16="http://schemas.microsoft.com/office/drawing/2014/main" id="{3666072C-B36C-4F51-B180-BE3815A8DADD}"/>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a:t>
            </a:r>
          </a:p>
        </p:txBody>
      </p:sp>
    </p:spTree>
    <p:extLst>
      <p:ext uri="{BB962C8B-B14F-4D97-AF65-F5344CB8AC3E}">
        <p14:creationId xmlns:p14="http://schemas.microsoft.com/office/powerpoint/2010/main" val="5868667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928200C-DF68-42A0-BE96-D7D25106ABB8}"/>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0C6924DF-B473-453F-9569-6EAE8413755E}"/>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Learning goals · Responsiveness</a:t>
            </a:r>
          </a:p>
        </p:txBody>
      </p:sp>
      <p:sp>
        <p:nvSpPr>
          <p:cNvPr id="3" name="text-2">
            <a:extLst xmlns:a="http://schemas.openxmlformats.org/drawingml/2006/main">
              <a:ext uri="{FF2B5EF4-FFF2-40B4-BE49-F238E27FC236}">
                <a16:creationId xmlns:a16="http://schemas.microsoft.com/office/drawing/2014/main" id="{1E82C075-45BF-4D77-B695-5BAD6D8D0DDF}"/>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250" b="0" i="0">
                <a:solidFill>
                  <a:srgbClr val="1D2A33"/>
                </a:solidFill>
                <a:latin typeface="Aptos"/>
                <a:ea typeface="Aptos"/>
                <a:cs typeface="Aptos"/>
              </a:defRPr>
            </a:pPr>
            <a:r>
              <a:t>define and calculate price elasticity of demand using percentage changes</a:t>
            </a:r>
          </a:p>
          <a:p xmlns:a="http://schemas.openxmlformats.org/drawingml/2006/main">
            <a:pPr marL="254000" indent="-152400" algn="l">
              <a:spcAft>
                <a:spcPts val="1600"/>
              </a:spcAft>
              <a:buChar char="•"/>
              <a:defRPr sz="2250" b="0" i="0">
                <a:solidFill>
                  <a:srgbClr val="1D2A33"/>
                </a:solidFill>
                <a:latin typeface="Aptos"/>
                <a:ea typeface="Aptos"/>
                <a:cs typeface="Aptos"/>
              </a:defRPr>
            </a:pPr>
            <a:r>
              <a:t>connect own-price elasticity to total revenue without confusing revenue with profit</a:t>
            </a:r>
          </a:p>
          <a:p xmlns:a="http://schemas.openxmlformats.org/drawingml/2006/main">
            <a:pPr marL="254000" indent="-152400" algn="l">
              <a:spcAft>
                <a:spcPts val="1600"/>
              </a:spcAft>
              <a:buChar char="•"/>
              <a:defRPr sz="2250" b="0" i="0">
                <a:solidFill>
                  <a:srgbClr val="1D2A33"/>
                </a:solidFill>
                <a:latin typeface="Aptos"/>
                <a:ea typeface="Aptos"/>
                <a:cs typeface="Aptos"/>
              </a:defRPr>
            </a:pPr>
            <a:r>
              <a:t>define price elasticity of supply and explain the importance of time and capacity</a:t>
            </a:r>
          </a:p>
          <a:p xmlns:a="http://schemas.openxmlformats.org/drawingml/2006/main">
            <a:pPr marL="254000" indent="-152400" algn="l">
              <a:spcAft>
                <a:spcPts val="1600"/>
              </a:spcAft>
              <a:buChar char="•"/>
              <a:defRPr sz="2250" b="0" i="0">
                <a:solidFill>
                  <a:srgbClr val="1D2A33"/>
                </a:solidFill>
                <a:latin typeface="Aptos"/>
                <a:ea typeface="Aptos"/>
                <a:cs typeface="Aptos"/>
              </a:defRPr>
            </a:pPr>
            <a:r>
              <a:t>interpret income elasticity and cross-price elasticity</a:t>
            </a:r>
          </a:p>
          <a:p xmlns:a="http://schemas.openxmlformats.org/drawingml/2006/main">
            <a:pPr marL="254000" indent="-152400" algn="l">
              <a:spcAft>
                <a:spcPts val="1600"/>
              </a:spcAft>
              <a:buChar char="•"/>
              <a:defRPr sz="2250" b="0" i="0">
                <a:solidFill>
                  <a:srgbClr val="1D2A33"/>
                </a:solidFill>
                <a:latin typeface="Aptos"/>
                <a:ea typeface="Aptos"/>
                <a:cs typeface="Aptos"/>
              </a:defRPr>
            </a:pPr>
            <a:r>
              <a:t>explain intuitively how a team could learn about ticket-demand responsiveness</a:t>
            </a:r>
          </a:p>
        </p:txBody>
      </p:sp>
      <p:sp>
        <p:nvSpPr>
          <p:cNvPr id="4" name="">
            <a:extLst xmlns:a="http://schemas.openxmlformats.org/drawingml/2006/main">
              <a:ext uri="{FF2B5EF4-FFF2-40B4-BE49-F238E27FC236}">
                <a16:creationId xmlns:a16="http://schemas.microsoft.com/office/drawing/2014/main" id="{7085161B-028A-427F-BA1E-9070E137DA14}"/>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EE217BE2-9E96-4F23-9978-776909E4FBEC}"/>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Learning Goals</a:t>
            </a:r>
          </a:p>
        </p:txBody>
      </p:sp>
      <p:sp>
        <p:nvSpPr>
          <p:cNvPr id="6" name="text-5">
            <a:extLst xmlns:a="http://schemas.openxmlformats.org/drawingml/2006/main">
              <a:ext uri="{FF2B5EF4-FFF2-40B4-BE49-F238E27FC236}">
                <a16:creationId xmlns:a16="http://schemas.microsoft.com/office/drawing/2014/main" id="{896DE901-4079-4644-9E52-61DC5A1D8B06}"/>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a:t>
            </a:r>
          </a:p>
        </p:txBody>
      </p:sp>
    </p:spTree>
    <p:extLst>
      <p:ext uri="{BB962C8B-B14F-4D97-AF65-F5344CB8AC3E}">
        <p14:creationId xmlns:p14="http://schemas.microsoft.com/office/powerpoint/2010/main" val="20489894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84E9E2B-C7DD-4EE2-B07E-3EA03E372DAE}"/>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62731829-0641-4EFD-8EE5-9C3F44ED202C}"/>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Scarcity and constraints</a:t>
            </a:r>
          </a:p>
        </p:txBody>
      </p:sp>
      <p:sp>
        <p:nvSpPr>
          <p:cNvPr id="3" name="text-2">
            <a:extLst xmlns:a="http://schemas.openxmlformats.org/drawingml/2006/main">
              <a:ext uri="{FF2B5EF4-FFF2-40B4-BE49-F238E27FC236}">
                <a16:creationId xmlns:a16="http://schemas.microsoft.com/office/drawing/2014/main" id="{0D490EBD-33F2-4623-96AC-7AD5A9EFEE06}"/>
              </a:ext>
            </a:extLst>
          </p:cNvPr>
          <p:cNvSpPr>
            <a:spLocks xmlns:a="http://schemas.openxmlformats.org/drawingml/2006/main" noGrp="1"/>
          </p:cNvSpPr>
          <p:nvPr/>
        </p:nvSpPr>
        <p:spPr>
          <a:xfrm xmlns:a="http://schemas.openxmlformats.org/drawingml/2006/main">
            <a:off x="723900" y="1724025"/>
            <a:ext cx="10744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550" b="0" i="0">
                <a:solidFill>
                  <a:srgbClr val="12455E"/>
                </a:solidFill>
                <a:latin typeface="Aptos"/>
                <a:ea typeface="Aptos"/>
                <a:cs typeface="Aptos"/>
              </a:defRPr>
            </a:pPr>
            <a:r>
              <a:rPr sz="2550" b="0" i="0">
                <a:solidFill>
                  <a:srgbClr val="12455E"/>
                </a:solidFill>
                <a:latin typeface="Aptos"/>
                <a:ea typeface="Aptos"/>
                <a:cs typeface="Aptos"/>
              </a:rPr>
              <a:t>Scarcity: available resources cannot satisfy every possible use.</a:t>
            </a:r>
          </a:p>
        </p:txBody>
      </p:sp>
      <p:sp>
        <p:nvSpPr>
          <p:cNvPr id="4" name="text-3">
            <a:extLst xmlns:a="http://schemas.openxmlformats.org/drawingml/2006/main">
              <a:ext uri="{FF2B5EF4-FFF2-40B4-BE49-F238E27FC236}">
                <a16:creationId xmlns:a16="http://schemas.microsoft.com/office/drawing/2014/main" id="{D5DFD897-87B7-4782-A9EE-676B5A2448CE}"/>
              </a:ext>
            </a:extLst>
          </p:cNvPr>
          <p:cNvSpPr>
            <a:spLocks xmlns:a="http://schemas.openxmlformats.org/drawingml/2006/main" noGrp="1"/>
          </p:cNvSpPr>
          <p:nvPr/>
        </p:nvSpPr>
        <p:spPr>
          <a:xfrm xmlns:a="http://schemas.openxmlformats.org/drawingml/2006/main">
            <a:off x="723900" y="2943225"/>
            <a:ext cx="107442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Fans have limited income and time; teams have limited roster spots, space, staff, and capital.</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Using a resource one way prevents another use.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Scarcity creates choice—even for wealthy teams.</a:t>
            </a:r>
          </a:p>
        </p:txBody>
      </p:sp>
      <p:sp>
        <p:nvSpPr>
          <p:cNvPr id="5" name="">
            <a:extLst xmlns:a="http://schemas.openxmlformats.org/drawingml/2006/main">
              <a:ext uri="{FF2B5EF4-FFF2-40B4-BE49-F238E27FC236}">
                <a16:creationId xmlns:a16="http://schemas.microsoft.com/office/drawing/2014/main" id="{A4CA7DEE-2707-4235-B13E-6A9B49D184A9}"/>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06A6980A-057E-4BD2-850B-8C5CFF83E87B}"/>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Economic Toolkit Before The Curves</a:t>
            </a:r>
          </a:p>
        </p:txBody>
      </p:sp>
      <p:sp>
        <p:nvSpPr>
          <p:cNvPr id="7" name="text-6">
            <a:extLst xmlns:a="http://schemas.openxmlformats.org/drawingml/2006/main">
              <a:ext uri="{FF2B5EF4-FFF2-40B4-BE49-F238E27FC236}">
                <a16:creationId xmlns:a16="http://schemas.microsoft.com/office/drawing/2014/main" id="{2DC374AC-2B3F-46F0-900F-B3FCD010C220}"/>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a:t>
            </a:r>
          </a:p>
        </p:txBody>
      </p:sp>
    </p:spTree>
    <p:extLst>
      <p:ext uri="{BB962C8B-B14F-4D97-AF65-F5344CB8AC3E}">
        <p14:creationId xmlns:p14="http://schemas.microsoft.com/office/powerpoint/2010/main" val="2650630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A283EFA-352A-411E-A41D-86F253030E20}"/>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23C16717-3518-413F-BCD4-09E07725508D}"/>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Opportunity cost</a:t>
            </a:r>
          </a:p>
        </p:txBody>
      </p:sp>
      <p:sp>
        <p:nvSpPr>
          <p:cNvPr id="3" name="text-2">
            <a:extLst xmlns:a="http://schemas.openxmlformats.org/drawingml/2006/main">
              <a:ext uri="{FF2B5EF4-FFF2-40B4-BE49-F238E27FC236}">
                <a16:creationId xmlns:a16="http://schemas.microsoft.com/office/drawing/2014/main" id="{842BBEE1-DDED-49D9-A089-15C2EE604892}"/>
              </a:ext>
            </a:extLst>
          </p:cNvPr>
          <p:cNvSpPr>
            <a:spLocks xmlns:a="http://schemas.openxmlformats.org/drawingml/2006/main" noGrp="1"/>
          </p:cNvSpPr>
          <p:nvPr/>
        </p:nvSpPr>
        <p:spPr>
          <a:xfrm xmlns:a="http://schemas.openxmlformats.org/drawingml/2006/main">
            <a:off x="723900" y="1724025"/>
            <a:ext cx="10744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550" b="0" i="0">
                <a:solidFill>
                  <a:srgbClr val="12455E"/>
                </a:solidFill>
                <a:latin typeface="Aptos"/>
                <a:ea typeface="Aptos"/>
                <a:cs typeface="Aptos"/>
              </a:defRPr>
            </a:pPr>
            <a:r>
              <a:rPr sz="2550" b="0" i="0">
                <a:solidFill>
                  <a:srgbClr val="12455E"/>
                </a:solidFill>
                <a:latin typeface="Aptos"/>
                <a:ea typeface="Aptos"/>
                <a:cs typeface="Aptos"/>
              </a:rPr>
              <a:t>Opportunity cost: the value of the best alternative forgone.</a:t>
            </a:r>
          </a:p>
        </p:txBody>
      </p:sp>
      <p:sp>
        <p:nvSpPr>
          <p:cNvPr id="4" name="text-3">
            <a:extLst xmlns:a="http://schemas.openxmlformats.org/drawingml/2006/main">
              <a:ext uri="{FF2B5EF4-FFF2-40B4-BE49-F238E27FC236}">
                <a16:creationId xmlns:a16="http://schemas.microsoft.com/office/drawing/2014/main" id="{76F1C256-8ACF-4D7C-A83D-AEBBBCD83F8F}"/>
              </a:ext>
            </a:extLst>
          </p:cNvPr>
          <p:cNvSpPr>
            <a:spLocks xmlns:a="http://schemas.openxmlformats.org/drawingml/2006/main" noGrp="1"/>
          </p:cNvSpPr>
          <p:nvPr/>
        </p:nvSpPr>
        <p:spPr>
          <a:xfrm xmlns:a="http://schemas.openxmlformats.org/drawingml/2006/main">
            <a:off x="723900" y="2943225"/>
            <a:ext cx="107442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A fan gives up money, travel time, and an alternative use of the evening.</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 roster spot used for one player cannot be used for the next-best alternative.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An already-incurred stadium expense is not a cost created by today’s attendance decision.</a:t>
            </a:r>
          </a:p>
        </p:txBody>
      </p:sp>
      <p:sp>
        <p:nvSpPr>
          <p:cNvPr id="5" name="">
            <a:extLst xmlns:a="http://schemas.openxmlformats.org/drawingml/2006/main">
              <a:ext uri="{FF2B5EF4-FFF2-40B4-BE49-F238E27FC236}">
                <a16:creationId xmlns:a16="http://schemas.microsoft.com/office/drawing/2014/main" id="{835D8DD9-3343-476D-86F5-4F82EFBD5857}"/>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2CABDB83-4C58-4B78-8D6E-6566D197B423}"/>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Economic Toolkit Before The Curves</a:t>
            </a:r>
          </a:p>
        </p:txBody>
      </p:sp>
      <p:sp>
        <p:nvSpPr>
          <p:cNvPr id="7" name="text-6">
            <a:extLst xmlns:a="http://schemas.openxmlformats.org/drawingml/2006/main">
              <a:ext uri="{FF2B5EF4-FFF2-40B4-BE49-F238E27FC236}">
                <a16:creationId xmlns:a16="http://schemas.microsoft.com/office/drawing/2014/main" id="{AA993B02-EF08-41DE-83BA-EA9AEC656C5B}"/>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a:t>
            </a:r>
          </a:p>
        </p:txBody>
      </p:sp>
    </p:spTree>
    <p:extLst>
      <p:ext uri="{BB962C8B-B14F-4D97-AF65-F5344CB8AC3E}">
        <p14:creationId xmlns:p14="http://schemas.microsoft.com/office/powerpoint/2010/main" val="19876756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2F3F296-2E52-4CE8-B232-8EEC8F385C3B}"/>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2E8F53E0-4D0F-4215-81D3-B08698A54071}"/>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Incentives change choices</a:t>
            </a:r>
          </a:p>
        </p:txBody>
      </p:sp>
      <p:sp>
        <p:nvSpPr>
          <p:cNvPr id="3" name="text-2">
            <a:extLst xmlns:a="http://schemas.openxmlformats.org/drawingml/2006/main">
              <a:ext uri="{FF2B5EF4-FFF2-40B4-BE49-F238E27FC236}">
                <a16:creationId xmlns:a16="http://schemas.microsoft.com/office/drawing/2014/main" id="{A385A071-9476-4EE1-807A-B1455069E0F2}"/>
              </a:ext>
            </a:extLst>
          </p:cNvPr>
          <p:cNvSpPr>
            <a:spLocks xmlns:a="http://schemas.openxmlformats.org/drawingml/2006/main" noGrp="1"/>
          </p:cNvSpPr>
          <p:nvPr/>
        </p:nvSpPr>
        <p:spPr>
          <a:xfrm xmlns:a="http://schemas.openxmlformats.org/drawingml/2006/main">
            <a:off x="723900" y="1724025"/>
            <a:ext cx="10744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550" b="0" i="0">
                <a:solidFill>
                  <a:srgbClr val="12455E"/>
                </a:solidFill>
                <a:latin typeface="Aptos"/>
                <a:ea typeface="Aptos"/>
                <a:cs typeface="Aptos"/>
              </a:defRPr>
            </a:pPr>
            <a:r>
              <a:rPr sz="2550" b="0" i="0">
                <a:solidFill>
                  <a:srgbClr val="12455E"/>
                </a:solidFill>
                <a:latin typeface="Aptos"/>
                <a:ea typeface="Aptos"/>
                <a:cs typeface="Aptos"/>
              </a:rPr>
              <a:t>An incentive changes the benefit or cost of a choice.</a:t>
            </a:r>
          </a:p>
        </p:txBody>
      </p:sp>
      <p:sp>
        <p:nvSpPr>
          <p:cNvPr id="4" name="text-3">
            <a:extLst xmlns:a="http://schemas.openxmlformats.org/drawingml/2006/main">
              <a:ext uri="{FF2B5EF4-FFF2-40B4-BE49-F238E27FC236}">
                <a16:creationId xmlns:a16="http://schemas.microsoft.com/office/drawing/2014/main" id="{ECA5A6F8-CC22-4695-8634-393789BF6676}"/>
              </a:ext>
            </a:extLst>
          </p:cNvPr>
          <p:cNvSpPr>
            <a:spLocks xmlns:a="http://schemas.openxmlformats.org/drawingml/2006/main" noGrp="1"/>
          </p:cNvSpPr>
          <p:nvPr/>
        </p:nvSpPr>
        <p:spPr>
          <a:xfrm xmlns:a="http://schemas.openxmlformats.org/drawingml/2006/main">
            <a:off x="723900" y="2943225"/>
            <a:ext cx="107442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A lower ticket price can attract an additional group of fans.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Higher overtime pay can encourage another hour of work.</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 league rule can change the value of carrying a particular player.</a:t>
            </a:r>
          </a:p>
        </p:txBody>
      </p:sp>
      <p:sp>
        <p:nvSpPr>
          <p:cNvPr id="5" name="">
            <a:extLst xmlns:a="http://schemas.openxmlformats.org/drawingml/2006/main">
              <a:ext uri="{FF2B5EF4-FFF2-40B4-BE49-F238E27FC236}">
                <a16:creationId xmlns:a16="http://schemas.microsoft.com/office/drawing/2014/main" id="{715006A3-BA8D-46C5-9310-9A0DD88F319C}"/>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581CAE08-DB82-4FA7-B50E-C19E234E1B60}"/>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Economic Toolkit Before The Curves</a:t>
            </a:r>
          </a:p>
        </p:txBody>
      </p:sp>
      <p:sp>
        <p:nvSpPr>
          <p:cNvPr id="7" name="text-6">
            <a:extLst xmlns:a="http://schemas.openxmlformats.org/drawingml/2006/main">
              <a:ext uri="{FF2B5EF4-FFF2-40B4-BE49-F238E27FC236}">
                <a16:creationId xmlns:a16="http://schemas.microsoft.com/office/drawing/2014/main" id="{AFF03882-F96A-4C87-9E06-667DEC0BAF15}"/>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7</a:t>
            </a:r>
          </a:p>
        </p:txBody>
      </p:sp>
    </p:spTree>
    <p:extLst>
      <p:ext uri="{BB962C8B-B14F-4D97-AF65-F5344CB8AC3E}">
        <p14:creationId xmlns:p14="http://schemas.microsoft.com/office/powerpoint/2010/main" val="6637352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88B7B5A-6CBE-4C35-9774-EA09F0FCA668}"/>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4181FAFE-75AA-4A6B-9988-47199B135412}"/>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Think at the margin</a:t>
            </a:r>
          </a:p>
        </p:txBody>
      </p:sp>
      <p:sp>
        <p:nvSpPr>
          <p:cNvPr id="3" name="text-2">
            <a:extLst xmlns:a="http://schemas.openxmlformats.org/drawingml/2006/main">
              <a:ext uri="{FF2B5EF4-FFF2-40B4-BE49-F238E27FC236}">
                <a16:creationId xmlns:a16="http://schemas.microsoft.com/office/drawing/2014/main" id="{A71F46D5-7E42-46CF-A67C-BC3F4D71F6D8}"/>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Marginal benefit (MB):</a:t>
            </a:r>
            <a:r>
              <a:t> the additional benefit from one more unit or adjustment.</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Marginal cost (MC):</a:t>
            </a:r>
            <a:r>
              <a:t> its additional cost.</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Continue while MB &gt; MC; stop expanding when the next unit costs more than it is worth.</a:t>
            </a:r>
          </a:p>
        </p:txBody>
      </p:sp>
      <p:sp>
        <p:nvSpPr>
          <p:cNvPr id="4" name="text-3">
            <a:extLst xmlns:a="http://schemas.openxmlformats.org/drawingml/2006/main">
              <a:ext uri="{FF2B5EF4-FFF2-40B4-BE49-F238E27FC236}">
                <a16:creationId xmlns:a16="http://schemas.microsoft.com/office/drawing/2014/main" id="{FED10397-8EF4-4C5D-9532-ED262A8F841B}"/>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Ask “one more ticket?” or “one more hour?”—not just “sports or no sports?”</a:t>
            </a:r>
          </a:p>
        </p:txBody>
      </p:sp>
      <p:sp>
        <p:nvSpPr>
          <p:cNvPr id="5" name="">
            <a:extLst xmlns:a="http://schemas.openxmlformats.org/drawingml/2006/main">
              <a:ext uri="{FF2B5EF4-FFF2-40B4-BE49-F238E27FC236}">
                <a16:creationId xmlns:a16="http://schemas.microsoft.com/office/drawing/2014/main" id="{63CD5C4F-0D93-43DF-ACF4-70CECCE08548}"/>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817E2DC2-A6B6-4E55-9513-D8DE6D360882}"/>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Economic Toolkit Before The Curves</a:t>
            </a:r>
          </a:p>
        </p:txBody>
      </p:sp>
      <p:sp>
        <p:nvSpPr>
          <p:cNvPr id="7" name="text-6">
            <a:extLst xmlns:a="http://schemas.openxmlformats.org/drawingml/2006/main">
              <a:ext uri="{FF2B5EF4-FFF2-40B4-BE49-F238E27FC236}">
                <a16:creationId xmlns:a16="http://schemas.microsoft.com/office/drawing/2014/main" id="{F54E3140-40E0-4AC4-8081-D721D1E593C9}"/>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8</a:t>
            </a:r>
          </a:p>
        </p:txBody>
      </p:sp>
    </p:spTree>
    <p:extLst>
      <p:ext uri="{BB962C8B-B14F-4D97-AF65-F5344CB8AC3E}">
        <p14:creationId xmlns:p14="http://schemas.microsoft.com/office/powerpoint/2010/main" val="6452989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A0CEE2B-0DFA-4867-A45A-E71F7B16FBE9}"/>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0527A94D-D0E7-4CA8-A82E-4AF293C83446}"/>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Substitution makes adjustment possible</a:t>
            </a:r>
          </a:p>
        </p:txBody>
      </p:sp>
      <p:sp>
        <p:nvSpPr>
          <p:cNvPr id="3" name="text-2">
            <a:extLst xmlns:a="http://schemas.openxmlformats.org/drawingml/2006/main">
              <a:ext uri="{FF2B5EF4-FFF2-40B4-BE49-F238E27FC236}">
                <a16:creationId xmlns:a16="http://schemas.microsoft.com/office/drawing/2014/main" id="{B17F0559-45AA-4B00-8863-2B1665C8F3A5}"/>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Fans can switch games, seats, viewing methods, purchase dates, or uses of time.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Producers can substitute machinery for labor or one material for another.</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More and better alternatives generally make adjustment easier.</a:t>
            </a:r>
          </a:p>
        </p:txBody>
      </p:sp>
      <p:sp>
        <p:nvSpPr>
          <p:cNvPr id="4" name="text-3">
            <a:extLst xmlns:a="http://schemas.openxmlformats.org/drawingml/2006/main">
              <a:ext uri="{FF2B5EF4-FFF2-40B4-BE49-F238E27FC236}">
                <a16:creationId xmlns:a16="http://schemas.microsoft.com/office/drawing/2014/main" id="{F7894ECD-FBC9-47B2-85F7-ACDCDEBF6665}"/>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Elasticity will measure the size of the response.</a:t>
            </a:r>
          </a:p>
        </p:txBody>
      </p:sp>
      <p:sp>
        <p:nvSpPr>
          <p:cNvPr id="5" name="">
            <a:extLst xmlns:a="http://schemas.openxmlformats.org/drawingml/2006/main">
              <a:ext uri="{FF2B5EF4-FFF2-40B4-BE49-F238E27FC236}">
                <a16:creationId xmlns:a16="http://schemas.microsoft.com/office/drawing/2014/main" id="{E2EDC565-900F-42AA-AF11-319B62CE09C5}"/>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98DBA304-4DB4-417D-8481-7B103020C39A}"/>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Economic Toolkit Before The Curves</a:t>
            </a:r>
          </a:p>
        </p:txBody>
      </p:sp>
      <p:sp>
        <p:nvSpPr>
          <p:cNvPr id="7" name="text-6">
            <a:extLst xmlns:a="http://schemas.openxmlformats.org/drawingml/2006/main">
              <a:ext uri="{FF2B5EF4-FFF2-40B4-BE49-F238E27FC236}">
                <a16:creationId xmlns:a16="http://schemas.microsoft.com/office/drawing/2014/main" id="{3FAF7D1B-BF10-4C7E-A90E-C025210898AB}"/>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9</a:t>
            </a:r>
          </a:p>
        </p:txBody>
      </p:sp>
    </p:spTree>
    <p:extLst>
      <p:ext uri="{BB962C8B-B14F-4D97-AF65-F5344CB8AC3E}">
        <p14:creationId xmlns:p14="http://schemas.microsoft.com/office/powerpoint/2010/main" val="82296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D289B71-B145-4801-B687-DED8DD7735EA}"/>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91592B52-4E8F-4948-AC12-3B3769E06E03}"/>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Ceteris paribus</a:t>
            </a:r>
          </a:p>
        </p:txBody>
      </p:sp>
      <p:sp>
        <p:nvSpPr>
          <p:cNvPr id="3" name="text-2">
            <a:extLst xmlns:a="http://schemas.openxmlformats.org/drawingml/2006/main">
              <a:ext uri="{FF2B5EF4-FFF2-40B4-BE49-F238E27FC236}">
                <a16:creationId xmlns:a16="http://schemas.microsoft.com/office/drawing/2014/main" id="{C39CD783-6442-4433-9AC0-E3F67D32885A}"/>
              </a:ext>
            </a:extLst>
          </p:cNvPr>
          <p:cNvSpPr>
            <a:spLocks xmlns:a="http://schemas.openxmlformats.org/drawingml/2006/main" noGrp="1"/>
          </p:cNvSpPr>
          <p:nvPr/>
        </p:nvSpPr>
        <p:spPr>
          <a:xfrm xmlns:a="http://schemas.openxmlformats.org/drawingml/2006/main">
            <a:off x="723900" y="1724025"/>
            <a:ext cx="10744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550" b="0" i="0">
                <a:solidFill>
                  <a:srgbClr val="12455E"/>
                </a:solidFill>
                <a:latin typeface="Aptos"/>
                <a:ea typeface="Aptos"/>
                <a:cs typeface="Aptos"/>
              </a:defRPr>
            </a:pPr>
            <a:r>
              <a:rPr sz="2550" b="0" i="0">
                <a:solidFill>
                  <a:srgbClr val="12455E"/>
                </a:solidFill>
                <a:latin typeface="Aptos"/>
                <a:ea typeface="Aptos"/>
                <a:cs typeface="Aptos"/>
              </a:rPr>
              <a:t>Ceteris paribus means “holding other relevant factors fixed.”</a:t>
            </a:r>
          </a:p>
        </p:txBody>
      </p:sp>
      <p:sp>
        <p:nvSpPr>
          <p:cNvPr id="4" name="text-3">
            <a:extLst xmlns:a="http://schemas.openxmlformats.org/drawingml/2006/main">
              <a:ext uri="{FF2B5EF4-FFF2-40B4-BE49-F238E27FC236}">
                <a16:creationId xmlns:a16="http://schemas.microsoft.com/office/drawing/2014/main" id="{BB1923AB-0868-468F-90A7-AF3B383D433B}"/>
              </a:ext>
            </a:extLst>
          </p:cNvPr>
          <p:cNvSpPr>
            <a:spLocks xmlns:a="http://schemas.openxmlformats.org/drawingml/2006/main" noGrp="1"/>
          </p:cNvSpPr>
          <p:nvPr/>
        </p:nvSpPr>
        <p:spPr>
          <a:xfrm xmlns:a="http://schemas.openxmlformats.org/drawingml/2006/main">
            <a:off x="723900" y="2943225"/>
            <a:ext cx="107442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To isolate the effect of a ticket’s own price, hold other demand determinants fixed.</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During a playoff race, higher price and higher attendance mix two changes.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The model isolates a relationship; it does not claim the real world stops changing.</a:t>
            </a:r>
          </a:p>
        </p:txBody>
      </p:sp>
      <p:sp>
        <p:nvSpPr>
          <p:cNvPr id="5" name="">
            <a:extLst xmlns:a="http://schemas.openxmlformats.org/drawingml/2006/main">
              <a:ext uri="{FF2B5EF4-FFF2-40B4-BE49-F238E27FC236}">
                <a16:creationId xmlns:a16="http://schemas.microsoft.com/office/drawing/2014/main" id="{78AACC2B-A683-4E73-A149-171B270F94B7}"/>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92AF4842-26DB-4D90-A6CC-8E993332169D}"/>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Economic Toolkit Before The Curves</a:t>
            </a:r>
          </a:p>
        </p:txBody>
      </p:sp>
      <p:sp>
        <p:nvSpPr>
          <p:cNvPr id="7" name="text-6">
            <a:extLst xmlns:a="http://schemas.openxmlformats.org/drawingml/2006/main">
              <a:ext uri="{FF2B5EF4-FFF2-40B4-BE49-F238E27FC236}">
                <a16:creationId xmlns:a16="http://schemas.microsoft.com/office/drawing/2014/main" id="{5955E058-3152-44AF-AD8A-B2BF47663FD8}"/>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10</a:t>
            </a:r>
          </a:p>
        </p:txBody>
      </p:sp>
    </p:spTree>
    <p:extLst>
      <p:ext uri="{BB962C8B-B14F-4D97-AF65-F5344CB8AC3E}">
        <p14:creationId xmlns:p14="http://schemas.microsoft.com/office/powerpoint/2010/main" val="15828950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451ED98-12CE-49E2-A857-5C7FF81F0C36}"/>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808E71EE-EBC8-4A94-8BAE-A0EF98A7342B}"/>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Rationality without perfection</a:t>
            </a:r>
          </a:p>
        </p:txBody>
      </p:sp>
      <p:sp>
        <p:nvSpPr>
          <p:cNvPr id="3" name="text-2">
            <a:extLst xmlns:a="http://schemas.openxmlformats.org/drawingml/2006/main">
              <a:ext uri="{FF2B5EF4-FFF2-40B4-BE49-F238E27FC236}">
                <a16:creationId xmlns:a16="http://schemas.microsoft.com/office/drawing/2014/main" id="{6BFFF3AA-A9DB-43FC-B182-CE9246C558C9}"/>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People pursue goals subject to constraints.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 devoted fan can value attendance more than an outsider does.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Choices can involve emotion, mistakes, and limited information.</a:t>
            </a:r>
          </a:p>
        </p:txBody>
      </p:sp>
      <p:sp>
        <p:nvSpPr>
          <p:cNvPr id="4" name="text-3">
            <a:extLst xmlns:a="http://schemas.openxmlformats.org/drawingml/2006/main">
              <a:ext uri="{FF2B5EF4-FFF2-40B4-BE49-F238E27FC236}">
                <a16:creationId xmlns:a16="http://schemas.microsoft.com/office/drawing/2014/main" id="{FD919428-626B-4CF7-839C-BF2160367F0F}"/>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Incentives and trade-offs can matter without flawless calculation.</a:t>
            </a:r>
          </a:p>
        </p:txBody>
      </p:sp>
      <p:sp>
        <p:nvSpPr>
          <p:cNvPr id="5" name="">
            <a:extLst xmlns:a="http://schemas.openxmlformats.org/drawingml/2006/main">
              <a:ext uri="{FF2B5EF4-FFF2-40B4-BE49-F238E27FC236}">
                <a16:creationId xmlns:a16="http://schemas.microsoft.com/office/drawing/2014/main" id="{DD5C7A62-C90C-471A-A9FA-370BA9BCF7F9}"/>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FD3E46FF-1C15-4352-96F7-6FCCD9AEF983}"/>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Economic Toolkit Before The Curves</a:t>
            </a:r>
          </a:p>
        </p:txBody>
      </p:sp>
      <p:sp>
        <p:nvSpPr>
          <p:cNvPr id="7" name="text-6">
            <a:extLst xmlns:a="http://schemas.openxmlformats.org/drawingml/2006/main">
              <a:ext uri="{FF2B5EF4-FFF2-40B4-BE49-F238E27FC236}">
                <a16:creationId xmlns:a16="http://schemas.microsoft.com/office/drawing/2014/main" id="{AA54FF24-ED76-43F9-AF35-CB7342E7133F}"/>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11</a:t>
            </a:r>
          </a:p>
        </p:txBody>
      </p:sp>
    </p:spTree>
    <p:extLst>
      <p:ext uri="{BB962C8B-B14F-4D97-AF65-F5344CB8AC3E}">
        <p14:creationId xmlns:p14="http://schemas.microsoft.com/office/powerpoint/2010/main" val="12146913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540B6C5-24E6-4E5C-BA7C-D1162DD9592F}"/>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7E288BD3-097B-4C41-AFCC-770A222000D4}"/>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Ruth and Ohtani · A specialization puzzle</a:t>
            </a:r>
          </a:p>
        </p:txBody>
      </p:sp>
      <p:graphicFrame>
        <p:nvGraphicFramePr>
          <p:cNvPr id="1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3714750"/>
                <a:gridCol w="2952750"/>
                <a:gridCol w="4152900"/>
              </a:tblGrid>
              <a:tr h="571500">
                <a:tc>
                  <a:txBody>
                    <a:bodyPr lIns="142875" tIns="95250" rIns="142875" bIns="95250">
                      <a:noAutofit/>
                    </a:bodyPr>
                    <a:lstStyle/>
                    <a:p>
                      <a:r>
                        <a:rPr sz="2025" b="1">
                          <a:solidFill>
                            <a:srgbClr val="FFFFFF"/>
                          </a:solidFill>
                          <a:latin typeface="Aptos"/>
                          <a:ea typeface="Aptos"/>
                          <a:cs typeface="Aptos"/>
                        </a:rPr>
                        <a:t>Player / season</a:t>
                      </a:r>
                    </a:p>
                  </a:txBody>
                  <a:tcPr marL="91440" marR="91440" marT="45720" marB="45720" anchor="ctr">
                    <a:solidFill>
                      <a:srgbClr val="12455E"/>
                    </a:solidFill>
                  </a:tcPr>
                </a:tc>
                <a:tc>
                  <a:txBody>
                    <a:bodyPr lIns="142875" tIns="95250" rIns="142875" bIns="95250">
                      <a:noAutofit/>
                    </a:bodyPr>
                    <a:lstStyle/>
                    <a:p>
                      <a:r>
                        <a:rPr sz="2025" b="1">
                          <a:solidFill>
                            <a:srgbClr val="FFFFFF"/>
                          </a:solidFill>
                          <a:latin typeface="Aptos"/>
                          <a:ea typeface="Aptos"/>
                          <a:cs typeface="Aptos"/>
                        </a:rPr>
                        <a:t>Hitting</a:t>
                      </a:r>
                    </a:p>
                  </a:txBody>
                  <a:tcPr marL="91440" marR="91440" marT="45720" marB="45720" anchor="ctr">
                    <a:solidFill>
                      <a:srgbClr val="12455E"/>
                    </a:solidFill>
                  </a:tcPr>
                </a:tc>
                <a:tc>
                  <a:txBody>
                    <a:bodyPr lIns="142875" tIns="95250" rIns="142875" bIns="95250">
                      <a:noAutofit/>
                    </a:bodyPr>
                    <a:lstStyle/>
                    <a:p>
                      <a:r>
                        <a:rPr sz="2025" b="1">
                          <a:solidFill>
                            <a:srgbClr val="FFFFFF"/>
                          </a:solidFill>
                          <a:latin typeface="Aptos"/>
                          <a:ea typeface="Aptos"/>
                          <a:cs typeface="Aptos"/>
                        </a:rPr>
                        <a:t>Pitching</a:t>
                      </a:r>
                    </a:p>
                  </a:txBody>
                  <a:tcPr marL="91440" marR="91440" marT="45720" marB="45720" anchor="ctr">
                    <a:solidFill>
                      <a:srgbClr val="12455E"/>
                    </a:solidFill>
                  </a:tcPr>
                </a:tc>
              </a:tr>
              <a:tr h="571500">
                <a:tc>
                  <a:txBody>
                    <a:bodyPr lIns="142875" tIns="95250" rIns="142875" bIns="95250">
                      <a:noAutofit/>
                    </a:bodyPr>
                    <a:lstStyle/>
                    <a:p>
                      <a:r>
                        <a:rPr sz="2025" b="0">
                          <a:solidFill>
                            <a:srgbClr val="1D2A33"/>
                          </a:solidFill>
                          <a:latin typeface="Aptos"/>
                          <a:ea typeface="Aptos"/>
                          <a:cs typeface="Aptos"/>
                        </a:rPr>
                        <a:t>Babe Ruth · 1918</a:t>
                      </a:r>
                    </a:p>
                  </a:txBody>
                  <a:tcPr marL="91440" marR="91440" marT="45720" marB="45720" anchor="ctr">
                    <a:solidFill>
                      <a:srgbClr val="F0F5F7"/>
                    </a:solidFill>
                  </a:tcPr>
                </a:tc>
                <a:tc>
                  <a:txBody>
                    <a:bodyPr lIns="142875" tIns="95250" rIns="142875" bIns="95250">
                      <a:noAutofit/>
                    </a:bodyPr>
                    <a:lstStyle/>
                    <a:p>
                      <a:r>
                        <a:rPr sz="2025" b="0">
                          <a:solidFill>
                            <a:srgbClr val="1D2A33"/>
                          </a:solidFill>
                          <a:latin typeface="Aptos"/>
                          <a:ea typeface="Aptos"/>
                          <a:cs typeface="Aptos"/>
                        </a:rPr>
                        <a:t>11 home runs</a:t>
                      </a:r>
                    </a:p>
                  </a:txBody>
                  <a:tcPr marL="91440" marR="91440" marT="45720" marB="45720" anchor="ctr">
                    <a:solidFill>
                      <a:srgbClr val="F0F5F7"/>
                    </a:solidFill>
                  </a:tcPr>
                </a:tc>
                <a:tc>
                  <a:txBody>
                    <a:bodyPr lIns="142875" tIns="95250" rIns="142875" bIns="95250">
                      <a:noAutofit/>
                    </a:bodyPr>
                    <a:lstStyle/>
                    <a:p>
                      <a:r>
                        <a:rPr sz="2025" b="0">
                          <a:solidFill>
                            <a:srgbClr val="1D2A33"/>
                          </a:solidFill>
                          <a:latin typeface="Aptos"/>
                          <a:ea typeface="Aptos"/>
                          <a:cs typeface="Aptos"/>
                        </a:rPr>
                        <a:t>13–7 record</a:t>
                      </a:r>
                    </a:p>
                  </a:txBody>
                  <a:tcPr marL="91440" marR="91440" marT="45720" marB="45720" anchor="ctr">
                    <a:solidFill>
                      <a:srgbClr val="F0F5F7"/>
                    </a:solidFill>
                  </a:tcPr>
                </a:tc>
              </a:tr>
              <a:tr h="571500">
                <a:tc>
                  <a:txBody>
                    <a:bodyPr lIns="142875" tIns="95250" rIns="142875" bIns="95250">
                      <a:noAutofit/>
                    </a:bodyPr>
                    <a:lstStyle/>
                    <a:p>
                      <a:r>
                        <a:rPr sz="2025" b="0">
                          <a:solidFill>
                            <a:srgbClr val="1D2A33"/>
                          </a:solidFill>
                          <a:latin typeface="Aptos"/>
                          <a:ea typeface="Aptos"/>
                          <a:cs typeface="Aptos"/>
                        </a:rPr>
                        <a:t>Babe Ruth · 1919</a:t>
                      </a:r>
                    </a:p>
                  </a:txBody>
                  <a:tcPr marL="91440" marR="91440" marT="45720" marB="45720" anchor="ctr">
                    <a:solidFill>
                      <a:srgbClr val="FFFFFF"/>
                    </a:solidFill>
                  </a:tcPr>
                </a:tc>
                <a:tc>
                  <a:txBody>
                    <a:bodyPr lIns="142875" tIns="95250" rIns="142875" bIns="95250">
                      <a:noAutofit/>
                    </a:bodyPr>
                    <a:lstStyle/>
                    <a:p>
                      <a:r>
                        <a:rPr sz="2025" b="0">
                          <a:solidFill>
                            <a:srgbClr val="1D2A33"/>
                          </a:solidFill>
                          <a:latin typeface="Aptos"/>
                          <a:ea typeface="Aptos"/>
                          <a:cs typeface="Aptos"/>
                        </a:rPr>
                        <a:t>29 home runs</a:t>
                      </a:r>
                    </a:p>
                  </a:txBody>
                  <a:tcPr marL="91440" marR="91440" marT="45720" marB="45720" anchor="ctr">
                    <a:solidFill>
                      <a:srgbClr val="FFFFFF"/>
                    </a:solidFill>
                  </a:tcPr>
                </a:tc>
                <a:tc>
                  <a:txBody>
                    <a:bodyPr lIns="142875" tIns="95250" rIns="142875" bIns="95250">
                      <a:noAutofit/>
                    </a:bodyPr>
                    <a:lstStyle/>
                    <a:p>
                      <a:r>
                        <a:rPr sz="2025" b="0">
                          <a:solidFill>
                            <a:srgbClr val="1D2A33"/>
                          </a:solidFill>
                          <a:latin typeface="Aptos"/>
                          <a:ea typeface="Aptos"/>
                          <a:cs typeface="Aptos"/>
                        </a:rPr>
                        <a:t>9–5 record</a:t>
                      </a:r>
                    </a:p>
                  </a:txBody>
                  <a:tcPr marL="91440" marR="91440" marT="45720" marB="45720" anchor="ctr">
                    <a:solidFill>
                      <a:srgbClr val="FFFFFF"/>
                    </a:solidFill>
                  </a:tcPr>
                </a:tc>
              </a:tr>
              <a:tr h="571500">
                <a:tc>
                  <a:txBody>
                    <a:bodyPr lIns="142875" tIns="95250" rIns="142875" bIns="95250">
                      <a:noAutofit/>
                    </a:bodyPr>
                    <a:lstStyle/>
                    <a:p>
                      <a:r>
                        <a:rPr sz="2025" b="0">
                          <a:solidFill>
                            <a:srgbClr val="1D2A33"/>
                          </a:solidFill>
                          <a:latin typeface="Aptos"/>
                          <a:ea typeface="Aptos"/>
                          <a:cs typeface="Aptos"/>
                        </a:rPr>
                        <a:t>Shohei Ohtani · 2021</a:t>
                      </a:r>
                    </a:p>
                  </a:txBody>
                  <a:tcPr marL="91440" marR="91440" marT="45720" marB="45720" anchor="ctr">
                    <a:solidFill>
                      <a:srgbClr val="F0F5F7"/>
                    </a:solidFill>
                  </a:tcPr>
                </a:tc>
                <a:tc>
                  <a:txBody>
                    <a:bodyPr lIns="142875" tIns="95250" rIns="142875" bIns="95250">
                      <a:noAutofit/>
                    </a:bodyPr>
                    <a:lstStyle/>
                    <a:p>
                      <a:r>
                        <a:rPr sz="2025" b="0">
                          <a:solidFill>
                            <a:srgbClr val="1D2A33"/>
                          </a:solidFill>
                          <a:latin typeface="Aptos"/>
                          <a:ea typeface="Aptos"/>
                          <a:cs typeface="Aptos"/>
                        </a:rPr>
                        <a:t>46 home runs</a:t>
                      </a:r>
                    </a:p>
                  </a:txBody>
                  <a:tcPr marL="91440" marR="91440" marT="45720" marB="45720" anchor="ctr">
                    <a:solidFill>
                      <a:srgbClr val="F0F5F7"/>
                    </a:solidFill>
                  </a:tcPr>
                </a:tc>
                <a:tc>
                  <a:txBody>
                    <a:bodyPr lIns="142875" tIns="95250" rIns="142875" bIns="95250">
                      <a:noAutofit/>
                    </a:bodyPr>
                    <a:lstStyle/>
                    <a:p>
                      <a:r>
                        <a:rPr sz="2025" b="0">
                          <a:solidFill>
                            <a:srgbClr val="1D2A33"/>
                          </a:solidFill>
                          <a:latin typeface="Aptos"/>
                          <a:ea typeface="Aptos"/>
                          <a:cs typeface="Aptos"/>
                        </a:rPr>
                        <a:t>23 starts · 3.18 ERA</a:t>
                      </a:r>
                    </a:p>
                  </a:txBody>
                  <a:tcPr marL="91440" marR="91440" marT="45720" marB="45720" anchor="ctr">
                    <a:solidFill>
                      <a:srgbClr val="F0F5F7"/>
                    </a:solidFill>
                  </a:tcPr>
                </a:tc>
              </a:tr>
              <a:tr h="571500">
                <a:tc>
                  <a:txBody>
                    <a:bodyPr lIns="142875" tIns="95250" rIns="142875" bIns="95250">
                      <a:noAutofit/>
                    </a:bodyPr>
                    <a:lstStyle/>
                    <a:p>
                      <a:r>
                        <a:rPr sz="2025" b="0">
                          <a:solidFill>
                            <a:srgbClr val="1D2A33"/>
                          </a:solidFill>
                          <a:latin typeface="Aptos"/>
                          <a:ea typeface="Aptos"/>
                          <a:cs typeface="Aptos"/>
                        </a:rPr>
                        <a:t>Shohei Ohtani · 2025</a:t>
                      </a:r>
                    </a:p>
                  </a:txBody>
                  <a:tcPr marL="91440" marR="91440" marT="45720" marB="45720" anchor="ctr">
                    <a:solidFill>
                      <a:srgbClr val="FFFFFF"/>
                    </a:solidFill>
                  </a:tcPr>
                </a:tc>
                <a:tc>
                  <a:txBody>
                    <a:bodyPr lIns="142875" tIns="95250" rIns="142875" bIns="95250">
                      <a:noAutofit/>
                    </a:bodyPr>
                    <a:lstStyle/>
                    <a:p>
                      <a:r>
                        <a:rPr sz="2025" b="0">
                          <a:solidFill>
                            <a:srgbClr val="1D2A33"/>
                          </a:solidFill>
                          <a:latin typeface="Aptos"/>
                          <a:ea typeface="Aptos"/>
                          <a:cs typeface="Aptos"/>
                        </a:rPr>
                        <a:t>55 home runs</a:t>
                      </a:r>
                    </a:p>
                  </a:txBody>
                  <a:tcPr marL="91440" marR="91440" marT="45720" marB="45720" anchor="ctr">
                    <a:solidFill>
                      <a:srgbClr val="FFFFFF"/>
                    </a:solidFill>
                  </a:tcPr>
                </a:tc>
                <a:tc>
                  <a:txBody>
                    <a:bodyPr lIns="142875" tIns="95250" rIns="142875" bIns="95250">
                      <a:noAutofit/>
                    </a:bodyPr>
                    <a:lstStyle/>
                    <a:p>
                      <a:r>
                        <a:rPr sz="2025" b="0">
                          <a:solidFill>
                            <a:srgbClr val="1D2A33"/>
                          </a:solidFill>
                          <a:latin typeface="Aptos"/>
                          <a:ea typeface="Aptos"/>
                          <a:cs typeface="Aptos"/>
                        </a:rPr>
                        <a:t>14 starts · 2.87 ERA</a:t>
                      </a:r>
                    </a:p>
                  </a:txBody>
                  <a:tcPr marL="91440" marR="91440" marT="45720" marB="4572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EA726627-B28B-4A2B-A69B-EEEA99699D7E}"/>
              </a:ext>
            </a:extLst>
          </p:cNvPr>
          <p:cNvSpPr>
            <a:spLocks xmlns:a="http://schemas.openxmlformats.org/drawingml/2006/main" noGrp="1"/>
          </p:cNvSpPr>
          <p:nvPr/>
        </p:nvSpPr>
        <p:spPr>
          <a:xfrm xmlns:a="http://schemas.openxmlformats.org/drawingml/2006/main">
            <a:off x="723900" y="5000625"/>
            <a:ext cx="107442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2455E"/>
                </a:solidFill>
                <a:latin typeface="Aptos"/>
                <a:ea typeface="Aptos"/>
                <a:cs typeface="Aptos"/>
              </a:defRPr>
            </a:pPr>
            <a:r>
              <a:rPr sz="2250" b="0" i="0">
                <a:solidFill>
                  <a:srgbClr val="12455E"/>
                </a:solidFill>
                <a:latin typeface="Aptos"/>
                <a:ea typeface="Aptos"/>
                <a:cs typeface="Aptos"/>
              </a:rPr>
              <a:t>Both excelled at two tasks. That alone does not tell us the best allocation.</a:t>
            </a:r>
          </a:p>
        </p:txBody>
      </p:sp>
      <p:sp>
        <p:nvSpPr>
          <p:cNvPr id="5" name="">
            <a:extLst xmlns:a="http://schemas.openxmlformats.org/drawingml/2006/main">
              <a:ext uri="{FF2B5EF4-FFF2-40B4-BE49-F238E27FC236}">
                <a16:creationId xmlns:a16="http://schemas.microsoft.com/office/drawing/2014/main" id="{5711E065-725F-4284-94A3-2A7FBD1E676A}"/>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5C0B4D2F-0F6B-4B0D-9DBC-68B8F67992C5}"/>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Economic Toolkit Before The Curves</a:t>
            </a:r>
          </a:p>
        </p:txBody>
      </p:sp>
      <p:sp>
        <p:nvSpPr>
          <p:cNvPr id="7" name="text-5">
            <a:extLst xmlns:a="http://schemas.openxmlformats.org/drawingml/2006/main">
              <a:ext uri="{FF2B5EF4-FFF2-40B4-BE49-F238E27FC236}">
                <a16:creationId xmlns:a16="http://schemas.microsoft.com/office/drawing/2014/main" id="{5E91E9B7-AF7D-4611-B6B4-68A421F70839}"/>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12</a:t>
            </a:r>
          </a:p>
        </p:txBody>
      </p:sp>
    </p:spTree>
    <p:extLst>
      <p:ext uri="{BB962C8B-B14F-4D97-AF65-F5344CB8AC3E}">
        <p14:creationId xmlns:p14="http://schemas.microsoft.com/office/powerpoint/2010/main" val="5551722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7DD307F-EE65-408D-857D-B8B1197B358F}"/>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2E1FDF93-84CA-4B76-B613-FA32E5F1AF6F}"/>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Comparative advantage is about alternatives</a:t>
            </a:r>
          </a:p>
        </p:txBody>
      </p:sp>
      <p:sp>
        <p:nvSpPr>
          <p:cNvPr id="3" name="text-2">
            <a:extLst xmlns:a="http://schemas.openxmlformats.org/drawingml/2006/main">
              <a:ext uri="{FF2B5EF4-FFF2-40B4-BE49-F238E27FC236}">
                <a16:creationId xmlns:a16="http://schemas.microsoft.com/office/drawing/2014/main" id="{CE68D914-9F69-4153-B45F-777CE144F30A}"/>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Absolute advantage:</a:t>
            </a:r>
            <a:r>
              <a:t> performing a task at a higher level than others.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Comparative advantage:</a:t>
            </a:r>
            <a:r>
              <a:t> a lower opportunity cost relative to the alternatives.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Compare gains relative to replacement players, not just the athlete’s raw ability.</a:t>
            </a:r>
          </a:p>
        </p:txBody>
      </p:sp>
      <p:sp>
        <p:nvSpPr>
          <p:cNvPr id="4" name="text-3">
            <a:extLst xmlns:a="http://schemas.openxmlformats.org/drawingml/2006/main">
              <a:ext uri="{FF2B5EF4-FFF2-40B4-BE49-F238E27FC236}">
                <a16:creationId xmlns:a16="http://schemas.microsoft.com/office/drawing/2014/main" id="{60A7C2D5-CDE5-4226-BC94-FD16FC769FBF}"/>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Roster rules, recovery, injury risk, and value from combining roles also matter.</a:t>
            </a:r>
          </a:p>
        </p:txBody>
      </p:sp>
      <p:sp>
        <p:nvSpPr>
          <p:cNvPr id="5" name="">
            <a:extLst xmlns:a="http://schemas.openxmlformats.org/drawingml/2006/main">
              <a:ext uri="{FF2B5EF4-FFF2-40B4-BE49-F238E27FC236}">
                <a16:creationId xmlns:a16="http://schemas.microsoft.com/office/drawing/2014/main" id="{C8C1D221-B353-42DA-9F47-C2CA560C3E09}"/>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B5B5DAE1-5B1B-4F7F-9E82-C461967B84F3}"/>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The Economic Toolkit Before The Curves</a:t>
            </a:r>
          </a:p>
        </p:txBody>
      </p:sp>
      <p:sp>
        <p:nvSpPr>
          <p:cNvPr id="7" name="text-6">
            <a:extLst xmlns:a="http://schemas.openxmlformats.org/drawingml/2006/main">
              <a:ext uri="{FF2B5EF4-FFF2-40B4-BE49-F238E27FC236}">
                <a16:creationId xmlns:a16="http://schemas.microsoft.com/office/drawing/2014/main" id="{4AB0BFD5-A61B-4FDF-B1A9-3CD5E0D74DCE}"/>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13</a:t>
            </a:r>
          </a:p>
        </p:txBody>
      </p:sp>
    </p:spTree>
    <p:extLst>
      <p:ext uri="{BB962C8B-B14F-4D97-AF65-F5344CB8AC3E}">
        <p14:creationId xmlns:p14="http://schemas.microsoft.com/office/powerpoint/2010/main" val="20614961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9AF6D12-094C-459C-BF90-C88921A15AC4}"/>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55585B5D-AA57-4527-996A-7BDDDE39F550}"/>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Demand is a relationship—not one purchase</a:t>
            </a:r>
          </a:p>
        </p:txBody>
      </p:sp>
      <p:sp>
        <p:nvSpPr>
          <p:cNvPr id="3" name="text-2">
            <a:extLst xmlns:a="http://schemas.openxmlformats.org/drawingml/2006/main">
              <a:ext uri="{FF2B5EF4-FFF2-40B4-BE49-F238E27FC236}">
                <a16:creationId xmlns:a16="http://schemas.microsoft.com/office/drawing/2014/main" id="{DFAD5AFA-63F7-4BE0-8FA1-A40CA91BC8D0}"/>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Demand relates price to the quantity buyers are willing and able to purchase.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Define the product, buyers, and time period; hold other determinants fixed.</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Quantity demanded is one amount at one price.</a:t>
            </a:r>
          </a:p>
        </p:txBody>
      </p:sp>
      <p:sp>
        <p:nvSpPr>
          <p:cNvPr id="4" name="text-3">
            <a:extLst xmlns:a="http://schemas.openxmlformats.org/drawingml/2006/main">
              <a:ext uri="{FF2B5EF4-FFF2-40B4-BE49-F238E27FC236}">
                <a16:creationId xmlns:a16="http://schemas.microsoft.com/office/drawing/2014/main" id="{E982BA15-43BA-4C46-8C93-648D986D8318}"/>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Example: upper-level Bills tickets for one game, purchased during a specified week.</a:t>
            </a:r>
          </a:p>
        </p:txBody>
      </p:sp>
      <p:sp>
        <p:nvSpPr>
          <p:cNvPr id="5" name="">
            <a:extLst xmlns:a="http://schemas.openxmlformats.org/drawingml/2006/main">
              <a:ext uri="{FF2B5EF4-FFF2-40B4-BE49-F238E27FC236}">
                <a16:creationId xmlns:a16="http://schemas.microsoft.com/office/drawing/2014/main" id="{7255432F-BB59-4E2B-99EC-1C5C1278AD99}"/>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99043D60-97A6-438C-A24C-CD6B042B118C}"/>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Demand: The Buyer's Side Of The Market</a:t>
            </a:r>
          </a:p>
        </p:txBody>
      </p:sp>
      <p:sp>
        <p:nvSpPr>
          <p:cNvPr id="7" name="text-6">
            <a:extLst xmlns:a="http://schemas.openxmlformats.org/drawingml/2006/main">
              <a:ext uri="{FF2B5EF4-FFF2-40B4-BE49-F238E27FC236}">
                <a16:creationId xmlns:a16="http://schemas.microsoft.com/office/drawing/2014/main" id="{EF3BA0E9-C808-44ED-873B-0EF9D9FD0D9D}"/>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14</a:t>
            </a:r>
          </a:p>
        </p:txBody>
      </p:sp>
    </p:spTree>
    <p:extLst>
      <p:ext uri="{BB962C8B-B14F-4D97-AF65-F5344CB8AC3E}">
        <p14:creationId xmlns:p14="http://schemas.microsoft.com/office/powerpoint/2010/main" val="9813150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60EA5A6-85D9-4389-9EF5-4193BD5778F3}"/>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D3A1CAD5-9E83-468F-91D5-B83095820B85}"/>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Table 2.1 · A demand schedule</a:t>
            </a:r>
          </a:p>
        </p:txBody>
      </p:sp>
      <p:graphicFrame>
        <p:nvGraphicFramePr>
          <p:cNvPr id="1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5410200"/>
                <a:gridCol w="5410200"/>
              </a:tblGrid>
              <a:tr h="571500">
                <a:tc>
                  <a:txBody>
                    <a:bodyPr lIns="142875" tIns="95250" rIns="142875" bIns="95250">
                      <a:noAutofit/>
                    </a:bodyPr>
                    <a:lstStyle/>
                    <a:p>
                      <a:r>
                        <a:rPr sz="2100" b="1">
                          <a:solidFill>
                            <a:srgbClr val="FFFFFF"/>
                          </a:solidFill>
                          <a:latin typeface="Aptos"/>
                          <a:ea typeface="Aptos"/>
                          <a:cs typeface="Aptos"/>
                        </a:rPr>
                        <a:t>Price per ticket</a:t>
                      </a:r>
                    </a:p>
                  </a:txBody>
                  <a:tcPr marL="91440" marR="91440" marT="45720" marB="45720" anchor="ctr">
                    <a:solidFill>
                      <a:srgbClr val="12455E"/>
                    </a:solidFill>
                  </a:tcPr>
                </a:tc>
                <a:tc>
                  <a:txBody>
                    <a:bodyPr lIns="142875" tIns="95250" rIns="142875" bIns="95250">
                      <a:noAutofit/>
                    </a:bodyPr>
                    <a:lstStyle/>
                    <a:p>
                      <a:r>
                        <a:rPr sz="2100" b="1">
                          <a:solidFill>
                            <a:srgbClr val="FFFFFF"/>
                          </a:solidFill>
                          <a:latin typeface="Aptos"/>
                          <a:ea typeface="Aptos"/>
                          <a:cs typeface="Aptos"/>
                        </a:rPr>
                        <a:t>Quantity demanded</a:t>
                      </a:r>
                    </a:p>
                  </a:txBody>
                  <a:tcPr marL="91440" marR="91440" marT="45720" marB="45720" anchor="ctr">
                    <a:solidFill>
                      <a:srgbClr val="12455E"/>
                    </a:solidFill>
                  </a:tcPr>
                </a:tc>
              </a:tr>
              <a:tr h="571500">
                <a:tc>
                  <a:txBody>
                    <a:bodyPr lIns="142875" tIns="95250" rIns="142875" bIns="95250">
                      <a:noAutofit/>
                    </a:bodyPr>
                    <a:lstStyle/>
                    <a:p>
                      <a:r>
                        <a:rPr sz="2100" b="0">
                          <a:solidFill>
                            <a:srgbClr val="1D2A33"/>
                          </a:solidFill>
                          <a:latin typeface="Aptos"/>
                          <a:ea typeface="Aptos"/>
                          <a:cs typeface="Aptos"/>
                        </a:rPr>
                        <a:t>$100</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4,000</a:t>
                      </a:r>
                    </a:p>
                  </a:txBody>
                  <a:tcPr marL="91440" marR="91440" marT="45720" marB="45720" anchor="ctr">
                    <a:solidFill>
                      <a:srgbClr val="F0F5F7"/>
                    </a:solidFill>
                  </a:tcPr>
                </a:tc>
              </a:tr>
              <a:tr h="571500">
                <a:tc>
                  <a:txBody>
                    <a:bodyPr lIns="142875" tIns="95250" rIns="142875" bIns="95250">
                      <a:noAutofit/>
                    </a:bodyPr>
                    <a:lstStyle/>
                    <a:p>
                      <a:r>
                        <a:rPr sz="2100" b="0">
                          <a:solidFill>
                            <a:srgbClr val="1D2A33"/>
                          </a:solidFill>
                          <a:latin typeface="Aptos"/>
                          <a:ea typeface="Aptos"/>
                          <a:cs typeface="Aptos"/>
                        </a:rPr>
                        <a:t>$75</a:t>
                      </a:r>
                    </a:p>
                  </a:txBody>
                  <a:tcPr marL="91440" marR="91440" marT="45720" marB="45720" anchor="ctr">
                    <a:solidFill>
                      <a:srgbClr val="FFFFFF"/>
                    </a:solidFill>
                  </a:tcPr>
                </a:tc>
                <a:tc>
                  <a:txBody>
                    <a:bodyPr lIns="142875" tIns="95250" rIns="142875" bIns="95250">
                      <a:noAutofit/>
                    </a:bodyPr>
                    <a:lstStyle/>
                    <a:p>
                      <a:r>
                        <a:rPr sz="2100" b="0">
                          <a:solidFill>
                            <a:srgbClr val="1D2A33"/>
                          </a:solidFill>
                          <a:latin typeface="Aptos"/>
                          <a:ea typeface="Aptos"/>
                          <a:cs typeface="Aptos"/>
                        </a:rPr>
                        <a:t>8,000</a:t>
                      </a:r>
                    </a:p>
                  </a:txBody>
                  <a:tcPr marL="91440" marR="91440" marT="45720" marB="45720" anchor="ctr">
                    <a:solidFill>
                      <a:srgbClr val="FFFFFF"/>
                    </a:solidFill>
                  </a:tcPr>
                </a:tc>
              </a:tr>
              <a:tr h="571500">
                <a:tc>
                  <a:txBody>
                    <a:bodyPr lIns="142875" tIns="95250" rIns="142875" bIns="95250">
                      <a:noAutofit/>
                    </a:bodyPr>
                    <a:lstStyle/>
                    <a:p>
                      <a:r>
                        <a:rPr sz="2100" b="0">
                          <a:solidFill>
                            <a:srgbClr val="1D2A33"/>
                          </a:solidFill>
                          <a:latin typeface="Aptos"/>
                          <a:ea typeface="Aptos"/>
                          <a:cs typeface="Aptos"/>
                        </a:rPr>
                        <a:t>$50</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12,000</a:t>
                      </a:r>
                    </a:p>
                  </a:txBody>
                  <a:tcPr marL="91440" marR="91440" marT="45720" marB="45720" anchor="ctr">
                    <a:solidFill>
                      <a:srgbClr val="F0F5F7"/>
                    </a:solidFill>
                  </a:tcPr>
                </a:tc>
              </a:tr>
              <a:tr h="571500">
                <a:tc>
                  <a:txBody>
                    <a:bodyPr lIns="142875" tIns="95250" rIns="142875" bIns="95250">
                      <a:noAutofit/>
                    </a:bodyPr>
                    <a:lstStyle/>
                    <a:p>
                      <a:r>
                        <a:rPr sz="2100" b="0">
                          <a:solidFill>
                            <a:srgbClr val="1D2A33"/>
                          </a:solidFill>
                          <a:latin typeface="Aptos"/>
                          <a:ea typeface="Aptos"/>
                          <a:cs typeface="Aptos"/>
                        </a:rPr>
                        <a:t>$25</a:t>
                      </a:r>
                    </a:p>
                  </a:txBody>
                  <a:tcPr marL="91440" marR="91440" marT="45720" marB="45720" anchor="ctr">
                    <a:solidFill>
                      <a:srgbClr val="FFFFFF"/>
                    </a:solidFill>
                  </a:tcPr>
                </a:tc>
                <a:tc>
                  <a:txBody>
                    <a:bodyPr lIns="142875" tIns="95250" rIns="142875" bIns="95250">
                      <a:noAutofit/>
                    </a:bodyPr>
                    <a:lstStyle/>
                    <a:p>
                      <a:r>
                        <a:rPr sz="2100" b="0">
                          <a:solidFill>
                            <a:srgbClr val="1D2A33"/>
                          </a:solidFill>
                          <a:latin typeface="Aptos"/>
                          <a:ea typeface="Aptos"/>
                          <a:cs typeface="Aptos"/>
                        </a:rPr>
                        <a:t>16,000</a:t>
                      </a:r>
                    </a:p>
                  </a:txBody>
                  <a:tcPr marL="91440" marR="91440" marT="45720" marB="4572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D97547DF-DE37-4148-B48C-B9CD78AD1769}"/>
              </a:ext>
            </a:extLst>
          </p:cNvPr>
          <p:cNvSpPr>
            <a:spLocks xmlns:a="http://schemas.openxmlformats.org/drawingml/2006/main" noGrp="1"/>
          </p:cNvSpPr>
          <p:nvPr/>
        </p:nvSpPr>
        <p:spPr>
          <a:xfrm xmlns:a="http://schemas.openxmlformats.org/drawingml/2006/main">
            <a:off x="723900" y="5000625"/>
            <a:ext cx="107442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2455E"/>
                </a:solidFill>
                <a:latin typeface="Aptos"/>
                <a:ea typeface="Aptos"/>
                <a:cs typeface="Aptos"/>
              </a:defRPr>
            </a:pPr>
            <a:r>
              <a:rPr sz="2250" b="0" i="0">
                <a:solidFill>
                  <a:srgbClr val="12455E"/>
                </a:solidFill>
                <a:latin typeface="Aptos"/>
                <a:ea typeface="Aptos"/>
                <a:cs typeface="Aptos"/>
              </a:rPr>
              <a:t>A schedule lists quantities at alternative prices. At $75, quantity demanded is 8,000; the entire schedule is demand.</a:t>
            </a:r>
          </a:p>
        </p:txBody>
      </p:sp>
      <p:sp>
        <p:nvSpPr>
          <p:cNvPr id="5" name="">
            <a:extLst xmlns:a="http://schemas.openxmlformats.org/drawingml/2006/main">
              <a:ext uri="{FF2B5EF4-FFF2-40B4-BE49-F238E27FC236}">
                <a16:creationId xmlns:a16="http://schemas.microsoft.com/office/drawing/2014/main" id="{501460A4-C31D-4C57-A838-A285FF6F844D}"/>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8809E0E7-0DFB-46F2-80C4-2D27F2EEDDBF}"/>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Demand: The Buyer's Side Of The Market</a:t>
            </a:r>
          </a:p>
        </p:txBody>
      </p:sp>
      <p:sp>
        <p:nvSpPr>
          <p:cNvPr id="7" name="text-5">
            <a:extLst xmlns:a="http://schemas.openxmlformats.org/drawingml/2006/main">
              <a:ext uri="{FF2B5EF4-FFF2-40B4-BE49-F238E27FC236}">
                <a16:creationId xmlns:a16="http://schemas.microsoft.com/office/drawing/2014/main" id="{95071D84-C3AF-4C68-B175-CDA118F6AC38}"/>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15</a:t>
            </a:r>
          </a:p>
        </p:txBody>
      </p:sp>
    </p:spTree>
    <p:extLst>
      <p:ext uri="{BB962C8B-B14F-4D97-AF65-F5344CB8AC3E}">
        <p14:creationId xmlns:p14="http://schemas.microsoft.com/office/powerpoint/2010/main" val="161903955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E967894-2161-4DF1-9A1A-CFAA447BD389}"/>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4F871DE0-8335-46BA-9C30-D31FCFB58CE7}"/>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The law of demand</a:t>
            </a:r>
          </a:p>
        </p:txBody>
      </p:sp>
      <p:sp>
        <p:nvSpPr>
          <p:cNvPr id="3" name="text-2">
            <a:extLst xmlns:a="http://schemas.openxmlformats.org/drawingml/2006/main">
              <a:ext uri="{FF2B5EF4-FFF2-40B4-BE49-F238E27FC236}">
                <a16:creationId xmlns:a16="http://schemas.microsoft.com/office/drawing/2014/main" id="{9A156658-320B-4A9B-9836-83B64483C90B}"/>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Holding other factors fixed, a higher price reduces quantity demanded.</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 lower price brings in additional buyers or encourages larger purchases.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Substitution helps explain the response:</a:t>
            </a:r>
            <a:r>
              <a:t> other uses of money become relatively attractive.</a:t>
            </a:r>
          </a:p>
        </p:txBody>
      </p:sp>
      <p:sp>
        <p:nvSpPr>
          <p:cNvPr id="4" name="text-3">
            <a:extLst xmlns:a="http://schemas.openxmlformats.org/drawingml/2006/main">
              <a:ext uri="{FF2B5EF4-FFF2-40B4-BE49-F238E27FC236}">
                <a16:creationId xmlns:a16="http://schemas.microsoft.com/office/drawing/2014/main" id="{2D89A32D-6D87-4F64-A777-448A157EF994}"/>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Graph convention: price on the vertical axis; quantity on the horizontal axis.</a:t>
            </a:r>
          </a:p>
        </p:txBody>
      </p:sp>
      <p:sp>
        <p:nvSpPr>
          <p:cNvPr id="5" name="">
            <a:extLst xmlns:a="http://schemas.openxmlformats.org/drawingml/2006/main">
              <a:ext uri="{FF2B5EF4-FFF2-40B4-BE49-F238E27FC236}">
                <a16:creationId xmlns:a16="http://schemas.microsoft.com/office/drawing/2014/main" id="{F2FCF31C-DF2C-421C-B69E-746550B4EC0E}"/>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354E3BED-804C-4630-AC66-15D2EE5F5BF2}"/>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Demand: The Buyer's Side Of The Market</a:t>
            </a:r>
          </a:p>
        </p:txBody>
      </p:sp>
      <p:sp>
        <p:nvSpPr>
          <p:cNvPr id="7" name="text-6">
            <a:extLst xmlns:a="http://schemas.openxmlformats.org/drawingml/2006/main">
              <a:ext uri="{FF2B5EF4-FFF2-40B4-BE49-F238E27FC236}">
                <a16:creationId xmlns:a16="http://schemas.microsoft.com/office/drawing/2014/main" id="{8F2B1AF1-48E7-4796-90D5-D9A5448C0E99}"/>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16</a:t>
            </a:r>
          </a:p>
        </p:txBody>
      </p:sp>
    </p:spTree>
    <p:extLst>
      <p:ext uri="{BB962C8B-B14F-4D97-AF65-F5344CB8AC3E}">
        <p14:creationId xmlns:p14="http://schemas.microsoft.com/office/powerpoint/2010/main" val="9904206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741D679-7D99-44B9-A02B-FC2BBB9CB8FC}"/>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1F56522B-9D20-41F8-A1C2-63E98E6B1682}"/>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The standard demand determinants · 1–3</a:t>
            </a:r>
          </a:p>
        </p:txBody>
      </p:sp>
      <p:sp>
        <p:nvSpPr>
          <p:cNvPr id="3" name="text-2">
            <a:extLst xmlns:a="http://schemas.openxmlformats.org/drawingml/2006/main">
              <a:ext uri="{FF2B5EF4-FFF2-40B4-BE49-F238E27FC236}">
                <a16:creationId xmlns:a16="http://schemas.microsoft.com/office/drawing/2014/main" id="{75BB4423-ACA2-4940-84AE-670F3F626C96}"/>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Income:</a:t>
            </a:r>
            <a:r>
              <a:t> A change in purchasing power can change demand, although the direction depends on whether the defined product is normal or inferior for the relevant buyers.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Prices of related goods:</a:t>
            </a:r>
            <a:r>
              <a:t> A higher price for a substitute can increase demand; a higher price for a complement can decrease demand.</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Tastes and preferences:</a:t>
            </a:r>
            <a:r>
              <a:t> Team loyalty, player appeal, rivalry, perceived quality, and social experience can alter willingness to buy.</a:t>
            </a:r>
          </a:p>
        </p:txBody>
      </p:sp>
      <p:sp>
        <p:nvSpPr>
          <p:cNvPr id="4" name="">
            <a:extLst xmlns:a="http://schemas.openxmlformats.org/drawingml/2006/main">
              <a:ext uri="{FF2B5EF4-FFF2-40B4-BE49-F238E27FC236}">
                <a16:creationId xmlns:a16="http://schemas.microsoft.com/office/drawing/2014/main" id="{5A16080A-2AC7-4BF6-A79D-95A03CFFFD84}"/>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7F6E42BF-0149-4CC1-8A5F-2735F7EA70E3}"/>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Demand: The Buyer's Side Of The Market</a:t>
            </a:r>
          </a:p>
        </p:txBody>
      </p:sp>
      <p:sp>
        <p:nvSpPr>
          <p:cNvPr id="6" name="text-5">
            <a:extLst xmlns:a="http://schemas.openxmlformats.org/drawingml/2006/main">
              <a:ext uri="{FF2B5EF4-FFF2-40B4-BE49-F238E27FC236}">
                <a16:creationId xmlns:a16="http://schemas.microsoft.com/office/drawing/2014/main" id="{CDD7AE2A-26C8-4F32-82C8-DA4CCADC9F42}"/>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17</a:t>
            </a:r>
          </a:p>
        </p:txBody>
      </p:sp>
    </p:spTree>
    <p:extLst>
      <p:ext uri="{BB962C8B-B14F-4D97-AF65-F5344CB8AC3E}">
        <p14:creationId xmlns:p14="http://schemas.microsoft.com/office/powerpoint/2010/main" val="71820026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660E1E9-73F2-4893-86C0-2491F8272050}"/>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A72E7E20-78AE-4F84-8891-1995ADB57D66}"/>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The standard demand determinants · 4–5</a:t>
            </a:r>
          </a:p>
        </p:txBody>
      </p:sp>
      <p:sp>
        <p:nvSpPr>
          <p:cNvPr id="3" name="text-2">
            <a:extLst xmlns:a="http://schemas.openxmlformats.org/drawingml/2006/main">
              <a:ext uri="{FF2B5EF4-FFF2-40B4-BE49-F238E27FC236}">
                <a16:creationId xmlns:a16="http://schemas.microsoft.com/office/drawing/2014/main" id="{D35B5D1A-EF2C-4676-8FB7-BA14F22680F1}"/>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Expectations:</a:t>
            </a:r>
            <a:r>
              <a:t> Expectations about future prices, team performance, availability, or playoff importance can affect current purchases.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Number of buyers:</a:t>
            </a:r>
            <a:r>
              <a:t> Population, tourism, market reach, and the size of an interested fan base affect market demand.</a:t>
            </a:r>
          </a:p>
        </p:txBody>
      </p:sp>
      <p:sp>
        <p:nvSpPr>
          <p:cNvPr id="4" name="text-3">
            <a:extLst xmlns:a="http://schemas.openxmlformats.org/drawingml/2006/main">
              <a:ext uri="{FF2B5EF4-FFF2-40B4-BE49-F238E27FC236}">
                <a16:creationId xmlns:a16="http://schemas.microsoft.com/office/drawing/2014/main" id="{8F046896-DF8E-4B0B-BE3A-337AA1579878}"/>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 product’s own price is not a demand shifter.</a:t>
            </a:r>
          </a:p>
        </p:txBody>
      </p:sp>
      <p:sp>
        <p:nvSpPr>
          <p:cNvPr id="5" name="">
            <a:extLst xmlns:a="http://schemas.openxmlformats.org/drawingml/2006/main">
              <a:ext uri="{FF2B5EF4-FFF2-40B4-BE49-F238E27FC236}">
                <a16:creationId xmlns:a16="http://schemas.microsoft.com/office/drawing/2014/main" id="{9417C4BD-2EAA-4288-91A7-74C705E4E2A9}"/>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5A17CE87-C3A9-439C-B498-4322120D71BF}"/>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Demand: The Buyer's Side Of The Market</a:t>
            </a:r>
          </a:p>
        </p:txBody>
      </p:sp>
      <p:sp>
        <p:nvSpPr>
          <p:cNvPr id="7" name="text-6">
            <a:extLst xmlns:a="http://schemas.openxmlformats.org/drawingml/2006/main">
              <a:ext uri="{FF2B5EF4-FFF2-40B4-BE49-F238E27FC236}">
                <a16:creationId xmlns:a16="http://schemas.microsoft.com/office/drawing/2014/main" id="{9C97775A-A4C7-422D-A5B8-ADE816C030AD}"/>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18</a:t>
            </a:r>
          </a:p>
        </p:txBody>
      </p:sp>
    </p:spTree>
    <p:extLst>
      <p:ext uri="{BB962C8B-B14F-4D97-AF65-F5344CB8AC3E}">
        <p14:creationId xmlns:p14="http://schemas.microsoft.com/office/powerpoint/2010/main" val="47441717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07EC9E1-F8F4-4CF7-B3BA-C4BA2766FEF2}"/>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13E7EF4D-9061-4D06-8585-BDF8AF344DDD}"/>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Figure 2.1 · Movement along demand versus a shift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4ec36bff7764403"/>
          <a:stretch xmlns:a="http://schemas.openxmlformats.org/drawingml/2006/main"/>
        </p:blipFill>
        <p:spPr>
          <a:xfrm xmlns:a="http://schemas.openxmlformats.org/drawingml/2006/main">
            <a:off x="2204598" y="1657350"/>
            <a:ext cx="7782803" cy="39433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A4882DA2-D9BB-4F70-8891-73ED47619A63}"/>
              </a:ext>
            </a:extLst>
          </p:cNvPr>
          <p:cNvSpPr>
            <a:spLocks xmlns:a="http://schemas.openxmlformats.org/drawingml/2006/main" noGrp="1"/>
          </p:cNvSpPr>
          <p:nvPr/>
        </p:nvSpPr>
        <p:spPr>
          <a:xfrm xmlns:a="http://schemas.openxmlformats.org/drawingml/2006/main">
            <a:off x="685800" y="567690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i="0">
                <a:solidFill>
                  <a:srgbClr val="12455E"/>
                </a:solidFill>
                <a:latin typeface="Aptos"/>
                <a:ea typeface="Aptos"/>
                <a:cs typeface="Aptos"/>
              </a:defRPr>
            </a:pPr>
            <a:r>
              <a:rPr sz="1875" b="1" i="0">
                <a:solidFill>
                  <a:srgbClr val="12455E"/>
                </a:solidFill>
                <a:latin typeface="Aptos"/>
                <a:ea typeface="Aptos"/>
                <a:cs typeface="Aptos"/>
              </a:rPr>
              <a:t>Own price changes quantity demanded. Another determinant shifts demand.</a:t>
            </a:r>
          </a:p>
        </p:txBody>
      </p:sp>
      <p:sp>
        <p:nvSpPr>
          <p:cNvPr id="5" name="">
            <a:extLst xmlns:a="http://schemas.openxmlformats.org/drawingml/2006/main">
              <a:ext uri="{FF2B5EF4-FFF2-40B4-BE49-F238E27FC236}">
                <a16:creationId xmlns:a16="http://schemas.microsoft.com/office/drawing/2014/main" id="{106BA72B-A9FC-4333-A6A0-AF607009AFB4}"/>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5D267821-BB2E-4138-8BB7-96778EF2A7BF}"/>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Demand: The Buyer's Side Of The Market</a:t>
            </a:r>
          </a:p>
        </p:txBody>
      </p:sp>
      <p:sp>
        <p:nvSpPr>
          <p:cNvPr id="7" name="text-5">
            <a:extLst xmlns:a="http://schemas.openxmlformats.org/drawingml/2006/main">
              <a:ext uri="{FF2B5EF4-FFF2-40B4-BE49-F238E27FC236}">
                <a16:creationId xmlns:a16="http://schemas.microsoft.com/office/drawing/2014/main" id="{5DCBAC6A-0948-4E2A-A12E-040EE8404080}"/>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19</a:t>
            </a:r>
          </a:p>
        </p:txBody>
      </p:sp>
    </p:spTree>
    <p:extLst>
      <p:ext uri="{BB962C8B-B14F-4D97-AF65-F5344CB8AC3E}">
        <p14:creationId xmlns:p14="http://schemas.microsoft.com/office/powerpoint/2010/main" val="13334218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151CA8D-6E94-41E9-B5B5-749C840BBC25}"/>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0FF47087-95E1-46D2-9B90-5F188CA5F5AD}"/>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Ask what changed before moving a curve</a:t>
            </a:r>
          </a:p>
        </p:txBody>
      </p:sp>
      <p:sp>
        <p:nvSpPr>
          <p:cNvPr id="3" name="text-2">
            <a:extLst xmlns:a="http://schemas.openxmlformats.org/drawingml/2006/main">
              <a:ext uri="{FF2B5EF4-FFF2-40B4-BE49-F238E27FC236}">
                <a16:creationId xmlns:a16="http://schemas.microsoft.com/office/drawing/2014/main" id="{1139A5BB-E4AA-43BD-AFF1-F6863AA5EEB5}"/>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A lower ticket price:</a:t>
            </a:r>
            <a:r>
              <a:t> movement along an unchanged demand curve.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A popular player joins the team:</a:t>
            </a:r>
            <a:r>
              <a:t> demand can shift right through tastes or expected quality.</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At the old price, more tickets are wanted; the new equilibrium can have higher price and quantity.</a:t>
            </a:r>
          </a:p>
        </p:txBody>
      </p:sp>
      <p:sp>
        <p:nvSpPr>
          <p:cNvPr id="4" name="text-3">
            <a:extLst xmlns:a="http://schemas.openxmlformats.org/drawingml/2006/main">
              <a:ext uri="{FF2B5EF4-FFF2-40B4-BE49-F238E27FC236}">
                <a16:creationId xmlns:a16="http://schemas.microsoft.com/office/drawing/2014/main" id="{C6EA2007-2325-4FF9-AF1D-83478453A4CC}"/>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The superstar example does not violate the law of demand.</a:t>
            </a:r>
          </a:p>
        </p:txBody>
      </p:sp>
      <p:sp>
        <p:nvSpPr>
          <p:cNvPr id="5" name="">
            <a:extLst xmlns:a="http://schemas.openxmlformats.org/drawingml/2006/main">
              <a:ext uri="{FF2B5EF4-FFF2-40B4-BE49-F238E27FC236}">
                <a16:creationId xmlns:a16="http://schemas.microsoft.com/office/drawing/2014/main" id="{F6F7F37C-0E0D-46C1-8915-903F6090449C}"/>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2A3E4541-2697-4683-93F8-89F9D6BED2DA}"/>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Demand: The Buyer's Side Of The Market</a:t>
            </a:r>
          </a:p>
        </p:txBody>
      </p:sp>
      <p:sp>
        <p:nvSpPr>
          <p:cNvPr id="7" name="text-6">
            <a:extLst xmlns:a="http://schemas.openxmlformats.org/drawingml/2006/main">
              <a:ext uri="{FF2B5EF4-FFF2-40B4-BE49-F238E27FC236}">
                <a16:creationId xmlns:a16="http://schemas.microsoft.com/office/drawing/2014/main" id="{547B773A-BA48-4FEA-9ED0-9DD73066BECF}"/>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20</a:t>
            </a:r>
          </a:p>
        </p:txBody>
      </p:sp>
    </p:spTree>
    <p:extLst>
      <p:ext uri="{BB962C8B-B14F-4D97-AF65-F5344CB8AC3E}">
        <p14:creationId xmlns:p14="http://schemas.microsoft.com/office/powerpoint/2010/main" val="192527392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55E2E33-4159-423A-BBE6-D856747CC5A6}"/>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F4D298B9-F2D7-4665-B7F7-695551C57513}"/>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Supply is also a relationship</a:t>
            </a:r>
          </a:p>
        </p:txBody>
      </p:sp>
      <p:sp>
        <p:nvSpPr>
          <p:cNvPr id="3" name="text-2">
            <a:extLst xmlns:a="http://schemas.openxmlformats.org/drawingml/2006/main">
              <a:ext uri="{FF2B5EF4-FFF2-40B4-BE49-F238E27FC236}">
                <a16:creationId xmlns:a16="http://schemas.microsoft.com/office/drawing/2014/main" id="{8ABBB08D-1055-48C8-8661-791844EB4607}"/>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Supply relates price to the quantity sellers are willing and able to provide during a defined period.</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Hold input prices and other determinants fixed.</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Quantity supplied is one amount offered at one price.</a:t>
            </a:r>
          </a:p>
        </p:txBody>
      </p:sp>
      <p:sp>
        <p:nvSpPr>
          <p:cNvPr id="4" name="text-3">
            <a:extLst xmlns:a="http://schemas.openxmlformats.org/drawingml/2006/main">
              <a:ext uri="{FF2B5EF4-FFF2-40B4-BE49-F238E27FC236}">
                <a16:creationId xmlns:a16="http://schemas.microsoft.com/office/drawing/2014/main" id="{2843AF0E-6A05-47F0-A600-45EB419964C6}"/>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The seller’s side begins with the same distinction: a curve versus a point.</a:t>
            </a:r>
          </a:p>
        </p:txBody>
      </p:sp>
      <p:sp>
        <p:nvSpPr>
          <p:cNvPr id="5" name="">
            <a:extLst xmlns:a="http://schemas.openxmlformats.org/drawingml/2006/main">
              <a:ext uri="{FF2B5EF4-FFF2-40B4-BE49-F238E27FC236}">
                <a16:creationId xmlns:a16="http://schemas.microsoft.com/office/drawing/2014/main" id="{CCD990D5-45B2-4A40-A33D-21850CF5F2AC}"/>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B1C0F0EC-3CDB-44F1-8F81-A3AECB257B06}"/>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Supply: The Seller's Side Of The Market</a:t>
            </a:r>
          </a:p>
        </p:txBody>
      </p:sp>
      <p:sp>
        <p:nvSpPr>
          <p:cNvPr id="7" name="text-6">
            <a:extLst xmlns:a="http://schemas.openxmlformats.org/drawingml/2006/main">
              <a:ext uri="{FF2B5EF4-FFF2-40B4-BE49-F238E27FC236}">
                <a16:creationId xmlns:a16="http://schemas.microsoft.com/office/drawing/2014/main" id="{50D8A1DC-EEC7-4DFE-B02A-DB3C29071D9F}"/>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21</a:t>
            </a:r>
          </a:p>
        </p:txBody>
      </p:sp>
    </p:spTree>
    <p:extLst>
      <p:ext uri="{BB962C8B-B14F-4D97-AF65-F5344CB8AC3E}">
        <p14:creationId xmlns:p14="http://schemas.microsoft.com/office/powerpoint/2010/main" val="3631678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EACE8BF-B7CD-4FFF-913C-7B3E262B6271}"/>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8C5D4DE4-5F65-4F7A-9CB3-6AA12032E407}"/>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The law of supply</a:t>
            </a:r>
          </a:p>
        </p:txBody>
      </p:sp>
      <p:sp>
        <p:nvSpPr>
          <p:cNvPr id="3" name="text-2">
            <a:extLst xmlns:a="http://schemas.openxmlformats.org/drawingml/2006/main">
              <a:ext uri="{FF2B5EF4-FFF2-40B4-BE49-F238E27FC236}">
                <a16:creationId xmlns:a16="http://schemas.microsoft.com/office/drawing/2014/main" id="{250E4DEA-83C7-4266-994B-30986651BECB}"/>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Holding other factors fixed, a higher price generally increases quantity supplied.</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Additional units can require more costly labor, materials, equipment, or uses of capacity.</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 higher price can make those additional units worthwhile.</a:t>
            </a:r>
          </a:p>
        </p:txBody>
      </p:sp>
      <p:sp>
        <p:nvSpPr>
          <p:cNvPr id="4" name="text-3">
            <a:extLst xmlns:a="http://schemas.openxmlformats.org/drawingml/2006/main">
              <a:ext uri="{FF2B5EF4-FFF2-40B4-BE49-F238E27FC236}">
                <a16:creationId xmlns:a16="http://schemas.microsoft.com/office/drawing/2014/main" id="{3ABE7C62-CE9B-4441-800A-D8CDE633F251}"/>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“Generally” matters: fixed event capacity is a special short-run case.</a:t>
            </a:r>
          </a:p>
        </p:txBody>
      </p:sp>
      <p:sp>
        <p:nvSpPr>
          <p:cNvPr id="5" name="">
            <a:extLst xmlns:a="http://schemas.openxmlformats.org/drawingml/2006/main">
              <a:ext uri="{FF2B5EF4-FFF2-40B4-BE49-F238E27FC236}">
                <a16:creationId xmlns:a16="http://schemas.microsoft.com/office/drawing/2014/main" id="{EA889E44-6FB0-4D0A-AA86-F5A442B71428}"/>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8179D2CA-209D-4A02-8AB9-73CCB29C4DBB}"/>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Supply: The Seller's Side Of The Market</a:t>
            </a:r>
          </a:p>
        </p:txBody>
      </p:sp>
      <p:sp>
        <p:nvSpPr>
          <p:cNvPr id="7" name="text-6">
            <a:extLst xmlns:a="http://schemas.openxmlformats.org/drawingml/2006/main">
              <a:ext uri="{FF2B5EF4-FFF2-40B4-BE49-F238E27FC236}">
                <a16:creationId xmlns:a16="http://schemas.microsoft.com/office/drawing/2014/main" id="{1606900A-D3D5-4B7E-88E0-60BE1138AFCB}"/>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22</a:t>
            </a:r>
          </a:p>
        </p:txBody>
      </p:sp>
    </p:spTree>
    <p:extLst>
      <p:ext uri="{BB962C8B-B14F-4D97-AF65-F5344CB8AC3E}">
        <p14:creationId xmlns:p14="http://schemas.microsoft.com/office/powerpoint/2010/main" val="68072566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C04977D-DECA-4467-8AEA-9FF5F6A37289}"/>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70A6EBB4-FF30-486E-AC77-D9C8346FC372}"/>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Table 2.2 · A supply schedule</a:t>
            </a:r>
          </a:p>
        </p:txBody>
      </p:sp>
      <p:graphicFrame>
        <p:nvGraphicFramePr>
          <p:cNvPr id="1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5410200"/>
                <a:gridCol w="5410200"/>
              </a:tblGrid>
              <a:tr h="571500">
                <a:tc>
                  <a:txBody>
                    <a:bodyPr lIns="142875" tIns="95250" rIns="142875" bIns="95250">
                      <a:noAutofit/>
                    </a:bodyPr>
                    <a:lstStyle/>
                    <a:p>
                      <a:r>
                        <a:rPr sz="2100" b="1">
                          <a:solidFill>
                            <a:srgbClr val="FFFFFF"/>
                          </a:solidFill>
                          <a:latin typeface="Aptos"/>
                          <a:ea typeface="Aptos"/>
                          <a:cs typeface="Aptos"/>
                        </a:rPr>
                        <a:t>Price per unit</a:t>
                      </a:r>
                    </a:p>
                  </a:txBody>
                  <a:tcPr marL="91440" marR="91440" marT="45720" marB="45720" anchor="ctr">
                    <a:solidFill>
                      <a:srgbClr val="12455E"/>
                    </a:solidFill>
                  </a:tcPr>
                </a:tc>
                <a:tc>
                  <a:txBody>
                    <a:bodyPr lIns="142875" tIns="95250" rIns="142875" bIns="95250">
                      <a:noAutofit/>
                    </a:bodyPr>
                    <a:lstStyle/>
                    <a:p>
                      <a:r>
                        <a:rPr sz="2100" b="1">
                          <a:solidFill>
                            <a:srgbClr val="FFFFFF"/>
                          </a:solidFill>
                          <a:latin typeface="Aptos"/>
                          <a:ea typeface="Aptos"/>
                          <a:cs typeface="Aptos"/>
                        </a:rPr>
                        <a:t>Quantity supplied</a:t>
                      </a:r>
                    </a:p>
                  </a:txBody>
                  <a:tcPr marL="91440" marR="91440" marT="45720" marB="45720" anchor="ctr">
                    <a:solidFill>
                      <a:srgbClr val="12455E"/>
                    </a:solidFill>
                  </a:tcPr>
                </a:tc>
              </a:tr>
              <a:tr h="571500">
                <a:tc>
                  <a:txBody>
                    <a:bodyPr lIns="142875" tIns="95250" rIns="142875" bIns="95250">
                      <a:noAutofit/>
                    </a:bodyPr>
                    <a:lstStyle/>
                    <a:p>
                      <a:r>
                        <a:rPr sz="2100" b="0">
                          <a:solidFill>
                            <a:srgbClr val="1D2A33"/>
                          </a:solidFill>
                          <a:latin typeface="Aptos"/>
                          <a:ea typeface="Aptos"/>
                          <a:cs typeface="Aptos"/>
                        </a:rPr>
                        <a:t>$30</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2,000</a:t>
                      </a:r>
                    </a:p>
                  </a:txBody>
                  <a:tcPr marL="91440" marR="91440" marT="45720" marB="45720" anchor="ctr">
                    <a:solidFill>
                      <a:srgbClr val="F0F5F7"/>
                    </a:solidFill>
                  </a:tcPr>
                </a:tc>
              </a:tr>
              <a:tr h="571500">
                <a:tc>
                  <a:txBody>
                    <a:bodyPr lIns="142875" tIns="95250" rIns="142875" bIns="95250">
                      <a:noAutofit/>
                    </a:bodyPr>
                    <a:lstStyle/>
                    <a:p>
                      <a:r>
                        <a:rPr sz="2100" b="0">
                          <a:solidFill>
                            <a:srgbClr val="1D2A33"/>
                          </a:solidFill>
                          <a:latin typeface="Aptos"/>
                          <a:ea typeface="Aptos"/>
                          <a:cs typeface="Aptos"/>
                        </a:rPr>
                        <a:t>$40</a:t>
                      </a:r>
                    </a:p>
                  </a:txBody>
                  <a:tcPr marL="91440" marR="91440" marT="45720" marB="45720" anchor="ctr">
                    <a:solidFill>
                      <a:srgbClr val="FFFFFF"/>
                    </a:solidFill>
                  </a:tcPr>
                </a:tc>
                <a:tc>
                  <a:txBody>
                    <a:bodyPr lIns="142875" tIns="95250" rIns="142875" bIns="95250">
                      <a:noAutofit/>
                    </a:bodyPr>
                    <a:lstStyle/>
                    <a:p>
                      <a:r>
                        <a:rPr sz="2100" b="0">
                          <a:solidFill>
                            <a:srgbClr val="1D2A33"/>
                          </a:solidFill>
                          <a:latin typeface="Aptos"/>
                          <a:ea typeface="Aptos"/>
                          <a:cs typeface="Aptos"/>
                        </a:rPr>
                        <a:t>4,000</a:t>
                      </a:r>
                    </a:p>
                  </a:txBody>
                  <a:tcPr marL="91440" marR="91440" marT="45720" marB="45720" anchor="ctr">
                    <a:solidFill>
                      <a:srgbClr val="FFFFFF"/>
                    </a:solidFill>
                  </a:tcPr>
                </a:tc>
              </a:tr>
              <a:tr h="571500">
                <a:tc>
                  <a:txBody>
                    <a:bodyPr lIns="142875" tIns="95250" rIns="142875" bIns="95250">
                      <a:noAutofit/>
                    </a:bodyPr>
                    <a:lstStyle/>
                    <a:p>
                      <a:r>
                        <a:rPr sz="2100" b="0">
                          <a:solidFill>
                            <a:srgbClr val="1D2A33"/>
                          </a:solidFill>
                          <a:latin typeface="Aptos"/>
                          <a:ea typeface="Aptos"/>
                          <a:cs typeface="Aptos"/>
                        </a:rPr>
                        <a:t>$50</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6,000</a:t>
                      </a:r>
                    </a:p>
                  </a:txBody>
                  <a:tcPr marL="91440" marR="91440" marT="45720" marB="45720" anchor="ctr">
                    <a:solidFill>
                      <a:srgbClr val="F0F5F7"/>
                    </a:solidFill>
                  </a:tcPr>
                </a:tc>
              </a:tr>
              <a:tr h="571500">
                <a:tc>
                  <a:txBody>
                    <a:bodyPr lIns="142875" tIns="95250" rIns="142875" bIns="95250">
                      <a:noAutofit/>
                    </a:bodyPr>
                    <a:lstStyle/>
                    <a:p>
                      <a:r>
                        <a:rPr sz="2100" b="0">
                          <a:solidFill>
                            <a:srgbClr val="1D2A33"/>
                          </a:solidFill>
                          <a:latin typeface="Aptos"/>
                          <a:ea typeface="Aptos"/>
                          <a:cs typeface="Aptos"/>
                        </a:rPr>
                        <a:t>$60</a:t>
                      </a:r>
                    </a:p>
                  </a:txBody>
                  <a:tcPr marL="91440" marR="91440" marT="45720" marB="45720" anchor="ctr">
                    <a:solidFill>
                      <a:srgbClr val="FFFFFF"/>
                    </a:solidFill>
                  </a:tcPr>
                </a:tc>
                <a:tc>
                  <a:txBody>
                    <a:bodyPr lIns="142875" tIns="95250" rIns="142875" bIns="95250">
                      <a:noAutofit/>
                    </a:bodyPr>
                    <a:lstStyle/>
                    <a:p>
                      <a:r>
                        <a:rPr sz="2100" b="0">
                          <a:solidFill>
                            <a:srgbClr val="1D2A33"/>
                          </a:solidFill>
                          <a:latin typeface="Aptos"/>
                          <a:ea typeface="Aptos"/>
                          <a:cs typeface="Aptos"/>
                        </a:rPr>
                        <a:t>8,000</a:t>
                      </a:r>
                    </a:p>
                  </a:txBody>
                  <a:tcPr marL="91440" marR="91440" marT="45720" marB="4572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2D908F3A-833F-4FAA-B2F7-4A8903907BB4}"/>
              </a:ext>
            </a:extLst>
          </p:cNvPr>
          <p:cNvSpPr>
            <a:spLocks xmlns:a="http://schemas.openxmlformats.org/drawingml/2006/main" noGrp="1"/>
          </p:cNvSpPr>
          <p:nvPr/>
        </p:nvSpPr>
        <p:spPr>
          <a:xfrm xmlns:a="http://schemas.openxmlformats.org/drawingml/2006/main">
            <a:off x="723900" y="5000625"/>
            <a:ext cx="107442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2455E"/>
                </a:solidFill>
                <a:latin typeface="Aptos"/>
                <a:ea typeface="Aptos"/>
                <a:cs typeface="Aptos"/>
              </a:defRPr>
            </a:pPr>
            <a:r>
              <a:rPr sz="2250" b="0" i="0">
                <a:solidFill>
                  <a:srgbClr val="12455E"/>
                </a:solidFill>
                <a:latin typeface="Aptos"/>
                <a:ea typeface="Aptos"/>
                <a:cs typeface="Aptos"/>
              </a:rPr>
              <a:t>A supply schedule lists quantities sellers offer at alternative prices. At $50, quantity supplied is 6,000.</a:t>
            </a:r>
          </a:p>
        </p:txBody>
      </p:sp>
      <p:sp>
        <p:nvSpPr>
          <p:cNvPr id="5" name="">
            <a:extLst xmlns:a="http://schemas.openxmlformats.org/drawingml/2006/main">
              <a:ext uri="{FF2B5EF4-FFF2-40B4-BE49-F238E27FC236}">
                <a16:creationId xmlns:a16="http://schemas.microsoft.com/office/drawing/2014/main" id="{70DA5371-2968-4064-869A-FFC9153EE1EF}"/>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602AC0C1-3404-4343-8AD2-7A30AA1A8C41}"/>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Supply: The Seller's Side Of The Market</a:t>
            </a:r>
          </a:p>
        </p:txBody>
      </p:sp>
      <p:sp>
        <p:nvSpPr>
          <p:cNvPr id="7" name="text-5">
            <a:extLst xmlns:a="http://schemas.openxmlformats.org/drawingml/2006/main">
              <a:ext uri="{FF2B5EF4-FFF2-40B4-BE49-F238E27FC236}">
                <a16:creationId xmlns:a16="http://schemas.microsoft.com/office/drawing/2014/main" id="{E2EE9946-0257-45EA-8188-BE49782DB285}"/>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23</a:t>
            </a:r>
          </a:p>
        </p:txBody>
      </p:sp>
    </p:spTree>
    <p:extLst>
      <p:ext uri="{BB962C8B-B14F-4D97-AF65-F5344CB8AC3E}">
        <p14:creationId xmlns:p14="http://schemas.microsoft.com/office/powerpoint/2010/main" val="2317605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4949D32-2AFE-442E-8264-FC01024CE5E8}"/>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90DB01E7-A59D-472B-A047-9390385C023F}"/>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The standard supply determinants · 1–3</a:t>
            </a:r>
          </a:p>
        </p:txBody>
      </p:sp>
      <p:sp>
        <p:nvSpPr>
          <p:cNvPr id="3" name="text-2">
            <a:extLst xmlns:a="http://schemas.openxmlformats.org/drawingml/2006/main">
              <a:ext uri="{FF2B5EF4-FFF2-40B4-BE49-F238E27FC236}">
                <a16:creationId xmlns:a16="http://schemas.microsoft.com/office/drawing/2014/main" id="{862D1937-EC5F-4122-9885-B6CFBFC4AC0A}"/>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Input prices:</a:t>
            </a:r>
            <a:r>
              <a:t> Higher wages, materials prices, rent, or energy costs tend to reduce supply at any given output price.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Technology and productivity:</a:t>
            </a:r>
            <a:r>
              <a:t> Better production methods can increase the amount sellers can provide from available inputs.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Taxes, subsidies, and regulations:</a:t>
            </a:r>
            <a:r>
              <a:t> These can change the marginal benefit or cost of supplying a unit.</a:t>
            </a:r>
          </a:p>
        </p:txBody>
      </p:sp>
      <p:sp>
        <p:nvSpPr>
          <p:cNvPr id="4" name="">
            <a:extLst xmlns:a="http://schemas.openxmlformats.org/drawingml/2006/main">
              <a:ext uri="{FF2B5EF4-FFF2-40B4-BE49-F238E27FC236}">
                <a16:creationId xmlns:a16="http://schemas.microsoft.com/office/drawing/2014/main" id="{52A0B1F8-BC3F-40B3-A2B2-CC4A0D57D1C8}"/>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E31880CF-90AF-4CB9-A82E-83EAB4A6CC87}"/>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Supply: The Seller's Side Of The Market</a:t>
            </a:r>
          </a:p>
        </p:txBody>
      </p:sp>
      <p:sp>
        <p:nvSpPr>
          <p:cNvPr id="6" name="text-5">
            <a:extLst xmlns:a="http://schemas.openxmlformats.org/drawingml/2006/main">
              <a:ext uri="{FF2B5EF4-FFF2-40B4-BE49-F238E27FC236}">
                <a16:creationId xmlns:a16="http://schemas.microsoft.com/office/drawing/2014/main" id="{E9157E17-19C2-474B-A7F5-97B42B6E1C11}"/>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24</a:t>
            </a:r>
          </a:p>
        </p:txBody>
      </p:sp>
    </p:spTree>
    <p:extLst>
      <p:ext uri="{BB962C8B-B14F-4D97-AF65-F5344CB8AC3E}">
        <p14:creationId xmlns:p14="http://schemas.microsoft.com/office/powerpoint/2010/main" val="146385305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90A9723-EB3A-416D-9995-C3FD8B409B34}"/>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24EA5470-6191-4B35-A5A8-8DFB07C56533}"/>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The standard supply determinants · 4–6</a:t>
            </a:r>
          </a:p>
        </p:txBody>
      </p:sp>
      <p:sp>
        <p:nvSpPr>
          <p:cNvPr id="3" name="text-2">
            <a:extLst xmlns:a="http://schemas.openxmlformats.org/drawingml/2006/main">
              <a:ext uri="{FF2B5EF4-FFF2-40B4-BE49-F238E27FC236}">
                <a16:creationId xmlns:a16="http://schemas.microsoft.com/office/drawing/2014/main" id="{4A6C21D2-3DAC-41F8-9FD2-A5FA7684A2A5}"/>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Expectations:</a:t>
            </a:r>
            <a:r>
              <a:t> Sellers may adjust current production or inventory when they expect future prices or costs to change.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Number of sellers:</a:t>
            </a:r>
            <a:r>
              <a:t> Entry expands market supply; exit contracts it.</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Natural and operating conditions:</a:t>
            </a:r>
            <a:r>
              <a:t> Weather, transportation interruptions, injuries, or facility availability can constrain production in particular markets.</a:t>
            </a:r>
          </a:p>
        </p:txBody>
      </p:sp>
      <p:sp>
        <p:nvSpPr>
          <p:cNvPr id="4" name="text-3">
            <a:extLst xmlns:a="http://schemas.openxmlformats.org/drawingml/2006/main">
              <a:ext uri="{FF2B5EF4-FFF2-40B4-BE49-F238E27FC236}">
                <a16:creationId xmlns:a16="http://schemas.microsoft.com/office/drawing/2014/main" id="{A32A4BB3-B89E-4BBE-AB77-A90BA7E738B2}"/>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 product’s own price causes movement along supply, not a supply shift.</a:t>
            </a:r>
          </a:p>
        </p:txBody>
      </p:sp>
      <p:sp>
        <p:nvSpPr>
          <p:cNvPr id="5" name="">
            <a:extLst xmlns:a="http://schemas.openxmlformats.org/drawingml/2006/main">
              <a:ext uri="{FF2B5EF4-FFF2-40B4-BE49-F238E27FC236}">
                <a16:creationId xmlns:a16="http://schemas.microsoft.com/office/drawing/2014/main" id="{9D7BB6F3-C587-46D3-94BA-EC943BEEF2CA}"/>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4DDC2941-93C7-4AB9-BB6E-C1EA625BF736}"/>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Supply: The Seller's Side Of The Market</a:t>
            </a:r>
          </a:p>
        </p:txBody>
      </p:sp>
      <p:sp>
        <p:nvSpPr>
          <p:cNvPr id="7" name="text-6">
            <a:extLst xmlns:a="http://schemas.openxmlformats.org/drawingml/2006/main">
              <a:ext uri="{FF2B5EF4-FFF2-40B4-BE49-F238E27FC236}">
                <a16:creationId xmlns:a16="http://schemas.microsoft.com/office/drawing/2014/main" id="{88E098BB-BE29-4C8E-9318-3EA1D96B6D16}"/>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25</a:t>
            </a:r>
          </a:p>
        </p:txBody>
      </p:sp>
    </p:spTree>
    <p:extLst>
      <p:ext uri="{BB962C8B-B14F-4D97-AF65-F5344CB8AC3E}">
        <p14:creationId xmlns:p14="http://schemas.microsoft.com/office/powerpoint/2010/main" val="42144195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003D2FA-CFC7-41BD-BB58-325BBA56B5FA}"/>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557E9118-E88E-4317-9262-77383E77F147}"/>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Figure 2.2 · Movement along supply versus a shift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9f6a4b59a7142ee"/>
          <a:stretch xmlns:a="http://schemas.openxmlformats.org/drawingml/2006/main"/>
        </p:blipFill>
        <p:spPr>
          <a:xfrm xmlns:a="http://schemas.openxmlformats.org/drawingml/2006/main">
            <a:off x="1933861" y="1657350"/>
            <a:ext cx="8324278" cy="39433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0DF65DAF-2571-42D4-8F3C-6A8B0C36C179}"/>
              </a:ext>
            </a:extLst>
          </p:cNvPr>
          <p:cNvSpPr>
            <a:spLocks xmlns:a="http://schemas.openxmlformats.org/drawingml/2006/main" noGrp="1"/>
          </p:cNvSpPr>
          <p:nvPr/>
        </p:nvSpPr>
        <p:spPr>
          <a:xfrm xmlns:a="http://schemas.openxmlformats.org/drawingml/2006/main">
            <a:off x="685800" y="567690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i="0">
                <a:solidFill>
                  <a:srgbClr val="12455E"/>
                </a:solidFill>
                <a:latin typeface="Aptos"/>
                <a:ea typeface="Aptos"/>
                <a:cs typeface="Aptos"/>
              </a:defRPr>
            </a:pPr>
            <a:r>
              <a:rPr sz="1875" b="1" i="0">
                <a:solidFill>
                  <a:srgbClr val="12455E"/>
                </a:solidFill>
                <a:latin typeface="Aptos"/>
                <a:ea typeface="Aptos"/>
                <a:cs typeface="Aptos"/>
              </a:rPr>
              <a:t>Read the shift horizontally: higher input costs mean less supplied at the same price.</a:t>
            </a:r>
          </a:p>
        </p:txBody>
      </p:sp>
      <p:sp>
        <p:nvSpPr>
          <p:cNvPr id="5" name="">
            <a:extLst xmlns:a="http://schemas.openxmlformats.org/drawingml/2006/main">
              <a:ext uri="{FF2B5EF4-FFF2-40B4-BE49-F238E27FC236}">
                <a16:creationId xmlns:a16="http://schemas.microsoft.com/office/drawing/2014/main" id="{96546244-79EF-4274-9D60-8AE78DE9B71B}"/>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20D063D2-1195-4187-BE53-EBC71B607B57}"/>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Supply: The Seller's Side Of The Market</a:t>
            </a:r>
          </a:p>
        </p:txBody>
      </p:sp>
      <p:sp>
        <p:nvSpPr>
          <p:cNvPr id="7" name="text-5">
            <a:extLst xmlns:a="http://schemas.openxmlformats.org/drawingml/2006/main">
              <a:ext uri="{FF2B5EF4-FFF2-40B4-BE49-F238E27FC236}">
                <a16:creationId xmlns:a16="http://schemas.microsoft.com/office/drawing/2014/main" id="{531D2DA9-93C8-438A-B6B0-BA6FE41B0790}"/>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26</a:t>
            </a:r>
          </a:p>
        </p:txBody>
      </p:sp>
    </p:spTree>
    <p:extLst>
      <p:ext uri="{BB962C8B-B14F-4D97-AF65-F5344CB8AC3E}">
        <p14:creationId xmlns:p14="http://schemas.microsoft.com/office/powerpoint/2010/main" val="119873102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385A2D1-EC27-41E5-82C5-41ABB6F28822}"/>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51122D0C-F699-4D19-BE4D-F7CAB14E84EE}"/>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A jersey price is not an input price</a:t>
            </a:r>
          </a:p>
        </p:txBody>
      </p:sp>
      <p:sp>
        <p:nvSpPr>
          <p:cNvPr id="3" name="text-2">
            <a:extLst xmlns:a="http://schemas.openxmlformats.org/drawingml/2006/main">
              <a:ext uri="{FF2B5EF4-FFF2-40B4-BE49-F238E27FC236}">
                <a16:creationId xmlns:a16="http://schemas.microsoft.com/office/drawing/2014/main" id="{528A7955-3C27-4F4D-A4FD-48ECD3F0F934}"/>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The jersey’s own price rises:</a:t>
            </a:r>
            <a:r>
              <a:t> quantity supplied increases along the same curve.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The material used to make jerseys becomes more expensive:</a:t>
            </a:r>
            <a:r>
              <a:t> supply shifts left.</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After adding demand, we can ask how the supply shift changes equilibrium.</a:t>
            </a:r>
          </a:p>
        </p:txBody>
      </p:sp>
      <p:sp>
        <p:nvSpPr>
          <p:cNvPr id="4" name="text-3">
            <a:extLst xmlns:a="http://schemas.openxmlformats.org/drawingml/2006/main">
              <a:ext uri="{FF2B5EF4-FFF2-40B4-BE49-F238E27FC236}">
                <a16:creationId xmlns:a16="http://schemas.microsoft.com/office/drawing/2014/main" id="{7EB2CA03-165D-4C93-93B7-7AFFA03B0E75}"/>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Distinguish the price of the output from the prices of its inputs.</a:t>
            </a:r>
          </a:p>
        </p:txBody>
      </p:sp>
      <p:sp>
        <p:nvSpPr>
          <p:cNvPr id="5" name="">
            <a:extLst xmlns:a="http://schemas.openxmlformats.org/drawingml/2006/main">
              <a:ext uri="{FF2B5EF4-FFF2-40B4-BE49-F238E27FC236}">
                <a16:creationId xmlns:a16="http://schemas.microsoft.com/office/drawing/2014/main" id="{631F31A0-470D-4FDE-A1CA-A32497BBEC97}"/>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4E18D741-76A6-484D-A9EB-41F44A426D83}"/>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Supply: The Seller's Side Of The Market</a:t>
            </a:r>
          </a:p>
        </p:txBody>
      </p:sp>
      <p:sp>
        <p:nvSpPr>
          <p:cNvPr id="7" name="text-6">
            <a:extLst xmlns:a="http://schemas.openxmlformats.org/drawingml/2006/main">
              <a:ext uri="{FF2B5EF4-FFF2-40B4-BE49-F238E27FC236}">
                <a16:creationId xmlns:a16="http://schemas.microsoft.com/office/drawing/2014/main" id="{767A29A5-AEE0-4B7B-82E3-BA8A16E39AF9}"/>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27</a:t>
            </a:r>
          </a:p>
        </p:txBody>
      </p:sp>
    </p:spTree>
    <p:extLst>
      <p:ext uri="{BB962C8B-B14F-4D97-AF65-F5344CB8AC3E}">
        <p14:creationId xmlns:p14="http://schemas.microsoft.com/office/powerpoint/2010/main" val="103266682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103061C-D076-49AA-90BF-D53345AB8197}"/>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81156BB4-22E0-42B2-A35D-F40CC599B949}"/>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Capacity changes the short-run response</a:t>
            </a:r>
          </a:p>
        </p:txBody>
      </p:sp>
      <p:sp>
        <p:nvSpPr>
          <p:cNvPr id="3" name="text-2">
            <a:extLst xmlns:a="http://schemas.openxmlformats.org/drawingml/2006/main">
              <a:ext uri="{FF2B5EF4-FFF2-40B4-BE49-F238E27FC236}">
                <a16:creationId xmlns:a16="http://schemas.microsoft.com/office/drawing/2014/main" id="{0671B1B7-4BA9-462A-BFED-DF2503324476}"/>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Merchandise output can expand as producers adjust inputs and production.</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Tomorrow’s stadium admissions cannot expand beyond the available seats.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 longer horizon may allow a different configuration, expansion, or a new venue.</a:t>
            </a:r>
          </a:p>
        </p:txBody>
      </p:sp>
      <p:sp>
        <p:nvSpPr>
          <p:cNvPr id="4" name="text-3">
            <a:extLst xmlns:a="http://schemas.openxmlformats.org/drawingml/2006/main">
              <a:ext uri="{FF2B5EF4-FFF2-40B4-BE49-F238E27FC236}">
                <a16:creationId xmlns:a16="http://schemas.microsoft.com/office/drawing/2014/main" id="{D2A3BE5A-2ADF-4F61-B46A-360E93CD2C8B}"/>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Always specify the product and time horizon.</a:t>
            </a:r>
          </a:p>
        </p:txBody>
      </p:sp>
      <p:sp>
        <p:nvSpPr>
          <p:cNvPr id="5" name="">
            <a:extLst xmlns:a="http://schemas.openxmlformats.org/drawingml/2006/main">
              <a:ext uri="{FF2B5EF4-FFF2-40B4-BE49-F238E27FC236}">
                <a16:creationId xmlns:a16="http://schemas.microsoft.com/office/drawing/2014/main" id="{733567A7-FA44-405F-83E8-39E164579FA8}"/>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347CDFF0-AF04-4F1E-B660-F5FC8E616248}"/>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Supply: The Seller's Side Of The Market</a:t>
            </a:r>
          </a:p>
        </p:txBody>
      </p:sp>
      <p:sp>
        <p:nvSpPr>
          <p:cNvPr id="7" name="text-6">
            <a:extLst xmlns:a="http://schemas.openxmlformats.org/drawingml/2006/main">
              <a:ext uri="{FF2B5EF4-FFF2-40B4-BE49-F238E27FC236}">
                <a16:creationId xmlns:a16="http://schemas.microsoft.com/office/drawing/2014/main" id="{ECF809FD-FF12-42FE-BD80-B2794785E4B5}"/>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28</a:t>
            </a:r>
          </a:p>
        </p:txBody>
      </p:sp>
    </p:spTree>
    <p:extLst>
      <p:ext uri="{BB962C8B-B14F-4D97-AF65-F5344CB8AC3E}">
        <p14:creationId xmlns:p14="http://schemas.microsoft.com/office/powerpoint/2010/main" val="167443128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3BC4050-96AC-4CDD-85A5-E3CFBF703C52}"/>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62683495-8D9D-4FD1-982A-66684E656B93}"/>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Figure 2.3 · Fixed venue capacity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276addca6c04f50"/>
          <a:stretch xmlns:a="http://schemas.openxmlformats.org/drawingml/2006/main"/>
        </p:blipFill>
        <p:spPr>
          <a:xfrm xmlns:a="http://schemas.openxmlformats.org/drawingml/2006/main">
            <a:off x="4141840" y="1657350"/>
            <a:ext cx="3908320" cy="39433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CC49C7E0-E8B2-480A-B959-8E2CE0A0121A}"/>
              </a:ext>
            </a:extLst>
          </p:cNvPr>
          <p:cNvSpPr>
            <a:spLocks xmlns:a="http://schemas.openxmlformats.org/drawingml/2006/main" noGrp="1"/>
          </p:cNvSpPr>
          <p:nvPr/>
        </p:nvSpPr>
        <p:spPr>
          <a:xfrm xmlns:a="http://schemas.openxmlformats.org/drawingml/2006/main">
            <a:off x="685800" y="567690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i="0">
                <a:solidFill>
                  <a:srgbClr val="12455E"/>
                </a:solidFill>
                <a:latin typeface="Aptos"/>
                <a:ea typeface="Aptos"/>
                <a:cs typeface="Aptos"/>
              </a:defRPr>
            </a:pPr>
            <a:r>
              <a:rPr sz="1875" b="1" i="0">
                <a:solidFill>
                  <a:srgbClr val="12455E"/>
                </a:solidFill>
                <a:latin typeface="Aptos"/>
                <a:ea typeface="Aptos"/>
                <a:cs typeface="Aptos"/>
              </a:rPr>
              <a:t>A vertical supply curve models fixed available admissions—not every sports market.</a:t>
            </a:r>
          </a:p>
        </p:txBody>
      </p:sp>
      <p:sp>
        <p:nvSpPr>
          <p:cNvPr id="5" name="">
            <a:extLst xmlns:a="http://schemas.openxmlformats.org/drawingml/2006/main">
              <a:ext uri="{FF2B5EF4-FFF2-40B4-BE49-F238E27FC236}">
                <a16:creationId xmlns:a16="http://schemas.microsoft.com/office/drawing/2014/main" id="{52D1AA85-D60A-4156-BBC5-F154B4B4650C}"/>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DE4FD961-3F1D-45DD-9648-A0A4C35CF852}"/>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Supply: The Seller's Side Of The Market</a:t>
            </a:r>
          </a:p>
        </p:txBody>
      </p:sp>
      <p:sp>
        <p:nvSpPr>
          <p:cNvPr id="7" name="text-5">
            <a:extLst xmlns:a="http://schemas.openxmlformats.org/drawingml/2006/main">
              <a:ext uri="{FF2B5EF4-FFF2-40B4-BE49-F238E27FC236}">
                <a16:creationId xmlns:a16="http://schemas.microsoft.com/office/drawing/2014/main" id="{16CC9626-CC42-496C-9FE2-B4EE712F16B8}"/>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29</a:t>
            </a:r>
          </a:p>
        </p:txBody>
      </p:sp>
    </p:spTree>
    <p:extLst>
      <p:ext uri="{BB962C8B-B14F-4D97-AF65-F5344CB8AC3E}">
        <p14:creationId xmlns:p14="http://schemas.microsoft.com/office/powerpoint/2010/main" val="136463772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2DD3DA5-CE69-45E9-8998-FBCDEF27497D}"/>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E6ECEF5D-0108-48DB-9D79-1081AAF8484C}"/>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Equilibrium means the market clears</a:t>
            </a:r>
          </a:p>
        </p:txBody>
      </p:sp>
      <p:sp>
        <p:nvSpPr>
          <p:cNvPr id="3" name="text-2">
            <a:extLst xmlns:a="http://schemas.openxmlformats.org/drawingml/2006/main">
              <a:ext uri="{FF2B5EF4-FFF2-40B4-BE49-F238E27FC236}">
                <a16:creationId xmlns:a16="http://schemas.microsoft.com/office/drawing/2014/main" id="{0C12AFFC-D733-4D1B-B919-23684B5A596E}"/>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Quantity demanded equals quantity supplied at the equilibrium price.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Buyers’ and sellers’ planned quantities agree.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An intersection gives both an equilibrium price and an equilibrium quantity.</a:t>
            </a:r>
          </a:p>
        </p:txBody>
      </p:sp>
      <p:sp>
        <p:nvSpPr>
          <p:cNvPr id="4" name="text-3">
            <a:extLst xmlns:a="http://schemas.openxmlformats.org/drawingml/2006/main">
              <a:ext uri="{FF2B5EF4-FFF2-40B4-BE49-F238E27FC236}">
                <a16:creationId xmlns:a16="http://schemas.microsoft.com/office/drawing/2014/main" id="{65BD1A25-5341-4C3B-8AD6-945B6F30B270}"/>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Keep this competitive market benchmark distinct from one team’s pricing decision.</a:t>
            </a:r>
          </a:p>
        </p:txBody>
      </p:sp>
      <p:sp>
        <p:nvSpPr>
          <p:cNvPr id="5" name="">
            <a:extLst xmlns:a="http://schemas.openxmlformats.org/drawingml/2006/main">
              <a:ext uri="{FF2B5EF4-FFF2-40B4-BE49-F238E27FC236}">
                <a16:creationId xmlns:a16="http://schemas.microsoft.com/office/drawing/2014/main" id="{0BD69F00-A31C-4773-B364-A5F9D143B958}"/>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C99E6E88-056A-4367-B76C-A60527E1025C}"/>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Equilibrium And Market Adjustment</a:t>
            </a:r>
          </a:p>
        </p:txBody>
      </p:sp>
      <p:sp>
        <p:nvSpPr>
          <p:cNvPr id="7" name="text-6">
            <a:extLst xmlns:a="http://schemas.openxmlformats.org/drawingml/2006/main">
              <a:ext uri="{FF2B5EF4-FFF2-40B4-BE49-F238E27FC236}">
                <a16:creationId xmlns:a16="http://schemas.microsoft.com/office/drawing/2014/main" id="{8907A108-A346-4BA2-8EC3-6118DA3E0639}"/>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30</a:t>
            </a:r>
          </a:p>
        </p:txBody>
      </p:sp>
    </p:spTree>
    <p:extLst>
      <p:ext uri="{BB962C8B-B14F-4D97-AF65-F5344CB8AC3E}">
        <p14:creationId xmlns:p14="http://schemas.microsoft.com/office/powerpoint/2010/main" val="51284514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18D0B2AE-18B8-4A74-AEC0-BB5CB3BEBDE8}"/>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WORKED CALCULATION</a:t>
            </a:r>
          </a:p>
        </p:txBody>
      </p:sp>
      <p:sp>
        <p:nvSpPr>
          <p:cNvPr id="2" name="text-1">
            <a:extLst xmlns:a="http://schemas.openxmlformats.org/drawingml/2006/main">
              <a:ext uri="{FF2B5EF4-FFF2-40B4-BE49-F238E27FC236}">
                <a16:creationId xmlns:a16="http://schemas.microsoft.com/office/drawing/2014/main" id="{3900032B-2853-4581-9D8A-8722D14FA4ED}"/>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Find equilibrium · Set the two prices equal</a:t>
            </a:r>
          </a:p>
        </p:txBody>
      </p:sp>
      <p:sp>
        <p:nvSpPr>
          <p:cNvPr id="3" name="text-2">
            <a:extLst xmlns:a="http://schemas.openxmlformats.org/drawingml/2006/main">
              <a:ext uri="{FF2B5EF4-FFF2-40B4-BE49-F238E27FC236}">
                <a16:creationId xmlns:a16="http://schemas.microsoft.com/office/drawing/2014/main" id="{096CEC34-FDDE-4DA0-B625-E79B37EDF804}"/>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The book’s hypothetical curves describe price as a function of quantity.</a:t>
            </a:r>
          </a:p>
        </p:txBody>
      </p:sp>
      <p:sp>
        <p:nvSpPr>
          <p:cNvPr id="4" name="text-3">
            <a:extLst xmlns:a="http://schemas.openxmlformats.org/drawingml/2006/main">
              <a:ext uri="{FF2B5EF4-FFF2-40B4-BE49-F238E27FC236}">
                <a16:creationId xmlns:a16="http://schemas.microsoft.com/office/drawing/2014/main" id="{8DF8617A-39BC-4063-89D1-F70D26C3D971}"/>
              </a:ext>
            </a:extLst>
          </p:cNvPr>
          <p:cNvSpPr>
            <a:spLocks xmlns:a="http://schemas.openxmlformats.org/drawingml/2006/main" noGrp="1"/>
          </p:cNvSpPr>
          <p:nvPr/>
        </p:nvSpPr>
        <p:spPr>
          <a:xfrm xmlns:a="http://schemas.openxmlformats.org/drawingml/2006/main">
            <a:off x="723900" y="272415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Demand: P = 100 − 5Q</a:t>
            </a:r>
          </a:p>
        </p:txBody>
      </p:sp>
      <p:sp>
        <p:nvSpPr>
          <p:cNvPr id="5" name="text-4">
            <a:extLst xmlns:a="http://schemas.openxmlformats.org/drawingml/2006/main">
              <a:ext uri="{FF2B5EF4-FFF2-40B4-BE49-F238E27FC236}">
                <a16:creationId xmlns:a16="http://schemas.microsoft.com/office/drawing/2014/main" id="{968C73E5-774C-4182-A671-D2EFA6387D9A}"/>
              </a:ext>
            </a:extLst>
          </p:cNvPr>
          <p:cNvSpPr>
            <a:spLocks xmlns:a="http://schemas.openxmlformats.org/drawingml/2006/main" noGrp="1"/>
          </p:cNvSpPr>
          <p:nvPr/>
        </p:nvSpPr>
        <p:spPr>
          <a:xfrm xmlns:a="http://schemas.openxmlformats.org/drawingml/2006/main">
            <a:off x="723900" y="3514725"/>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Supply: P = 20 + 5Q</a:t>
            </a:r>
          </a:p>
        </p:txBody>
      </p:sp>
      <p:sp>
        <p:nvSpPr>
          <p:cNvPr id="6" name="text-5">
            <a:extLst xmlns:a="http://schemas.openxmlformats.org/drawingml/2006/main">
              <a:ext uri="{FF2B5EF4-FFF2-40B4-BE49-F238E27FC236}">
                <a16:creationId xmlns:a16="http://schemas.microsoft.com/office/drawing/2014/main" id="{E88AEE07-6B0E-496D-805D-5D09E61FF77F}"/>
              </a:ext>
            </a:extLst>
          </p:cNvPr>
          <p:cNvSpPr>
            <a:spLocks xmlns:a="http://schemas.openxmlformats.org/drawingml/2006/main" noGrp="1"/>
          </p:cNvSpPr>
          <p:nvPr/>
        </p:nvSpPr>
        <p:spPr>
          <a:xfrm xmlns:a="http://schemas.openxmlformats.org/drawingml/2006/main">
            <a:off x="723900" y="430530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100 − 5Q = 20 + 5Q</a:t>
            </a:r>
          </a:p>
        </p:txBody>
      </p:sp>
      <p:sp>
        <p:nvSpPr>
          <p:cNvPr id="7" name="text-6">
            <a:extLst xmlns:a="http://schemas.openxmlformats.org/drawingml/2006/main">
              <a:ext uri="{FF2B5EF4-FFF2-40B4-BE49-F238E27FC236}">
                <a16:creationId xmlns:a16="http://schemas.microsoft.com/office/drawing/2014/main" id="{32A74F6D-34F7-456A-866C-520A8C64A72C}"/>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At the intersection, both curves have the same P and Q.</a:t>
            </a:r>
          </a:p>
        </p:txBody>
      </p:sp>
      <p:sp>
        <p:nvSpPr>
          <p:cNvPr id="8" name="">
            <a:extLst xmlns:a="http://schemas.openxmlformats.org/drawingml/2006/main">
              <a:ext uri="{FF2B5EF4-FFF2-40B4-BE49-F238E27FC236}">
                <a16:creationId xmlns:a16="http://schemas.microsoft.com/office/drawing/2014/main" id="{34CE7FB9-E41D-49AB-8245-3F16C965989F}"/>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D8B27630-3545-4D02-B8BC-5998EBB8B5B6}"/>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Equilibrium And Market Adjustment</a:t>
            </a:r>
          </a:p>
        </p:txBody>
      </p:sp>
      <p:sp>
        <p:nvSpPr>
          <p:cNvPr id="10" name="text-9">
            <a:extLst xmlns:a="http://schemas.openxmlformats.org/drawingml/2006/main">
              <a:ext uri="{FF2B5EF4-FFF2-40B4-BE49-F238E27FC236}">
                <a16:creationId xmlns:a16="http://schemas.microsoft.com/office/drawing/2014/main" id="{8771E48B-AD0F-40C1-82B4-AAA6353324C2}"/>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31</a:t>
            </a:r>
          </a:p>
        </p:txBody>
      </p:sp>
    </p:spTree>
    <p:extLst>
      <p:ext uri="{BB962C8B-B14F-4D97-AF65-F5344CB8AC3E}">
        <p14:creationId xmlns:p14="http://schemas.microsoft.com/office/powerpoint/2010/main" val="201496663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E6D6386A-3F45-48FB-84B6-A999D4668ADF}"/>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WORKED CALCULATION</a:t>
            </a:r>
          </a:p>
        </p:txBody>
      </p:sp>
      <p:sp>
        <p:nvSpPr>
          <p:cNvPr id="2" name="text-1">
            <a:extLst xmlns:a="http://schemas.openxmlformats.org/drawingml/2006/main">
              <a:ext uri="{FF2B5EF4-FFF2-40B4-BE49-F238E27FC236}">
                <a16:creationId xmlns:a16="http://schemas.microsoft.com/office/drawing/2014/main" id="{78A24632-F9C5-43F3-A140-8636C6753F20}"/>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Find equilibrium · Solve, then check</a:t>
            </a:r>
          </a:p>
        </p:txBody>
      </p:sp>
      <p:sp>
        <p:nvSpPr>
          <p:cNvPr id="3" name="text-2">
            <a:extLst xmlns:a="http://schemas.openxmlformats.org/drawingml/2006/main">
              <a:ext uri="{FF2B5EF4-FFF2-40B4-BE49-F238E27FC236}">
                <a16:creationId xmlns:a16="http://schemas.microsoft.com/office/drawing/2014/main" id="{31F42CA8-EEC9-4FF1-B6CC-CCAAAF05D313}"/>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Collect the Q terms, solve for Q, and substitute into either curve.</a:t>
            </a:r>
          </a:p>
        </p:txBody>
      </p:sp>
      <p:sp>
        <p:nvSpPr>
          <p:cNvPr id="4" name="text-3">
            <a:extLst xmlns:a="http://schemas.openxmlformats.org/drawingml/2006/main">
              <a:ext uri="{FF2B5EF4-FFF2-40B4-BE49-F238E27FC236}">
                <a16:creationId xmlns:a16="http://schemas.microsoft.com/office/drawing/2014/main" id="{7DBD13AE-2CEE-43BB-8132-DC2C1A0B9302}"/>
              </a:ext>
            </a:extLst>
          </p:cNvPr>
          <p:cNvSpPr>
            <a:spLocks xmlns:a="http://schemas.openxmlformats.org/drawingml/2006/main" noGrp="1"/>
          </p:cNvSpPr>
          <p:nvPr/>
        </p:nvSpPr>
        <p:spPr>
          <a:xfrm xmlns:a="http://schemas.openxmlformats.org/drawingml/2006/main">
            <a:off x="723900" y="272415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80 = 10Q     →     Q* = 8</a:t>
            </a:r>
          </a:p>
        </p:txBody>
      </p:sp>
      <p:sp>
        <p:nvSpPr>
          <p:cNvPr id="5" name="text-4">
            <a:extLst xmlns:a="http://schemas.openxmlformats.org/drawingml/2006/main">
              <a:ext uri="{FF2B5EF4-FFF2-40B4-BE49-F238E27FC236}">
                <a16:creationId xmlns:a16="http://schemas.microsoft.com/office/drawing/2014/main" id="{18EC2D6F-FEFA-4B63-861D-4C39876CC843}"/>
              </a:ext>
            </a:extLst>
          </p:cNvPr>
          <p:cNvSpPr>
            <a:spLocks xmlns:a="http://schemas.openxmlformats.org/drawingml/2006/main" noGrp="1"/>
          </p:cNvSpPr>
          <p:nvPr/>
        </p:nvSpPr>
        <p:spPr>
          <a:xfrm xmlns:a="http://schemas.openxmlformats.org/drawingml/2006/main">
            <a:off x="723900" y="3514725"/>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P* = 100 − 5(8) = 60</a:t>
            </a:r>
          </a:p>
        </p:txBody>
      </p:sp>
      <p:sp>
        <p:nvSpPr>
          <p:cNvPr id="6" name="text-5">
            <a:extLst xmlns:a="http://schemas.openxmlformats.org/drawingml/2006/main">
              <a:ext uri="{FF2B5EF4-FFF2-40B4-BE49-F238E27FC236}">
                <a16:creationId xmlns:a16="http://schemas.microsoft.com/office/drawing/2014/main" id="{3FD9814D-E06F-4999-8722-5D37822F0C4E}"/>
              </a:ext>
            </a:extLst>
          </p:cNvPr>
          <p:cNvSpPr>
            <a:spLocks xmlns:a="http://schemas.openxmlformats.org/drawingml/2006/main" noGrp="1"/>
          </p:cNvSpPr>
          <p:nvPr/>
        </p:nvSpPr>
        <p:spPr>
          <a:xfrm xmlns:a="http://schemas.openxmlformats.org/drawingml/2006/main">
            <a:off x="723900" y="430530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Check: 20 + 5(8) = 60</a:t>
            </a:r>
          </a:p>
        </p:txBody>
      </p:sp>
      <p:sp>
        <p:nvSpPr>
          <p:cNvPr id="7" name="text-6">
            <a:extLst xmlns:a="http://schemas.openxmlformats.org/drawingml/2006/main">
              <a:ext uri="{FF2B5EF4-FFF2-40B4-BE49-F238E27FC236}">
                <a16:creationId xmlns:a16="http://schemas.microsoft.com/office/drawing/2014/main" id="{22C84331-F7C6-432A-803F-3BC808A4132F}"/>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Equilibrium: Q* = 8 and P* = 60.</a:t>
            </a:r>
          </a:p>
        </p:txBody>
      </p:sp>
      <p:sp>
        <p:nvSpPr>
          <p:cNvPr id="8" name="">
            <a:extLst xmlns:a="http://schemas.openxmlformats.org/drawingml/2006/main">
              <a:ext uri="{FF2B5EF4-FFF2-40B4-BE49-F238E27FC236}">
                <a16:creationId xmlns:a16="http://schemas.microsoft.com/office/drawing/2014/main" id="{E02CE0E4-C363-42D6-BE83-037C19A4F6F1}"/>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79691A27-0E7E-43FC-B52A-1EDC993DA4E4}"/>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Equilibrium And Market Adjustment</a:t>
            </a:r>
          </a:p>
        </p:txBody>
      </p:sp>
      <p:sp>
        <p:nvSpPr>
          <p:cNvPr id="10" name="text-9">
            <a:extLst xmlns:a="http://schemas.openxmlformats.org/drawingml/2006/main">
              <a:ext uri="{FF2B5EF4-FFF2-40B4-BE49-F238E27FC236}">
                <a16:creationId xmlns:a16="http://schemas.microsoft.com/office/drawing/2014/main" id="{79CE5E61-2FCB-4CB0-8369-8FCBC6076B0A}"/>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32</a:t>
            </a:r>
          </a:p>
        </p:txBody>
      </p:sp>
    </p:spTree>
    <p:extLst>
      <p:ext uri="{BB962C8B-B14F-4D97-AF65-F5344CB8AC3E}">
        <p14:creationId xmlns:p14="http://schemas.microsoft.com/office/powerpoint/2010/main" val="69027599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3B9A5B8-96FB-4D30-B5DB-35A84EBAE5AD}"/>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D416C0C9-2715-45D2-A957-06391CF1ED2C}"/>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Prices above and below equilibrium</a:t>
            </a:r>
          </a:p>
        </p:txBody>
      </p:sp>
      <p:graphicFrame>
        <p:nvGraphicFramePr>
          <p:cNvPr id="1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1524000"/>
                <a:gridCol w="2857500"/>
                <a:gridCol w="2857500"/>
                <a:gridCol w="3581400"/>
              </a:tblGrid>
              <a:tr h="714375">
                <a:tc>
                  <a:txBody>
                    <a:bodyPr lIns="142875" tIns="95250" rIns="142875" bIns="95250">
                      <a:noAutofit/>
                    </a:bodyPr>
                    <a:lstStyle/>
                    <a:p>
                      <a:r>
                        <a:rPr sz="2100" b="1">
                          <a:solidFill>
                            <a:srgbClr val="FFFFFF"/>
                          </a:solidFill>
                          <a:latin typeface="Aptos"/>
                          <a:ea typeface="Aptos"/>
                          <a:cs typeface="Aptos"/>
                        </a:rPr>
                        <a:t>Price</a:t>
                      </a:r>
                    </a:p>
                  </a:txBody>
                  <a:tcPr marL="91440" marR="91440" marT="45720" marB="45720" anchor="ctr">
                    <a:solidFill>
                      <a:srgbClr val="12455E"/>
                    </a:solidFill>
                  </a:tcPr>
                </a:tc>
                <a:tc>
                  <a:txBody>
                    <a:bodyPr lIns="142875" tIns="95250" rIns="142875" bIns="95250">
                      <a:noAutofit/>
                    </a:bodyPr>
                    <a:lstStyle/>
                    <a:p>
                      <a:r>
                        <a:rPr sz="2100" b="1">
                          <a:solidFill>
                            <a:srgbClr val="FFFFFF"/>
                          </a:solidFill>
                          <a:latin typeface="Aptos"/>
                          <a:ea typeface="Aptos"/>
                          <a:cs typeface="Aptos"/>
                        </a:rPr>
                        <a:t>Quantity demanded</a:t>
                      </a:r>
                    </a:p>
                  </a:txBody>
                  <a:tcPr marL="91440" marR="91440" marT="45720" marB="45720" anchor="ctr">
                    <a:solidFill>
                      <a:srgbClr val="12455E"/>
                    </a:solidFill>
                  </a:tcPr>
                </a:tc>
                <a:tc>
                  <a:txBody>
                    <a:bodyPr lIns="142875" tIns="95250" rIns="142875" bIns="95250">
                      <a:noAutofit/>
                    </a:bodyPr>
                    <a:lstStyle/>
                    <a:p>
                      <a:r>
                        <a:rPr sz="2100" b="1">
                          <a:solidFill>
                            <a:srgbClr val="FFFFFF"/>
                          </a:solidFill>
                          <a:latin typeface="Aptos"/>
                          <a:ea typeface="Aptos"/>
                          <a:cs typeface="Aptos"/>
                        </a:rPr>
                        <a:t>Quantity supplied</a:t>
                      </a:r>
                    </a:p>
                  </a:txBody>
                  <a:tcPr marL="91440" marR="91440" marT="45720" marB="45720" anchor="ctr">
                    <a:solidFill>
                      <a:srgbClr val="12455E"/>
                    </a:solidFill>
                  </a:tcPr>
                </a:tc>
                <a:tc>
                  <a:txBody>
                    <a:bodyPr lIns="142875" tIns="95250" rIns="142875" bIns="95250">
                      <a:noAutofit/>
                    </a:bodyPr>
                    <a:lstStyle/>
                    <a:p>
                      <a:r>
                        <a:rPr sz="2100" b="1">
                          <a:solidFill>
                            <a:srgbClr val="FFFFFF"/>
                          </a:solidFill>
                          <a:latin typeface="Aptos"/>
                          <a:ea typeface="Aptos"/>
                          <a:cs typeface="Aptos"/>
                        </a:rPr>
                        <a:t>Result</a:t>
                      </a:r>
                    </a:p>
                  </a:txBody>
                  <a:tcPr marL="91440" marR="91440" marT="45720" marB="45720" anchor="ctr">
                    <a:solidFill>
                      <a:srgbClr val="12455E"/>
                    </a:solidFill>
                  </a:tcPr>
                </a:tc>
              </a:tr>
              <a:tr h="714375">
                <a:tc>
                  <a:txBody>
                    <a:bodyPr lIns="142875" tIns="95250" rIns="142875" bIns="95250">
                      <a:noAutofit/>
                    </a:bodyPr>
                    <a:lstStyle/>
                    <a:p>
                      <a:r>
                        <a:rPr sz="2100" b="0">
                          <a:solidFill>
                            <a:srgbClr val="1D2A33"/>
                          </a:solidFill>
                          <a:latin typeface="Aptos"/>
                          <a:ea typeface="Aptos"/>
                          <a:cs typeface="Aptos"/>
                        </a:rPr>
                        <a:t>70</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6</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10</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Surplus of 4</a:t>
                      </a:r>
                    </a:p>
                  </a:txBody>
                  <a:tcPr marL="91440" marR="91440" marT="45720" marB="45720" anchor="ctr">
                    <a:solidFill>
                      <a:srgbClr val="F0F5F7"/>
                    </a:solidFill>
                  </a:tcPr>
                </a:tc>
              </a:tr>
              <a:tr h="714375">
                <a:tc>
                  <a:txBody>
                    <a:bodyPr lIns="142875" tIns="95250" rIns="142875" bIns="95250">
                      <a:noAutofit/>
                    </a:bodyPr>
                    <a:lstStyle/>
                    <a:p>
                      <a:r>
                        <a:rPr sz="2100" b="0">
                          <a:solidFill>
                            <a:srgbClr val="1D2A33"/>
                          </a:solidFill>
                          <a:latin typeface="Aptos"/>
                          <a:ea typeface="Aptos"/>
                          <a:cs typeface="Aptos"/>
                        </a:rPr>
                        <a:t>60</a:t>
                      </a:r>
                    </a:p>
                  </a:txBody>
                  <a:tcPr marL="91440" marR="91440" marT="45720" marB="45720" anchor="ctr">
                    <a:solidFill>
                      <a:srgbClr val="FFFFFF"/>
                    </a:solidFill>
                  </a:tcPr>
                </a:tc>
                <a:tc>
                  <a:txBody>
                    <a:bodyPr lIns="142875" tIns="95250" rIns="142875" bIns="95250">
                      <a:noAutofit/>
                    </a:bodyPr>
                    <a:lstStyle/>
                    <a:p>
                      <a:r>
                        <a:rPr sz="2100" b="0">
                          <a:solidFill>
                            <a:srgbClr val="1D2A33"/>
                          </a:solidFill>
                          <a:latin typeface="Aptos"/>
                          <a:ea typeface="Aptos"/>
                          <a:cs typeface="Aptos"/>
                        </a:rPr>
                        <a:t>8</a:t>
                      </a:r>
                    </a:p>
                  </a:txBody>
                  <a:tcPr marL="91440" marR="91440" marT="45720" marB="45720" anchor="ctr">
                    <a:solidFill>
                      <a:srgbClr val="FFFFFF"/>
                    </a:solidFill>
                  </a:tcPr>
                </a:tc>
                <a:tc>
                  <a:txBody>
                    <a:bodyPr lIns="142875" tIns="95250" rIns="142875" bIns="95250">
                      <a:noAutofit/>
                    </a:bodyPr>
                    <a:lstStyle/>
                    <a:p>
                      <a:r>
                        <a:rPr sz="2100" b="0">
                          <a:solidFill>
                            <a:srgbClr val="1D2A33"/>
                          </a:solidFill>
                          <a:latin typeface="Aptos"/>
                          <a:ea typeface="Aptos"/>
                          <a:cs typeface="Aptos"/>
                        </a:rPr>
                        <a:t>8</a:t>
                      </a:r>
                    </a:p>
                  </a:txBody>
                  <a:tcPr marL="91440" marR="91440" marT="45720" marB="45720" anchor="ctr">
                    <a:solidFill>
                      <a:srgbClr val="FFFFFF"/>
                    </a:solidFill>
                  </a:tcPr>
                </a:tc>
                <a:tc>
                  <a:txBody>
                    <a:bodyPr lIns="142875" tIns="95250" rIns="142875" bIns="95250">
                      <a:noAutofit/>
                    </a:bodyPr>
                    <a:lstStyle/>
                    <a:p>
                      <a:r>
                        <a:rPr sz="2100" b="0">
                          <a:solidFill>
                            <a:srgbClr val="1D2A33"/>
                          </a:solidFill>
                          <a:latin typeface="Aptos"/>
                          <a:ea typeface="Aptos"/>
                          <a:cs typeface="Aptos"/>
                        </a:rPr>
                        <a:t>Market clears</a:t>
                      </a:r>
                    </a:p>
                  </a:txBody>
                  <a:tcPr marL="91440" marR="91440" marT="45720" marB="45720" anchor="ctr">
                    <a:solidFill>
                      <a:srgbClr val="FFFFFF"/>
                    </a:solidFill>
                  </a:tcPr>
                </a:tc>
              </a:tr>
              <a:tr h="714375">
                <a:tc>
                  <a:txBody>
                    <a:bodyPr lIns="142875" tIns="95250" rIns="142875" bIns="95250">
                      <a:noAutofit/>
                    </a:bodyPr>
                    <a:lstStyle/>
                    <a:p>
                      <a:r>
                        <a:rPr sz="2100" b="0">
                          <a:solidFill>
                            <a:srgbClr val="1D2A33"/>
                          </a:solidFill>
                          <a:latin typeface="Aptos"/>
                          <a:ea typeface="Aptos"/>
                          <a:cs typeface="Aptos"/>
                        </a:rPr>
                        <a:t>50</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10</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6</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Shortage of 4</a:t>
                      </a:r>
                    </a:p>
                  </a:txBody>
                  <a:tcPr marL="91440" marR="91440" marT="45720" marB="45720" anchor="ctr">
                    <a:solidFill>
                      <a:srgbClr val="F0F5F7"/>
                    </a:solidFill>
                  </a:tcPr>
                </a:tc>
              </a:tr>
            </a:tbl>
          </a:graphicData>
        </a:graphic>
      </p:graphicFrame>
      <p:sp>
        <p:nvSpPr>
          <p:cNvPr id="4" name="text-2">
            <a:extLst xmlns:a="http://schemas.openxmlformats.org/drawingml/2006/main">
              <a:ext uri="{FF2B5EF4-FFF2-40B4-BE49-F238E27FC236}">
                <a16:creationId xmlns:a16="http://schemas.microsoft.com/office/drawing/2014/main" id="{735A6D14-39FA-4369-8341-E33310AADBE7}"/>
              </a:ext>
            </a:extLst>
          </p:cNvPr>
          <p:cNvSpPr>
            <a:spLocks xmlns:a="http://schemas.openxmlformats.org/drawingml/2006/main" noGrp="1"/>
          </p:cNvSpPr>
          <p:nvPr/>
        </p:nvSpPr>
        <p:spPr>
          <a:xfrm xmlns:a="http://schemas.openxmlformats.org/drawingml/2006/main">
            <a:off x="723900" y="5000625"/>
            <a:ext cx="107442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2455E"/>
                </a:solidFill>
                <a:latin typeface="Aptos"/>
                <a:ea typeface="Aptos"/>
                <a:cs typeface="Aptos"/>
              </a:defRPr>
            </a:pPr>
            <a:r>
              <a:rPr sz="2250" b="0" i="0">
                <a:solidFill>
                  <a:srgbClr val="12455E"/>
                </a:solidFill>
                <a:latin typeface="Aptos"/>
                <a:ea typeface="Aptos"/>
                <a:cs typeface="Aptos"/>
              </a:rPr>
              <a:t>Surplus: sellers offer more than buyers want. Shortage: buyers want more than sellers offer.</a:t>
            </a:r>
          </a:p>
        </p:txBody>
      </p:sp>
      <p:sp>
        <p:nvSpPr>
          <p:cNvPr id="5" name="">
            <a:extLst xmlns:a="http://schemas.openxmlformats.org/drawingml/2006/main">
              <a:ext uri="{FF2B5EF4-FFF2-40B4-BE49-F238E27FC236}">
                <a16:creationId xmlns:a16="http://schemas.microsoft.com/office/drawing/2014/main" id="{14B0229D-3E7A-488D-8FE0-2135AACDCBEC}"/>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A27A32CC-F9F9-4027-872A-4733B07205B7}"/>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Equilibrium And Market Adjustment</a:t>
            </a:r>
          </a:p>
        </p:txBody>
      </p:sp>
      <p:sp>
        <p:nvSpPr>
          <p:cNvPr id="7" name="text-5">
            <a:extLst xmlns:a="http://schemas.openxmlformats.org/drawingml/2006/main">
              <a:ext uri="{FF2B5EF4-FFF2-40B4-BE49-F238E27FC236}">
                <a16:creationId xmlns:a16="http://schemas.microsoft.com/office/drawing/2014/main" id="{6E111EEB-33D7-4D33-B35D-F1B063FC00BE}"/>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33</a:t>
            </a:r>
          </a:p>
        </p:txBody>
      </p:sp>
    </p:spTree>
    <p:extLst>
      <p:ext uri="{BB962C8B-B14F-4D97-AF65-F5344CB8AC3E}">
        <p14:creationId xmlns:p14="http://schemas.microsoft.com/office/powerpoint/2010/main" val="28620966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51D4D48-4240-4602-8924-D07289DCCBD2}"/>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496086A1-9AC8-4508-B7DD-CEB16B8B7389}"/>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Figure 2.4 · Equilibrium, surplus, and shortage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9e2af6c3f24432f"/>
          <a:stretch xmlns:a="http://schemas.openxmlformats.org/drawingml/2006/main"/>
        </p:blipFill>
        <p:spPr>
          <a:xfrm xmlns:a="http://schemas.openxmlformats.org/drawingml/2006/main">
            <a:off x="1649620" y="1657350"/>
            <a:ext cx="8892760" cy="39433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E7EC30E5-0E91-4E35-9DC0-7CED040BD358}"/>
              </a:ext>
            </a:extLst>
          </p:cNvPr>
          <p:cNvSpPr>
            <a:spLocks xmlns:a="http://schemas.openxmlformats.org/drawingml/2006/main" noGrp="1"/>
          </p:cNvSpPr>
          <p:nvPr/>
        </p:nvSpPr>
        <p:spPr>
          <a:xfrm xmlns:a="http://schemas.openxmlformats.org/drawingml/2006/main">
            <a:off x="685800" y="567690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i="0">
                <a:solidFill>
                  <a:srgbClr val="12455E"/>
                </a:solidFill>
                <a:latin typeface="Aptos"/>
                <a:ea typeface="Aptos"/>
                <a:cs typeface="Aptos"/>
              </a:defRPr>
            </a:pPr>
            <a:r>
              <a:rPr sz="1875" b="1" i="0">
                <a:solidFill>
                  <a:srgbClr val="12455E"/>
                </a:solidFill>
                <a:latin typeface="Aptos"/>
                <a:ea typeface="Aptos"/>
                <a:cs typeface="Aptos"/>
              </a:rPr>
              <a:t>Compare quantities at the posted price—not distances measured vertically.</a:t>
            </a:r>
          </a:p>
        </p:txBody>
      </p:sp>
      <p:sp>
        <p:nvSpPr>
          <p:cNvPr id="5" name="">
            <a:extLst xmlns:a="http://schemas.openxmlformats.org/drawingml/2006/main">
              <a:ext uri="{FF2B5EF4-FFF2-40B4-BE49-F238E27FC236}">
                <a16:creationId xmlns:a16="http://schemas.microsoft.com/office/drawing/2014/main" id="{68322C96-25FB-4D92-AE82-378DF672F5C0}"/>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23A38692-04F2-4DDC-B857-149841A4E8F2}"/>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Equilibrium And Market Adjustment</a:t>
            </a:r>
          </a:p>
        </p:txBody>
      </p:sp>
      <p:sp>
        <p:nvSpPr>
          <p:cNvPr id="7" name="text-5">
            <a:extLst xmlns:a="http://schemas.openxmlformats.org/drawingml/2006/main">
              <a:ext uri="{FF2B5EF4-FFF2-40B4-BE49-F238E27FC236}">
                <a16:creationId xmlns:a16="http://schemas.microsoft.com/office/drawing/2014/main" id="{E54F8667-C488-43C4-BF71-325CFFE69C35}"/>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34</a:t>
            </a:r>
          </a:p>
        </p:txBody>
      </p:sp>
    </p:spTree>
    <p:extLst>
      <p:ext uri="{BB962C8B-B14F-4D97-AF65-F5344CB8AC3E}">
        <p14:creationId xmlns:p14="http://schemas.microsoft.com/office/powerpoint/2010/main" val="22149565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F4DEDBD-EBEC-4991-8954-05881EB462E5}"/>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17813A1D-DDCC-45BA-BEC0-18107A2E61B6}"/>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How can an imbalance change?</a:t>
            </a:r>
          </a:p>
        </p:txBody>
      </p:sp>
      <p:sp>
        <p:nvSpPr>
          <p:cNvPr id="3" name="text-2">
            <a:extLst xmlns:a="http://schemas.openxmlformats.org/drawingml/2006/main">
              <a:ext uri="{FF2B5EF4-FFF2-40B4-BE49-F238E27FC236}">
                <a16:creationId xmlns:a16="http://schemas.microsoft.com/office/drawing/2014/main" id="{1B37B447-9639-4EC3-B976-A287B184F054}"/>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Prices may adjust; sellers may also change output or the quantity they offer.</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Queues, sellouts, and resale can matter when posted prices do not adjust immediately.</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An asking price or a queue alone does not measure the exact shortage.</a:t>
            </a:r>
          </a:p>
        </p:txBody>
      </p:sp>
      <p:sp>
        <p:nvSpPr>
          <p:cNvPr id="4" name="text-3">
            <a:extLst xmlns:a="http://schemas.openxmlformats.org/drawingml/2006/main">
              <a:ext uri="{FF2B5EF4-FFF2-40B4-BE49-F238E27FC236}">
                <a16:creationId xmlns:a16="http://schemas.microsoft.com/office/drawing/2014/main" id="{3D90868D-DDD3-499C-8C22-0EFEA80C0A67}"/>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“Surplus” here means excess supply—not the gains from trade in Chapter 3.</a:t>
            </a:r>
          </a:p>
        </p:txBody>
      </p:sp>
      <p:sp>
        <p:nvSpPr>
          <p:cNvPr id="5" name="">
            <a:extLst xmlns:a="http://schemas.openxmlformats.org/drawingml/2006/main">
              <a:ext uri="{FF2B5EF4-FFF2-40B4-BE49-F238E27FC236}">
                <a16:creationId xmlns:a16="http://schemas.microsoft.com/office/drawing/2014/main" id="{1774263C-54E1-42F6-BB76-CF9AA8AA7092}"/>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2247E21F-E780-47DA-B26E-3889EB8EF8D1}"/>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Equilibrium And Market Adjustment</a:t>
            </a:r>
          </a:p>
        </p:txBody>
      </p:sp>
      <p:sp>
        <p:nvSpPr>
          <p:cNvPr id="7" name="text-6">
            <a:extLst xmlns:a="http://schemas.openxmlformats.org/drawingml/2006/main">
              <a:ext uri="{FF2B5EF4-FFF2-40B4-BE49-F238E27FC236}">
                <a16:creationId xmlns:a16="http://schemas.microsoft.com/office/drawing/2014/main" id="{988A9500-9364-4A6A-BEAD-7A10AE1A9633}"/>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35</a:t>
            </a:r>
          </a:p>
        </p:txBody>
      </p:sp>
    </p:spTree>
    <p:extLst>
      <p:ext uri="{BB962C8B-B14F-4D97-AF65-F5344CB8AC3E}">
        <p14:creationId xmlns:p14="http://schemas.microsoft.com/office/powerpoint/2010/main" val="157405862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0D6694D-7732-4F3A-AAA0-94AFA565E533}"/>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4843ED5E-475D-4620-B1B6-C424E96FE859}"/>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Comparative statics · Start with the story</a:t>
            </a:r>
          </a:p>
        </p:txBody>
      </p:sp>
      <p:sp>
        <p:nvSpPr>
          <p:cNvPr id="3" name="text-2">
            <a:extLst xmlns:a="http://schemas.openxmlformats.org/drawingml/2006/main">
              <a:ext uri="{FF2B5EF4-FFF2-40B4-BE49-F238E27FC236}">
                <a16:creationId xmlns:a16="http://schemas.microsoft.com/office/drawing/2014/main" id="{433BA126-3C7C-4262-9039-DC11E78D6F1E}"/>
              </a:ext>
            </a:extLst>
          </p:cNvPr>
          <p:cNvSpPr>
            <a:spLocks xmlns:a="http://schemas.openxmlformats.org/drawingml/2006/main" noGrp="1"/>
          </p:cNvSpPr>
          <p:nvPr/>
        </p:nvSpPr>
        <p:spPr>
          <a:xfrm xmlns:a="http://schemas.openxmlformats.org/drawingml/2006/main">
            <a:off x="723900" y="1724025"/>
            <a:ext cx="10744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550" b="0" i="0">
                <a:solidFill>
                  <a:srgbClr val="12455E"/>
                </a:solidFill>
                <a:latin typeface="Aptos"/>
                <a:ea typeface="Aptos"/>
                <a:cs typeface="Aptos"/>
              </a:defRPr>
            </a:pPr>
            <a:r>
              <a:rPr sz="2550" b="0" i="0">
                <a:solidFill>
                  <a:srgbClr val="12455E"/>
                </a:solidFill>
                <a:latin typeface="Aptos"/>
                <a:ea typeface="Aptos"/>
                <a:cs typeface="Aptos"/>
              </a:rPr>
              <a:t>Comparative statics compares equilibria before and after a determinant changes.</a:t>
            </a:r>
          </a:p>
        </p:txBody>
      </p:sp>
      <p:sp>
        <p:nvSpPr>
          <p:cNvPr id="4" name="text-3">
            <a:extLst xmlns:a="http://schemas.openxmlformats.org/drawingml/2006/main">
              <a:ext uri="{FF2B5EF4-FFF2-40B4-BE49-F238E27FC236}">
                <a16:creationId xmlns:a16="http://schemas.microsoft.com/office/drawing/2014/main" id="{FD857DC2-A7FA-472B-84EB-E47D4C2DDA86}"/>
              </a:ext>
            </a:extLst>
          </p:cNvPr>
          <p:cNvSpPr>
            <a:spLocks xmlns:a="http://schemas.openxmlformats.org/drawingml/2006/main" noGrp="1"/>
          </p:cNvSpPr>
          <p:nvPr/>
        </p:nvSpPr>
        <p:spPr>
          <a:xfrm xmlns:a="http://schemas.openxmlformats.org/drawingml/2006/main">
            <a:off x="723900" y="2943225"/>
            <a:ext cx="107442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defRPr sz="2400" b="0" i="0">
                <a:solidFill>
                  <a:srgbClr val="1D2A33"/>
                </a:solidFill>
                <a:latin typeface="Aptos"/>
                <a:ea typeface="Aptos"/>
                <a:cs typeface="Aptos"/>
              </a:defRPr>
            </a:pPr>
            <a:r>
              <a:t>1. Define the market and time horizon.</a:t>
            </a:r>
          </a:p>
          <a:p xmlns:a="http://schemas.openxmlformats.org/drawingml/2006/main">
            <a:pPr marL="254000" indent="-152400" algn="l">
              <a:spcAft>
                <a:spcPts val="1600"/>
              </a:spcAft>
              <a:defRPr sz="2400" b="0" i="0">
                <a:solidFill>
                  <a:srgbClr val="1D2A33"/>
                </a:solidFill>
                <a:latin typeface="Aptos"/>
                <a:ea typeface="Aptos"/>
                <a:cs typeface="Aptos"/>
              </a:defRPr>
            </a:pPr>
            <a:r>
              <a:t>2. Identify the event that changed conditions.</a:t>
            </a:r>
          </a:p>
          <a:p xmlns:a="http://schemas.openxmlformats.org/drawingml/2006/main">
            <a:pPr marL="254000" indent="-152400" algn="l">
              <a:spcAft>
                <a:spcPts val="1600"/>
              </a:spcAft>
              <a:defRPr sz="2400" b="0" i="0">
                <a:solidFill>
                  <a:srgbClr val="1D2A33"/>
                </a:solidFill>
                <a:latin typeface="Aptos"/>
                <a:ea typeface="Aptos"/>
                <a:cs typeface="Aptos"/>
              </a:defRPr>
            </a:pPr>
            <a:r>
              <a:t>3. Decide whether it affects demand, supply, or both.</a:t>
            </a:r>
          </a:p>
        </p:txBody>
      </p:sp>
      <p:sp>
        <p:nvSpPr>
          <p:cNvPr id="5" name="text-4">
            <a:extLst xmlns:a="http://schemas.openxmlformats.org/drawingml/2006/main">
              <a:ext uri="{FF2B5EF4-FFF2-40B4-BE49-F238E27FC236}">
                <a16:creationId xmlns:a16="http://schemas.microsoft.com/office/drawing/2014/main" id="{46DE2CE0-9171-4F5E-9EB4-6D86DFEC2D1E}"/>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 sports example should identify a standard determinant.</a:t>
            </a:r>
          </a:p>
        </p:txBody>
      </p:sp>
      <p:sp>
        <p:nvSpPr>
          <p:cNvPr id="6" name="">
            <a:extLst xmlns:a="http://schemas.openxmlformats.org/drawingml/2006/main">
              <a:ext uri="{FF2B5EF4-FFF2-40B4-BE49-F238E27FC236}">
                <a16:creationId xmlns:a16="http://schemas.microsoft.com/office/drawing/2014/main" id="{22BD8D5B-A3B7-48DE-A6EA-49E886690F4D}"/>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7" name="text-6">
            <a:extLst xmlns:a="http://schemas.openxmlformats.org/drawingml/2006/main">
              <a:ext uri="{FF2B5EF4-FFF2-40B4-BE49-F238E27FC236}">
                <a16:creationId xmlns:a16="http://schemas.microsoft.com/office/drawing/2014/main" id="{7DB4DA41-3E68-4A22-8545-11FDB43612E9}"/>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Comparative Statics: From A Story To A Prediction</a:t>
            </a:r>
          </a:p>
        </p:txBody>
      </p:sp>
      <p:sp>
        <p:nvSpPr>
          <p:cNvPr id="8" name="text-7">
            <a:extLst xmlns:a="http://schemas.openxmlformats.org/drawingml/2006/main">
              <a:ext uri="{FF2B5EF4-FFF2-40B4-BE49-F238E27FC236}">
                <a16:creationId xmlns:a16="http://schemas.microsoft.com/office/drawing/2014/main" id="{57D1535B-531E-4605-AC6F-6DB2354D95F2}"/>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36</a:t>
            </a:r>
          </a:p>
        </p:txBody>
      </p:sp>
    </p:spTree>
    <p:extLst>
      <p:ext uri="{BB962C8B-B14F-4D97-AF65-F5344CB8AC3E}">
        <p14:creationId xmlns:p14="http://schemas.microsoft.com/office/powerpoint/2010/main" val="204621243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DF11868-787F-4F6D-A868-07108BE3DE7D}"/>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E9F10F48-1EA3-43A1-B58F-B32B6C0BABE3}"/>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Comparative statics · Finish with two predictions</a:t>
            </a:r>
          </a:p>
        </p:txBody>
      </p:sp>
      <p:sp>
        <p:nvSpPr>
          <p:cNvPr id="3" name="text-2">
            <a:extLst xmlns:a="http://schemas.openxmlformats.org/drawingml/2006/main">
              <a:ext uri="{FF2B5EF4-FFF2-40B4-BE49-F238E27FC236}">
                <a16:creationId xmlns:a16="http://schemas.microsoft.com/office/drawing/2014/main" id="{1DB986E0-CA30-496C-B68A-21C833E9D5CC}"/>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defRPr sz="2400" b="0" i="0">
                <a:solidFill>
                  <a:srgbClr val="1D2A33"/>
                </a:solidFill>
                <a:latin typeface="Aptos"/>
                <a:ea typeface="Aptos"/>
                <a:cs typeface="Aptos"/>
              </a:defRPr>
            </a:pPr>
            <a:r>
              <a:t>4. Shift only the affected curve in the appropriate direction.</a:t>
            </a:r>
          </a:p>
          <a:p xmlns:a="http://schemas.openxmlformats.org/drawingml/2006/main">
            <a:pPr marL="254000" indent="-152400" algn="l">
              <a:spcAft>
                <a:spcPts val="1600"/>
              </a:spcAft>
              <a:defRPr sz="2400" b="0" i="0">
                <a:solidFill>
                  <a:srgbClr val="1D2A33"/>
                </a:solidFill>
                <a:latin typeface="Aptos"/>
                <a:ea typeface="Aptos"/>
                <a:cs typeface="Aptos"/>
              </a:defRPr>
            </a:pPr>
            <a:r>
              <a:t>5. Find the new intersection.</a:t>
            </a:r>
          </a:p>
          <a:p xmlns:a="http://schemas.openxmlformats.org/drawingml/2006/main">
            <a:pPr marL="254000" indent="-152400" algn="l">
              <a:spcAft>
                <a:spcPts val="1600"/>
              </a:spcAft>
              <a:defRPr sz="2400" b="0" i="0">
                <a:solidFill>
                  <a:srgbClr val="1D2A33"/>
                </a:solidFill>
                <a:latin typeface="Aptos"/>
                <a:ea typeface="Aptos"/>
                <a:cs typeface="Aptos"/>
              </a:defRPr>
            </a:pPr>
            <a:r>
              <a:t>6. Compare old and new equilibrium price and quantity separately.</a:t>
            </a:r>
          </a:p>
        </p:txBody>
      </p:sp>
      <p:sp>
        <p:nvSpPr>
          <p:cNvPr id="4" name="text-3">
            <a:extLst xmlns:a="http://schemas.openxmlformats.org/drawingml/2006/main">
              <a:ext uri="{FF2B5EF4-FFF2-40B4-BE49-F238E27FC236}">
                <a16:creationId xmlns:a16="http://schemas.microsoft.com/office/drawing/2014/main" id="{67667906-FB42-4945-8DCA-4B176D8EDEC4}"/>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 demand increase: P and Q rise. A supply decrease: P rises and Q falls.</a:t>
            </a:r>
          </a:p>
        </p:txBody>
      </p:sp>
      <p:sp>
        <p:nvSpPr>
          <p:cNvPr id="5" name="">
            <a:extLst xmlns:a="http://schemas.openxmlformats.org/drawingml/2006/main">
              <a:ext uri="{FF2B5EF4-FFF2-40B4-BE49-F238E27FC236}">
                <a16:creationId xmlns:a16="http://schemas.microsoft.com/office/drawing/2014/main" id="{9B3A63DE-C5A4-4A63-8084-FC96C04D5D57}"/>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D9657448-9264-49B4-B634-6D89C313B0E4}"/>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Comparative Statics: From A Story To A Prediction</a:t>
            </a:r>
          </a:p>
        </p:txBody>
      </p:sp>
      <p:sp>
        <p:nvSpPr>
          <p:cNvPr id="7" name="text-6">
            <a:extLst xmlns:a="http://schemas.openxmlformats.org/drawingml/2006/main">
              <a:ext uri="{FF2B5EF4-FFF2-40B4-BE49-F238E27FC236}">
                <a16:creationId xmlns:a16="http://schemas.microsoft.com/office/drawing/2014/main" id="{4DC5C377-BBCB-47DE-8189-979AE80F6863}"/>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37</a:t>
            </a:r>
          </a:p>
        </p:txBody>
      </p:sp>
    </p:spTree>
    <p:extLst>
      <p:ext uri="{BB962C8B-B14F-4D97-AF65-F5344CB8AC3E}">
        <p14:creationId xmlns:p14="http://schemas.microsoft.com/office/powerpoint/2010/main" val="86120657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5DC2832-2569-4649-A6EF-497E70107F37}"/>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36EAC8A5-264B-4A79-B73D-A9F17B949CF0}"/>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Figure 2.5 · From a shift to a new equilibrium</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928cc8b3bfc47ca"/>
          <a:stretch xmlns:a="http://schemas.openxmlformats.org/drawingml/2006/main"/>
        </p:blipFill>
        <p:spPr>
          <a:xfrm xmlns:a="http://schemas.openxmlformats.org/drawingml/2006/main">
            <a:off x="2045021" y="1657350"/>
            <a:ext cx="8101958" cy="39433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55A4C17D-05FD-4876-A7AA-69C21F994D14}"/>
              </a:ext>
            </a:extLst>
          </p:cNvPr>
          <p:cNvSpPr>
            <a:spLocks xmlns:a="http://schemas.openxmlformats.org/drawingml/2006/main" noGrp="1"/>
          </p:cNvSpPr>
          <p:nvPr/>
        </p:nvSpPr>
        <p:spPr>
          <a:xfrm xmlns:a="http://schemas.openxmlformats.org/drawingml/2006/main">
            <a:off x="685800" y="567690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i="0">
                <a:solidFill>
                  <a:srgbClr val="12455E"/>
                </a:solidFill>
                <a:latin typeface="Aptos"/>
                <a:ea typeface="Aptos"/>
                <a:cs typeface="Aptos"/>
              </a:defRPr>
            </a:pPr>
            <a:r>
              <a:rPr sz="1875" b="1" i="0">
                <a:solidFill>
                  <a:srgbClr val="12455E"/>
                </a:solidFill>
                <a:latin typeface="Aptos"/>
                <a:ea typeface="Aptos"/>
                <a:cs typeface="Aptos"/>
              </a:rPr>
              <a:t>Demand rises: P ↑, Q ↑. Supply falls: P ↑, Q ↓. Hold the other curve fixed.</a:t>
            </a:r>
          </a:p>
        </p:txBody>
      </p:sp>
      <p:sp>
        <p:nvSpPr>
          <p:cNvPr id="5" name="">
            <a:extLst xmlns:a="http://schemas.openxmlformats.org/drawingml/2006/main">
              <a:ext uri="{FF2B5EF4-FFF2-40B4-BE49-F238E27FC236}">
                <a16:creationId xmlns:a16="http://schemas.microsoft.com/office/drawing/2014/main" id="{782FBC8D-B45D-4587-BDFD-99BA4766F91D}"/>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17983258-6668-40C6-92EC-B3582B90C11B}"/>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Comparative Statics: From A Story To A Prediction</a:t>
            </a:r>
          </a:p>
        </p:txBody>
      </p:sp>
      <p:sp>
        <p:nvSpPr>
          <p:cNvPr id="7" name="text-5">
            <a:extLst xmlns:a="http://schemas.openxmlformats.org/drawingml/2006/main">
              <a:ext uri="{FF2B5EF4-FFF2-40B4-BE49-F238E27FC236}">
                <a16:creationId xmlns:a16="http://schemas.microsoft.com/office/drawing/2014/main" id="{D41CE0CF-D30E-46DF-AA2B-A7CDBE37C372}"/>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38</a:t>
            </a:r>
          </a:p>
        </p:txBody>
      </p:sp>
    </p:spTree>
    <p:extLst>
      <p:ext uri="{BB962C8B-B14F-4D97-AF65-F5344CB8AC3E}">
        <p14:creationId xmlns:p14="http://schemas.microsoft.com/office/powerpoint/2010/main" val="178268985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A07C712-4119-4AD5-A7DC-159C9E009F27}"/>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4A04C165-AF9D-4F76-9FEF-D8D3358BDF48}"/>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When both curves shift</a:t>
            </a:r>
          </a:p>
        </p:txBody>
      </p:sp>
      <p:sp>
        <p:nvSpPr>
          <p:cNvPr id="3" name="text-2">
            <a:extLst xmlns:a="http://schemas.openxmlformats.org/drawingml/2006/main">
              <a:ext uri="{FF2B5EF4-FFF2-40B4-BE49-F238E27FC236}">
                <a16:creationId xmlns:a16="http://schemas.microsoft.com/office/drawing/2014/main" id="{3136177A-C2A5-47E0-B377-DAE6934D7A36}"/>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A demand increase pushes equilibrium price and quantity up.</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 supply decrease pushes equilibrium price up but quantity down.</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Together:</a:t>
            </a:r>
            <a:r>
              <a:t> price rises; the quantity change depends on the relative shifts.</a:t>
            </a:r>
          </a:p>
        </p:txBody>
      </p:sp>
      <p:sp>
        <p:nvSpPr>
          <p:cNvPr id="4" name="text-3">
            <a:extLst xmlns:a="http://schemas.openxmlformats.org/drawingml/2006/main">
              <a:ext uri="{FF2B5EF4-FFF2-40B4-BE49-F238E27FC236}">
                <a16:creationId xmlns:a16="http://schemas.microsoft.com/office/drawing/2014/main" id="{1AC4B963-B88F-47C7-A2C8-060CE0D1BDFD}"/>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An ambiguous quantity result is a valid economic prediction.</a:t>
            </a:r>
          </a:p>
        </p:txBody>
      </p:sp>
      <p:sp>
        <p:nvSpPr>
          <p:cNvPr id="5" name="">
            <a:extLst xmlns:a="http://schemas.openxmlformats.org/drawingml/2006/main">
              <a:ext uri="{FF2B5EF4-FFF2-40B4-BE49-F238E27FC236}">
                <a16:creationId xmlns:a16="http://schemas.microsoft.com/office/drawing/2014/main" id="{1FE2B0A2-D2A9-48BD-9412-751F5E5790BA}"/>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A2DD51A8-630C-4BF1-A9C7-8762BB92A93C}"/>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Comparative Statics: From A Story To A Prediction</a:t>
            </a:r>
          </a:p>
        </p:txBody>
      </p:sp>
      <p:sp>
        <p:nvSpPr>
          <p:cNvPr id="7" name="text-6">
            <a:extLst xmlns:a="http://schemas.openxmlformats.org/drawingml/2006/main">
              <a:ext uri="{FF2B5EF4-FFF2-40B4-BE49-F238E27FC236}">
                <a16:creationId xmlns:a16="http://schemas.microsoft.com/office/drawing/2014/main" id="{5A29689E-A267-429F-8241-D17F541D6C23}"/>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39</a:t>
            </a:r>
          </a:p>
        </p:txBody>
      </p:sp>
    </p:spTree>
    <p:extLst>
      <p:ext uri="{BB962C8B-B14F-4D97-AF65-F5344CB8AC3E}">
        <p14:creationId xmlns:p14="http://schemas.microsoft.com/office/powerpoint/2010/main" val="19730038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F55BEB9-4351-4B44-A428-3969B1D94014}"/>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DISCUSSION</a:t>
            </a:r>
          </a:p>
        </p:txBody>
      </p:sp>
      <p:sp>
        <p:nvSpPr>
          <p:cNvPr id="2" name="text-1">
            <a:extLst xmlns:a="http://schemas.openxmlformats.org/drawingml/2006/main">
              <a:ext uri="{FF2B5EF4-FFF2-40B4-BE49-F238E27FC236}">
                <a16:creationId xmlns:a16="http://schemas.microsoft.com/office/drawing/2014/main" id="{521304F8-6540-4745-ADEF-648C8B2C0D8C}"/>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Pause and predict</a:t>
            </a:r>
          </a:p>
        </p:txBody>
      </p:sp>
      <p:sp>
        <p:nvSpPr>
          <p:cNvPr id="3" name="text-2">
            <a:extLst xmlns:a="http://schemas.openxmlformats.org/drawingml/2006/main">
              <a:ext uri="{FF2B5EF4-FFF2-40B4-BE49-F238E27FC236}">
                <a16:creationId xmlns:a16="http://schemas.microsoft.com/office/drawing/2014/main" id="{E7714E68-7913-4897-AB93-84193BEC0A1E}"/>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325" b="0" i="0">
                <a:solidFill>
                  <a:srgbClr val="1D2A33"/>
                </a:solidFill>
                <a:latin typeface="Aptos"/>
                <a:ea typeface="Aptos"/>
                <a:cs typeface="Aptos"/>
              </a:defRPr>
            </a:pPr>
            <a:r>
              <a:t>A playoff race attracts more fans.</a:t>
            </a:r>
          </a:p>
          <a:p xmlns:a="http://schemas.openxmlformats.org/drawingml/2006/main">
            <a:pPr marL="254000" indent="-152400" algn="l">
              <a:spcAft>
                <a:spcPts val="1600"/>
              </a:spcAft>
              <a:buChar char="•"/>
              <a:defRPr sz="2325" b="0" i="0">
                <a:solidFill>
                  <a:srgbClr val="1D2A33"/>
                </a:solidFill>
                <a:latin typeface="Aptos"/>
                <a:ea typeface="Aptos"/>
                <a:cs typeface="Aptos"/>
              </a:defRPr>
            </a:pPr>
            <a:r>
              <a:t>Shipping becomes more expensive for licensed jerseys.</a:t>
            </a:r>
          </a:p>
          <a:p xmlns:a="http://schemas.openxmlformats.org/drawingml/2006/main">
            <a:pPr marL="254000" indent="-152400" algn="l">
              <a:spcAft>
                <a:spcPts val="1600"/>
              </a:spcAft>
              <a:buChar char="•"/>
              <a:defRPr sz="2325" b="0" i="0">
                <a:solidFill>
                  <a:srgbClr val="1D2A33"/>
                </a:solidFill>
                <a:latin typeface="Aptos"/>
                <a:ea typeface="Aptos"/>
                <a:cs typeface="Aptos"/>
              </a:defRPr>
            </a:pPr>
            <a:r>
              <a:t>A new production technology arrives as the team wins a championship.</a:t>
            </a:r>
          </a:p>
          <a:p xmlns:a="http://schemas.openxmlformats.org/drawingml/2006/main">
            <a:pPr marL="254000" indent="-152400" algn="l">
              <a:spcAft>
                <a:spcPts val="1600"/>
              </a:spcAft>
              <a:buChar char="•"/>
              <a:defRPr sz="2325" b="0" i="0">
                <a:solidFill>
                  <a:srgbClr val="1D2A33"/>
                </a:solidFill>
                <a:latin typeface="Aptos"/>
                <a:ea typeface="Aptos"/>
                <a:cs typeface="Aptos"/>
              </a:defRPr>
            </a:pPr>
            <a:r>
              <a:t>Rain makes attendance less attractive and raises operating costs.</a:t>
            </a:r>
          </a:p>
        </p:txBody>
      </p:sp>
      <p:sp>
        <p:nvSpPr>
          <p:cNvPr id="4" name="text-3">
            <a:extLst xmlns:a="http://schemas.openxmlformats.org/drawingml/2006/main">
              <a:ext uri="{FF2B5EF4-FFF2-40B4-BE49-F238E27FC236}">
                <a16:creationId xmlns:a16="http://schemas.microsoft.com/office/drawing/2014/main" id="{37DC2D04-E1A7-4CC0-8ED4-D7715CF46378}"/>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More practice: the Supply and Demand Shift Practice app linked in Chapter 2.</a:t>
            </a:r>
          </a:p>
        </p:txBody>
      </p:sp>
      <p:sp>
        <p:nvSpPr>
          <p:cNvPr id="5" name="">
            <a:extLst xmlns:a="http://schemas.openxmlformats.org/drawingml/2006/main">
              <a:ext uri="{FF2B5EF4-FFF2-40B4-BE49-F238E27FC236}">
                <a16:creationId xmlns:a16="http://schemas.microsoft.com/office/drawing/2014/main" id="{38C6C16A-62F9-4093-900F-7B894C7664A5}"/>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71434A6E-C9CA-4FA4-AC94-020A2F2AA6CD}"/>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Comparative Statics: From A Story To A Prediction</a:t>
            </a:r>
          </a:p>
        </p:txBody>
      </p:sp>
      <p:sp>
        <p:nvSpPr>
          <p:cNvPr id="7" name="text-6">
            <a:extLst xmlns:a="http://schemas.openxmlformats.org/drawingml/2006/main">
              <a:ext uri="{FF2B5EF4-FFF2-40B4-BE49-F238E27FC236}">
                <a16:creationId xmlns:a16="http://schemas.microsoft.com/office/drawing/2014/main" id="{51E0FE16-EA58-49E5-BD36-3D62B97C515F}"/>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40</a:t>
            </a:r>
          </a:p>
        </p:txBody>
      </p:sp>
    </p:spTree>
    <p:extLst>
      <p:ext uri="{BB962C8B-B14F-4D97-AF65-F5344CB8AC3E}">
        <p14:creationId xmlns:p14="http://schemas.microsoft.com/office/powerpoint/2010/main" val="12461153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051E1031-7316-4682-B019-844F94D10EF1}"/>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CORE CONCEPT</a:t>
            </a:r>
          </a:p>
        </p:txBody>
      </p:sp>
      <p:sp>
        <p:nvSpPr>
          <p:cNvPr id="2" name="text-1">
            <a:extLst xmlns:a="http://schemas.openxmlformats.org/drawingml/2006/main">
              <a:ext uri="{FF2B5EF4-FFF2-40B4-BE49-F238E27FC236}">
                <a16:creationId xmlns:a16="http://schemas.microsoft.com/office/drawing/2014/main" id="{0863D043-CB0D-48D5-925C-372B76204FD4}"/>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Elasticity measures responsiveness</a:t>
            </a:r>
          </a:p>
        </p:txBody>
      </p:sp>
      <p:sp>
        <p:nvSpPr>
          <p:cNvPr id="3" name="text-2">
            <a:extLst xmlns:a="http://schemas.openxmlformats.org/drawingml/2006/main">
              <a:ext uri="{FF2B5EF4-FFF2-40B4-BE49-F238E27FC236}">
                <a16:creationId xmlns:a16="http://schemas.microsoft.com/office/drawing/2014/main" id="{0A473E23-F85B-419D-9917-407E32F980AB}"/>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Price elasticity of demand measures the percentage quantity response to an own-price change.</a:t>
            </a:r>
          </a:p>
        </p:txBody>
      </p:sp>
      <p:sp>
        <p:nvSpPr>
          <p:cNvPr id="4" name="text-3">
            <a:extLst xmlns:a="http://schemas.openxmlformats.org/drawingml/2006/main">
              <a:ext uri="{FF2B5EF4-FFF2-40B4-BE49-F238E27FC236}">
                <a16:creationId xmlns:a16="http://schemas.microsoft.com/office/drawing/2014/main" id="{B9A58AF9-5FB5-4420-AA63-F0EBBFD6CB53}"/>
              </a:ext>
            </a:extLst>
          </p:cNvPr>
          <p:cNvSpPr>
            <a:spLocks xmlns:a="http://schemas.openxmlformats.org/drawingml/2006/main" noGrp="1"/>
          </p:cNvSpPr>
          <p:nvPr/>
        </p:nvSpPr>
        <p:spPr>
          <a:xfrm xmlns:a="http://schemas.openxmlformats.org/drawingml/2006/main">
            <a:off x="723900" y="2724150"/>
            <a:ext cx="32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ε</a:t>
            </a:r>
          </a:p>
        </p:txBody>
      </p:sp>
      <p:sp>
        <p:nvSpPr>
          <p:cNvPr id="5" name="text-4">
            <a:extLst xmlns:a="http://schemas.openxmlformats.org/drawingml/2006/main">
              <a:ext uri="{FF2B5EF4-FFF2-40B4-BE49-F238E27FC236}">
                <a16:creationId xmlns:a16="http://schemas.microsoft.com/office/drawing/2014/main" id="{8883D3F4-4CF9-45DB-B02C-258FEDF9EF3E}"/>
              </a:ext>
            </a:extLst>
          </p:cNvPr>
          <p:cNvSpPr>
            <a:spLocks xmlns:a="http://schemas.openxmlformats.org/drawingml/2006/main" noGrp="1"/>
          </p:cNvSpPr>
          <p:nvPr/>
        </p:nvSpPr>
        <p:spPr>
          <a:xfrm xmlns:a="http://schemas.openxmlformats.org/drawingml/2006/main">
            <a:off x="914400" y="28765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88" b="0" i="0">
                <a:solidFill>
                  <a:srgbClr val="12455E"/>
                </a:solidFill>
                <a:latin typeface="Aptos"/>
                <a:ea typeface="Aptos"/>
                <a:cs typeface="Aptos"/>
              </a:defRPr>
            </a:pPr>
            <a:r>
              <a:rPr sz="1488" b="0" i="0">
                <a:solidFill>
                  <a:srgbClr val="12455E"/>
                </a:solidFill>
                <a:latin typeface="Aptos"/>
                <a:ea typeface="Aptos"/>
                <a:cs typeface="Aptos"/>
              </a:rPr>
              <a:t>d</a:t>
            </a:r>
          </a:p>
        </p:txBody>
      </p:sp>
      <p:sp>
        <p:nvSpPr>
          <p:cNvPr id="6" name="text-5">
            <a:extLst xmlns:a="http://schemas.openxmlformats.org/drawingml/2006/main">
              <a:ext uri="{FF2B5EF4-FFF2-40B4-BE49-F238E27FC236}">
                <a16:creationId xmlns:a16="http://schemas.microsoft.com/office/drawing/2014/main" id="{024369E0-6693-49DC-B11A-B32D48EC965C}"/>
              </a:ext>
            </a:extLst>
          </p:cNvPr>
          <p:cNvSpPr>
            <a:spLocks xmlns:a="http://schemas.openxmlformats.org/drawingml/2006/main" noGrp="1"/>
          </p:cNvSpPr>
          <p:nvPr/>
        </p:nvSpPr>
        <p:spPr>
          <a:xfrm xmlns:a="http://schemas.openxmlformats.org/drawingml/2006/main">
            <a:off x="1114425" y="27241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 = % change in quantity demanded / % change in price</a:t>
            </a:r>
          </a:p>
        </p:txBody>
      </p:sp>
      <p:sp>
        <p:nvSpPr>
          <p:cNvPr id="7" name="text-6">
            <a:extLst xmlns:a="http://schemas.openxmlformats.org/drawingml/2006/main">
              <a:ext uri="{FF2B5EF4-FFF2-40B4-BE49-F238E27FC236}">
                <a16:creationId xmlns:a16="http://schemas.microsoft.com/office/drawing/2014/main" id="{FDD4196F-EE4B-49A4-A8DA-50DE08DF9720}"/>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Hold other demand determinants fixed.</a:t>
            </a:r>
          </a:p>
        </p:txBody>
      </p:sp>
      <p:sp>
        <p:nvSpPr>
          <p:cNvPr id="8" name="">
            <a:extLst xmlns:a="http://schemas.openxmlformats.org/drawingml/2006/main">
              <a:ext uri="{FF2B5EF4-FFF2-40B4-BE49-F238E27FC236}">
                <a16:creationId xmlns:a16="http://schemas.microsoft.com/office/drawing/2014/main" id="{2FFEA705-E94F-4E7D-B429-CC038E6A3B0C}"/>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84F942AF-ACAD-45E3-A996-143B6B26C936}"/>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10" name="text-9">
            <a:extLst xmlns:a="http://schemas.openxmlformats.org/drawingml/2006/main">
              <a:ext uri="{FF2B5EF4-FFF2-40B4-BE49-F238E27FC236}">
                <a16:creationId xmlns:a16="http://schemas.microsoft.com/office/drawing/2014/main" id="{2F311CBA-A2A4-4976-AB2E-B7DCF63F82B1}"/>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41</a:t>
            </a:r>
          </a:p>
        </p:txBody>
      </p:sp>
    </p:spTree>
    <p:extLst>
      <p:ext uri="{BB962C8B-B14F-4D97-AF65-F5344CB8AC3E}">
        <p14:creationId xmlns:p14="http://schemas.microsoft.com/office/powerpoint/2010/main" val="103503062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523B70DC-4C9B-46C7-890A-E18990D09393}"/>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WORKED CALCULATION</a:t>
            </a:r>
          </a:p>
        </p:txBody>
      </p:sp>
      <p:sp>
        <p:nvSpPr>
          <p:cNvPr id="2" name="text-1">
            <a:extLst xmlns:a="http://schemas.openxmlformats.org/drawingml/2006/main">
              <a:ext uri="{FF2B5EF4-FFF2-40B4-BE49-F238E27FC236}">
                <a16:creationId xmlns:a16="http://schemas.microsoft.com/office/drawing/2014/main" id="{2F55C40D-A060-4E0F-AC81-D12BD44EF40E}"/>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The sign and the size tell different stories</a:t>
            </a:r>
          </a:p>
        </p:txBody>
      </p:sp>
      <p:sp>
        <p:nvSpPr>
          <p:cNvPr id="3" name="text-2">
            <a:extLst xmlns:a="http://schemas.openxmlformats.org/drawingml/2006/main">
              <a:ext uri="{FF2B5EF4-FFF2-40B4-BE49-F238E27FC236}">
                <a16:creationId xmlns:a16="http://schemas.microsoft.com/office/drawing/2014/main" id="{87B49CE0-348F-42EA-9DA8-294156E5E3AB}"/>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Suppose price rises 10% and quantity demanded falls 15%.</a:t>
            </a:r>
          </a:p>
        </p:txBody>
      </p:sp>
      <p:sp>
        <p:nvSpPr>
          <p:cNvPr id="4" name="text-3">
            <a:extLst xmlns:a="http://schemas.openxmlformats.org/drawingml/2006/main">
              <a:ext uri="{FF2B5EF4-FFF2-40B4-BE49-F238E27FC236}">
                <a16:creationId xmlns:a16="http://schemas.microsoft.com/office/drawing/2014/main" id="{E943C415-E0C3-401D-A65D-12DA73535B25}"/>
              </a:ext>
            </a:extLst>
          </p:cNvPr>
          <p:cNvSpPr>
            <a:spLocks xmlns:a="http://schemas.openxmlformats.org/drawingml/2006/main" noGrp="1"/>
          </p:cNvSpPr>
          <p:nvPr/>
        </p:nvSpPr>
        <p:spPr>
          <a:xfrm xmlns:a="http://schemas.openxmlformats.org/drawingml/2006/main">
            <a:off x="723900" y="2724150"/>
            <a:ext cx="32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ε</a:t>
            </a:r>
          </a:p>
        </p:txBody>
      </p:sp>
      <p:sp>
        <p:nvSpPr>
          <p:cNvPr id="5" name="text-4">
            <a:extLst xmlns:a="http://schemas.openxmlformats.org/drawingml/2006/main">
              <a:ext uri="{FF2B5EF4-FFF2-40B4-BE49-F238E27FC236}">
                <a16:creationId xmlns:a16="http://schemas.microsoft.com/office/drawing/2014/main" id="{4215DEE1-ACDA-4FF4-854E-8F58A7C24956}"/>
              </a:ext>
            </a:extLst>
          </p:cNvPr>
          <p:cNvSpPr>
            <a:spLocks xmlns:a="http://schemas.openxmlformats.org/drawingml/2006/main" noGrp="1"/>
          </p:cNvSpPr>
          <p:nvPr/>
        </p:nvSpPr>
        <p:spPr>
          <a:xfrm xmlns:a="http://schemas.openxmlformats.org/drawingml/2006/main">
            <a:off x="914400" y="29051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67" b="0" i="0">
                <a:solidFill>
                  <a:srgbClr val="12455E"/>
                </a:solidFill>
                <a:latin typeface="Aptos"/>
                <a:ea typeface="Aptos"/>
                <a:cs typeface="Aptos"/>
              </a:defRPr>
            </a:pPr>
            <a:r>
              <a:rPr sz="1767" b="0" i="0">
                <a:solidFill>
                  <a:srgbClr val="12455E"/>
                </a:solidFill>
                <a:latin typeface="Aptos"/>
                <a:ea typeface="Aptos"/>
                <a:cs typeface="Aptos"/>
              </a:rPr>
              <a:t>d</a:t>
            </a:r>
          </a:p>
        </p:txBody>
      </p:sp>
      <p:sp>
        <p:nvSpPr>
          <p:cNvPr id="6" name="text-5">
            <a:extLst xmlns:a="http://schemas.openxmlformats.org/drawingml/2006/main">
              <a:ext uri="{FF2B5EF4-FFF2-40B4-BE49-F238E27FC236}">
                <a16:creationId xmlns:a16="http://schemas.microsoft.com/office/drawing/2014/main" id="{DAB72C35-00D5-4BC9-A5A9-7BA035D4A72C}"/>
              </a:ext>
            </a:extLst>
          </p:cNvPr>
          <p:cNvSpPr>
            <a:spLocks xmlns:a="http://schemas.openxmlformats.org/drawingml/2006/main" noGrp="1"/>
          </p:cNvSpPr>
          <p:nvPr/>
        </p:nvSpPr>
        <p:spPr>
          <a:xfrm xmlns:a="http://schemas.openxmlformats.org/drawingml/2006/main">
            <a:off x="1114425" y="27241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 = −15% / 10% = −1.5</a:t>
            </a:r>
          </a:p>
        </p:txBody>
      </p:sp>
      <p:sp>
        <p:nvSpPr>
          <p:cNvPr id="7" name="text-6">
            <a:extLst xmlns:a="http://schemas.openxmlformats.org/drawingml/2006/main">
              <a:ext uri="{FF2B5EF4-FFF2-40B4-BE49-F238E27FC236}">
                <a16:creationId xmlns:a16="http://schemas.microsoft.com/office/drawing/2014/main" id="{3CC800F7-D3F5-4093-A05A-A8D206F56B82}"/>
              </a:ext>
            </a:extLst>
          </p:cNvPr>
          <p:cNvSpPr>
            <a:spLocks xmlns:a="http://schemas.openxmlformats.org/drawingml/2006/main" noGrp="1"/>
          </p:cNvSpPr>
          <p:nvPr/>
        </p:nvSpPr>
        <p:spPr>
          <a:xfrm xmlns:a="http://schemas.openxmlformats.org/drawingml/2006/main">
            <a:off x="723900" y="3514725"/>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Absolute value: |−1.5| = 1.5</a:t>
            </a:r>
          </a:p>
        </p:txBody>
      </p:sp>
      <p:sp>
        <p:nvSpPr>
          <p:cNvPr id="8" name="text-7">
            <a:extLst xmlns:a="http://schemas.openxmlformats.org/drawingml/2006/main">
              <a:ext uri="{FF2B5EF4-FFF2-40B4-BE49-F238E27FC236}">
                <a16:creationId xmlns:a16="http://schemas.microsoft.com/office/drawing/2014/main" id="{FD692D90-7F52-46F9-9C23-BB8BF6BB3F6C}"/>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The negative sign gives direction. The magnitude measures responsiveness.</a:t>
            </a:r>
          </a:p>
        </p:txBody>
      </p:sp>
      <p:sp>
        <p:nvSpPr>
          <p:cNvPr id="9" name="">
            <a:extLst xmlns:a="http://schemas.openxmlformats.org/drawingml/2006/main">
              <a:ext uri="{FF2B5EF4-FFF2-40B4-BE49-F238E27FC236}">
                <a16:creationId xmlns:a16="http://schemas.microsoft.com/office/drawing/2014/main" id="{D7F0DB91-A785-4D98-BB87-1A4914C2ACA9}"/>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10" name="text-9">
            <a:extLst xmlns:a="http://schemas.openxmlformats.org/drawingml/2006/main">
              <a:ext uri="{FF2B5EF4-FFF2-40B4-BE49-F238E27FC236}">
                <a16:creationId xmlns:a16="http://schemas.microsoft.com/office/drawing/2014/main" id="{553CEF66-7332-4223-B895-FB1E9903B638}"/>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11" name="text-10">
            <a:extLst xmlns:a="http://schemas.openxmlformats.org/drawingml/2006/main">
              <a:ext uri="{FF2B5EF4-FFF2-40B4-BE49-F238E27FC236}">
                <a16:creationId xmlns:a16="http://schemas.microsoft.com/office/drawing/2014/main" id="{9ABA3668-20C8-4729-815F-442C6F86C904}"/>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42</a:t>
            </a:r>
          </a:p>
        </p:txBody>
      </p:sp>
    </p:spTree>
    <p:extLst>
      <p:ext uri="{BB962C8B-B14F-4D97-AF65-F5344CB8AC3E}">
        <p14:creationId xmlns:p14="http://schemas.microsoft.com/office/powerpoint/2010/main" val="139569813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A292027-54A5-4958-BC8F-08175FD13666}"/>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0A1A60B2-66F8-4500-A89A-2BF6EABB07AF}"/>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Classify demand using the absolute value</a:t>
            </a:r>
          </a:p>
        </p:txBody>
      </p:sp>
      <p:graphicFrame>
        <p:nvGraphicFramePr>
          <p:cNvPr id="1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2476500"/>
                <a:gridCol w="3143250"/>
                <a:gridCol w="5200650"/>
              </a:tblGrid>
              <a:tr h="714375">
                <a:tc>
                  <a:txBody>
                    <a:bodyPr lIns="142875" tIns="95250" rIns="142875" bIns="95250">
                      <a:noAutofit/>
                    </a:bodyPr>
                    <a:lstStyle/>
                    <a:p>
                      <a:r>
                        <a:rPr sz="2025" b="1">
                          <a:solidFill>
                            <a:srgbClr val="FFFFFF"/>
                          </a:solidFill>
                          <a:latin typeface="Aptos"/>
                          <a:ea typeface="Aptos"/>
                          <a:cs typeface="Aptos"/>
                        </a:rPr>
                        <a:t>Classification</a:t>
                      </a:r>
                    </a:p>
                  </a:txBody>
                  <a:tcPr marL="91440" marR="91440" marT="45720" marB="45720" anchor="ctr">
                    <a:solidFill>
                      <a:srgbClr val="12455E"/>
                    </a:solidFill>
                  </a:tcPr>
                </a:tc>
                <a:tc>
                  <a:txBody>
                    <a:bodyPr lIns="142875" tIns="95250" rIns="142875" bIns="95250">
                      <a:noAutofit/>
                    </a:bodyPr>
                    <a:lstStyle/>
                    <a:p>
                      <a:r>
                        <a:rPr sz="2025" b="1">
                          <a:solidFill>
                            <a:srgbClr val="FFFFFF"/>
                          </a:solidFill>
                          <a:latin typeface="Aptos"/>
                          <a:ea typeface="Aptos"/>
                          <a:cs typeface="Aptos"/>
                        </a:rPr>
                        <a:t>Magnitude of elasticity</a:t>
                      </a:r>
                    </a:p>
                  </a:txBody>
                  <a:tcPr marL="91440" marR="91440" marT="45720" marB="45720" anchor="ctr">
                    <a:solidFill>
                      <a:srgbClr val="12455E"/>
                    </a:solidFill>
                  </a:tcPr>
                </a:tc>
                <a:tc>
                  <a:txBody>
                    <a:bodyPr lIns="142875" tIns="95250" rIns="142875" bIns="95250">
                      <a:noAutofit/>
                    </a:bodyPr>
                    <a:lstStyle/>
                    <a:p>
                      <a:r>
                        <a:rPr sz="2025" b="1">
                          <a:solidFill>
                            <a:srgbClr val="FFFFFF"/>
                          </a:solidFill>
                          <a:latin typeface="Aptos"/>
                          <a:ea typeface="Aptos"/>
                          <a:cs typeface="Aptos"/>
                        </a:rPr>
                        <a:t>Quantity response</a:t>
                      </a:r>
                    </a:p>
                  </a:txBody>
                  <a:tcPr marL="91440" marR="91440" marT="45720" marB="45720" anchor="ctr">
                    <a:solidFill>
                      <a:srgbClr val="12455E"/>
                    </a:solidFill>
                  </a:tcPr>
                </a:tc>
              </a:tr>
              <a:tr h="714375">
                <a:tc>
                  <a:txBody>
                    <a:bodyPr lIns="142875" tIns="95250" rIns="142875" bIns="95250">
                      <a:noAutofit/>
                    </a:bodyPr>
                    <a:lstStyle/>
                    <a:p>
                      <a:r>
                        <a:rPr sz="2025" b="0">
                          <a:solidFill>
                            <a:srgbClr val="1D2A33"/>
                          </a:solidFill>
                          <a:latin typeface="Aptos"/>
                          <a:ea typeface="Aptos"/>
                          <a:cs typeface="Aptos"/>
                        </a:rPr>
                        <a:t>Elastic</a:t>
                      </a:r>
                    </a:p>
                  </a:txBody>
                  <a:tcPr marL="91440" marR="91440" marT="45720" marB="45720" anchor="ctr">
                    <a:solidFill>
                      <a:srgbClr val="F0F5F7"/>
                    </a:solidFill>
                  </a:tcPr>
                </a:tc>
                <a:tc>
                  <a:txBody>
                    <a:bodyPr lIns="142875" tIns="95250" rIns="142875" bIns="95250">
                      <a:noAutofit/>
                    </a:bodyPr>
                    <a:lstStyle/>
                    <a:p>
                      <a:r>
                        <a:rPr sz="2025" b="0">
                          <a:solidFill>
                            <a:srgbClr val="1D2A33"/>
                          </a:solidFill>
                          <a:latin typeface="Aptos"/>
                          <a:ea typeface="Aptos"/>
                          <a:cs typeface="Aptos"/>
                        </a:rPr>
                        <a:t>Greater than 1</a:t>
                      </a:r>
                    </a:p>
                  </a:txBody>
                  <a:tcPr marL="91440" marR="91440" marT="45720" marB="45720" anchor="ctr">
                    <a:solidFill>
                      <a:srgbClr val="F0F5F7"/>
                    </a:solidFill>
                  </a:tcPr>
                </a:tc>
                <a:tc>
                  <a:txBody>
                    <a:bodyPr lIns="142875" tIns="95250" rIns="142875" bIns="95250">
                      <a:noAutofit/>
                    </a:bodyPr>
                    <a:lstStyle/>
                    <a:p>
                      <a:r>
                        <a:rPr sz="2025" b="0">
                          <a:solidFill>
                            <a:srgbClr val="1D2A33"/>
                          </a:solidFill>
                          <a:latin typeface="Aptos"/>
                          <a:ea typeface="Aptos"/>
                          <a:cs typeface="Aptos"/>
                        </a:rPr>
                        <a:t>Larger percentage change than price</a:t>
                      </a:r>
                    </a:p>
                  </a:txBody>
                  <a:tcPr marL="91440" marR="91440" marT="45720" marB="45720" anchor="ctr">
                    <a:solidFill>
                      <a:srgbClr val="F0F5F7"/>
                    </a:solidFill>
                  </a:tcPr>
                </a:tc>
              </a:tr>
              <a:tr h="714375">
                <a:tc>
                  <a:txBody>
                    <a:bodyPr lIns="142875" tIns="95250" rIns="142875" bIns="95250">
                      <a:noAutofit/>
                    </a:bodyPr>
                    <a:lstStyle/>
                    <a:p>
                      <a:r>
                        <a:rPr sz="2025" b="0">
                          <a:solidFill>
                            <a:srgbClr val="1D2A33"/>
                          </a:solidFill>
                          <a:latin typeface="Aptos"/>
                          <a:ea typeface="Aptos"/>
                          <a:cs typeface="Aptos"/>
                        </a:rPr>
                        <a:t>Unit elastic</a:t>
                      </a:r>
                    </a:p>
                  </a:txBody>
                  <a:tcPr marL="91440" marR="91440" marT="45720" marB="45720" anchor="ctr">
                    <a:solidFill>
                      <a:srgbClr val="FFFFFF"/>
                    </a:solidFill>
                  </a:tcPr>
                </a:tc>
                <a:tc>
                  <a:txBody>
                    <a:bodyPr lIns="142875" tIns="95250" rIns="142875" bIns="95250">
                      <a:noAutofit/>
                    </a:bodyPr>
                    <a:lstStyle/>
                    <a:p>
                      <a:r>
                        <a:rPr sz="2025" b="0">
                          <a:solidFill>
                            <a:srgbClr val="1D2A33"/>
                          </a:solidFill>
                          <a:latin typeface="Aptos"/>
                          <a:ea typeface="Aptos"/>
                          <a:cs typeface="Aptos"/>
                        </a:rPr>
                        <a:t>Equal to 1</a:t>
                      </a:r>
                    </a:p>
                  </a:txBody>
                  <a:tcPr marL="91440" marR="91440" marT="45720" marB="45720" anchor="ctr">
                    <a:solidFill>
                      <a:srgbClr val="FFFFFF"/>
                    </a:solidFill>
                  </a:tcPr>
                </a:tc>
                <a:tc>
                  <a:txBody>
                    <a:bodyPr lIns="142875" tIns="95250" rIns="142875" bIns="95250">
                      <a:noAutofit/>
                    </a:bodyPr>
                    <a:lstStyle/>
                    <a:p>
                      <a:r>
                        <a:rPr sz="2025" b="0">
                          <a:solidFill>
                            <a:srgbClr val="1D2A33"/>
                          </a:solidFill>
                          <a:latin typeface="Aptos"/>
                          <a:ea typeface="Aptos"/>
                          <a:cs typeface="Aptos"/>
                        </a:rPr>
                        <a:t>Same percentage change as price</a:t>
                      </a:r>
                    </a:p>
                  </a:txBody>
                  <a:tcPr marL="91440" marR="91440" marT="45720" marB="45720" anchor="ctr">
                    <a:solidFill>
                      <a:srgbClr val="FFFFFF"/>
                    </a:solidFill>
                  </a:tcPr>
                </a:tc>
              </a:tr>
              <a:tr h="714375">
                <a:tc>
                  <a:txBody>
                    <a:bodyPr lIns="142875" tIns="95250" rIns="142875" bIns="95250">
                      <a:noAutofit/>
                    </a:bodyPr>
                    <a:lstStyle/>
                    <a:p>
                      <a:r>
                        <a:rPr sz="2025" b="0">
                          <a:solidFill>
                            <a:srgbClr val="1D2A33"/>
                          </a:solidFill>
                          <a:latin typeface="Aptos"/>
                          <a:ea typeface="Aptos"/>
                          <a:cs typeface="Aptos"/>
                        </a:rPr>
                        <a:t>Inelastic</a:t>
                      </a:r>
                    </a:p>
                  </a:txBody>
                  <a:tcPr marL="91440" marR="91440" marT="45720" marB="45720" anchor="ctr">
                    <a:solidFill>
                      <a:srgbClr val="F0F5F7"/>
                    </a:solidFill>
                  </a:tcPr>
                </a:tc>
                <a:tc>
                  <a:txBody>
                    <a:bodyPr lIns="142875" tIns="95250" rIns="142875" bIns="95250">
                      <a:noAutofit/>
                    </a:bodyPr>
                    <a:lstStyle/>
                    <a:p>
                      <a:r>
                        <a:rPr sz="2025" b="0">
                          <a:solidFill>
                            <a:srgbClr val="1D2A33"/>
                          </a:solidFill>
                          <a:latin typeface="Aptos"/>
                          <a:ea typeface="Aptos"/>
                          <a:cs typeface="Aptos"/>
                        </a:rPr>
                        <a:t>Less than 1</a:t>
                      </a:r>
                    </a:p>
                  </a:txBody>
                  <a:tcPr marL="91440" marR="91440" marT="45720" marB="45720" anchor="ctr">
                    <a:solidFill>
                      <a:srgbClr val="F0F5F7"/>
                    </a:solidFill>
                  </a:tcPr>
                </a:tc>
                <a:tc>
                  <a:txBody>
                    <a:bodyPr lIns="142875" tIns="95250" rIns="142875" bIns="95250">
                      <a:noAutofit/>
                    </a:bodyPr>
                    <a:lstStyle/>
                    <a:p>
                      <a:r>
                        <a:rPr sz="2025" b="0">
                          <a:solidFill>
                            <a:srgbClr val="1D2A33"/>
                          </a:solidFill>
                          <a:latin typeface="Aptos"/>
                          <a:ea typeface="Aptos"/>
                          <a:cs typeface="Aptos"/>
                        </a:rPr>
                        <a:t>Smaller percentage change than price</a:t>
                      </a:r>
                    </a:p>
                  </a:txBody>
                  <a:tcPr marL="91440" marR="91440" marT="45720" marB="45720" anchor="ctr">
                    <a:solidFill>
                      <a:srgbClr val="F0F5F7"/>
                    </a:solidFill>
                  </a:tcPr>
                </a:tc>
              </a:tr>
            </a:tbl>
          </a:graphicData>
        </a:graphic>
      </p:graphicFrame>
      <p:sp>
        <p:nvSpPr>
          <p:cNvPr id="4" name="text-2">
            <a:extLst xmlns:a="http://schemas.openxmlformats.org/drawingml/2006/main">
              <a:ext uri="{FF2B5EF4-FFF2-40B4-BE49-F238E27FC236}">
                <a16:creationId xmlns:a16="http://schemas.microsoft.com/office/drawing/2014/main" id="{A9DF46CC-A794-4961-85D8-D32DA74EFE8C}"/>
              </a:ext>
            </a:extLst>
          </p:cNvPr>
          <p:cNvSpPr>
            <a:spLocks xmlns:a="http://schemas.openxmlformats.org/drawingml/2006/main" noGrp="1"/>
          </p:cNvSpPr>
          <p:nvPr/>
        </p:nvSpPr>
        <p:spPr>
          <a:xfrm xmlns:a="http://schemas.openxmlformats.org/drawingml/2006/main">
            <a:off x="723900" y="5000625"/>
            <a:ext cx="107442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2455E"/>
                </a:solidFill>
                <a:latin typeface="Aptos"/>
                <a:ea typeface="Aptos"/>
                <a:cs typeface="Aptos"/>
              </a:defRPr>
            </a:pPr>
            <a:r>
              <a:rPr sz="2250" b="0" i="0">
                <a:solidFill>
                  <a:srgbClr val="12455E"/>
                </a:solidFill>
                <a:latin typeface="Aptos"/>
                <a:ea typeface="Aptos"/>
                <a:cs typeface="Aptos"/>
              </a:rPr>
              <a:t>A value of −1.5 is elastic—not “less than one” in the classification sense.</a:t>
            </a:r>
          </a:p>
        </p:txBody>
      </p:sp>
      <p:sp>
        <p:nvSpPr>
          <p:cNvPr id="5" name="">
            <a:extLst xmlns:a="http://schemas.openxmlformats.org/drawingml/2006/main">
              <a:ext uri="{FF2B5EF4-FFF2-40B4-BE49-F238E27FC236}">
                <a16:creationId xmlns:a16="http://schemas.microsoft.com/office/drawing/2014/main" id="{C5A0DF6E-563C-42B7-A378-15F24CD03AC8}"/>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B29E3D72-51C1-4B4E-B8A0-3D2E8C9B266D}"/>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7" name="text-5">
            <a:extLst xmlns:a="http://schemas.openxmlformats.org/drawingml/2006/main">
              <a:ext uri="{FF2B5EF4-FFF2-40B4-BE49-F238E27FC236}">
                <a16:creationId xmlns:a16="http://schemas.microsoft.com/office/drawing/2014/main" id="{68C75985-CB44-4940-BC50-A8399A319DD7}"/>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43</a:t>
            </a:r>
          </a:p>
        </p:txBody>
      </p:sp>
    </p:spTree>
    <p:extLst>
      <p:ext uri="{BB962C8B-B14F-4D97-AF65-F5344CB8AC3E}">
        <p14:creationId xmlns:p14="http://schemas.microsoft.com/office/powerpoint/2010/main" val="40568446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9083AC7-0F76-4543-9D1E-251445CABA18}"/>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DA846469-727C-4E4A-8E20-7B20E037AD52}"/>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What makes demand more responsive? · 1–3</a:t>
            </a:r>
          </a:p>
        </p:txBody>
      </p:sp>
      <p:sp>
        <p:nvSpPr>
          <p:cNvPr id="3" name="text-2">
            <a:extLst xmlns:a="http://schemas.openxmlformats.org/drawingml/2006/main">
              <a:ext uri="{FF2B5EF4-FFF2-40B4-BE49-F238E27FC236}">
                <a16:creationId xmlns:a16="http://schemas.microsoft.com/office/drawing/2014/main" id="{FFC38632-83B6-46D1-AEED-5F0BF1412878}"/>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325" b="0" i="0">
                <a:solidFill>
                  <a:srgbClr val="1D2A33"/>
                </a:solidFill>
                <a:latin typeface="Aptos"/>
                <a:ea typeface="Aptos"/>
                <a:cs typeface="Aptos"/>
              </a:defRPr>
            </a:pPr>
            <a:r>
              <a:rPr sz="2325" b="1" i="0">
                <a:solidFill>
                  <a:srgbClr val="1D2A33"/>
                </a:solidFill>
                <a:latin typeface="Aptos"/>
                <a:ea typeface="Aptos"/>
                <a:cs typeface="Aptos"/>
              </a:rPr>
              <a:t>Available substitutes:</a:t>
            </a:r>
            <a:r>
              <a:t> Demand tends to be more elastic when fans can readily switch to another game, seat, sport, broadcast, or entertainment option.</a:t>
            </a:r>
          </a:p>
          <a:p xmlns:a="http://schemas.openxmlformats.org/drawingml/2006/main">
            <a:pPr marL="254000" indent="-152400" algn="l">
              <a:spcAft>
                <a:spcPts val="1600"/>
              </a:spcAft>
              <a:buChar char="•"/>
              <a:defRPr sz="2325" b="0" i="0">
                <a:solidFill>
                  <a:srgbClr val="1D2A33"/>
                </a:solidFill>
                <a:latin typeface="Aptos"/>
                <a:ea typeface="Aptos"/>
                <a:cs typeface="Aptos"/>
              </a:defRPr>
            </a:pPr>
            <a:r>
              <a:rPr sz="2325" b="1" i="0">
                <a:solidFill>
                  <a:srgbClr val="1D2A33"/>
                </a:solidFill>
                <a:latin typeface="Aptos"/>
                <a:ea typeface="Aptos"/>
                <a:cs typeface="Aptos"/>
              </a:rPr>
              <a:t>Market definition:</a:t>
            </a:r>
            <a:r>
              <a:t> Demand for one precisely defined game and seating section usually has more substitutes than demand for live sports entertainment as a broad category.</a:t>
            </a:r>
          </a:p>
          <a:p xmlns:a="http://schemas.openxmlformats.org/drawingml/2006/main">
            <a:pPr marL="254000" indent="-152400" algn="l">
              <a:spcAft>
                <a:spcPts val="1600"/>
              </a:spcAft>
              <a:buChar char="•"/>
              <a:defRPr sz="2325" b="0" i="0">
                <a:solidFill>
                  <a:srgbClr val="1D2A33"/>
                </a:solidFill>
                <a:latin typeface="Aptos"/>
                <a:ea typeface="Aptos"/>
                <a:cs typeface="Aptos"/>
              </a:defRPr>
            </a:pPr>
            <a:r>
              <a:rPr sz="2325" b="1" i="0">
                <a:solidFill>
                  <a:srgbClr val="1D2A33"/>
                </a:solidFill>
                <a:latin typeface="Aptos"/>
                <a:ea typeface="Aptos"/>
                <a:cs typeface="Aptos"/>
              </a:rPr>
              <a:t>Budget share:</a:t>
            </a:r>
            <a:r>
              <a:t> Buyers generally pay closer attention when the purchase absorbs a larger share of their available income.</a:t>
            </a:r>
          </a:p>
        </p:txBody>
      </p:sp>
      <p:sp>
        <p:nvSpPr>
          <p:cNvPr id="4" name="">
            <a:extLst xmlns:a="http://schemas.openxmlformats.org/drawingml/2006/main">
              <a:ext uri="{FF2B5EF4-FFF2-40B4-BE49-F238E27FC236}">
                <a16:creationId xmlns:a16="http://schemas.microsoft.com/office/drawing/2014/main" id="{3DB90367-E99E-4E02-B674-FFED66AA93C7}"/>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24B546D1-A95C-4353-8C19-2883E5546AEE}"/>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6" name="text-5">
            <a:extLst xmlns:a="http://schemas.openxmlformats.org/drawingml/2006/main">
              <a:ext uri="{FF2B5EF4-FFF2-40B4-BE49-F238E27FC236}">
                <a16:creationId xmlns:a16="http://schemas.microsoft.com/office/drawing/2014/main" id="{4D0418B6-CEF9-4E20-A02D-8A92B382A51A}"/>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44</a:t>
            </a:r>
          </a:p>
        </p:txBody>
      </p:sp>
    </p:spTree>
    <p:extLst>
      <p:ext uri="{BB962C8B-B14F-4D97-AF65-F5344CB8AC3E}">
        <p14:creationId xmlns:p14="http://schemas.microsoft.com/office/powerpoint/2010/main" val="1772890180"/>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C1A0F73-0B9F-467F-9A59-7550DC88CD6A}"/>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75ED4FB9-1389-40AE-B458-30EBAF07B31F}"/>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What makes demand more responsive? · 4–5</a:t>
            </a:r>
          </a:p>
        </p:txBody>
      </p:sp>
      <p:sp>
        <p:nvSpPr>
          <p:cNvPr id="3" name="text-2">
            <a:extLst xmlns:a="http://schemas.openxmlformats.org/drawingml/2006/main">
              <a:ext uri="{FF2B5EF4-FFF2-40B4-BE49-F238E27FC236}">
                <a16:creationId xmlns:a16="http://schemas.microsoft.com/office/drawing/2014/main" id="{698B1CAF-97B4-46DD-9E17-74D5434D3D97}"/>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Time to adjust:</a:t>
            </a:r>
            <a:r>
              <a:t> Fans may have limited alternatives after traveling to a city on game day but many alternatives when planning months in advance.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rPr sz="2400" b="1" i="0">
                <a:solidFill>
                  <a:srgbClr val="1D2A33"/>
                </a:solidFill>
                <a:latin typeface="Aptos"/>
                <a:ea typeface="Aptos"/>
                <a:cs typeface="Aptos"/>
              </a:rPr>
              <a:t>Commitment and perceived necessity:</a:t>
            </a:r>
            <a:r>
              <a:t> A devoted season-ticket holder may initially respond less than a casual buyer, although loyalty does not make demand perfectly inelastic.</a:t>
            </a:r>
          </a:p>
        </p:txBody>
      </p:sp>
      <p:sp>
        <p:nvSpPr>
          <p:cNvPr id="4" name="text-3">
            <a:extLst xmlns:a="http://schemas.openxmlformats.org/drawingml/2006/main">
              <a:ext uri="{FF2B5EF4-FFF2-40B4-BE49-F238E27FC236}">
                <a16:creationId xmlns:a16="http://schemas.microsoft.com/office/drawing/2014/main" id="{C1A24BDE-FE77-4573-9283-43BC7B126A2C}"/>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These are hypotheses—not substitutes for evidence.</a:t>
            </a:r>
          </a:p>
        </p:txBody>
      </p:sp>
      <p:sp>
        <p:nvSpPr>
          <p:cNvPr id="5" name="">
            <a:extLst xmlns:a="http://schemas.openxmlformats.org/drawingml/2006/main">
              <a:ext uri="{FF2B5EF4-FFF2-40B4-BE49-F238E27FC236}">
                <a16:creationId xmlns:a16="http://schemas.microsoft.com/office/drawing/2014/main" id="{09B8F60E-4D67-4035-9701-617F8A86036D}"/>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E3AF67C4-7451-437C-A7B8-56FCF81DEFB3}"/>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7" name="text-6">
            <a:extLst xmlns:a="http://schemas.openxmlformats.org/drawingml/2006/main">
              <a:ext uri="{FF2B5EF4-FFF2-40B4-BE49-F238E27FC236}">
                <a16:creationId xmlns:a16="http://schemas.microsoft.com/office/drawing/2014/main" id="{E62B1502-E575-448D-8670-256AE0218342}"/>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45</a:t>
            </a:r>
          </a:p>
        </p:txBody>
      </p:sp>
    </p:spTree>
    <p:extLst>
      <p:ext uri="{BB962C8B-B14F-4D97-AF65-F5344CB8AC3E}">
        <p14:creationId xmlns:p14="http://schemas.microsoft.com/office/powerpoint/2010/main" val="158303113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C7168FE-8570-4BDE-AA78-DDE24DC6CEC5}"/>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389252D8-94D4-4F85-95DF-A812C0E6147C}"/>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Why use percentages?</a:t>
            </a:r>
          </a:p>
        </p:txBody>
      </p:sp>
      <p:sp>
        <p:nvSpPr>
          <p:cNvPr id="3" name="text-2">
            <a:extLst xmlns:a="http://schemas.openxmlformats.org/drawingml/2006/main">
              <a:ext uri="{FF2B5EF4-FFF2-40B4-BE49-F238E27FC236}">
                <a16:creationId xmlns:a16="http://schemas.microsoft.com/office/drawing/2014/main" id="{B0B66CC0-4826-48FC-9979-49520E063016}"/>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A $10 increase is large on a $20 ticket and small on a $500 ticket.</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An extra 1,000 tickets means different things in a small arena and a much larger market.</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Elasticity is unit-free; slope depends on the units used on each axis.</a:t>
            </a:r>
          </a:p>
        </p:txBody>
      </p:sp>
      <p:sp>
        <p:nvSpPr>
          <p:cNvPr id="4" name="text-3">
            <a:extLst xmlns:a="http://schemas.openxmlformats.org/drawingml/2006/main">
              <a:ext uri="{FF2B5EF4-FFF2-40B4-BE49-F238E27FC236}">
                <a16:creationId xmlns:a16="http://schemas.microsoft.com/office/drawing/2014/main" id="{2D0BB683-2632-4261-92EF-FAA61A96CD73}"/>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 flatter-looking demand curve is not automatically more elastic.</a:t>
            </a:r>
          </a:p>
        </p:txBody>
      </p:sp>
      <p:sp>
        <p:nvSpPr>
          <p:cNvPr id="5" name="">
            <a:extLst xmlns:a="http://schemas.openxmlformats.org/drawingml/2006/main">
              <a:ext uri="{FF2B5EF4-FFF2-40B4-BE49-F238E27FC236}">
                <a16:creationId xmlns:a16="http://schemas.microsoft.com/office/drawing/2014/main" id="{E3C0EA49-A1C5-4853-B386-DEB845B73BBF}"/>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B8B9922C-C5F5-469A-BE4E-A97F9AB610BC}"/>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7" name="text-6">
            <a:extLst xmlns:a="http://schemas.openxmlformats.org/drawingml/2006/main">
              <a:ext uri="{FF2B5EF4-FFF2-40B4-BE49-F238E27FC236}">
                <a16:creationId xmlns:a16="http://schemas.microsoft.com/office/drawing/2014/main" id="{77D49708-254F-42E3-B6F2-FBA6E0DA44DA}"/>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46</a:t>
            </a:r>
          </a:p>
        </p:txBody>
      </p:sp>
    </p:spTree>
    <p:extLst>
      <p:ext uri="{BB962C8B-B14F-4D97-AF65-F5344CB8AC3E}">
        <p14:creationId xmlns:p14="http://schemas.microsoft.com/office/powerpoint/2010/main" val="133339518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EB0020B-1947-4275-8519-C9B71D6A7CB8}"/>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18BFA060-C2BA-4860-915D-97EF442BB1EE}"/>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Why use the midpoint method?</a:t>
            </a:r>
          </a:p>
        </p:txBody>
      </p:sp>
      <p:sp>
        <p:nvSpPr>
          <p:cNvPr id="3" name="text-2">
            <a:extLst xmlns:a="http://schemas.openxmlformats.org/drawingml/2006/main">
              <a:ext uri="{FF2B5EF4-FFF2-40B4-BE49-F238E27FC236}">
                <a16:creationId xmlns:a16="http://schemas.microsoft.com/office/drawing/2014/main" id="{99ABC178-9C76-4A16-9B1C-126570757D4F}"/>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Two raw observations need a common base for their percentage changes.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Use the average of the old and new quantity, and the average of the old and new price.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The midpoint method gives the same elasticity whichever direction we describe the change.</a:t>
            </a:r>
          </a:p>
        </p:txBody>
      </p:sp>
      <p:sp>
        <p:nvSpPr>
          <p:cNvPr id="4" name="text-3">
            <a:extLst xmlns:a="http://schemas.openxmlformats.org/drawingml/2006/main">
              <a:ext uri="{FF2B5EF4-FFF2-40B4-BE49-F238E27FC236}">
                <a16:creationId xmlns:a16="http://schemas.microsoft.com/office/drawing/2014/main" id="{EC57AE77-65A1-4024-AE75-6C93D2D364DC}"/>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If the problem already supplies percentage changes, use them directly.</a:t>
            </a:r>
          </a:p>
        </p:txBody>
      </p:sp>
      <p:sp>
        <p:nvSpPr>
          <p:cNvPr id="5" name="">
            <a:extLst xmlns:a="http://schemas.openxmlformats.org/drawingml/2006/main">
              <a:ext uri="{FF2B5EF4-FFF2-40B4-BE49-F238E27FC236}">
                <a16:creationId xmlns:a16="http://schemas.microsoft.com/office/drawing/2014/main" id="{668E122F-26D7-46FC-AEC3-E0F04590526A}"/>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05325785-B391-463E-BD96-CB47C862AE61}"/>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7" name="text-6">
            <a:extLst xmlns:a="http://schemas.openxmlformats.org/drawingml/2006/main">
              <a:ext uri="{FF2B5EF4-FFF2-40B4-BE49-F238E27FC236}">
                <a16:creationId xmlns:a16="http://schemas.microsoft.com/office/drawing/2014/main" id="{D5BB2F15-71C7-418A-9C19-07C636FB96BF}"/>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47</a:t>
            </a:r>
          </a:p>
        </p:txBody>
      </p:sp>
    </p:spTree>
    <p:extLst>
      <p:ext uri="{BB962C8B-B14F-4D97-AF65-F5344CB8AC3E}">
        <p14:creationId xmlns:p14="http://schemas.microsoft.com/office/powerpoint/2010/main" val="212724860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C8003B7-BB94-4523-B481-8471DFA5F462}"/>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WORKED CALCULATION</a:t>
            </a:r>
          </a:p>
        </p:txBody>
      </p:sp>
      <p:sp>
        <p:nvSpPr>
          <p:cNvPr id="2" name="text-1">
            <a:extLst xmlns:a="http://schemas.openxmlformats.org/drawingml/2006/main">
              <a:ext uri="{FF2B5EF4-FFF2-40B4-BE49-F238E27FC236}">
                <a16:creationId xmlns:a16="http://schemas.microsoft.com/office/drawing/2014/main" id="{C9CEEC3D-EA60-4191-B046-AA2244ECDA6A}"/>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Midpoint example · Calculate the quantity change</a:t>
            </a:r>
          </a:p>
        </p:txBody>
      </p:sp>
      <p:sp>
        <p:nvSpPr>
          <p:cNvPr id="3" name="text-2">
            <a:extLst xmlns:a="http://schemas.openxmlformats.org/drawingml/2006/main">
              <a:ext uri="{FF2B5EF4-FFF2-40B4-BE49-F238E27FC236}">
                <a16:creationId xmlns:a16="http://schemas.microsoft.com/office/drawing/2014/main" id="{0A730EE1-0186-4F60-9044-2750BB986280}"/>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Price rises from $50 to $60; quantity demanded falls from 10,000 to 9,000.</a:t>
            </a:r>
          </a:p>
        </p:txBody>
      </p:sp>
      <p:sp>
        <p:nvSpPr>
          <p:cNvPr id="4" name="text-3">
            <a:extLst xmlns:a="http://schemas.openxmlformats.org/drawingml/2006/main">
              <a:ext uri="{FF2B5EF4-FFF2-40B4-BE49-F238E27FC236}">
                <a16:creationId xmlns:a16="http://schemas.microsoft.com/office/drawing/2014/main" id="{F5BCB973-655D-4C27-997A-759765988F6C}"/>
              </a:ext>
            </a:extLst>
          </p:cNvPr>
          <p:cNvSpPr>
            <a:spLocks xmlns:a="http://schemas.openxmlformats.org/drawingml/2006/main" noGrp="1"/>
          </p:cNvSpPr>
          <p:nvPr/>
        </p:nvSpPr>
        <p:spPr>
          <a:xfrm xmlns:a="http://schemas.openxmlformats.org/drawingml/2006/main">
            <a:off x="723900" y="272415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75" b="0" i="0">
                <a:solidFill>
                  <a:srgbClr val="12455E"/>
                </a:solidFill>
                <a:latin typeface="Aptos"/>
                <a:ea typeface="Aptos"/>
                <a:cs typeface="Aptos"/>
              </a:defRPr>
            </a:pPr>
            <a:r>
              <a:rPr sz="2475" b="0" i="0">
                <a:solidFill>
                  <a:srgbClr val="12455E"/>
                </a:solidFill>
                <a:latin typeface="Aptos"/>
                <a:ea typeface="Aptos"/>
                <a:cs typeface="Aptos"/>
              </a:rPr>
              <a:t>Average quantity = (10,000 + 9,000) / 2 = 9,500</a:t>
            </a:r>
          </a:p>
        </p:txBody>
      </p:sp>
      <p:sp>
        <p:nvSpPr>
          <p:cNvPr id="5" name="text-4">
            <a:extLst xmlns:a="http://schemas.openxmlformats.org/drawingml/2006/main">
              <a:ext uri="{FF2B5EF4-FFF2-40B4-BE49-F238E27FC236}">
                <a16:creationId xmlns:a16="http://schemas.microsoft.com/office/drawing/2014/main" id="{70B0305D-0175-4132-A883-0C7387BF07D1}"/>
              </a:ext>
            </a:extLst>
          </p:cNvPr>
          <p:cNvSpPr>
            <a:spLocks xmlns:a="http://schemas.openxmlformats.org/drawingml/2006/main" noGrp="1"/>
          </p:cNvSpPr>
          <p:nvPr/>
        </p:nvSpPr>
        <p:spPr>
          <a:xfrm xmlns:a="http://schemas.openxmlformats.org/drawingml/2006/main">
            <a:off x="723900" y="3514725"/>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75" b="0" i="0">
                <a:solidFill>
                  <a:srgbClr val="12455E"/>
                </a:solidFill>
                <a:latin typeface="Aptos"/>
                <a:ea typeface="Aptos"/>
                <a:cs typeface="Aptos"/>
              </a:defRPr>
            </a:pPr>
            <a:r>
              <a:rPr sz="2475" b="0" i="0">
                <a:solidFill>
                  <a:srgbClr val="12455E"/>
                </a:solidFill>
                <a:latin typeface="Aptos"/>
                <a:ea typeface="Aptos"/>
                <a:cs typeface="Aptos"/>
              </a:rPr>
              <a:t>% change in Q = (−1,000 / 9,500) × 100</a:t>
            </a:r>
          </a:p>
        </p:txBody>
      </p:sp>
      <p:sp>
        <p:nvSpPr>
          <p:cNvPr id="6" name="text-5">
            <a:extLst xmlns:a="http://schemas.openxmlformats.org/drawingml/2006/main">
              <a:ext uri="{FF2B5EF4-FFF2-40B4-BE49-F238E27FC236}">
                <a16:creationId xmlns:a16="http://schemas.microsoft.com/office/drawing/2014/main" id="{126228D3-8848-4C01-806E-862ED898C78B}"/>
              </a:ext>
            </a:extLst>
          </p:cNvPr>
          <p:cNvSpPr>
            <a:spLocks xmlns:a="http://schemas.openxmlformats.org/drawingml/2006/main" noGrp="1"/>
          </p:cNvSpPr>
          <p:nvPr/>
        </p:nvSpPr>
        <p:spPr>
          <a:xfrm xmlns:a="http://schemas.openxmlformats.org/drawingml/2006/main">
            <a:off x="723900" y="430530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75" b="0" i="0">
                <a:solidFill>
                  <a:srgbClr val="12455E"/>
                </a:solidFill>
                <a:latin typeface="Aptos"/>
                <a:ea typeface="Aptos"/>
                <a:cs typeface="Aptos"/>
              </a:defRPr>
            </a:pPr>
            <a:r>
              <a:rPr sz="2475" b="0" i="0">
                <a:solidFill>
                  <a:srgbClr val="12455E"/>
                </a:solidFill>
                <a:latin typeface="Aptos"/>
                <a:ea typeface="Aptos"/>
                <a:cs typeface="Aptos"/>
              </a:rPr>
              <a:t>% change in Q ≈ −10.53%</a:t>
            </a:r>
          </a:p>
        </p:txBody>
      </p:sp>
      <p:sp>
        <p:nvSpPr>
          <p:cNvPr id="7" name="text-6">
            <a:extLst xmlns:a="http://schemas.openxmlformats.org/drawingml/2006/main">
              <a:ext uri="{FF2B5EF4-FFF2-40B4-BE49-F238E27FC236}">
                <a16:creationId xmlns:a16="http://schemas.microsoft.com/office/drawing/2014/main" id="{C2CFEE7A-44DA-4D11-AE43-1912E739B2A7}"/>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Use the average quantity—not just the original quantity.</a:t>
            </a:r>
          </a:p>
        </p:txBody>
      </p:sp>
      <p:sp>
        <p:nvSpPr>
          <p:cNvPr id="8" name="">
            <a:extLst xmlns:a="http://schemas.openxmlformats.org/drawingml/2006/main">
              <a:ext uri="{FF2B5EF4-FFF2-40B4-BE49-F238E27FC236}">
                <a16:creationId xmlns:a16="http://schemas.microsoft.com/office/drawing/2014/main" id="{10991B7D-3644-4BB3-ABF6-2F8FA90A9527}"/>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5F7CBDCE-EAB3-4EFF-9E41-DB2C3B299FCF}"/>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10" name="text-9">
            <a:extLst xmlns:a="http://schemas.openxmlformats.org/drawingml/2006/main">
              <a:ext uri="{FF2B5EF4-FFF2-40B4-BE49-F238E27FC236}">
                <a16:creationId xmlns:a16="http://schemas.microsoft.com/office/drawing/2014/main" id="{40307BA0-AA00-49DE-A645-174C13B6BF61}"/>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48</a:t>
            </a:r>
          </a:p>
        </p:txBody>
      </p:sp>
    </p:spTree>
    <p:extLst>
      <p:ext uri="{BB962C8B-B14F-4D97-AF65-F5344CB8AC3E}">
        <p14:creationId xmlns:p14="http://schemas.microsoft.com/office/powerpoint/2010/main" val="188740416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B62A3B17-F1E0-4463-9E5A-6EE512B9EE8F}"/>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WORKED CALCULATION</a:t>
            </a:r>
          </a:p>
        </p:txBody>
      </p:sp>
      <p:sp>
        <p:nvSpPr>
          <p:cNvPr id="2" name="text-1">
            <a:extLst xmlns:a="http://schemas.openxmlformats.org/drawingml/2006/main">
              <a:ext uri="{FF2B5EF4-FFF2-40B4-BE49-F238E27FC236}">
                <a16:creationId xmlns:a16="http://schemas.microsoft.com/office/drawing/2014/main" id="{D7AD590D-CF21-4790-81AD-6E9644527402}"/>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Midpoint example · Calculate the price change</a:t>
            </a:r>
          </a:p>
        </p:txBody>
      </p:sp>
      <p:sp>
        <p:nvSpPr>
          <p:cNvPr id="3" name="text-2">
            <a:extLst xmlns:a="http://schemas.openxmlformats.org/drawingml/2006/main">
              <a:ext uri="{FF2B5EF4-FFF2-40B4-BE49-F238E27FC236}">
                <a16:creationId xmlns:a16="http://schemas.microsoft.com/office/drawing/2014/main" id="{0E2F6428-A522-4EB9-8E0B-C92126D7429E}"/>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Use the same average-base convention for price.</a:t>
            </a:r>
          </a:p>
        </p:txBody>
      </p:sp>
      <p:sp>
        <p:nvSpPr>
          <p:cNvPr id="4" name="text-3">
            <a:extLst xmlns:a="http://schemas.openxmlformats.org/drawingml/2006/main">
              <a:ext uri="{FF2B5EF4-FFF2-40B4-BE49-F238E27FC236}">
                <a16:creationId xmlns:a16="http://schemas.microsoft.com/office/drawing/2014/main" id="{23C7432E-462C-44F6-8E05-2E30BC812B92}"/>
              </a:ext>
            </a:extLst>
          </p:cNvPr>
          <p:cNvSpPr>
            <a:spLocks xmlns:a="http://schemas.openxmlformats.org/drawingml/2006/main" noGrp="1"/>
          </p:cNvSpPr>
          <p:nvPr/>
        </p:nvSpPr>
        <p:spPr>
          <a:xfrm xmlns:a="http://schemas.openxmlformats.org/drawingml/2006/main">
            <a:off x="723900" y="272415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625" b="0" i="0">
                <a:solidFill>
                  <a:srgbClr val="12455E"/>
                </a:solidFill>
                <a:latin typeface="Aptos"/>
                <a:ea typeface="Aptos"/>
                <a:cs typeface="Aptos"/>
              </a:defRPr>
            </a:pPr>
            <a:r>
              <a:rPr sz="2625" b="0" i="0">
                <a:solidFill>
                  <a:srgbClr val="12455E"/>
                </a:solidFill>
                <a:latin typeface="Aptos"/>
                <a:ea typeface="Aptos"/>
                <a:cs typeface="Aptos"/>
              </a:rPr>
              <a:t>Average price = ($50 + $60) / 2 = $55</a:t>
            </a:r>
          </a:p>
        </p:txBody>
      </p:sp>
      <p:sp>
        <p:nvSpPr>
          <p:cNvPr id="5" name="text-4">
            <a:extLst xmlns:a="http://schemas.openxmlformats.org/drawingml/2006/main">
              <a:ext uri="{FF2B5EF4-FFF2-40B4-BE49-F238E27FC236}">
                <a16:creationId xmlns:a16="http://schemas.microsoft.com/office/drawing/2014/main" id="{53CF73C1-84AA-4F14-BF91-7404ADBF5DB8}"/>
              </a:ext>
            </a:extLst>
          </p:cNvPr>
          <p:cNvSpPr>
            <a:spLocks xmlns:a="http://schemas.openxmlformats.org/drawingml/2006/main" noGrp="1"/>
          </p:cNvSpPr>
          <p:nvPr/>
        </p:nvSpPr>
        <p:spPr>
          <a:xfrm xmlns:a="http://schemas.openxmlformats.org/drawingml/2006/main">
            <a:off x="723900" y="3514725"/>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625" b="0" i="0">
                <a:solidFill>
                  <a:srgbClr val="12455E"/>
                </a:solidFill>
                <a:latin typeface="Aptos"/>
                <a:ea typeface="Aptos"/>
                <a:cs typeface="Aptos"/>
              </a:defRPr>
            </a:pPr>
            <a:r>
              <a:rPr sz="2625" b="0" i="0">
                <a:solidFill>
                  <a:srgbClr val="12455E"/>
                </a:solidFill>
                <a:latin typeface="Aptos"/>
                <a:ea typeface="Aptos"/>
                <a:cs typeface="Aptos"/>
              </a:rPr>
              <a:t>% change in P = (10 / 55) × 100 ≈ 18.18%</a:t>
            </a:r>
          </a:p>
        </p:txBody>
      </p:sp>
      <p:sp>
        <p:nvSpPr>
          <p:cNvPr id="6" name="text-5">
            <a:extLst xmlns:a="http://schemas.openxmlformats.org/drawingml/2006/main">
              <a:ext uri="{FF2B5EF4-FFF2-40B4-BE49-F238E27FC236}">
                <a16:creationId xmlns:a16="http://schemas.microsoft.com/office/drawing/2014/main" id="{44F31D59-BD0A-4650-B2E7-C589F6942CAF}"/>
              </a:ext>
            </a:extLst>
          </p:cNvPr>
          <p:cNvSpPr>
            <a:spLocks xmlns:a="http://schemas.openxmlformats.org/drawingml/2006/main" noGrp="1"/>
          </p:cNvSpPr>
          <p:nvPr/>
        </p:nvSpPr>
        <p:spPr>
          <a:xfrm xmlns:a="http://schemas.openxmlformats.org/drawingml/2006/main">
            <a:off x="723900" y="4305300"/>
            <a:ext cx="32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625" b="0" i="0">
                <a:solidFill>
                  <a:srgbClr val="12455E"/>
                </a:solidFill>
                <a:latin typeface="Aptos"/>
                <a:ea typeface="Aptos"/>
                <a:cs typeface="Aptos"/>
              </a:defRPr>
            </a:pPr>
            <a:r>
              <a:rPr sz="2625" b="0" i="0">
                <a:solidFill>
                  <a:srgbClr val="12455E"/>
                </a:solidFill>
                <a:latin typeface="Aptos"/>
                <a:ea typeface="Aptos"/>
                <a:cs typeface="Aptos"/>
              </a:rPr>
              <a:t>ε</a:t>
            </a:r>
          </a:p>
        </p:txBody>
      </p:sp>
      <p:sp>
        <p:nvSpPr>
          <p:cNvPr id="7" name="text-6">
            <a:extLst xmlns:a="http://schemas.openxmlformats.org/drawingml/2006/main">
              <a:ext uri="{FF2B5EF4-FFF2-40B4-BE49-F238E27FC236}">
                <a16:creationId xmlns:a16="http://schemas.microsoft.com/office/drawing/2014/main" id="{482C2C03-CDD4-420A-BCFB-8D245FCDE308}"/>
              </a:ext>
            </a:extLst>
          </p:cNvPr>
          <p:cNvSpPr>
            <a:spLocks xmlns:a="http://schemas.openxmlformats.org/drawingml/2006/main" noGrp="1"/>
          </p:cNvSpPr>
          <p:nvPr/>
        </p:nvSpPr>
        <p:spPr>
          <a:xfrm xmlns:a="http://schemas.openxmlformats.org/drawingml/2006/main">
            <a:off x="914400" y="4471988"/>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27" b="0" i="0">
                <a:solidFill>
                  <a:srgbClr val="12455E"/>
                </a:solidFill>
                <a:latin typeface="Aptos"/>
                <a:ea typeface="Aptos"/>
                <a:cs typeface="Aptos"/>
              </a:defRPr>
            </a:pPr>
            <a:r>
              <a:rPr sz="1627" b="0" i="0">
                <a:solidFill>
                  <a:srgbClr val="12455E"/>
                </a:solidFill>
                <a:latin typeface="Aptos"/>
                <a:ea typeface="Aptos"/>
                <a:cs typeface="Aptos"/>
              </a:rPr>
              <a:t>d</a:t>
            </a:r>
          </a:p>
        </p:txBody>
      </p:sp>
      <p:sp>
        <p:nvSpPr>
          <p:cNvPr id="8" name="text-7">
            <a:extLst xmlns:a="http://schemas.openxmlformats.org/drawingml/2006/main">
              <a:ext uri="{FF2B5EF4-FFF2-40B4-BE49-F238E27FC236}">
                <a16:creationId xmlns:a16="http://schemas.microsoft.com/office/drawing/2014/main" id="{0F5AEE59-429B-4D84-A0DB-C9A34B4C4025}"/>
              </a:ext>
            </a:extLst>
          </p:cNvPr>
          <p:cNvSpPr>
            <a:spLocks xmlns:a="http://schemas.openxmlformats.org/drawingml/2006/main" noGrp="1"/>
          </p:cNvSpPr>
          <p:nvPr/>
        </p:nvSpPr>
        <p:spPr>
          <a:xfrm xmlns:a="http://schemas.openxmlformats.org/drawingml/2006/main">
            <a:off x="1114425" y="43053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625" b="0" i="0">
                <a:solidFill>
                  <a:srgbClr val="12455E"/>
                </a:solidFill>
                <a:latin typeface="Aptos"/>
                <a:ea typeface="Aptos"/>
                <a:cs typeface="Aptos"/>
              </a:defRPr>
            </a:pPr>
            <a:r>
              <a:rPr sz="2625" b="0" i="0">
                <a:solidFill>
                  <a:srgbClr val="12455E"/>
                </a:solidFill>
                <a:latin typeface="Aptos"/>
                <a:ea typeface="Aptos"/>
                <a:cs typeface="Aptos"/>
              </a:rPr>
              <a:t> = −10.53% / 18.18% ≈ −0.58</a:t>
            </a:r>
          </a:p>
        </p:txBody>
      </p:sp>
      <p:sp>
        <p:nvSpPr>
          <p:cNvPr id="9" name="text-8">
            <a:extLst xmlns:a="http://schemas.openxmlformats.org/drawingml/2006/main">
              <a:ext uri="{FF2B5EF4-FFF2-40B4-BE49-F238E27FC236}">
                <a16:creationId xmlns:a16="http://schemas.microsoft.com/office/drawing/2014/main" id="{52AD8D4A-FB0F-4414-9A34-6B343EC8375E}"/>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Demand is inelastic over this comparison.</a:t>
            </a:r>
          </a:p>
        </p:txBody>
      </p:sp>
      <p:sp>
        <p:nvSpPr>
          <p:cNvPr id="10" name="">
            <a:extLst xmlns:a="http://schemas.openxmlformats.org/drawingml/2006/main">
              <a:ext uri="{FF2B5EF4-FFF2-40B4-BE49-F238E27FC236}">
                <a16:creationId xmlns:a16="http://schemas.microsoft.com/office/drawing/2014/main" id="{ED5B1359-E90F-4E58-B5EB-9E1C0DADA729}"/>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11" name="text-10">
            <a:extLst xmlns:a="http://schemas.openxmlformats.org/drawingml/2006/main">
              <a:ext uri="{FF2B5EF4-FFF2-40B4-BE49-F238E27FC236}">
                <a16:creationId xmlns:a16="http://schemas.microsoft.com/office/drawing/2014/main" id="{C9758AD6-CD86-47CB-A82D-0E80D16BA716}"/>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12" name="text-11">
            <a:extLst xmlns:a="http://schemas.openxmlformats.org/drawingml/2006/main">
              <a:ext uri="{FF2B5EF4-FFF2-40B4-BE49-F238E27FC236}">
                <a16:creationId xmlns:a16="http://schemas.microsoft.com/office/drawing/2014/main" id="{40B7035A-BE72-4F00-8BC3-517693D79295}"/>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49</a:t>
            </a:r>
          </a:p>
        </p:txBody>
      </p:sp>
    </p:spTree>
    <p:extLst>
      <p:ext uri="{BB962C8B-B14F-4D97-AF65-F5344CB8AC3E}">
        <p14:creationId xmlns:p14="http://schemas.microsoft.com/office/powerpoint/2010/main" val="11379457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801F037-0F53-4B39-9EF1-2ADA6A55A131}"/>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E3D01B19-5333-4CFC-834D-44784DEB204E}"/>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A transparent calculation can still mislead</a:t>
            </a:r>
          </a:p>
        </p:txBody>
      </p:sp>
      <p:sp>
        <p:nvSpPr>
          <p:cNvPr id="3" name="text-2">
            <a:extLst xmlns:a="http://schemas.openxmlformats.org/drawingml/2006/main">
              <a:ext uri="{FF2B5EF4-FFF2-40B4-BE49-F238E27FC236}">
                <a16:creationId xmlns:a16="http://schemas.microsoft.com/office/drawing/2014/main" id="{21048108-DE53-4FF6-AFF6-631E28874E9A}"/>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The midpoint formula does not hold other demand factors fixed for us.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 rivalry game and a low-interest weekday game are not automatically comparable.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The result estimates a price response only if the comparison isolates that response.</a:t>
            </a:r>
          </a:p>
        </p:txBody>
      </p:sp>
      <p:sp>
        <p:nvSpPr>
          <p:cNvPr id="4" name="text-3">
            <a:extLst xmlns:a="http://schemas.openxmlformats.org/drawingml/2006/main">
              <a:ext uri="{FF2B5EF4-FFF2-40B4-BE49-F238E27FC236}">
                <a16:creationId xmlns:a16="http://schemas.microsoft.com/office/drawing/2014/main" id="{1514B1E9-8746-4B5E-B74A-2543ADFC22A5}"/>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Arithmetic cannot replace ceteris paribus.</a:t>
            </a:r>
          </a:p>
        </p:txBody>
      </p:sp>
      <p:sp>
        <p:nvSpPr>
          <p:cNvPr id="5" name="">
            <a:extLst xmlns:a="http://schemas.openxmlformats.org/drawingml/2006/main">
              <a:ext uri="{FF2B5EF4-FFF2-40B4-BE49-F238E27FC236}">
                <a16:creationId xmlns:a16="http://schemas.microsoft.com/office/drawing/2014/main" id="{9DB24AE6-ACA3-4AB4-9BE2-47DBEEB72F3B}"/>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17253647-6A84-44FB-9338-472C55781355}"/>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7" name="text-6">
            <a:extLst xmlns:a="http://schemas.openxmlformats.org/drawingml/2006/main">
              <a:ext uri="{FF2B5EF4-FFF2-40B4-BE49-F238E27FC236}">
                <a16:creationId xmlns:a16="http://schemas.microsoft.com/office/drawing/2014/main" id="{1BBC7374-6837-4BD3-9735-50545390F870}"/>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50</a:t>
            </a:r>
          </a:p>
        </p:txBody>
      </p:sp>
    </p:spTree>
    <p:extLst>
      <p:ext uri="{BB962C8B-B14F-4D97-AF65-F5344CB8AC3E}">
        <p14:creationId xmlns:p14="http://schemas.microsoft.com/office/powerpoint/2010/main" val="174305360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0E114D4-3BBC-4C70-9A7A-653843D89882}"/>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WORKED CALCULATION</a:t>
            </a:r>
          </a:p>
        </p:txBody>
      </p:sp>
      <p:sp>
        <p:nvSpPr>
          <p:cNvPr id="2" name="text-1">
            <a:extLst xmlns:a="http://schemas.openxmlformats.org/drawingml/2006/main">
              <a:ext uri="{FF2B5EF4-FFF2-40B4-BE49-F238E27FC236}">
                <a16:creationId xmlns:a16="http://schemas.microsoft.com/office/drawing/2014/main" id="{12FABCC0-E4AB-4E82-B0BE-342216CEE6C6}"/>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Elasticity and total revenue</a:t>
            </a:r>
          </a:p>
        </p:txBody>
      </p:sp>
      <p:sp>
        <p:nvSpPr>
          <p:cNvPr id="3" name="text-2">
            <a:extLst xmlns:a="http://schemas.openxmlformats.org/drawingml/2006/main">
              <a:ext uri="{FF2B5EF4-FFF2-40B4-BE49-F238E27FC236}">
                <a16:creationId xmlns:a16="http://schemas.microsoft.com/office/drawing/2014/main" id="{5E8625A3-B49C-477A-9832-415B09913861}"/>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Total revenue is price multiplied by quantity sold: TR = P × Q.</a:t>
            </a:r>
          </a:p>
        </p:txBody>
      </p:sp>
      <p:sp>
        <p:nvSpPr>
          <p:cNvPr id="4" name="text-3">
            <a:extLst xmlns:a="http://schemas.openxmlformats.org/drawingml/2006/main">
              <a:ext uri="{FF2B5EF4-FFF2-40B4-BE49-F238E27FC236}">
                <a16:creationId xmlns:a16="http://schemas.microsoft.com/office/drawing/2014/main" id="{EBF8ED16-2A5A-4B16-81F0-157D5D0AAE93}"/>
              </a:ext>
            </a:extLst>
          </p:cNvPr>
          <p:cNvSpPr>
            <a:spLocks xmlns:a="http://schemas.openxmlformats.org/drawingml/2006/main" noGrp="1"/>
          </p:cNvSpPr>
          <p:nvPr/>
        </p:nvSpPr>
        <p:spPr>
          <a:xfrm xmlns:a="http://schemas.openxmlformats.org/drawingml/2006/main">
            <a:off x="723900" y="272415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700" b="0" i="0">
                <a:solidFill>
                  <a:srgbClr val="12455E"/>
                </a:solidFill>
                <a:latin typeface="Aptos"/>
                <a:ea typeface="Aptos"/>
                <a:cs typeface="Aptos"/>
              </a:defRPr>
            </a:pPr>
            <a:r>
              <a:rPr sz="2700" b="0" i="0">
                <a:solidFill>
                  <a:srgbClr val="12455E"/>
                </a:solidFill>
                <a:latin typeface="Aptos"/>
                <a:ea typeface="Aptos"/>
                <a:cs typeface="Aptos"/>
              </a:rPr>
              <a:t>Initial revenue: $50 × 10,000 = $500,000</a:t>
            </a:r>
          </a:p>
        </p:txBody>
      </p:sp>
      <p:sp>
        <p:nvSpPr>
          <p:cNvPr id="5" name="text-4">
            <a:extLst xmlns:a="http://schemas.openxmlformats.org/drawingml/2006/main">
              <a:ext uri="{FF2B5EF4-FFF2-40B4-BE49-F238E27FC236}">
                <a16:creationId xmlns:a16="http://schemas.microsoft.com/office/drawing/2014/main" id="{9C924134-D71A-452E-A9D7-7B43C018D444}"/>
              </a:ext>
            </a:extLst>
          </p:cNvPr>
          <p:cNvSpPr>
            <a:spLocks xmlns:a="http://schemas.openxmlformats.org/drawingml/2006/main" noGrp="1"/>
          </p:cNvSpPr>
          <p:nvPr/>
        </p:nvSpPr>
        <p:spPr>
          <a:xfrm xmlns:a="http://schemas.openxmlformats.org/drawingml/2006/main">
            <a:off x="723900" y="3514725"/>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700" b="0" i="0">
                <a:solidFill>
                  <a:srgbClr val="12455E"/>
                </a:solidFill>
                <a:latin typeface="Aptos"/>
                <a:ea typeface="Aptos"/>
                <a:cs typeface="Aptos"/>
              </a:defRPr>
            </a:pPr>
            <a:r>
              <a:rPr sz="2700" b="0" i="0">
                <a:solidFill>
                  <a:srgbClr val="12455E"/>
                </a:solidFill>
                <a:latin typeface="Aptos"/>
                <a:ea typeface="Aptos"/>
                <a:cs typeface="Aptos"/>
              </a:rPr>
              <a:t>New revenue: $60 × 9,000 = $540,000</a:t>
            </a:r>
          </a:p>
        </p:txBody>
      </p:sp>
      <p:sp>
        <p:nvSpPr>
          <p:cNvPr id="6" name="text-5">
            <a:extLst xmlns:a="http://schemas.openxmlformats.org/drawingml/2006/main">
              <a:ext uri="{FF2B5EF4-FFF2-40B4-BE49-F238E27FC236}">
                <a16:creationId xmlns:a16="http://schemas.microsoft.com/office/drawing/2014/main" id="{5C017FF7-EA35-438B-AECF-A3FE670CC2AE}"/>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Here the price increase more than offsets the quantity decrease.</a:t>
            </a:r>
          </a:p>
        </p:txBody>
      </p:sp>
      <p:sp>
        <p:nvSpPr>
          <p:cNvPr id="7" name="">
            <a:extLst xmlns:a="http://schemas.openxmlformats.org/drawingml/2006/main">
              <a:ext uri="{FF2B5EF4-FFF2-40B4-BE49-F238E27FC236}">
                <a16:creationId xmlns:a16="http://schemas.microsoft.com/office/drawing/2014/main" id="{0A6F0936-BA22-45EC-9F9A-C1EAF258F42D}"/>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8" name="text-7">
            <a:extLst xmlns:a="http://schemas.openxmlformats.org/drawingml/2006/main">
              <a:ext uri="{FF2B5EF4-FFF2-40B4-BE49-F238E27FC236}">
                <a16:creationId xmlns:a16="http://schemas.microsoft.com/office/drawing/2014/main" id="{35B52650-F447-49FB-802E-C55CBFA727B1}"/>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9" name="text-8">
            <a:extLst xmlns:a="http://schemas.openxmlformats.org/drawingml/2006/main">
              <a:ext uri="{FF2B5EF4-FFF2-40B4-BE49-F238E27FC236}">
                <a16:creationId xmlns:a16="http://schemas.microsoft.com/office/drawing/2014/main" id="{7F71E183-1CA1-4C15-A54E-9FA7EF917BB0}"/>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51</a:t>
            </a:r>
          </a:p>
        </p:txBody>
      </p:sp>
    </p:spTree>
    <p:extLst>
      <p:ext uri="{BB962C8B-B14F-4D97-AF65-F5344CB8AC3E}">
        <p14:creationId xmlns:p14="http://schemas.microsoft.com/office/powerpoint/2010/main" val="109533523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993B89AF-5DBB-448E-A6BF-2FFB95D223CB}"/>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WORKED CALCULATION</a:t>
            </a:r>
          </a:p>
        </p:txBody>
      </p:sp>
      <p:sp>
        <p:nvSpPr>
          <p:cNvPr id="2" name="text-1">
            <a:extLst xmlns:a="http://schemas.openxmlformats.org/drawingml/2006/main">
              <a:ext uri="{FF2B5EF4-FFF2-40B4-BE49-F238E27FC236}">
                <a16:creationId xmlns:a16="http://schemas.microsoft.com/office/drawing/2014/main" id="{BB2FA364-FE3B-4E02-AFF2-C0BF43B1D7D3}"/>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What if quantity falls further?</a:t>
            </a:r>
          </a:p>
        </p:txBody>
      </p:sp>
      <p:sp>
        <p:nvSpPr>
          <p:cNvPr id="3" name="text-2">
            <a:extLst xmlns:a="http://schemas.openxmlformats.org/drawingml/2006/main">
              <a:ext uri="{FF2B5EF4-FFF2-40B4-BE49-F238E27FC236}">
                <a16:creationId xmlns:a16="http://schemas.microsoft.com/office/drawing/2014/main" id="{BBE775C0-9679-494F-B895-9536F3E44FBA}"/>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Keep the price change from $50 to $60, but let quantity fall to 8,000.</a:t>
            </a:r>
          </a:p>
        </p:txBody>
      </p:sp>
      <p:sp>
        <p:nvSpPr>
          <p:cNvPr id="4" name="text-3">
            <a:extLst xmlns:a="http://schemas.openxmlformats.org/drawingml/2006/main">
              <a:ext uri="{FF2B5EF4-FFF2-40B4-BE49-F238E27FC236}">
                <a16:creationId xmlns:a16="http://schemas.microsoft.com/office/drawing/2014/main" id="{9D89CF0D-F79A-4F0B-B07E-F7C22FA2792D}"/>
              </a:ext>
            </a:extLst>
          </p:cNvPr>
          <p:cNvSpPr>
            <a:spLocks xmlns:a="http://schemas.openxmlformats.org/drawingml/2006/main" noGrp="1"/>
          </p:cNvSpPr>
          <p:nvPr/>
        </p:nvSpPr>
        <p:spPr>
          <a:xfrm xmlns:a="http://schemas.openxmlformats.org/drawingml/2006/main">
            <a:off x="723900" y="272415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New revenue: $60 × 8,000 = $480,000</a:t>
            </a:r>
          </a:p>
        </p:txBody>
      </p:sp>
      <p:sp>
        <p:nvSpPr>
          <p:cNvPr id="5" name="text-4">
            <a:extLst xmlns:a="http://schemas.openxmlformats.org/drawingml/2006/main">
              <a:ext uri="{FF2B5EF4-FFF2-40B4-BE49-F238E27FC236}">
                <a16:creationId xmlns:a16="http://schemas.microsoft.com/office/drawing/2014/main" id="{88CF9C5B-8360-4E9D-9471-74438C9B206D}"/>
              </a:ext>
            </a:extLst>
          </p:cNvPr>
          <p:cNvSpPr>
            <a:spLocks xmlns:a="http://schemas.openxmlformats.org/drawingml/2006/main" noGrp="1"/>
          </p:cNvSpPr>
          <p:nvPr/>
        </p:nvSpPr>
        <p:spPr>
          <a:xfrm xmlns:a="http://schemas.openxmlformats.org/drawingml/2006/main">
            <a:off x="723900" y="3514725"/>
            <a:ext cx="32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ε</a:t>
            </a:r>
          </a:p>
        </p:txBody>
      </p:sp>
      <p:sp>
        <p:nvSpPr>
          <p:cNvPr id="6" name="text-5">
            <a:extLst xmlns:a="http://schemas.openxmlformats.org/drawingml/2006/main">
              <a:ext uri="{FF2B5EF4-FFF2-40B4-BE49-F238E27FC236}">
                <a16:creationId xmlns:a16="http://schemas.microsoft.com/office/drawing/2014/main" id="{872A870C-8F41-4285-A286-560D7847B999}"/>
              </a:ext>
            </a:extLst>
          </p:cNvPr>
          <p:cNvSpPr>
            <a:spLocks xmlns:a="http://schemas.openxmlformats.org/drawingml/2006/main" noGrp="1"/>
          </p:cNvSpPr>
          <p:nvPr/>
        </p:nvSpPr>
        <p:spPr>
          <a:xfrm xmlns:a="http://schemas.openxmlformats.org/drawingml/2006/main">
            <a:off x="914400" y="369570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67" b="0" i="0">
                <a:solidFill>
                  <a:srgbClr val="12455E"/>
                </a:solidFill>
                <a:latin typeface="Aptos"/>
                <a:ea typeface="Aptos"/>
                <a:cs typeface="Aptos"/>
              </a:defRPr>
            </a:pPr>
            <a:r>
              <a:rPr sz="1767" b="0" i="0">
                <a:solidFill>
                  <a:srgbClr val="12455E"/>
                </a:solidFill>
                <a:latin typeface="Aptos"/>
                <a:ea typeface="Aptos"/>
                <a:cs typeface="Aptos"/>
              </a:rPr>
              <a:t>d</a:t>
            </a:r>
          </a:p>
        </p:txBody>
      </p:sp>
      <p:sp>
        <p:nvSpPr>
          <p:cNvPr id="7" name="text-6">
            <a:extLst xmlns:a="http://schemas.openxmlformats.org/drawingml/2006/main">
              <a:ext uri="{FF2B5EF4-FFF2-40B4-BE49-F238E27FC236}">
                <a16:creationId xmlns:a16="http://schemas.microsoft.com/office/drawing/2014/main" id="{A372D886-FF6C-4479-8E80-E0558505A12B}"/>
              </a:ext>
            </a:extLst>
          </p:cNvPr>
          <p:cNvSpPr>
            <a:spLocks xmlns:a="http://schemas.openxmlformats.org/drawingml/2006/main" noGrp="1"/>
          </p:cNvSpPr>
          <p:nvPr/>
        </p:nvSpPr>
        <p:spPr>
          <a:xfrm xmlns:a="http://schemas.openxmlformats.org/drawingml/2006/main">
            <a:off x="1114425" y="3514725"/>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850" b="0" i="0">
                <a:solidFill>
                  <a:srgbClr val="12455E"/>
                </a:solidFill>
                <a:latin typeface="Aptos"/>
                <a:ea typeface="Aptos"/>
                <a:cs typeface="Aptos"/>
              </a:defRPr>
            </a:pPr>
            <a:r>
              <a:rPr sz="2850" b="0" i="0">
                <a:solidFill>
                  <a:srgbClr val="12455E"/>
                </a:solidFill>
                <a:latin typeface="Aptos"/>
                <a:ea typeface="Aptos"/>
                <a:cs typeface="Aptos"/>
              </a:rPr>
              <a:t> ≈ −22.22% / 18.18% ≈ −1.22</a:t>
            </a:r>
          </a:p>
        </p:txBody>
      </p:sp>
      <p:sp>
        <p:nvSpPr>
          <p:cNvPr id="8" name="text-7">
            <a:extLst xmlns:a="http://schemas.openxmlformats.org/drawingml/2006/main">
              <a:ext uri="{FF2B5EF4-FFF2-40B4-BE49-F238E27FC236}">
                <a16:creationId xmlns:a16="http://schemas.microsoft.com/office/drawing/2014/main" id="{B8AE1693-9874-4199-8419-9D76C5EBAE16}"/>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Now demand is elastic over the comparison, and revenue falls.</a:t>
            </a:r>
          </a:p>
        </p:txBody>
      </p:sp>
      <p:sp>
        <p:nvSpPr>
          <p:cNvPr id="9" name="">
            <a:extLst xmlns:a="http://schemas.openxmlformats.org/drawingml/2006/main">
              <a:ext uri="{FF2B5EF4-FFF2-40B4-BE49-F238E27FC236}">
                <a16:creationId xmlns:a16="http://schemas.microsoft.com/office/drawing/2014/main" id="{1406B867-7DFB-4A65-A254-0F1F18E18DF3}"/>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10" name="text-9">
            <a:extLst xmlns:a="http://schemas.openxmlformats.org/drawingml/2006/main">
              <a:ext uri="{FF2B5EF4-FFF2-40B4-BE49-F238E27FC236}">
                <a16:creationId xmlns:a16="http://schemas.microsoft.com/office/drawing/2014/main" id="{8CCA4D53-8729-4B0E-A0A2-71C0D2482240}"/>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11" name="text-10">
            <a:extLst xmlns:a="http://schemas.openxmlformats.org/drawingml/2006/main">
              <a:ext uri="{FF2B5EF4-FFF2-40B4-BE49-F238E27FC236}">
                <a16:creationId xmlns:a16="http://schemas.microsoft.com/office/drawing/2014/main" id="{7ED66B43-39B3-48F7-ADA7-A651267D0466}"/>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52</a:t>
            </a:r>
          </a:p>
        </p:txBody>
      </p:sp>
    </p:spTree>
    <p:extLst>
      <p:ext uri="{BB962C8B-B14F-4D97-AF65-F5344CB8AC3E}">
        <p14:creationId xmlns:p14="http://schemas.microsoft.com/office/powerpoint/2010/main" val="195760886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A0C5401-5A02-4C1D-A825-6A8A768F1885}"/>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44C37E89-2AA6-498E-BC73-83518552E887}"/>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Figure 2.6 · The quantity response determines revenue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c88d4e7586b457f"/>
          <a:stretch xmlns:a="http://schemas.openxmlformats.org/drawingml/2006/main"/>
        </p:blipFill>
        <p:spPr>
          <a:xfrm xmlns:a="http://schemas.openxmlformats.org/drawingml/2006/main">
            <a:off x="2155034" y="1657350"/>
            <a:ext cx="7881932" cy="39433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3B206B2D-E5C4-409C-B6F5-EEC3989EAC56}"/>
              </a:ext>
            </a:extLst>
          </p:cNvPr>
          <p:cNvSpPr>
            <a:spLocks xmlns:a="http://schemas.openxmlformats.org/drawingml/2006/main" noGrp="1"/>
          </p:cNvSpPr>
          <p:nvPr/>
        </p:nvSpPr>
        <p:spPr>
          <a:xfrm xmlns:a="http://schemas.openxmlformats.org/drawingml/2006/main">
            <a:off x="685800" y="567690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i="0">
                <a:solidFill>
                  <a:srgbClr val="12455E"/>
                </a:solidFill>
                <a:latin typeface="Aptos"/>
                <a:ea typeface="Aptos"/>
                <a:cs typeface="Aptos"/>
              </a:defRPr>
            </a:pPr>
            <a:r>
              <a:rPr sz="1875" b="1" i="0">
                <a:solidFill>
                  <a:srgbClr val="12455E"/>
                </a:solidFill>
                <a:latin typeface="Aptos"/>
                <a:ea typeface="Aptos"/>
                <a:cs typeface="Aptos"/>
              </a:rPr>
              <a:t>The same price increase can raise or lower revenue, depending on responsiveness.</a:t>
            </a:r>
          </a:p>
        </p:txBody>
      </p:sp>
      <p:sp>
        <p:nvSpPr>
          <p:cNvPr id="5" name="">
            <a:extLst xmlns:a="http://schemas.openxmlformats.org/drawingml/2006/main">
              <a:ext uri="{FF2B5EF4-FFF2-40B4-BE49-F238E27FC236}">
                <a16:creationId xmlns:a16="http://schemas.microsoft.com/office/drawing/2014/main" id="{06D113A5-843C-48C7-AFB1-F4EB45BF425A}"/>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3C30989F-EB2D-4DE0-9622-EF26FAE7CD11}"/>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7" name="text-5">
            <a:extLst xmlns:a="http://schemas.openxmlformats.org/drawingml/2006/main">
              <a:ext uri="{FF2B5EF4-FFF2-40B4-BE49-F238E27FC236}">
                <a16:creationId xmlns:a16="http://schemas.microsoft.com/office/drawing/2014/main" id="{DDB05E1E-AF27-4175-B367-583C060740B1}"/>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53</a:t>
            </a:r>
          </a:p>
        </p:txBody>
      </p:sp>
    </p:spTree>
    <p:extLst>
      <p:ext uri="{BB962C8B-B14F-4D97-AF65-F5344CB8AC3E}">
        <p14:creationId xmlns:p14="http://schemas.microsoft.com/office/powerpoint/2010/main" val="355282753"/>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7B32BDC-02C6-41B3-9A75-D8D4DC166714}"/>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16520F2A-B127-4577-8705-320EBB8D1A0B}"/>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The total-revenue rule</a:t>
            </a:r>
          </a:p>
        </p:txBody>
      </p:sp>
      <p:graphicFrame>
        <p:nvGraphicFramePr>
          <p:cNvPr id="1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2857500"/>
                <a:gridCol w="3981450"/>
                <a:gridCol w="3981450"/>
              </a:tblGrid>
              <a:tr h="714375">
                <a:tc>
                  <a:txBody>
                    <a:bodyPr lIns="142875" tIns="95250" rIns="142875" bIns="95250">
                      <a:noAutofit/>
                    </a:bodyPr>
                    <a:lstStyle/>
                    <a:p>
                      <a:r>
                        <a:rPr sz="2100" b="1">
                          <a:solidFill>
                            <a:srgbClr val="FFFFFF"/>
                          </a:solidFill>
                          <a:latin typeface="Aptos"/>
                          <a:ea typeface="Aptos"/>
                          <a:cs typeface="Aptos"/>
                        </a:rPr>
                        <a:t>Demand</a:t>
                      </a:r>
                    </a:p>
                  </a:txBody>
                  <a:tcPr marL="91440" marR="91440" marT="45720" marB="45720" anchor="ctr">
                    <a:solidFill>
                      <a:srgbClr val="12455E"/>
                    </a:solidFill>
                  </a:tcPr>
                </a:tc>
                <a:tc>
                  <a:txBody>
                    <a:bodyPr lIns="142875" tIns="95250" rIns="142875" bIns="95250">
                      <a:noAutofit/>
                    </a:bodyPr>
                    <a:lstStyle/>
                    <a:p>
                      <a:r>
                        <a:rPr sz="2100" b="1">
                          <a:solidFill>
                            <a:srgbClr val="FFFFFF"/>
                          </a:solidFill>
                          <a:latin typeface="Aptos"/>
                          <a:ea typeface="Aptos"/>
                          <a:cs typeface="Aptos"/>
                        </a:rPr>
                        <a:t>Price increases</a:t>
                      </a:r>
                    </a:p>
                  </a:txBody>
                  <a:tcPr marL="91440" marR="91440" marT="45720" marB="45720" anchor="ctr">
                    <a:solidFill>
                      <a:srgbClr val="12455E"/>
                    </a:solidFill>
                  </a:tcPr>
                </a:tc>
                <a:tc>
                  <a:txBody>
                    <a:bodyPr lIns="142875" tIns="95250" rIns="142875" bIns="95250">
                      <a:noAutofit/>
                    </a:bodyPr>
                    <a:lstStyle/>
                    <a:p>
                      <a:r>
                        <a:rPr sz="2100" b="1">
                          <a:solidFill>
                            <a:srgbClr val="FFFFFF"/>
                          </a:solidFill>
                          <a:latin typeface="Aptos"/>
                          <a:ea typeface="Aptos"/>
                          <a:cs typeface="Aptos"/>
                        </a:rPr>
                        <a:t>Price decreases</a:t>
                      </a:r>
                    </a:p>
                  </a:txBody>
                  <a:tcPr marL="91440" marR="91440" marT="45720" marB="45720" anchor="ctr">
                    <a:solidFill>
                      <a:srgbClr val="12455E"/>
                    </a:solidFill>
                  </a:tcPr>
                </a:tc>
              </a:tr>
              <a:tr h="714375">
                <a:tc>
                  <a:txBody>
                    <a:bodyPr lIns="142875" tIns="95250" rIns="142875" bIns="95250">
                      <a:noAutofit/>
                    </a:bodyPr>
                    <a:lstStyle/>
                    <a:p>
                      <a:r>
                        <a:rPr sz="2100" b="0">
                          <a:solidFill>
                            <a:srgbClr val="1D2A33"/>
                          </a:solidFill>
                          <a:latin typeface="Aptos"/>
                          <a:ea typeface="Aptos"/>
                          <a:cs typeface="Aptos"/>
                        </a:rPr>
                        <a:t>Elastic</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Total revenue falls</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Total revenue rises</a:t>
                      </a:r>
                    </a:p>
                  </a:txBody>
                  <a:tcPr marL="91440" marR="91440" marT="45720" marB="45720" anchor="ctr">
                    <a:solidFill>
                      <a:srgbClr val="F0F5F7"/>
                    </a:solidFill>
                  </a:tcPr>
                </a:tc>
              </a:tr>
              <a:tr h="714375">
                <a:tc>
                  <a:txBody>
                    <a:bodyPr lIns="142875" tIns="95250" rIns="142875" bIns="95250">
                      <a:noAutofit/>
                    </a:bodyPr>
                    <a:lstStyle/>
                    <a:p>
                      <a:r>
                        <a:rPr sz="2100" b="0">
                          <a:solidFill>
                            <a:srgbClr val="1D2A33"/>
                          </a:solidFill>
                          <a:latin typeface="Aptos"/>
                          <a:ea typeface="Aptos"/>
                          <a:cs typeface="Aptos"/>
                        </a:rPr>
                        <a:t>Unit elastic</a:t>
                      </a:r>
                    </a:p>
                  </a:txBody>
                  <a:tcPr marL="91440" marR="91440" marT="45720" marB="45720" anchor="ctr">
                    <a:solidFill>
                      <a:srgbClr val="FFFFFF"/>
                    </a:solidFill>
                  </a:tcPr>
                </a:tc>
                <a:tc>
                  <a:txBody>
                    <a:bodyPr lIns="142875" tIns="95250" rIns="142875" bIns="95250">
                      <a:noAutofit/>
                    </a:bodyPr>
                    <a:lstStyle/>
                    <a:p>
                      <a:r>
                        <a:rPr sz="2100" b="0">
                          <a:solidFill>
                            <a:srgbClr val="1D2A33"/>
                          </a:solidFill>
                          <a:latin typeface="Aptos"/>
                          <a:ea typeface="Aptos"/>
                          <a:cs typeface="Aptos"/>
                        </a:rPr>
                        <a:t>Total revenue unchanged</a:t>
                      </a:r>
                    </a:p>
                  </a:txBody>
                  <a:tcPr marL="91440" marR="91440" marT="45720" marB="45720" anchor="ctr">
                    <a:solidFill>
                      <a:srgbClr val="FFFFFF"/>
                    </a:solidFill>
                  </a:tcPr>
                </a:tc>
                <a:tc>
                  <a:txBody>
                    <a:bodyPr lIns="142875" tIns="95250" rIns="142875" bIns="95250">
                      <a:noAutofit/>
                    </a:bodyPr>
                    <a:lstStyle/>
                    <a:p>
                      <a:r>
                        <a:rPr sz="2100" b="0">
                          <a:solidFill>
                            <a:srgbClr val="1D2A33"/>
                          </a:solidFill>
                          <a:latin typeface="Aptos"/>
                          <a:ea typeface="Aptos"/>
                          <a:cs typeface="Aptos"/>
                        </a:rPr>
                        <a:t>Total revenue unchanged</a:t>
                      </a:r>
                    </a:p>
                  </a:txBody>
                  <a:tcPr marL="91440" marR="91440" marT="45720" marB="45720" anchor="ctr">
                    <a:solidFill>
                      <a:srgbClr val="FFFFFF"/>
                    </a:solidFill>
                  </a:tcPr>
                </a:tc>
              </a:tr>
              <a:tr h="714375">
                <a:tc>
                  <a:txBody>
                    <a:bodyPr lIns="142875" tIns="95250" rIns="142875" bIns="95250">
                      <a:noAutofit/>
                    </a:bodyPr>
                    <a:lstStyle/>
                    <a:p>
                      <a:r>
                        <a:rPr sz="2100" b="0">
                          <a:solidFill>
                            <a:srgbClr val="1D2A33"/>
                          </a:solidFill>
                          <a:latin typeface="Aptos"/>
                          <a:ea typeface="Aptos"/>
                          <a:cs typeface="Aptos"/>
                        </a:rPr>
                        <a:t>Inelastic</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Total revenue rises</a:t>
                      </a:r>
                    </a:p>
                  </a:txBody>
                  <a:tcPr marL="91440" marR="91440" marT="45720" marB="45720" anchor="ctr">
                    <a:solidFill>
                      <a:srgbClr val="F0F5F7"/>
                    </a:solidFill>
                  </a:tcPr>
                </a:tc>
                <a:tc>
                  <a:txBody>
                    <a:bodyPr lIns="142875" tIns="95250" rIns="142875" bIns="95250">
                      <a:noAutofit/>
                    </a:bodyPr>
                    <a:lstStyle/>
                    <a:p>
                      <a:r>
                        <a:rPr sz="2100" b="0">
                          <a:solidFill>
                            <a:srgbClr val="1D2A33"/>
                          </a:solidFill>
                          <a:latin typeface="Aptos"/>
                          <a:ea typeface="Aptos"/>
                          <a:cs typeface="Aptos"/>
                        </a:rPr>
                        <a:t>Total revenue falls</a:t>
                      </a:r>
                    </a:p>
                  </a:txBody>
                  <a:tcPr marL="91440" marR="91440" marT="45720" marB="45720" anchor="ctr">
                    <a:solidFill>
                      <a:srgbClr val="F0F5F7"/>
                    </a:solidFill>
                  </a:tcPr>
                </a:tc>
              </a:tr>
            </a:tbl>
          </a:graphicData>
        </a:graphic>
      </p:graphicFrame>
      <p:sp>
        <p:nvSpPr>
          <p:cNvPr id="4" name="text-2">
            <a:extLst xmlns:a="http://schemas.openxmlformats.org/drawingml/2006/main">
              <a:ext uri="{FF2B5EF4-FFF2-40B4-BE49-F238E27FC236}">
                <a16:creationId xmlns:a16="http://schemas.microsoft.com/office/drawing/2014/main" id="{CBD4432C-EFC2-422F-9AAB-668993BD0790}"/>
              </a:ext>
            </a:extLst>
          </p:cNvPr>
          <p:cNvSpPr>
            <a:spLocks xmlns:a="http://schemas.openxmlformats.org/drawingml/2006/main" noGrp="1"/>
          </p:cNvSpPr>
          <p:nvPr/>
        </p:nvSpPr>
        <p:spPr>
          <a:xfrm xmlns:a="http://schemas.openxmlformats.org/drawingml/2006/main">
            <a:off x="723900" y="5000625"/>
            <a:ext cx="107442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2455E"/>
                </a:solidFill>
                <a:latin typeface="Aptos"/>
                <a:ea typeface="Aptos"/>
                <a:cs typeface="Aptos"/>
              </a:defRPr>
            </a:pPr>
            <a:r>
              <a:rPr sz="2250" b="0" i="0">
                <a:solidFill>
                  <a:srgbClr val="12455E"/>
                </a:solidFill>
                <a:latin typeface="Aptos"/>
                <a:ea typeface="Aptos"/>
                <a:cs typeface="Aptos"/>
              </a:rPr>
              <a:t>Revenue is not profit: costs, concessions, and future fans also matter.</a:t>
            </a:r>
          </a:p>
        </p:txBody>
      </p:sp>
      <p:sp>
        <p:nvSpPr>
          <p:cNvPr id="5" name="">
            <a:extLst xmlns:a="http://schemas.openxmlformats.org/drawingml/2006/main">
              <a:ext uri="{FF2B5EF4-FFF2-40B4-BE49-F238E27FC236}">
                <a16:creationId xmlns:a16="http://schemas.microsoft.com/office/drawing/2014/main" id="{C7DCAE48-3BD4-4857-9DE3-202B54AFD1BD}"/>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F1CD6985-F4DC-4A3F-9863-B05E4A400904}"/>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Elasticity: Measuring Responsiveness</a:t>
            </a:r>
          </a:p>
        </p:txBody>
      </p:sp>
      <p:sp>
        <p:nvSpPr>
          <p:cNvPr id="7" name="text-5">
            <a:extLst xmlns:a="http://schemas.openxmlformats.org/drawingml/2006/main">
              <a:ext uri="{FF2B5EF4-FFF2-40B4-BE49-F238E27FC236}">
                <a16:creationId xmlns:a16="http://schemas.microsoft.com/office/drawing/2014/main" id="{A489396F-61F5-4597-B003-B79DD4E8326D}"/>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54</a:t>
            </a:r>
          </a:p>
        </p:txBody>
      </p:sp>
    </p:spTree>
    <p:extLst>
      <p:ext uri="{BB962C8B-B14F-4D97-AF65-F5344CB8AC3E}">
        <p14:creationId xmlns:p14="http://schemas.microsoft.com/office/powerpoint/2010/main" val="110027014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63663A4-CCAB-4963-B73E-FB68A5ACA5E9}"/>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CORE CONCEPT</a:t>
            </a:r>
          </a:p>
        </p:txBody>
      </p:sp>
      <p:sp>
        <p:nvSpPr>
          <p:cNvPr id="2" name="text-1">
            <a:extLst xmlns:a="http://schemas.openxmlformats.org/drawingml/2006/main">
              <a:ext uri="{FF2B5EF4-FFF2-40B4-BE49-F238E27FC236}">
                <a16:creationId xmlns:a16="http://schemas.microsoft.com/office/drawing/2014/main" id="{D9E355AE-3A0B-4F1C-A0B4-06AC28D60FA9}"/>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Price elasticity of supply</a:t>
            </a:r>
          </a:p>
        </p:txBody>
      </p:sp>
      <p:sp>
        <p:nvSpPr>
          <p:cNvPr id="3" name="text-2">
            <a:extLst xmlns:a="http://schemas.openxmlformats.org/drawingml/2006/main">
              <a:ext uri="{FF2B5EF4-FFF2-40B4-BE49-F238E27FC236}">
                <a16:creationId xmlns:a16="http://schemas.microsoft.com/office/drawing/2014/main" id="{9B37763C-F23B-4B94-A799-7FCB449D8C9B}"/>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How strongly does quantity supplied respond to the product’s own price?</a:t>
            </a:r>
          </a:p>
        </p:txBody>
      </p:sp>
      <p:sp>
        <p:nvSpPr>
          <p:cNvPr id="4" name="text-3">
            <a:extLst xmlns:a="http://schemas.openxmlformats.org/drawingml/2006/main">
              <a:ext uri="{FF2B5EF4-FFF2-40B4-BE49-F238E27FC236}">
                <a16:creationId xmlns:a16="http://schemas.microsoft.com/office/drawing/2014/main" id="{22F43134-777F-4471-98F0-C0D3E9930165}"/>
              </a:ext>
            </a:extLst>
          </p:cNvPr>
          <p:cNvSpPr>
            <a:spLocks xmlns:a="http://schemas.openxmlformats.org/drawingml/2006/main" noGrp="1"/>
          </p:cNvSpPr>
          <p:nvPr/>
        </p:nvSpPr>
        <p:spPr>
          <a:xfrm xmlns:a="http://schemas.openxmlformats.org/drawingml/2006/main">
            <a:off x="723900" y="2724150"/>
            <a:ext cx="32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ε</a:t>
            </a:r>
          </a:p>
        </p:txBody>
      </p:sp>
      <p:sp>
        <p:nvSpPr>
          <p:cNvPr id="5" name="text-4">
            <a:extLst xmlns:a="http://schemas.openxmlformats.org/drawingml/2006/main">
              <a:ext uri="{FF2B5EF4-FFF2-40B4-BE49-F238E27FC236}">
                <a16:creationId xmlns:a16="http://schemas.microsoft.com/office/drawing/2014/main" id="{D6EA8734-8C7A-48DF-8289-DDFA60B0E6D3}"/>
              </a:ext>
            </a:extLst>
          </p:cNvPr>
          <p:cNvSpPr>
            <a:spLocks xmlns:a="http://schemas.openxmlformats.org/drawingml/2006/main" noGrp="1"/>
          </p:cNvSpPr>
          <p:nvPr/>
        </p:nvSpPr>
        <p:spPr>
          <a:xfrm xmlns:a="http://schemas.openxmlformats.org/drawingml/2006/main">
            <a:off x="914400" y="28765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88" b="0" i="0">
                <a:solidFill>
                  <a:srgbClr val="12455E"/>
                </a:solidFill>
                <a:latin typeface="Aptos"/>
                <a:ea typeface="Aptos"/>
                <a:cs typeface="Aptos"/>
              </a:defRPr>
            </a:pPr>
            <a:r>
              <a:rPr sz="1488" b="0" i="0">
                <a:solidFill>
                  <a:srgbClr val="12455E"/>
                </a:solidFill>
                <a:latin typeface="Aptos"/>
                <a:ea typeface="Aptos"/>
                <a:cs typeface="Aptos"/>
              </a:rPr>
              <a:t>s</a:t>
            </a:r>
          </a:p>
        </p:txBody>
      </p:sp>
      <p:sp>
        <p:nvSpPr>
          <p:cNvPr id="6" name="text-5">
            <a:extLst xmlns:a="http://schemas.openxmlformats.org/drawingml/2006/main">
              <a:ext uri="{FF2B5EF4-FFF2-40B4-BE49-F238E27FC236}">
                <a16:creationId xmlns:a16="http://schemas.microsoft.com/office/drawing/2014/main" id="{EA6E1B77-8761-4AAB-8B05-832C1D37C5C5}"/>
              </a:ext>
            </a:extLst>
          </p:cNvPr>
          <p:cNvSpPr>
            <a:spLocks xmlns:a="http://schemas.openxmlformats.org/drawingml/2006/main" noGrp="1"/>
          </p:cNvSpPr>
          <p:nvPr/>
        </p:nvSpPr>
        <p:spPr>
          <a:xfrm xmlns:a="http://schemas.openxmlformats.org/drawingml/2006/main">
            <a:off x="1114425" y="27241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 = % change in quantity supplied / % change in price</a:t>
            </a:r>
          </a:p>
        </p:txBody>
      </p:sp>
      <p:sp>
        <p:nvSpPr>
          <p:cNvPr id="7" name="text-6">
            <a:extLst xmlns:a="http://schemas.openxmlformats.org/drawingml/2006/main">
              <a:ext uri="{FF2B5EF4-FFF2-40B4-BE49-F238E27FC236}">
                <a16:creationId xmlns:a16="http://schemas.microsoft.com/office/drawing/2014/main" id="{EB1AE7F4-D1C8-41C3-AF52-236A6F91F466}"/>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Generally nonnegative. More flexibility and time can mean a larger response.</a:t>
            </a:r>
          </a:p>
        </p:txBody>
      </p:sp>
      <p:sp>
        <p:nvSpPr>
          <p:cNvPr id="8" name="">
            <a:extLst xmlns:a="http://schemas.openxmlformats.org/drawingml/2006/main">
              <a:ext uri="{FF2B5EF4-FFF2-40B4-BE49-F238E27FC236}">
                <a16:creationId xmlns:a16="http://schemas.microsoft.com/office/drawing/2014/main" id="{F3A390B5-1D00-4C76-B3C6-680CF321C176}"/>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9263DDC4-AA04-483F-AAC3-5EA9ED3C304F}"/>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Other Elasticities</a:t>
            </a:r>
          </a:p>
        </p:txBody>
      </p:sp>
      <p:sp>
        <p:nvSpPr>
          <p:cNvPr id="10" name="text-9">
            <a:extLst xmlns:a="http://schemas.openxmlformats.org/drawingml/2006/main">
              <a:ext uri="{FF2B5EF4-FFF2-40B4-BE49-F238E27FC236}">
                <a16:creationId xmlns:a16="http://schemas.microsoft.com/office/drawing/2014/main" id="{67254073-FC79-46B8-A8B3-D9DB946CEEA5}"/>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55</a:t>
            </a:r>
          </a:p>
        </p:txBody>
      </p:sp>
    </p:spTree>
    <p:extLst>
      <p:ext uri="{BB962C8B-B14F-4D97-AF65-F5344CB8AC3E}">
        <p14:creationId xmlns:p14="http://schemas.microsoft.com/office/powerpoint/2010/main" val="168288880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A37A5641-44E5-49F0-8945-FDA79319C3B4}"/>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CORE CONCEPT</a:t>
            </a:r>
          </a:p>
        </p:txBody>
      </p:sp>
      <p:sp>
        <p:nvSpPr>
          <p:cNvPr id="2" name="text-1">
            <a:extLst xmlns:a="http://schemas.openxmlformats.org/drawingml/2006/main">
              <a:ext uri="{FF2B5EF4-FFF2-40B4-BE49-F238E27FC236}">
                <a16:creationId xmlns:a16="http://schemas.microsoft.com/office/drawing/2014/main" id="{18205AB1-B448-4439-AB1A-CB7B856D1E1C}"/>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Income elasticity of demand</a:t>
            </a:r>
          </a:p>
        </p:txBody>
      </p:sp>
      <p:sp>
        <p:nvSpPr>
          <p:cNvPr id="3" name="text-2">
            <a:extLst xmlns:a="http://schemas.openxmlformats.org/drawingml/2006/main">
              <a:ext uri="{FF2B5EF4-FFF2-40B4-BE49-F238E27FC236}">
                <a16:creationId xmlns:a16="http://schemas.microsoft.com/office/drawing/2014/main" id="{03324238-E3EC-4EB2-B65F-651944AD9E4F}"/>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Hold other demand determinants fixed and change income.</a:t>
            </a:r>
          </a:p>
        </p:txBody>
      </p:sp>
      <p:sp>
        <p:nvSpPr>
          <p:cNvPr id="4" name="text-3">
            <a:extLst xmlns:a="http://schemas.openxmlformats.org/drawingml/2006/main">
              <a:ext uri="{FF2B5EF4-FFF2-40B4-BE49-F238E27FC236}">
                <a16:creationId xmlns:a16="http://schemas.microsoft.com/office/drawing/2014/main" id="{28CF63D1-944A-4436-8157-72C0DA311A99}"/>
              </a:ext>
            </a:extLst>
          </p:cNvPr>
          <p:cNvSpPr>
            <a:spLocks xmlns:a="http://schemas.openxmlformats.org/drawingml/2006/main" noGrp="1"/>
          </p:cNvSpPr>
          <p:nvPr/>
        </p:nvSpPr>
        <p:spPr>
          <a:xfrm xmlns:a="http://schemas.openxmlformats.org/drawingml/2006/main">
            <a:off x="723900" y="2724150"/>
            <a:ext cx="32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ε</a:t>
            </a:r>
          </a:p>
        </p:txBody>
      </p:sp>
      <p:sp>
        <p:nvSpPr>
          <p:cNvPr id="5" name="text-4">
            <a:extLst xmlns:a="http://schemas.openxmlformats.org/drawingml/2006/main">
              <a:ext uri="{FF2B5EF4-FFF2-40B4-BE49-F238E27FC236}">
                <a16:creationId xmlns:a16="http://schemas.microsoft.com/office/drawing/2014/main" id="{04AB20D1-C3FA-48F4-A8B7-E7E734B6ABEB}"/>
              </a:ext>
            </a:extLst>
          </p:cNvPr>
          <p:cNvSpPr>
            <a:spLocks xmlns:a="http://schemas.openxmlformats.org/drawingml/2006/main" noGrp="1"/>
          </p:cNvSpPr>
          <p:nvPr/>
        </p:nvSpPr>
        <p:spPr>
          <a:xfrm xmlns:a="http://schemas.openxmlformats.org/drawingml/2006/main">
            <a:off x="914400" y="28765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88" b="0" i="0">
                <a:solidFill>
                  <a:srgbClr val="12455E"/>
                </a:solidFill>
                <a:latin typeface="Aptos"/>
                <a:ea typeface="Aptos"/>
                <a:cs typeface="Aptos"/>
              </a:defRPr>
            </a:pPr>
            <a:r>
              <a:rPr sz="1488" b="0" i="0">
                <a:solidFill>
                  <a:srgbClr val="12455E"/>
                </a:solidFill>
                <a:latin typeface="Aptos"/>
                <a:ea typeface="Aptos"/>
                <a:cs typeface="Aptos"/>
              </a:rPr>
              <a:t>I</a:t>
            </a:r>
          </a:p>
        </p:txBody>
      </p:sp>
      <p:sp>
        <p:nvSpPr>
          <p:cNvPr id="6" name="text-5">
            <a:extLst xmlns:a="http://schemas.openxmlformats.org/drawingml/2006/main">
              <a:ext uri="{FF2B5EF4-FFF2-40B4-BE49-F238E27FC236}">
                <a16:creationId xmlns:a16="http://schemas.microsoft.com/office/drawing/2014/main" id="{46ECE0A3-75E7-4B2C-A13E-A9EBAE9D749F}"/>
              </a:ext>
            </a:extLst>
          </p:cNvPr>
          <p:cNvSpPr>
            <a:spLocks xmlns:a="http://schemas.openxmlformats.org/drawingml/2006/main" noGrp="1"/>
          </p:cNvSpPr>
          <p:nvPr/>
        </p:nvSpPr>
        <p:spPr>
          <a:xfrm xmlns:a="http://schemas.openxmlformats.org/drawingml/2006/main">
            <a:off x="1114425" y="27241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 = % change in quantity demanded / % change in income</a:t>
            </a:r>
          </a:p>
        </p:txBody>
      </p:sp>
      <p:sp>
        <p:nvSpPr>
          <p:cNvPr id="7" name="text-6">
            <a:extLst xmlns:a="http://schemas.openxmlformats.org/drawingml/2006/main">
              <a:ext uri="{FF2B5EF4-FFF2-40B4-BE49-F238E27FC236}">
                <a16:creationId xmlns:a16="http://schemas.microsoft.com/office/drawing/2014/main" id="{EE17D3E5-2FF1-4C18-A022-EB35C22CD3B3}"/>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Positive: normal good. Negative: inferior good.</a:t>
            </a:r>
          </a:p>
        </p:txBody>
      </p:sp>
      <p:sp>
        <p:nvSpPr>
          <p:cNvPr id="8" name="">
            <a:extLst xmlns:a="http://schemas.openxmlformats.org/drawingml/2006/main">
              <a:ext uri="{FF2B5EF4-FFF2-40B4-BE49-F238E27FC236}">
                <a16:creationId xmlns:a16="http://schemas.microsoft.com/office/drawing/2014/main" id="{34325428-69B8-40F1-B4A6-45A55E89E983}"/>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41F9196E-1556-46F0-A948-12F31CFD0579}"/>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Other Elasticities</a:t>
            </a:r>
          </a:p>
        </p:txBody>
      </p:sp>
      <p:sp>
        <p:nvSpPr>
          <p:cNvPr id="10" name="text-9">
            <a:extLst xmlns:a="http://schemas.openxmlformats.org/drawingml/2006/main">
              <a:ext uri="{FF2B5EF4-FFF2-40B4-BE49-F238E27FC236}">
                <a16:creationId xmlns:a16="http://schemas.microsoft.com/office/drawing/2014/main" id="{A0675846-D1E3-4262-89FA-5063111127ED}"/>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56</a:t>
            </a:r>
          </a:p>
        </p:txBody>
      </p:sp>
    </p:spTree>
    <p:extLst>
      <p:ext uri="{BB962C8B-B14F-4D97-AF65-F5344CB8AC3E}">
        <p14:creationId xmlns:p14="http://schemas.microsoft.com/office/powerpoint/2010/main" val="1437692384"/>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81FC6A5-1721-4CEB-B27E-E723E4A32BDB}"/>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CORE CONCEPT</a:t>
            </a:r>
          </a:p>
        </p:txBody>
      </p:sp>
      <p:sp>
        <p:nvSpPr>
          <p:cNvPr id="2" name="text-1">
            <a:extLst xmlns:a="http://schemas.openxmlformats.org/drawingml/2006/main">
              <a:ext uri="{FF2B5EF4-FFF2-40B4-BE49-F238E27FC236}">
                <a16:creationId xmlns:a16="http://schemas.microsoft.com/office/drawing/2014/main" id="{A0FB1498-9F01-43E6-A478-FB2A798287D5}"/>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Cross-price elasticity of demand</a:t>
            </a:r>
          </a:p>
        </p:txBody>
      </p:sp>
      <p:sp>
        <p:nvSpPr>
          <p:cNvPr id="3" name="text-2">
            <a:extLst xmlns:a="http://schemas.openxmlformats.org/drawingml/2006/main">
              <a:ext uri="{FF2B5EF4-FFF2-40B4-BE49-F238E27FC236}">
                <a16:creationId xmlns:a16="http://schemas.microsoft.com/office/drawing/2014/main" id="{7C8F648A-E115-47B1-BA44-27241FD62E74}"/>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How does demand for product x respond to a change in the price of product y?</a:t>
            </a:r>
          </a:p>
        </p:txBody>
      </p:sp>
      <p:sp>
        <p:nvSpPr>
          <p:cNvPr id="4" name="text-3">
            <a:extLst xmlns:a="http://schemas.openxmlformats.org/drawingml/2006/main">
              <a:ext uri="{FF2B5EF4-FFF2-40B4-BE49-F238E27FC236}">
                <a16:creationId xmlns:a16="http://schemas.microsoft.com/office/drawing/2014/main" id="{721E71AC-1697-4327-98D7-87787D1D5FEE}"/>
              </a:ext>
            </a:extLst>
          </p:cNvPr>
          <p:cNvSpPr>
            <a:spLocks xmlns:a="http://schemas.openxmlformats.org/drawingml/2006/main" noGrp="1"/>
          </p:cNvSpPr>
          <p:nvPr/>
        </p:nvSpPr>
        <p:spPr>
          <a:xfrm xmlns:a="http://schemas.openxmlformats.org/drawingml/2006/main">
            <a:off x="723900" y="2724150"/>
            <a:ext cx="32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2455E"/>
                </a:solidFill>
                <a:latin typeface="Aptos"/>
                <a:ea typeface="Aptos"/>
                <a:cs typeface="Aptos"/>
              </a:defRPr>
            </a:pPr>
            <a:r>
              <a:rPr sz="2250" b="0" i="0">
                <a:solidFill>
                  <a:srgbClr val="12455E"/>
                </a:solidFill>
                <a:latin typeface="Aptos"/>
                <a:ea typeface="Aptos"/>
                <a:cs typeface="Aptos"/>
              </a:rPr>
              <a:t>ε</a:t>
            </a:r>
          </a:p>
        </p:txBody>
      </p:sp>
      <p:sp>
        <p:nvSpPr>
          <p:cNvPr id="5" name="text-4">
            <a:extLst xmlns:a="http://schemas.openxmlformats.org/drawingml/2006/main">
              <a:ext uri="{FF2B5EF4-FFF2-40B4-BE49-F238E27FC236}">
                <a16:creationId xmlns:a16="http://schemas.microsoft.com/office/drawing/2014/main" id="{B15F25CB-6F98-4739-936B-340A97DEA87A}"/>
              </a:ext>
            </a:extLst>
          </p:cNvPr>
          <p:cNvSpPr>
            <a:spLocks xmlns:a="http://schemas.openxmlformats.org/drawingml/2006/main" noGrp="1"/>
          </p:cNvSpPr>
          <p:nvPr/>
        </p:nvSpPr>
        <p:spPr>
          <a:xfrm xmlns:a="http://schemas.openxmlformats.org/drawingml/2006/main">
            <a:off x="914400" y="2867025"/>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95" b="0" i="0">
                <a:solidFill>
                  <a:srgbClr val="12455E"/>
                </a:solidFill>
                <a:latin typeface="Aptos"/>
                <a:ea typeface="Aptos"/>
                <a:cs typeface="Aptos"/>
              </a:defRPr>
            </a:pPr>
            <a:r>
              <a:rPr sz="1395" b="0" i="0">
                <a:solidFill>
                  <a:srgbClr val="12455E"/>
                </a:solidFill>
                <a:latin typeface="Aptos"/>
                <a:ea typeface="Aptos"/>
                <a:cs typeface="Aptos"/>
              </a:rPr>
              <a:t>xy</a:t>
            </a:r>
          </a:p>
        </p:txBody>
      </p:sp>
      <p:sp>
        <p:nvSpPr>
          <p:cNvPr id="6" name="text-5">
            <a:extLst xmlns:a="http://schemas.openxmlformats.org/drawingml/2006/main">
              <a:ext uri="{FF2B5EF4-FFF2-40B4-BE49-F238E27FC236}">
                <a16:creationId xmlns:a16="http://schemas.microsoft.com/office/drawing/2014/main" id="{59113626-3C30-40B4-904B-0D3E8B6FA974}"/>
              </a:ext>
            </a:extLst>
          </p:cNvPr>
          <p:cNvSpPr>
            <a:spLocks xmlns:a="http://schemas.openxmlformats.org/drawingml/2006/main" noGrp="1"/>
          </p:cNvSpPr>
          <p:nvPr/>
        </p:nvSpPr>
        <p:spPr>
          <a:xfrm xmlns:a="http://schemas.openxmlformats.org/drawingml/2006/main">
            <a:off x="1276350" y="27241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2455E"/>
                </a:solidFill>
                <a:latin typeface="Aptos"/>
                <a:ea typeface="Aptos"/>
                <a:cs typeface="Aptos"/>
              </a:defRPr>
            </a:pPr>
            <a:r>
              <a:rPr sz="2250" b="0" i="0">
                <a:solidFill>
                  <a:srgbClr val="12455E"/>
                </a:solidFill>
                <a:latin typeface="Aptos"/>
                <a:ea typeface="Aptos"/>
                <a:cs typeface="Aptos"/>
              </a:rPr>
              <a:t> = % change in quantity demanded of x / % change in price of y</a:t>
            </a:r>
          </a:p>
        </p:txBody>
      </p:sp>
      <p:sp>
        <p:nvSpPr>
          <p:cNvPr id="7" name="text-6">
            <a:extLst xmlns:a="http://schemas.openxmlformats.org/drawingml/2006/main">
              <a:ext uri="{FF2B5EF4-FFF2-40B4-BE49-F238E27FC236}">
                <a16:creationId xmlns:a16="http://schemas.microsoft.com/office/drawing/2014/main" id="{70D2440A-3DF2-4AB1-8C4B-58BCD0AF72AC}"/>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Positive: substitutes. Negative: complements.</a:t>
            </a:r>
          </a:p>
        </p:txBody>
      </p:sp>
      <p:sp>
        <p:nvSpPr>
          <p:cNvPr id="8" name="">
            <a:extLst xmlns:a="http://schemas.openxmlformats.org/drawingml/2006/main">
              <a:ext uri="{FF2B5EF4-FFF2-40B4-BE49-F238E27FC236}">
                <a16:creationId xmlns:a16="http://schemas.microsoft.com/office/drawing/2014/main" id="{0C6C6193-414F-40E3-8600-CC399F07B4B4}"/>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53AAA3B5-9E0B-4C29-A991-6BF053269878}"/>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Other Elasticities</a:t>
            </a:r>
          </a:p>
        </p:txBody>
      </p:sp>
      <p:sp>
        <p:nvSpPr>
          <p:cNvPr id="10" name="text-9">
            <a:extLst xmlns:a="http://schemas.openxmlformats.org/drawingml/2006/main">
              <a:ext uri="{FF2B5EF4-FFF2-40B4-BE49-F238E27FC236}">
                <a16:creationId xmlns:a16="http://schemas.microsoft.com/office/drawing/2014/main" id="{DC69FEB2-2F88-4453-B38D-5C9A1BC452F8}"/>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57</a:t>
            </a:r>
          </a:p>
        </p:txBody>
      </p:sp>
    </p:spTree>
    <p:extLst>
      <p:ext uri="{BB962C8B-B14F-4D97-AF65-F5344CB8AC3E}">
        <p14:creationId xmlns:p14="http://schemas.microsoft.com/office/powerpoint/2010/main" val="173390327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6AB85A5-16CD-4A2D-94BB-ABD97DE81E16}"/>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97A599CA-2FEC-4CE6-8571-4DC5F8AA8D62}"/>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Table 2.3 · Own-price demand and supply</a:t>
            </a:r>
          </a:p>
        </p:txBody>
      </p:sp>
      <p:graphicFrame>
        <p:nvGraphicFramePr>
          <p:cNvPr id="10" name=""/>
          <p:cNvGraphicFramePr/>
          <p:nvPr/>
        </p:nvGraphicFramePr>
        <p:xfrm>
          <a:off xmlns:a="http://schemas.openxmlformats.org/drawingml/2006/main" x="685800" y="1809750"/>
          <a:ext xmlns:a="http://schemas.openxmlformats.org/drawingml/2006/main" cx="10820400" cy="3048000"/>
        </p:xfrm>
        <a:graphic xmlns:a="http://schemas.openxmlformats.org/drawingml/2006/main">
          <a:graphicData uri="http://schemas.openxmlformats.org/drawingml/2006/table">
            <a:tbl>
              <a:tblPr/>
              <a:tblGrid>
                <a:gridCol w="2686050"/>
                <a:gridCol w="3190875"/>
                <a:gridCol w="4943475"/>
              </a:tblGrid>
              <a:tr h="1016000">
                <a:tc>
                  <a:txBody>
                    <a:bodyPr lIns="142875" tIns="95250" rIns="142875" bIns="95250">
                      <a:noAutofit/>
                    </a:bodyPr>
                    <a:lstStyle/>
                    <a:p>
                      <a:r>
                        <a:rPr sz="1950" b="1">
                          <a:solidFill>
                            <a:srgbClr val="FFFFFF"/>
                          </a:solidFill>
                          <a:latin typeface="Aptos"/>
                          <a:ea typeface="Aptos"/>
                          <a:cs typeface="Aptos"/>
                        </a:rPr>
                        <a:t>Measure</a:t>
                      </a:r>
                    </a:p>
                  </a:txBody>
                  <a:tcPr marL="91440" marR="91440" marT="45720" marB="45720" anchor="ctr">
                    <a:solidFill>
                      <a:srgbClr val="12455E"/>
                    </a:solidFill>
                  </a:tcPr>
                </a:tc>
                <a:tc>
                  <a:txBody>
                    <a:bodyPr lIns="142875" tIns="95250" rIns="142875" bIns="95250">
                      <a:noAutofit/>
                    </a:bodyPr>
                    <a:lstStyle/>
                    <a:p>
                      <a:r>
                        <a:rPr sz="1950" b="1">
                          <a:solidFill>
                            <a:srgbClr val="FFFFFF"/>
                          </a:solidFill>
                          <a:latin typeface="Aptos"/>
                          <a:ea typeface="Aptos"/>
                          <a:cs typeface="Aptos"/>
                        </a:rPr>
                        <a:t>Percentage-change ratio</a:t>
                      </a:r>
                    </a:p>
                  </a:txBody>
                  <a:tcPr marL="91440" marR="91440" marT="45720" marB="45720" anchor="ctr">
                    <a:solidFill>
                      <a:srgbClr val="12455E"/>
                    </a:solidFill>
                  </a:tcPr>
                </a:tc>
                <a:tc>
                  <a:txBody>
                    <a:bodyPr lIns="142875" tIns="95250" rIns="142875" bIns="95250">
                      <a:noAutofit/>
                    </a:bodyPr>
                    <a:lstStyle/>
                    <a:p>
                      <a:r>
                        <a:rPr sz="1950" b="1">
                          <a:solidFill>
                            <a:srgbClr val="FFFFFF"/>
                          </a:solidFill>
                          <a:latin typeface="Aptos"/>
                          <a:ea typeface="Aptos"/>
                          <a:cs typeface="Aptos"/>
                        </a:rPr>
                        <a:t>Interpretation / sports application</a:t>
                      </a:r>
                    </a:p>
                  </a:txBody>
                  <a:tcPr marL="91440" marR="91440" marT="45720" marB="45720" anchor="ctr">
                    <a:solidFill>
                      <a:srgbClr val="12455E"/>
                    </a:solidFill>
                  </a:tcPr>
                </a:tc>
              </a:tr>
              <a:tr h="1016000">
                <a:tc>
                  <a:txBody>
                    <a:bodyPr lIns="142875" tIns="95250" rIns="142875" bIns="95250">
                      <a:noAutofit/>
                    </a:bodyPr>
                    <a:lstStyle/>
                    <a:p>
                      <a:r>
                        <a:rPr sz="1950" b="0">
                          <a:solidFill>
                            <a:srgbClr val="1D2A33"/>
                          </a:solidFill>
                          <a:latin typeface="Aptos"/>
                          <a:ea typeface="Aptos"/>
                          <a:cs typeface="Aptos"/>
                        </a:rPr>
                        <a:t>Own-price demand</a:t>
                      </a:r>
                    </a:p>
                  </a:txBody>
                  <a:tcPr marL="91440" marR="91440" marT="45720" marB="45720" anchor="ctr">
                    <a:solidFill>
                      <a:srgbClr val="F0F5F7"/>
                    </a:solidFill>
                  </a:tcPr>
                </a:tc>
                <a:tc>
                  <a:txBody>
                    <a:bodyPr lIns="142875" tIns="95250" rIns="142875" bIns="95250">
                      <a:noAutofit/>
                    </a:bodyPr>
                    <a:lstStyle/>
                    <a:p>
                      <a:r>
                        <a:rPr sz="1950" b="0">
                          <a:solidFill>
                            <a:srgbClr val="1D2A33"/>
                          </a:solidFill>
                          <a:latin typeface="Aptos"/>
                          <a:ea typeface="Aptos"/>
                          <a:cs typeface="Aptos"/>
                        </a:rPr>
                        <a:t>Quantity demanded ÷ own price</a:t>
                      </a:r>
                    </a:p>
                  </a:txBody>
                  <a:tcPr marL="91440" marR="91440" marT="45720" marB="45720" anchor="ctr">
                    <a:solidFill>
                      <a:srgbClr val="F0F5F7"/>
                    </a:solidFill>
                  </a:tcPr>
                </a:tc>
                <a:tc>
                  <a:txBody>
                    <a:bodyPr lIns="142875" tIns="95250" rIns="142875" bIns="95250">
                      <a:noAutofit/>
                    </a:bodyPr>
                    <a:lstStyle/>
                    <a:p>
                      <a:r>
                        <a:rPr sz="1950" b="0">
                          <a:solidFill>
                            <a:srgbClr val="1D2A33"/>
                          </a:solidFill>
                          <a:latin typeface="Aptos"/>
                          <a:ea typeface="Aptos"/>
                          <a:cs typeface="Aptos"/>
                        </a:rPr>
                        <a:t>Usually negative; classify magnitude. Ticket purchases respond to ticket price.</a:t>
                      </a:r>
                    </a:p>
                  </a:txBody>
                  <a:tcPr marL="91440" marR="91440" marT="45720" marB="45720" anchor="ctr">
                    <a:solidFill>
                      <a:srgbClr val="F0F5F7"/>
                    </a:solidFill>
                  </a:tcPr>
                </a:tc>
              </a:tr>
              <a:tr h="1016000">
                <a:tc>
                  <a:txBody>
                    <a:bodyPr lIns="142875" tIns="95250" rIns="142875" bIns="95250">
                      <a:noAutofit/>
                    </a:bodyPr>
                    <a:lstStyle/>
                    <a:p>
                      <a:r>
                        <a:rPr sz="1950" b="0">
                          <a:solidFill>
                            <a:srgbClr val="1D2A33"/>
                          </a:solidFill>
                          <a:latin typeface="Aptos"/>
                          <a:ea typeface="Aptos"/>
                          <a:cs typeface="Aptos"/>
                        </a:rPr>
                        <a:t>Price elasticity of supply</a:t>
                      </a:r>
                    </a:p>
                  </a:txBody>
                  <a:tcPr marL="91440" marR="91440" marT="45720" marB="45720" anchor="ctr">
                    <a:solidFill>
                      <a:srgbClr val="FFFFFF"/>
                    </a:solidFill>
                  </a:tcPr>
                </a:tc>
                <a:tc>
                  <a:txBody>
                    <a:bodyPr lIns="142875" tIns="95250" rIns="142875" bIns="95250">
                      <a:noAutofit/>
                    </a:bodyPr>
                    <a:lstStyle/>
                    <a:p>
                      <a:r>
                        <a:rPr sz="1950" b="0">
                          <a:solidFill>
                            <a:srgbClr val="1D2A33"/>
                          </a:solidFill>
                          <a:latin typeface="Aptos"/>
                          <a:ea typeface="Aptos"/>
                          <a:cs typeface="Aptos"/>
                        </a:rPr>
                        <a:t>Quantity supplied ÷ own price</a:t>
                      </a:r>
                    </a:p>
                  </a:txBody>
                  <a:tcPr marL="91440" marR="91440" marT="45720" marB="45720" anchor="ctr">
                    <a:solidFill>
                      <a:srgbClr val="FFFFFF"/>
                    </a:solidFill>
                  </a:tcPr>
                </a:tc>
                <a:tc>
                  <a:txBody>
                    <a:bodyPr lIns="142875" tIns="95250" rIns="142875" bIns="95250">
                      <a:noAutofit/>
                    </a:bodyPr>
                    <a:lstStyle/>
                    <a:p>
                      <a:r>
                        <a:rPr sz="1950" b="0">
                          <a:solidFill>
                            <a:srgbClr val="1D2A33"/>
                          </a:solidFill>
                          <a:latin typeface="Aptos"/>
                          <a:ea typeface="Aptos"/>
                          <a:cs typeface="Aptos"/>
                        </a:rPr>
                        <a:t>Generally nonnegative. Merchandise can adjust; fixed admissions cannot.</a:t>
                      </a:r>
                    </a:p>
                  </a:txBody>
                  <a:tcPr marL="91440" marR="91440" marT="45720" marB="4572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54604335-76C1-4586-946A-CE5EE72F7007}"/>
              </a:ext>
            </a:extLst>
          </p:cNvPr>
          <p:cNvSpPr>
            <a:spLocks xmlns:a="http://schemas.openxmlformats.org/drawingml/2006/main" noGrp="1"/>
          </p:cNvSpPr>
          <p:nvPr/>
        </p:nvSpPr>
        <p:spPr>
          <a:xfrm xmlns:a="http://schemas.openxmlformats.org/drawingml/2006/main">
            <a:off x="723900" y="5000625"/>
            <a:ext cx="107442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2455E"/>
                </a:solidFill>
                <a:latin typeface="Aptos"/>
                <a:ea typeface="Aptos"/>
                <a:cs typeface="Aptos"/>
              </a:defRPr>
            </a:pPr>
            <a:r>
              <a:rPr sz="2250" b="0" i="0">
                <a:solidFill>
                  <a:srgbClr val="12455E"/>
                </a:solidFill>
                <a:latin typeface="Aptos"/>
                <a:ea typeface="Aptos"/>
                <a:cs typeface="Aptos"/>
              </a:rPr>
              <a:t>Both compare percentage changes—not raw levels. Define the market and hold other factors fixed.</a:t>
            </a:r>
          </a:p>
        </p:txBody>
      </p:sp>
      <p:sp>
        <p:nvSpPr>
          <p:cNvPr id="5" name="">
            <a:extLst xmlns:a="http://schemas.openxmlformats.org/drawingml/2006/main">
              <a:ext uri="{FF2B5EF4-FFF2-40B4-BE49-F238E27FC236}">
                <a16:creationId xmlns:a16="http://schemas.microsoft.com/office/drawing/2014/main" id="{8DD3F4BF-6DC8-45F5-8BEF-80349D3D5E90}"/>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48CBFD0E-D6E3-4869-89CF-9696CD7A03E3}"/>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Other Elasticities</a:t>
            </a:r>
          </a:p>
        </p:txBody>
      </p:sp>
      <p:sp>
        <p:nvSpPr>
          <p:cNvPr id="7" name="text-5">
            <a:extLst xmlns:a="http://schemas.openxmlformats.org/drawingml/2006/main">
              <a:ext uri="{FF2B5EF4-FFF2-40B4-BE49-F238E27FC236}">
                <a16:creationId xmlns:a16="http://schemas.microsoft.com/office/drawing/2014/main" id="{9F9966D0-8E72-4C08-91DD-C9D5993E231C}"/>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58</a:t>
            </a:r>
          </a:p>
        </p:txBody>
      </p:sp>
    </p:spTree>
    <p:extLst>
      <p:ext uri="{BB962C8B-B14F-4D97-AF65-F5344CB8AC3E}">
        <p14:creationId xmlns:p14="http://schemas.microsoft.com/office/powerpoint/2010/main" val="1793747119"/>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5C388CC-6926-4515-937E-89F1EE97D2F5}"/>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336F44C6-1754-459F-A2C8-EDE14C9BC779}"/>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Table 2.3 · Income and cross-price elasticity</a:t>
            </a:r>
          </a:p>
        </p:txBody>
      </p:sp>
      <p:graphicFrame>
        <p:nvGraphicFramePr>
          <p:cNvPr id="10" name=""/>
          <p:cNvGraphicFramePr/>
          <p:nvPr/>
        </p:nvGraphicFramePr>
        <p:xfrm>
          <a:off xmlns:a="http://schemas.openxmlformats.org/drawingml/2006/main" x="685800" y="1809750"/>
          <a:ext xmlns:a="http://schemas.openxmlformats.org/drawingml/2006/main" cx="10820400" cy="3048000"/>
        </p:xfrm>
        <a:graphic xmlns:a="http://schemas.openxmlformats.org/drawingml/2006/main">
          <a:graphicData uri="http://schemas.openxmlformats.org/drawingml/2006/table">
            <a:tbl>
              <a:tblPr/>
              <a:tblGrid>
                <a:gridCol w="2686050"/>
                <a:gridCol w="3190875"/>
                <a:gridCol w="4943475"/>
              </a:tblGrid>
              <a:tr h="1016000">
                <a:tc>
                  <a:txBody>
                    <a:bodyPr lIns="142875" tIns="95250" rIns="142875" bIns="95250">
                      <a:noAutofit/>
                    </a:bodyPr>
                    <a:lstStyle/>
                    <a:p>
                      <a:r>
                        <a:rPr sz="1950" b="1">
                          <a:solidFill>
                            <a:srgbClr val="FFFFFF"/>
                          </a:solidFill>
                          <a:latin typeface="Aptos"/>
                          <a:ea typeface="Aptos"/>
                          <a:cs typeface="Aptos"/>
                        </a:rPr>
                        <a:t>Measure</a:t>
                      </a:r>
                    </a:p>
                  </a:txBody>
                  <a:tcPr marL="91440" marR="91440" marT="45720" marB="45720" anchor="ctr">
                    <a:solidFill>
                      <a:srgbClr val="12455E"/>
                    </a:solidFill>
                  </a:tcPr>
                </a:tc>
                <a:tc>
                  <a:txBody>
                    <a:bodyPr lIns="142875" tIns="95250" rIns="142875" bIns="95250">
                      <a:noAutofit/>
                    </a:bodyPr>
                    <a:lstStyle/>
                    <a:p>
                      <a:r>
                        <a:rPr sz="1950" b="1">
                          <a:solidFill>
                            <a:srgbClr val="FFFFFF"/>
                          </a:solidFill>
                          <a:latin typeface="Aptos"/>
                          <a:ea typeface="Aptos"/>
                          <a:cs typeface="Aptos"/>
                        </a:rPr>
                        <a:t>Percentage-change ratio</a:t>
                      </a:r>
                    </a:p>
                  </a:txBody>
                  <a:tcPr marL="91440" marR="91440" marT="45720" marB="45720" anchor="ctr">
                    <a:solidFill>
                      <a:srgbClr val="12455E"/>
                    </a:solidFill>
                  </a:tcPr>
                </a:tc>
                <a:tc>
                  <a:txBody>
                    <a:bodyPr lIns="142875" tIns="95250" rIns="142875" bIns="95250">
                      <a:noAutofit/>
                    </a:bodyPr>
                    <a:lstStyle/>
                    <a:p>
                      <a:r>
                        <a:rPr sz="1950" b="1">
                          <a:solidFill>
                            <a:srgbClr val="FFFFFF"/>
                          </a:solidFill>
                          <a:latin typeface="Aptos"/>
                          <a:ea typeface="Aptos"/>
                          <a:cs typeface="Aptos"/>
                        </a:rPr>
                        <a:t>Interpretation / sports application</a:t>
                      </a:r>
                    </a:p>
                  </a:txBody>
                  <a:tcPr marL="91440" marR="91440" marT="45720" marB="45720" anchor="ctr">
                    <a:solidFill>
                      <a:srgbClr val="12455E"/>
                    </a:solidFill>
                  </a:tcPr>
                </a:tc>
              </a:tr>
              <a:tr h="1016000">
                <a:tc>
                  <a:txBody>
                    <a:bodyPr lIns="142875" tIns="95250" rIns="142875" bIns="95250">
                      <a:noAutofit/>
                    </a:bodyPr>
                    <a:lstStyle/>
                    <a:p>
                      <a:r>
                        <a:rPr sz="1950" b="0">
                          <a:solidFill>
                            <a:srgbClr val="1D2A33"/>
                          </a:solidFill>
                          <a:latin typeface="Aptos"/>
                          <a:ea typeface="Aptos"/>
                          <a:cs typeface="Aptos"/>
                        </a:rPr>
                        <a:t>Income elasticity</a:t>
                      </a:r>
                    </a:p>
                  </a:txBody>
                  <a:tcPr marL="91440" marR="91440" marT="45720" marB="45720" anchor="ctr">
                    <a:solidFill>
                      <a:srgbClr val="F0F5F7"/>
                    </a:solidFill>
                  </a:tcPr>
                </a:tc>
                <a:tc>
                  <a:txBody>
                    <a:bodyPr lIns="142875" tIns="95250" rIns="142875" bIns="95250">
                      <a:noAutofit/>
                    </a:bodyPr>
                    <a:lstStyle/>
                    <a:p>
                      <a:r>
                        <a:rPr sz="1950" b="0">
                          <a:solidFill>
                            <a:srgbClr val="1D2A33"/>
                          </a:solidFill>
                          <a:latin typeface="Aptos"/>
                          <a:ea typeface="Aptos"/>
                          <a:cs typeface="Aptos"/>
                        </a:rPr>
                        <a:t>Quantity demanded ÷ income</a:t>
                      </a:r>
                    </a:p>
                  </a:txBody>
                  <a:tcPr marL="91440" marR="91440" marT="45720" marB="45720" anchor="ctr">
                    <a:solidFill>
                      <a:srgbClr val="F0F5F7"/>
                    </a:solidFill>
                  </a:tcPr>
                </a:tc>
                <a:tc>
                  <a:txBody>
                    <a:bodyPr lIns="142875" tIns="95250" rIns="142875" bIns="95250">
                      <a:noAutofit/>
                    </a:bodyPr>
                    <a:lstStyle/>
                    <a:p>
                      <a:r>
                        <a:rPr sz="1950" b="0">
                          <a:solidFill>
                            <a:srgbClr val="1D2A33"/>
                          </a:solidFill>
                          <a:latin typeface="Aptos"/>
                          <a:ea typeface="Aptos"/>
                          <a:cs typeface="Aptos"/>
                        </a:rPr>
                        <a:t>Normal: positive. Inferior: negative. Premium and value tickets may differ.</a:t>
                      </a:r>
                    </a:p>
                  </a:txBody>
                  <a:tcPr marL="91440" marR="91440" marT="45720" marB="45720" anchor="ctr">
                    <a:solidFill>
                      <a:srgbClr val="F0F5F7"/>
                    </a:solidFill>
                  </a:tcPr>
                </a:tc>
              </a:tr>
              <a:tr h="1016000">
                <a:tc>
                  <a:txBody>
                    <a:bodyPr lIns="142875" tIns="95250" rIns="142875" bIns="95250">
                      <a:noAutofit/>
                    </a:bodyPr>
                    <a:lstStyle/>
                    <a:p>
                      <a:r>
                        <a:rPr sz="1950" b="0">
                          <a:solidFill>
                            <a:srgbClr val="1D2A33"/>
                          </a:solidFill>
                          <a:latin typeface="Aptos"/>
                          <a:ea typeface="Aptos"/>
                          <a:cs typeface="Aptos"/>
                        </a:rPr>
                        <a:t>Cross-price elasticity</a:t>
                      </a:r>
                    </a:p>
                  </a:txBody>
                  <a:tcPr marL="91440" marR="91440" marT="45720" marB="45720" anchor="ctr">
                    <a:solidFill>
                      <a:srgbClr val="FFFFFF"/>
                    </a:solidFill>
                  </a:tcPr>
                </a:tc>
                <a:tc>
                  <a:txBody>
                    <a:bodyPr lIns="142875" tIns="95250" rIns="142875" bIns="95250">
                      <a:noAutofit/>
                    </a:bodyPr>
                    <a:lstStyle/>
                    <a:p>
                      <a:r>
                        <a:rPr sz="1950" b="0">
                          <a:solidFill>
                            <a:srgbClr val="1D2A33"/>
                          </a:solidFill>
                          <a:latin typeface="Aptos"/>
                          <a:ea typeface="Aptos"/>
                          <a:cs typeface="Aptos"/>
                        </a:rPr>
                        <a:t>Quantity demanded for x ÷ price of y</a:t>
                      </a:r>
                    </a:p>
                  </a:txBody>
                  <a:tcPr marL="91440" marR="91440" marT="45720" marB="45720" anchor="ctr">
                    <a:solidFill>
                      <a:srgbClr val="FFFFFF"/>
                    </a:solidFill>
                  </a:tcPr>
                </a:tc>
                <a:tc>
                  <a:txBody>
                    <a:bodyPr lIns="142875" tIns="95250" rIns="142875" bIns="95250">
                      <a:noAutofit/>
                    </a:bodyPr>
                    <a:lstStyle/>
                    <a:p>
                      <a:r>
                        <a:rPr sz="1950" b="0">
                          <a:solidFill>
                            <a:srgbClr val="1D2A33"/>
                          </a:solidFill>
                          <a:latin typeface="Aptos"/>
                          <a:ea typeface="Aptos"/>
                          <a:cs typeface="Aptos"/>
                        </a:rPr>
                        <a:t>Substitutes: positive. Complements: negative. Consider tickets and parking.</a:t>
                      </a:r>
                    </a:p>
                  </a:txBody>
                  <a:tcPr marL="91440" marR="91440" marT="45720" marB="4572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DB197F50-3D84-492E-9292-560F940A0855}"/>
              </a:ext>
            </a:extLst>
          </p:cNvPr>
          <p:cNvSpPr>
            <a:spLocks xmlns:a="http://schemas.openxmlformats.org/drawingml/2006/main" noGrp="1"/>
          </p:cNvSpPr>
          <p:nvPr/>
        </p:nvSpPr>
        <p:spPr>
          <a:xfrm xmlns:a="http://schemas.openxmlformats.org/drawingml/2006/main">
            <a:off x="723900" y="5000625"/>
            <a:ext cx="107442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2455E"/>
                </a:solidFill>
                <a:latin typeface="Aptos"/>
                <a:ea typeface="Aptos"/>
                <a:cs typeface="Aptos"/>
              </a:defRPr>
            </a:pPr>
            <a:r>
              <a:rPr sz="2250" b="0" i="0">
                <a:solidFill>
                  <a:srgbClr val="12455E"/>
                </a:solidFill>
                <a:latin typeface="Aptos"/>
                <a:ea typeface="Aptos"/>
                <a:cs typeface="Aptos"/>
              </a:rPr>
              <a:t>Viewing and attendance may have a different relationship in different settings.</a:t>
            </a:r>
          </a:p>
        </p:txBody>
      </p:sp>
      <p:sp>
        <p:nvSpPr>
          <p:cNvPr id="5" name="">
            <a:extLst xmlns:a="http://schemas.openxmlformats.org/drawingml/2006/main">
              <a:ext uri="{FF2B5EF4-FFF2-40B4-BE49-F238E27FC236}">
                <a16:creationId xmlns:a16="http://schemas.microsoft.com/office/drawing/2014/main" id="{55498660-4B06-47E4-BC7E-BC8E10E889A2}"/>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579A2A30-0719-43B8-B207-2E6028571A7D}"/>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Other Elasticities</a:t>
            </a:r>
          </a:p>
        </p:txBody>
      </p:sp>
      <p:sp>
        <p:nvSpPr>
          <p:cNvPr id="7" name="text-5">
            <a:extLst xmlns:a="http://schemas.openxmlformats.org/drawingml/2006/main">
              <a:ext uri="{FF2B5EF4-FFF2-40B4-BE49-F238E27FC236}">
                <a16:creationId xmlns:a16="http://schemas.microsoft.com/office/drawing/2014/main" id="{62C2EF3A-1941-48A1-98C9-982D331E1AC9}"/>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59</a:t>
            </a:r>
          </a:p>
        </p:txBody>
      </p:sp>
    </p:spTree>
    <p:extLst>
      <p:ext uri="{BB962C8B-B14F-4D97-AF65-F5344CB8AC3E}">
        <p14:creationId xmlns:p14="http://schemas.microsoft.com/office/powerpoint/2010/main" val="24207514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23ED251-E137-40E6-AF6D-FD3EDD72F382}"/>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73DC0010-B0EA-4502-B38D-31FAC882DC53}"/>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Observed prices are not random</a:t>
            </a:r>
          </a:p>
        </p:txBody>
      </p:sp>
      <p:sp>
        <p:nvSpPr>
          <p:cNvPr id="3" name="text-2">
            <a:extLst xmlns:a="http://schemas.openxmlformats.org/drawingml/2006/main">
              <a:ext uri="{FF2B5EF4-FFF2-40B4-BE49-F238E27FC236}">
                <a16:creationId xmlns:a16="http://schemas.microsoft.com/office/drawing/2014/main" id="{26E461CA-FF11-431C-8158-9CBEF88A3F44}"/>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Teams often charge more when they expect strong demand.</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A rivalry game can have both higher prices and higher attendance.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That association does not identify the effect of price itself.</a:t>
            </a:r>
          </a:p>
        </p:txBody>
      </p:sp>
      <p:sp>
        <p:nvSpPr>
          <p:cNvPr id="4" name="text-3">
            <a:extLst xmlns:a="http://schemas.openxmlformats.org/drawingml/2006/main">
              <a:ext uri="{FF2B5EF4-FFF2-40B4-BE49-F238E27FC236}">
                <a16:creationId xmlns:a16="http://schemas.microsoft.com/office/drawing/2014/main" id="{E5B93B6B-1C3C-473D-ADD2-DBE0B7833875}"/>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Ask what attendance would have been at a different price, under comparable conditions.</a:t>
            </a:r>
          </a:p>
        </p:txBody>
      </p:sp>
      <p:sp>
        <p:nvSpPr>
          <p:cNvPr id="5" name="">
            <a:extLst xmlns:a="http://schemas.openxmlformats.org/drawingml/2006/main">
              <a:ext uri="{FF2B5EF4-FFF2-40B4-BE49-F238E27FC236}">
                <a16:creationId xmlns:a16="http://schemas.microsoft.com/office/drawing/2014/main" id="{94221880-6AD6-40D2-A895-8995827A3B0F}"/>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FF89F04B-5338-4649-8742-1922A3B1F3AB}"/>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How Could A Team Estimate Elasticity?</a:t>
            </a:r>
          </a:p>
        </p:txBody>
      </p:sp>
      <p:sp>
        <p:nvSpPr>
          <p:cNvPr id="7" name="text-6">
            <a:extLst xmlns:a="http://schemas.openxmlformats.org/drawingml/2006/main">
              <a:ext uri="{FF2B5EF4-FFF2-40B4-BE49-F238E27FC236}">
                <a16:creationId xmlns:a16="http://schemas.microsoft.com/office/drawing/2014/main" id="{159B191B-B8FF-4635-9AD6-A85AEBADA0F5}"/>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60</a:t>
            </a:r>
          </a:p>
        </p:txBody>
      </p:sp>
    </p:spTree>
    <p:extLst>
      <p:ext uri="{BB962C8B-B14F-4D97-AF65-F5344CB8AC3E}">
        <p14:creationId xmlns:p14="http://schemas.microsoft.com/office/powerpoint/2010/main" val="64195418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138C482-2D33-479A-BF78-4915CB468F85}"/>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4A166637-C89B-47E8-B8E9-4B67162C8F7D}"/>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How could the Bills learn about elasticity?</a:t>
            </a:r>
          </a:p>
        </p:txBody>
      </p:sp>
      <p:sp>
        <p:nvSpPr>
          <p:cNvPr id="3" name="text-2">
            <a:extLst xmlns:a="http://schemas.openxmlformats.org/drawingml/2006/main">
              <a:ext uri="{FF2B5EF4-FFF2-40B4-BE49-F238E27FC236}">
                <a16:creationId xmlns:a16="http://schemas.microsoft.com/office/drawing/2014/main" id="{A488178E-35E0-495E-AE94-FC689DD403E4}"/>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Compare similar seats, opponents, dates, and selling periods.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Use variation from promotions or carefully designed price tests.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Use regression to account for observed demand differences.</a:t>
            </a:r>
          </a:p>
        </p:txBody>
      </p:sp>
      <p:sp>
        <p:nvSpPr>
          <p:cNvPr id="4" name="text-3">
            <a:extLst xmlns:a="http://schemas.openxmlformats.org/drawingml/2006/main">
              <a:ext uri="{FF2B5EF4-FFF2-40B4-BE49-F238E27FC236}">
                <a16:creationId xmlns:a16="http://schemas.microsoft.com/office/drawing/2014/main" id="{52237CB3-2CF4-42F6-8B75-D4BBD1ACA2A7}"/>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Chapter 1 introduces the evidence problem; Chapter 4 applies it to pricing.</a:t>
            </a:r>
          </a:p>
        </p:txBody>
      </p:sp>
      <p:sp>
        <p:nvSpPr>
          <p:cNvPr id="5" name="">
            <a:extLst xmlns:a="http://schemas.openxmlformats.org/drawingml/2006/main">
              <a:ext uri="{FF2B5EF4-FFF2-40B4-BE49-F238E27FC236}">
                <a16:creationId xmlns:a16="http://schemas.microsoft.com/office/drawing/2014/main" id="{B3911E27-7AF9-4649-93FE-5D36EFCD12FA}"/>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C2C4875E-4155-4EFE-B4B5-79EB9EB7E6D5}"/>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How Could A Team Estimate Elasticity?</a:t>
            </a:r>
          </a:p>
        </p:txBody>
      </p:sp>
      <p:sp>
        <p:nvSpPr>
          <p:cNvPr id="7" name="text-6">
            <a:extLst xmlns:a="http://schemas.openxmlformats.org/drawingml/2006/main">
              <a:ext uri="{FF2B5EF4-FFF2-40B4-BE49-F238E27FC236}">
                <a16:creationId xmlns:a16="http://schemas.microsoft.com/office/drawing/2014/main" id="{5AF4634D-642F-4B31-814F-73A7BDCB2B1A}"/>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61</a:t>
            </a:r>
          </a:p>
        </p:txBody>
      </p:sp>
    </p:spTree>
    <p:extLst>
      <p:ext uri="{BB962C8B-B14F-4D97-AF65-F5344CB8AC3E}">
        <p14:creationId xmlns:p14="http://schemas.microsoft.com/office/powerpoint/2010/main" val="89665849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2B9FDD8-5A2D-4D83-87C8-A5FB5A6E148D}"/>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6315D3AC-B809-4788-9475-2F622010E4F5}"/>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Big picture · From choices to a market</a:t>
            </a:r>
          </a:p>
        </p:txBody>
      </p:sp>
      <p:sp>
        <p:nvSpPr>
          <p:cNvPr id="3" name="text-2">
            <a:extLst xmlns:a="http://schemas.openxmlformats.org/drawingml/2006/main">
              <a:ext uri="{FF2B5EF4-FFF2-40B4-BE49-F238E27FC236}">
                <a16:creationId xmlns:a16="http://schemas.microsoft.com/office/drawing/2014/main" id="{CE1D3115-BCC2-47DC-B5D9-CF553EDF34B7}"/>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Scarcity creates trade-offs; incentives affect marginal choices.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Demand and supply summarize those choices at alternative prices.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Equilibrium is the price–quantity combination where the market clears.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Comparative statics traces what changes when a determinant shifts.</a:t>
            </a:r>
          </a:p>
        </p:txBody>
      </p:sp>
      <p:sp>
        <p:nvSpPr>
          <p:cNvPr id="4" name="">
            <a:extLst xmlns:a="http://schemas.openxmlformats.org/drawingml/2006/main">
              <a:ext uri="{FF2B5EF4-FFF2-40B4-BE49-F238E27FC236}">
                <a16:creationId xmlns:a16="http://schemas.microsoft.com/office/drawing/2014/main" id="{5F5465D3-4172-440B-9428-421B9AD899C0}"/>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61D48FC6-3DF2-46D3-8BC1-F4CE0F9BCAE9}"/>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Big Picture</a:t>
            </a:r>
          </a:p>
        </p:txBody>
      </p:sp>
      <p:sp>
        <p:nvSpPr>
          <p:cNvPr id="6" name="text-5">
            <a:extLst xmlns:a="http://schemas.openxmlformats.org/drawingml/2006/main">
              <a:ext uri="{FF2B5EF4-FFF2-40B4-BE49-F238E27FC236}">
                <a16:creationId xmlns:a16="http://schemas.microsoft.com/office/drawing/2014/main" id="{20FE89D0-0B54-49E6-8E35-979C5B7AE0B3}"/>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62</a:t>
            </a:r>
          </a:p>
        </p:txBody>
      </p:sp>
    </p:spTree>
    <p:extLst>
      <p:ext uri="{BB962C8B-B14F-4D97-AF65-F5344CB8AC3E}">
        <p14:creationId xmlns:p14="http://schemas.microsoft.com/office/powerpoint/2010/main" val="126219102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B7373DC-0CB7-45E2-B915-2863C8CB50C3}"/>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LESSON</a:t>
            </a:r>
          </a:p>
        </p:txBody>
      </p:sp>
      <p:sp>
        <p:nvSpPr>
          <p:cNvPr id="2" name="text-1">
            <a:extLst xmlns:a="http://schemas.openxmlformats.org/drawingml/2006/main">
              <a:ext uri="{FF2B5EF4-FFF2-40B4-BE49-F238E27FC236}">
                <a16:creationId xmlns:a16="http://schemas.microsoft.com/office/drawing/2014/main" id="{B1A13D2F-861D-4CF2-94A0-7564C8668120}"/>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Big picture · From direction to magnitude</a:t>
            </a:r>
          </a:p>
        </p:txBody>
      </p:sp>
      <p:sp>
        <p:nvSpPr>
          <p:cNvPr id="3" name="text-2">
            <a:extLst xmlns:a="http://schemas.openxmlformats.org/drawingml/2006/main">
              <a:ext uri="{FF2B5EF4-FFF2-40B4-BE49-F238E27FC236}">
                <a16:creationId xmlns:a16="http://schemas.microsoft.com/office/drawing/2014/main" id="{C049EDF0-C3C2-4FEA-A2EA-96D62D407047}"/>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Elasticity measures responsiveness using percentage changes.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Own-price elasticity helps explain changes in total revenue.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Other elasticities distinguish price, income, and related-good responses.</a:t>
            </a:r>
          </a:p>
        </p:txBody>
      </p:sp>
      <p:sp>
        <p:nvSpPr>
          <p:cNvPr id="4" name="text-3">
            <a:extLst xmlns:a="http://schemas.openxmlformats.org/drawingml/2006/main">
              <a:ext uri="{FF2B5EF4-FFF2-40B4-BE49-F238E27FC236}">
                <a16:creationId xmlns:a16="http://schemas.microsoft.com/office/drawing/2014/main" id="{09084B45-FF40-40ED-B60F-A7BD7DA5E87C}"/>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Next: Chapter 3 examines market outcomes; Chapter 4 develops ticket pricing.</a:t>
            </a:r>
          </a:p>
        </p:txBody>
      </p:sp>
      <p:sp>
        <p:nvSpPr>
          <p:cNvPr id="5" name="">
            <a:extLst xmlns:a="http://schemas.openxmlformats.org/drawingml/2006/main">
              <a:ext uri="{FF2B5EF4-FFF2-40B4-BE49-F238E27FC236}">
                <a16:creationId xmlns:a16="http://schemas.microsoft.com/office/drawing/2014/main" id="{FE601858-5884-407F-BF05-655AE7C37A6A}"/>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5F18111C-6EA9-4804-9E78-1D774E6B7A74}"/>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Big Picture</a:t>
            </a:r>
          </a:p>
        </p:txBody>
      </p:sp>
      <p:sp>
        <p:nvSpPr>
          <p:cNvPr id="7" name="text-6">
            <a:extLst xmlns:a="http://schemas.openxmlformats.org/drawingml/2006/main">
              <a:ext uri="{FF2B5EF4-FFF2-40B4-BE49-F238E27FC236}">
                <a16:creationId xmlns:a16="http://schemas.microsoft.com/office/drawing/2014/main" id="{38CFB97D-EE12-46C7-A9FA-A81CE01E6CFC}"/>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63</a:t>
            </a:r>
          </a:p>
        </p:txBody>
      </p:sp>
    </p:spTree>
    <p:extLst>
      <p:ext uri="{BB962C8B-B14F-4D97-AF65-F5344CB8AC3E}">
        <p14:creationId xmlns:p14="http://schemas.microsoft.com/office/powerpoint/2010/main" val="204732388"/>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4B4CAE4-2308-4A97-9A50-6BC1D6D6C702}"/>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REVIEW</a:t>
            </a:r>
          </a:p>
        </p:txBody>
      </p:sp>
      <p:sp>
        <p:nvSpPr>
          <p:cNvPr id="2" name="text-1">
            <a:extLst xmlns:a="http://schemas.openxmlformats.org/drawingml/2006/main">
              <a:ext uri="{FF2B5EF4-FFF2-40B4-BE49-F238E27FC236}">
                <a16:creationId xmlns:a16="http://schemas.microsoft.com/office/drawing/2014/main" id="{F227D843-7D93-4512-8237-0BF30C2D80E1}"/>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Review questions · 1–4</a:t>
            </a:r>
          </a:p>
        </p:txBody>
      </p:sp>
      <p:sp>
        <p:nvSpPr>
          <p:cNvPr id="3" name="text-2">
            <a:extLst xmlns:a="http://schemas.openxmlformats.org/drawingml/2006/main">
              <a:ext uri="{FF2B5EF4-FFF2-40B4-BE49-F238E27FC236}">
                <a16:creationId xmlns:a16="http://schemas.microsoft.com/office/drawing/2014/main" id="{47CCB2E8-C8D7-48DA-98B1-6BBF818E31FF}"/>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defRPr sz="2325" b="0" i="0">
                <a:solidFill>
                  <a:srgbClr val="1D2A33"/>
                </a:solidFill>
                <a:latin typeface="Aptos"/>
                <a:ea typeface="Aptos"/>
                <a:cs typeface="Aptos"/>
              </a:defRPr>
            </a:pPr>
            <a:r>
              <a:t>1. Why does scarcity create opportunity cost?</a:t>
            </a:r>
          </a:p>
          <a:p xmlns:a="http://schemas.openxmlformats.org/drawingml/2006/main">
            <a:pPr marL="254000" indent="-152400" algn="l">
              <a:spcAft>
                <a:spcPts val="1600"/>
              </a:spcAft>
              <a:defRPr sz="2325" b="0" i="0">
                <a:solidFill>
                  <a:srgbClr val="1D2A33"/>
                </a:solidFill>
                <a:latin typeface="Aptos"/>
                <a:ea typeface="Aptos"/>
                <a:cs typeface="Aptos"/>
              </a:defRPr>
            </a:pPr>
            <a:r>
              <a:t>2. What does ceteris paribus mean, and why is it necessary for the law of demand?</a:t>
            </a:r>
          </a:p>
          <a:p xmlns:a="http://schemas.openxmlformats.org/drawingml/2006/main">
            <a:pPr marL="254000" indent="-152400" algn="l">
              <a:spcAft>
                <a:spcPts val="1600"/>
              </a:spcAft>
              <a:defRPr sz="2325" b="0" i="0">
                <a:solidFill>
                  <a:srgbClr val="1D2A33"/>
                </a:solidFill>
                <a:latin typeface="Aptos"/>
                <a:ea typeface="Aptos"/>
                <a:cs typeface="Aptos"/>
              </a:defRPr>
            </a:pPr>
            <a:r>
              <a:t>3. Distinguish demand from quantity demanded.</a:t>
            </a:r>
          </a:p>
          <a:p xmlns:a="http://schemas.openxmlformats.org/drawingml/2006/main">
            <a:pPr marL="254000" indent="-152400" algn="l">
              <a:spcAft>
                <a:spcPts val="1600"/>
              </a:spcAft>
              <a:defRPr sz="2325" b="0" i="0">
                <a:solidFill>
                  <a:srgbClr val="1D2A33"/>
                </a:solidFill>
                <a:latin typeface="Aptos"/>
                <a:ea typeface="Aptos"/>
                <a:cs typeface="Aptos"/>
              </a:defRPr>
            </a:pPr>
            <a:r>
              <a:t>4. Name the standard demand determinants and give one sports application of each.</a:t>
            </a:r>
          </a:p>
        </p:txBody>
      </p:sp>
      <p:sp>
        <p:nvSpPr>
          <p:cNvPr id="4" name="">
            <a:extLst xmlns:a="http://schemas.openxmlformats.org/drawingml/2006/main">
              <a:ext uri="{FF2B5EF4-FFF2-40B4-BE49-F238E27FC236}">
                <a16:creationId xmlns:a16="http://schemas.microsoft.com/office/drawing/2014/main" id="{2BD0BF0A-F547-4A4C-81C7-9EDCEFAF8222}"/>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473E41A6-724E-44B1-95F7-FC56A5CDB2EC}"/>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Review Questions</a:t>
            </a:r>
          </a:p>
        </p:txBody>
      </p:sp>
      <p:sp>
        <p:nvSpPr>
          <p:cNvPr id="6" name="text-5">
            <a:extLst xmlns:a="http://schemas.openxmlformats.org/drawingml/2006/main">
              <a:ext uri="{FF2B5EF4-FFF2-40B4-BE49-F238E27FC236}">
                <a16:creationId xmlns:a16="http://schemas.microsoft.com/office/drawing/2014/main" id="{C696516B-31F3-4E8D-8647-C6EDA6ED72C7}"/>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64</a:t>
            </a:r>
          </a:p>
        </p:txBody>
      </p:sp>
    </p:spTree>
    <p:extLst>
      <p:ext uri="{BB962C8B-B14F-4D97-AF65-F5344CB8AC3E}">
        <p14:creationId xmlns:p14="http://schemas.microsoft.com/office/powerpoint/2010/main" val="122577282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9E16762-61C0-4CA3-97B7-85AB8E82B196}"/>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REVIEW</a:t>
            </a:r>
          </a:p>
        </p:txBody>
      </p:sp>
      <p:sp>
        <p:nvSpPr>
          <p:cNvPr id="2" name="text-1">
            <a:extLst xmlns:a="http://schemas.openxmlformats.org/drawingml/2006/main">
              <a:ext uri="{FF2B5EF4-FFF2-40B4-BE49-F238E27FC236}">
                <a16:creationId xmlns:a16="http://schemas.microsoft.com/office/drawing/2014/main" id="{57542C2D-4C4C-47F1-A144-47F4D7741B5F}"/>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Review questions · 5–8</a:t>
            </a:r>
          </a:p>
        </p:txBody>
      </p:sp>
      <p:sp>
        <p:nvSpPr>
          <p:cNvPr id="3" name="text-2">
            <a:extLst xmlns:a="http://schemas.openxmlformats.org/drawingml/2006/main">
              <a:ext uri="{FF2B5EF4-FFF2-40B4-BE49-F238E27FC236}">
                <a16:creationId xmlns:a16="http://schemas.microsoft.com/office/drawing/2014/main" id="{7918EE9F-F01F-49A2-865C-7BDFEF3FF0D7}"/>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defRPr sz="2325" b="0" i="0">
                <a:solidFill>
                  <a:srgbClr val="1D2A33"/>
                </a:solidFill>
                <a:latin typeface="Aptos"/>
                <a:ea typeface="Aptos"/>
                <a:cs typeface="Aptos"/>
              </a:defRPr>
            </a:pPr>
            <a:r>
              <a:t>5. Distinguish supply from quantity supplied.</a:t>
            </a:r>
          </a:p>
          <a:p xmlns:a="http://schemas.openxmlformats.org/drawingml/2006/main">
            <a:pPr marL="254000" indent="-152400" algn="l">
              <a:spcAft>
                <a:spcPts val="1600"/>
              </a:spcAft>
              <a:defRPr sz="2325" b="0" i="0">
                <a:solidFill>
                  <a:srgbClr val="1D2A33"/>
                </a:solidFill>
                <a:latin typeface="Aptos"/>
                <a:ea typeface="Aptos"/>
                <a:cs typeface="Aptos"/>
              </a:defRPr>
            </a:pPr>
            <a:r>
              <a:t>6. Why is fixed venue capacity a short-run model rather than a universal supply curve?</a:t>
            </a:r>
          </a:p>
          <a:p xmlns:a="http://schemas.openxmlformats.org/drawingml/2006/main">
            <a:pPr marL="254000" indent="-152400" algn="l">
              <a:spcAft>
                <a:spcPts val="1600"/>
              </a:spcAft>
              <a:defRPr sz="2325" b="0" i="0">
                <a:solidFill>
                  <a:srgbClr val="1D2A33"/>
                </a:solidFill>
                <a:latin typeface="Aptos"/>
                <a:ea typeface="Aptos"/>
                <a:cs typeface="Aptos"/>
              </a:defRPr>
            </a:pPr>
            <a:r>
              <a:t>7. What creates a shortage? What creates excess supply?</a:t>
            </a:r>
          </a:p>
          <a:p xmlns:a="http://schemas.openxmlformats.org/drawingml/2006/main">
            <a:pPr marL="254000" indent="-152400" algn="l">
              <a:spcAft>
                <a:spcPts val="1600"/>
              </a:spcAft>
              <a:defRPr sz="2325" b="0" i="0">
                <a:solidFill>
                  <a:srgbClr val="1D2A33"/>
                </a:solidFill>
                <a:latin typeface="Aptos"/>
                <a:ea typeface="Aptos"/>
                <a:cs typeface="Aptos"/>
              </a:defRPr>
            </a:pPr>
            <a:r>
              <a:t>8. How does a demand increase affect equilibrium price and quantity when supply is unchanged?</a:t>
            </a:r>
          </a:p>
        </p:txBody>
      </p:sp>
      <p:sp>
        <p:nvSpPr>
          <p:cNvPr id="4" name="">
            <a:extLst xmlns:a="http://schemas.openxmlformats.org/drawingml/2006/main">
              <a:ext uri="{FF2B5EF4-FFF2-40B4-BE49-F238E27FC236}">
                <a16:creationId xmlns:a16="http://schemas.microsoft.com/office/drawing/2014/main" id="{CAF3D01B-A039-491E-BB66-FE06BA0A4E99}"/>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89A34706-2C1D-4944-A569-2FF31D2F7CA8}"/>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Review Questions</a:t>
            </a:r>
          </a:p>
        </p:txBody>
      </p:sp>
      <p:sp>
        <p:nvSpPr>
          <p:cNvPr id="6" name="text-5">
            <a:extLst xmlns:a="http://schemas.openxmlformats.org/drawingml/2006/main">
              <a:ext uri="{FF2B5EF4-FFF2-40B4-BE49-F238E27FC236}">
                <a16:creationId xmlns:a16="http://schemas.microsoft.com/office/drawing/2014/main" id="{580BC4D1-DA3B-4D09-BAEC-745484AEA06E}"/>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65</a:t>
            </a:r>
          </a:p>
        </p:txBody>
      </p:sp>
    </p:spTree>
    <p:extLst>
      <p:ext uri="{BB962C8B-B14F-4D97-AF65-F5344CB8AC3E}">
        <p14:creationId xmlns:p14="http://schemas.microsoft.com/office/powerpoint/2010/main" val="1405837613"/>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D331C72-51BB-4E78-ADB7-5132D082D871}"/>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REVIEW</a:t>
            </a:r>
          </a:p>
        </p:txBody>
      </p:sp>
      <p:sp>
        <p:nvSpPr>
          <p:cNvPr id="2" name="text-1">
            <a:extLst xmlns:a="http://schemas.openxmlformats.org/drawingml/2006/main">
              <a:ext uri="{FF2B5EF4-FFF2-40B4-BE49-F238E27FC236}">
                <a16:creationId xmlns:a16="http://schemas.microsoft.com/office/drawing/2014/main" id="{EA5BE1B1-CC67-4BD3-8A37-A51DD3035D88}"/>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Review questions · 9–12</a:t>
            </a:r>
          </a:p>
        </p:txBody>
      </p:sp>
      <p:sp>
        <p:nvSpPr>
          <p:cNvPr id="3" name="text-2">
            <a:extLst xmlns:a="http://schemas.openxmlformats.org/drawingml/2006/main">
              <a:ext uri="{FF2B5EF4-FFF2-40B4-BE49-F238E27FC236}">
                <a16:creationId xmlns:a16="http://schemas.microsoft.com/office/drawing/2014/main" id="{DFB7448D-199B-49C4-8272-1B2FA7C81E3D}"/>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defRPr sz="2325" b="0" i="0">
                <a:solidFill>
                  <a:srgbClr val="1D2A33"/>
                </a:solidFill>
                <a:latin typeface="Aptos"/>
                <a:ea typeface="Aptos"/>
                <a:cs typeface="Aptos"/>
              </a:defRPr>
            </a:pPr>
            <a:r>
              <a:t>9. How does a supply decrease affect equilibrium price and quantity when demand is unchanged?</a:t>
            </a:r>
          </a:p>
          <a:p xmlns:a="http://schemas.openxmlformats.org/drawingml/2006/main">
            <a:pPr marL="254000" indent="-152400" algn="l">
              <a:spcAft>
                <a:spcPts val="1600"/>
              </a:spcAft>
              <a:defRPr sz="2325" b="0" i="0">
                <a:solidFill>
                  <a:srgbClr val="1D2A33"/>
                </a:solidFill>
                <a:latin typeface="Aptos"/>
                <a:ea typeface="Aptos"/>
                <a:cs typeface="Aptos"/>
              </a:defRPr>
            </a:pPr>
            <a:r>
              <a:t>10. Why is elasticity different from slope?</a:t>
            </a:r>
          </a:p>
          <a:p xmlns:a="http://schemas.openxmlformats.org/drawingml/2006/main">
            <a:pPr marL="254000" indent="-152400" algn="l">
              <a:spcAft>
                <a:spcPts val="1600"/>
              </a:spcAft>
              <a:defRPr sz="2325" b="0" i="0">
                <a:solidFill>
                  <a:srgbClr val="1D2A33"/>
                </a:solidFill>
                <a:latin typeface="Aptos"/>
                <a:ea typeface="Aptos"/>
                <a:cs typeface="Aptos"/>
              </a:defRPr>
            </a:pPr>
            <a:r>
              <a:t>11. Explain the total-revenue rule for elastic and inelastic demand.</a:t>
            </a:r>
          </a:p>
          <a:p xmlns:a="http://schemas.openxmlformats.org/drawingml/2006/main">
            <a:pPr marL="254000" indent="-152400" algn="l">
              <a:spcAft>
                <a:spcPts val="1600"/>
              </a:spcAft>
              <a:defRPr sz="2325" b="0" i="0">
                <a:solidFill>
                  <a:srgbClr val="1D2A33"/>
                </a:solidFill>
                <a:latin typeface="Aptos"/>
                <a:ea typeface="Aptos"/>
                <a:cs typeface="Aptos"/>
              </a:defRPr>
            </a:pPr>
            <a:r>
              <a:t>12. Distinguish own-price, supply, income, and cross-price elasticity.</a:t>
            </a:r>
          </a:p>
        </p:txBody>
      </p:sp>
      <p:sp>
        <p:nvSpPr>
          <p:cNvPr id="4" name="">
            <a:extLst xmlns:a="http://schemas.openxmlformats.org/drawingml/2006/main">
              <a:ext uri="{FF2B5EF4-FFF2-40B4-BE49-F238E27FC236}">
                <a16:creationId xmlns:a16="http://schemas.microsoft.com/office/drawing/2014/main" id="{582393FF-90E2-4EA2-9614-F976C7F96B59}"/>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CE148B0E-A1ED-4CC7-AFED-DAFBD3E64B2E}"/>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Review Questions</a:t>
            </a:r>
          </a:p>
        </p:txBody>
      </p:sp>
      <p:sp>
        <p:nvSpPr>
          <p:cNvPr id="6" name="text-5">
            <a:extLst xmlns:a="http://schemas.openxmlformats.org/drawingml/2006/main">
              <a:ext uri="{FF2B5EF4-FFF2-40B4-BE49-F238E27FC236}">
                <a16:creationId xmlns:a16="http://schemas.microsoft.com/office/drawing/2014/main" id="{B8F4DB03-1248-4781-B8C3-50345D71EF63}"/>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66</a:t>
            </a:r>
          </a:p>
        </p:txBody>
      </p:sp>
    </p:spTree>
    <p:extLst>
      <p:ext uri="{BB962C8B-B14F-4D97-AF65-F5344CB8AC3E}">
        <p14:creationId xmlns:p14="http://schemas.microsoft.com/office/powerpoint/2010/main" val="14510467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F6FAD32-570A-4583-BD30-D58BEB3E880F}"/>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REVIEW</a:t>
            </a:r>
          </a:p>
        </p:txBody>
      </p:sp>
      <p:sp>
        <p:nvSpPr>
          <p:cNvPr id="2" name="text-1">
            <a:extLst xmlns:a="http://schemas.openxmlformats.org/drawingml/2006/main">
              <a:ext uri="{FF2B5EF4-FFF2-40B4-BE49-F238E27FC236}">
                <a16:creationId xmlns:a16="http://schemas.microsoft.com/office/drawing/2014/main" id="{A08BD62F-789B-4DAD-9412-78B5DCC2D285}"/>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Review questions · 13</a:t>
            </a:r>
          </a:p>
        </p:txBody>
      </p:sp>
      <p:sp>
        <p:nvSpPr>
          <p:cNvPr id="3" name="text-2">
            <a:extLst xmlns:a="http://schemas.openxmlformats.org/drawingml/2006/main">
              <a:ext uri="{FF2B5EF4-FFF2-40B4-BE49-F238E27FC236}">
                <a16:creationId xmlns:a16="http://schemas.microsoft.com/office/drawing/2014/main" id="{C9F8C13B-027D-471D-9A58-993721D05470}"/>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defRPr sz="2325" b="0" i="0">
                <a:solidFill>
                  <a:srgbClr val="1D2A33"/>
                </a:solidFill>
                <a:latin typeface="Aptos"/>
                <a:ea typeface="Aptos"/>
                <a:cs typeface="Aptos"/>
              </a:defRPr>
            </a:pPr>
            <a:r>
              <a:t>13. Why can a simple comparison of ticket price and attendance fail to estimate demand elasticity?</a:t>
            </a:r>
          </a:p>
        </p:txBody>
      </p:sp>
      <p:sp>
        <p:nvSpPr>
          <p:cNvPr id="4" name="">
            <a:extLst xmlns:a="http://schemas.openxmlformats.org/drawingml/2006/main">
              <a:ext uri="{FF2B5EF4-FFF2-40B4-BE49-F238E27FC236}">
                <a16:creationId xmlns:a16="http://schemas.microsoft.com/office/drawing/2014/main" id="{EE97473B-9172-44E2-890D-9DC94E33DE9E}"/>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D14871C9-2A58-4E1C-B08B-A2E0570D02FB}"/>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Review Questions</a:t>
            </a:r>
          </a:p>
        </p:txBody>
      </p:sp>
      <p:sp>
        <p:nvSpPr>
          <p:cNvPr id="6" name="text-5">
            <a:extLst xmlns:a="http://schemas.openxmlformats.org/drawingml/2006/main">
              <a:ext uri="{FF2B5EF4-FFF2-40B4-BE49-F238E27FC236}">
                <a16:creationId xmlns:a16="http://schemas.microsoft.com/office/drawing/2014/main" id="{8317CC84-1BDC-4BE9-AD20-6C132DC1E952}"/>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67</a:t>
            </a:r>
          </a:p>
        </p:txBody>
      </p:sp>
    </p:spTree>
    <p:extLst>
      <p:ext uri="{BB962C8B-B14F-4D97-AF65-F5344CB8AC3E}">
        <p14:creationId xmlns:p14="http://schemas.microsoft.com/office/powerpoint/2010/main" val="1608767496"/>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4ADA2CC-EAD3-4247-B222-A3862D439CE6}"/>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PRACTICE</a:t>
            </a:r>
          </a:p>
        </p:txBody>
      </p:sp>
      <p:sp>
        <p:nvSpPr>
          <p:cNvPr id="2" name="text-1">
            <a:extLst xmlns:a="http://schemas.openxmlformats.org/drawingml/2006/main">
              <a:ext uri="{FF2B5EF4-FFF2-40B4-BE49-F238E27FC236}">
                <a16:creationId xmlns:a16="http://schemas.microsoft.com/office/drawing/2014/main" id="{2636ADDD-39D5-4272-ACB3-ABEEB8A7F1E4}"/>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Practice 1 · A ticket-price reduction</a:t>
            </a:r>
          </a:p>
        </p:txBody>
      </p:sp>
      <p:sp>
        <p:nvSpPr>
          <p:cNvPr id="3" name="text-2">
            <a:extLst xmlns:a="http://schemas.openxmlformats.org/drawingml/2006/main">
              <a:ext uri="{FF2B5EF4-FFF2-40B4-BE49-F238E27FC236}">
                <a16:creationId xmlns:a16="http://schemas.microsoft.com/office/drawing/2014/main" id="{1B6DE734-3918-42B9-8684-DE6885AC13DF}"/>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A team cuts an upper-level ticket from $80 to $70; quantity rises from 6,000 to 7,500.</a:t>
            </a:r>
          </a:p>
        </p:txBody>
      </p:sp>
      <p:sp>
        <p:nvSpPr>
          <p:cNvPr id="4" name="text-3">
            <a:extLst xmlns:a="http://schemas.openxmlformats.org/drawingml/2006/main">
              <a:ext uri="{FF2B5EF4-FFF2-40B4-BE49-F238E27FC236}">
                <a16:creationId xmlns:a16="http://schemas.microsoft.com/office/drawing/2014/main" id="{898CB588-EDB0-42FE-BE7D-2589EF28D7F7}"/>
              </a:ext>
            </a:extLst>
          </p:cNvPr>
          <p:cNvSpPr>
            <a:spLocks xmlns:a="http://schemas.openxmlformats.org/drawingml/2006/main" noGrp="1"/>
          </p:cNvSpPr>
          <p:nvPr/>
        </p:nvSpPr>
        <p:spPr>
          <a:xfrm xmlns:a="http://schemas.openxmlformats.org/drawingml/2006/main">
            <a:off x="723900" y="272415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Movement or shift?</a:t>
            </a:r>
          </a:p>
        </p:txBody>
      </p:sp>
      <p:sp>
        <p:nvSpPr>
          <p:cNvPr id="5" name="text-4">
            <a:extLst xmlns:a="http://schemas.openxmlformats.org/drawingml/2006/main">
              <a:ext uri="{FF2B5EF4-FFF2-40B4-BE49-F238E27FC236}">
                <a16:creationId xmlns:a16="http://schemas.microsoft.com/office/drawing/2014/main" id="{AE11C744-D9C3-4D32-A975-29627D722D2D}"/>
              </a:ext>
            </a:extLst>
          </p:cNvPr>
          <p:cNvSpPr>
            <a:spLocks xmlns:a="http://schemas.openxmlformats.org/drawingml/2006/main" noGrp="1"/>
          </p:cNvSpPr>
          <p:nvPr/>
        </p:nvSpPr>
        <p:spPr>
          <a:xfrm xmlns:a="http://schemas.openxmlformats.org/drawingml/2006/main">
            <a:off x="723900" y="3514725"/>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Calculate midpoint elasticity and classify demand.</a:t>
            </a:r>
          </a:p>
        </p:txBody>
      </p:sp>
      <p:sp>
        <p:nvSpPr>
          <p:cNvPr id="6" name="text-5">
            <a:extLst xmlns:a="http://schemas.openxmlformats.org/drawingml/2006/main">
              <a:ext uri="{FF2B5EF4-FFF2-40B4-BE49-F238E27FC236}">
                <a16:creationId xmlns:a16="http://schemas.microsoft.com/office/drawing/2014/main" id="{8A89655F-219E-42E3-874F-4ED4E5C426DF}"/>
              </a:ext>
            </a:extLst>
          </p:cNvPr>
          <p:cNvSpPr>
            <a:spLocks xmlns:a="http://schemas.openxmlformats.org/drawingml/2006/main" noGrp="1"/>
          </p:cNvSpPr>
          <p:nvPr/>
        </p:nvSpPr>
        <p:spPr>
          <a:xfrm xmlns:a="http://schemas.openxmlformats.org/drawingml/2006/main">
            <a:off x="723900" y="430530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What happens to ticket revenue?</a:t>
            </a:r>
          </a:p>
        </p:txBody>
      </p:sp>
      <p:sp>
        <p:nvSpPr>
          <p:cNvPr id="7" name="text-6">
            <a:extLst xmlns:a="http://schemas.openxmlformats.org/drawingml/2006/main">
              <a:ext uri="{FF2B5EF4-FFF2-40B4-BE49-F238E27FC236}">
                <a16:creationId xmlns:a16="http://schemas.microsoft.com/office/drawing/2014/main" id="{D00CBE1F-67DA-473A-9152-63B124912376}"/>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Start by stating what is held fixed.</a:t>
            </a:r>
          </a:p>
        </p:txBody>
      </p:sp>
      <p:sp>
        <p:nvSpPr>
          <p:cNvPr id="8" name="">
            <a:extLst xmlns:a="http://schemas.openxmlformats.org/drawingml/2006/main">
              <a:ext uri="{FF2B5EF4-FFF2-40B4-BE49-F238E27FC236}">
                <a16:creationId xmlns:a16="http://schemas.microsoft.com/office/drawing/2014/main" id="{9696FC85-15AC-47C1-A740-FC2AEB5F922E}"/>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B6B18B81-E0E5-4BBD-9E95-523C7DA0D260}"/>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Problems And Applications</a:t>
            </a:r>
          </a:p>
        </p:txBody>
      </p:sp>
      <p:sp>
        <p:nvSpPr>
          <p:cNvPr id="10" name="text-9">
            <a:extLst xmlns:a="http://schemas.openxmlformats.org/drawingml/2006/main">
              <a:ext uri="{FF2B5EF4-FFF2-40B4-BE49-F238E27FC236}">
                <a16:creationId xmlns:a16="http://schemas.microsoft.com/office/drawing/2014/main" id="{27723177-C8EF-400A-A64C-B87A68E5C447}"/>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68</a:t>
            </a:r>
          </a:p>
        </p:txBody>
      </p:sp>
    </p:spTree>
    <p:extLst>
      <p:ext uri="{BB962C8B-B14F-4D97-AF65-F5344CB8AC3E}">
        <p14:creationId xmlns:p14="http://schemas.microsoft.com/office/powerpoint/2010/main" val="1794991738"/>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432FB75-9DD8-4A26-9ACC-F02D8A7A81E3}"/>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PRACTICE</a:t>
            </a:r>
          </a:p>
        </p:txBody>
      </p:sp>
      <p:sp>
        <p:nvSpPr>
          <p:cNvPr id="2" name="text-1">
            <a:extLst xmlns:a="http://schemas.openxmlformats.org/drawingml/2006/main">
              <a:ext uri="{FF2B5EF4-FFF2-40B4-BE49-F238E27FC236}">
                <a16:creationId xmlns:a16="http://schemas.microsoft.com/office/drawing/2014/main" id="{B1C1D09D-2042-49B8-9CDA-932AA754FD5A}"/>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Practice 2–3 · Which curve changes?</a:t>
            </a:r>
          </a:p>
        </p:txBody>
      </p:sp>
      <p:sp>
        <p:nvSpPr>
          <p:cNvPr id="3" name="text-2">
            <a:extLst xmlns:a="http://schemas.openxmlformats.org/drawingml/2006/main">
              <a:ext uri="{FF2B5EF4-FFF2-40B4-BE49-F238E27FC236}">
                <a16:creationId xmlns:a16="http://schemas.microsoft.com/office/drawing/2014/main" id="{D4EDF73E-492D-45A0-AEC3-4C22823C32AF}"/>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defRPr sz="2400" b="0" i="0">
                <a:solidFill>
                  <a:srgbClr val="1D2A33"/>
                </a:solidFill>
                <a:latin typeface="Aptos"/>
                <a:ea typeface="Aptos"/>
                <a:cs typeface="Aptos"/>
              </a:defRPr>
            </a:pPr>
            <a:r>
              <a:t>2. A popular player joins a team. Ticket price and attendance both rise. Explain and draw the curve change.</a:t>
            </a:r>
          </a:p>
          <a:p xmlns:a="http://schemas.openxmlformats.org/drawingml/2006/main">
            <a:pPr marL="254000" indent="-152400" algn="l">
              <a:spcAft>
                <a:spcPts val="1600"/>
              </a:spcAft>
              <a:defRPr sz="2400" b="0" i="0">
                <a:solidFill>
                  <a:srgbClr val="1D2A33"/>
                </a:solidFill>
                <a:latin typeface="Aptos"/>
                <a:ea typeface="Aptos"/>
                <a:cs typeface="Aptos"/>
              </a:defRPr>
            </a:pPr>
            <a:r>
              <a:t>3. A jersey producer’s material cost rises 15%. Identify the affected curve and predict equilibrium price and quantity.</a:t>
            </a:r>
          </a:p>
        </p:txBody>
      </p:sp>
      <p:sp>
        <p:nvSpPr>
          <p:cNvPr id="4" name="">
            <a:extLst xmlns:a="http://schemas.openxmlformats.org/drawingml/2006/main">
              <a:ext uri="{FF2B5EF4-FFF2-40B4-BE49-F238E27FC236}">
                <a16:creationId xmlns:a16="http://schemas.microsoft.com/office/drawing/2014/main" id="{962D0B0D-6D5B-401C-AA13-D6526D765B08}"/>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8AC27243-6242-41EC-856B-BA7F52AC388F}"/>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Problems And Applications</a:t>
            </a:r>
          </a:p>
        </p:txBody>
      </p:sp>
      <p:sp>
        <p:nvSpPr>
          <p:cNvPr id="6" name="text-5">
            <a:extLst xmlns:a="http://schemas.openxmlformats.org/drawingml/2006/main">
              <a:ext uri="{FF2B5EF4-FFF2-40B4-BE49-F238E27FC236}">
                <a16:creationId xmlns:a16="http://schemas.microsoft.com/office/drawing/2014/main" id="{F3BD2F88-B8B4-42C0-953D-592406F470ED}"/>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69</a:t>
            </a:r>
          </a:p>
        </p:txBody>
      </p:sp>
    </p:spTree>
    <p:extLst>
      <p:ext uri="{BB962C8B-B14F-4D97-AF65-F5344CB8AC3E}">
        <p14:creationId xmlns:p14="http://schemas.microsoft.com/office/powerpoint/2010/main" val="205971062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09D3B5D6-2FAA-439F-A617-C2EEEC1F006E}"/>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PRACTICE</a:t>
            </a:r>
          </a:p>
        </p:txBody>
      </p:sp>
      <p:sp>
        <p:nvSpPr>
          <p:cNvPr id="2" name="text-1">
            <a:extLst xmlns:a="http://schemas.openxmlformats.org/drawingml/2006/main">
              <a:ext uri="{FF2B5EF4-FFF2-40B4-BE49-F238E27FC236}">
                <a16:creationId xmlns:a16="http://schemas.microsoft.com/office/drawing/2014/main" id="{AEBDC05E-D6B9-4654-8519-0A5F0669AA2F}"/>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Practice 4 · Two equilibria</a:t>
            </a:r>
          </a:p>
        </p:txBody>
      </p:sp>
      <p:sp>
        <p:nvSpPr>
          <p:cNvPr id="3" name="text-2">
            <a:extLst xmlns:a="http://schemas.openxmlformats.org/drawingml/2006/main">
              <a:ext uri="{FF2B5EF4-FFF2-40B4-BE49-F238E27FC236}">
                <a16:creationId xmlns:a16="http://schemas.microsoft.com/office/drawing/2014/main" id="{4706A4E2-FC28-4F3D-AEF4-E30558D2A389}"/>
              </a:ext>
            </a:extLst>
          </p:cNvPr>
          <p:cNvSpPr>
            <a:spLocks xmlns:a="http://schemas.openxmlformats.org/drawingml/2006/main" noGrp="1"/>
          </p:cNvSpPr>
          <p:nvPr/>
        </p:nvSpPr>
        <p:spPr>
          <a:xfrm xmlns:a="http://schemas.openxmlformats.org/drawingml/2006/main">
            <a:off x="723900" y="1695450"/>
            <a:ext cx="10744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0" i="0">
                <a:solidFill>
                  <a:srgbClr val="1D2A33"/>
                </a:solidFill>
                <a:latin typeface="Aptos"/>
                <a:ea typeface="Aptos"/>
                <a:cs typeface="Aptos"/>
              </a:defRPr>
            </a:pPr>
            <a:r>
              <a:rPr sz="2250" b="0" i="0">
                <a:solidFill>
                  <a:srgbClr val="1D2A33"/>
                </a:solidFill>
                <a:latin typeface="Aptos"/>
                <a:ea typeface="Aptos"/>
                <a:cs typeface="Aptos"/>
              </a:rPr>
              <a:t>Quantity Q is measured in thousands.</a:t>
            </a:r>
          </a:p>
        </p:txBody>
      </p:sp>
      <p:sp>
        <p:nvSpPr>
          <p:cNvPr id="4" name="text-3">
            <a:extLst xmlns:a="http://schemas.openxmlformats.org/drawingml/2006/main">
              <a:ext uri="{FF2B5EF4-FFF2-40B4-BE49-F238E27FC236}">
                <a16:creationId xmlns:a16="http://schemas.microsoft.com/office/drawing/2014/main" id="{68EE96BC-3114-4BAB-AD6E-787A71451EBE}"/>
              </a:ext>
            </a:extLst>
          </p:cNvPr>
          <p:cNvSpPr>
            <a:spLocks xmlns:a="http://schemas.openxmlformats.org/drawingml/2006/main" noGrp="1"/>
          </p:cNvSpPr>
          <p:nvPr/>
        </p:nvSpPr>
        <p:spPr>
          <a:xfrm xmlns:a="http://schemas.openxmlformats.org/drawingml/2006/main">
            <a:off x="723900" y="272415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Initial: demand P = 140 − 4Q; supply P = 20 + 2Q</a:t>
            </a:r>
          </a:p>
        </p:txBody>
      </p:sp>
      <p:sp>
        <p:nvSpPr>
          <p:cNvPr id="5" name="text-4">
            <a:extLst xmlns:a="http://schemas.openxmlformats.org/drawingml/2006/main">
              <a:ext uri="{FF2B5EF4-FFF2-40B4-BE49-F238E27FC236}">
                <a16:creationId xmlns:a16="http://schemas.microsoft.com/office/drawing/2014/main" id="{BAD6A719-ACAA-4201-B518-897090A84D21}"/>
              </a:ext>
            </a:extLst>
          </p:cNvPr>
          <p:cNvSpPr>
            <a:spLocks xmlns:a="http://schemas.openxmlformats.org/drawingml/2006/main" noGrp="1"/>
          </p:cNvSpPr>
          <p:nvPr/>
        </p:nvSpPr>
        <p:spPr>
          <a:xfrm xmlns:a="http://schemas.openxmlformats.org/drawingml/2006/main">
            <a:off x="723900" y="3514725"/>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New demand: P = 164 − 4Q; supply is unchanged.</a:t>
            </a:r>
          </a:p>
        </p:txBody>
      </p:sp>
      <p:sp>
        <p:nvSpPr>
          <p:cNvPr id="6" name="text-5">
            <a:extLst xmlns:a="http://schemas.openxmlformats.org/drawingml/2006/main">
              <a:ext uri="{FF2B5EF4-FFF2-40B4-BE49-F238E27FC236}">
                <a16:creationId xmlns:a16="http://schemas.microsoft.com/office/drawing/2014/main" id="{F6F6A194-D26B-426B-AF87-E1F51C68E2CA}"/>
              </a:ext>
            </a:extLst>
          </p:cNvPr>
          <p:cNvSpPr>
            <a:spLocks xmlns:a="http://schemas.openxmlformats.org/drawingml/2006/main" noGrp="1"/>
          </p:cNvSpPr>
          <p:nvPr/>
        </p:nvSpPr>
        <p:spPr>
          <a:xfrm xmlns:a="http://schemas.openxmlformats.org/drawingml/2006/main">
            <a:off x="723900" y="4305300"/>
            <a:ext cx="1074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i="0">
                <a:solidFill>
                  <a:srgbClr val="12455E"/>
                </a:solidFill>
                <a:latin typeface="Aptos"/>
                <a:ea typeface="Aptos"/>
                <a:cs typeface="Aptos"/>
              </a:defRPr>
            </a:pPr>
            <a:r>
              <a:rPr sz="2400" b="0" i="0">
                <a:solidFill>
                  <a:srgbClr val="12455E"/>
                </a:solidFill>
                <a:latin typeface="Aptos"/>
                <a:ea typeface="Aptos"/>
                <a:cs typeface="Aptos"/>
              </a:rPr>
              <a:t>Find both equilibria. What changed?</a:t>
            </a:r>
          </a:p>
        </p:txBody>
      </p:sp>
      <p:sp>
        <p:nvSpPr>
          <p:cNvPr id="7" name="text-6">
            <a:extLst xmlns:a="http://schemas.openxmlformats.org/drawingml/2006/main">
              <a:ext uri="{FF2B5EF4-FFF2-40B4-BE49-F238E27FC236}">
                <a16:creationId xmlns:a16="http://schemas.microsoft.com/office/drawing/2014/main" id="{E1F52FFF-B3F0-411F-B932-A815FCEC1E31}"/>
              </a:ext>
            </a:extLst>
          </p:cNvPr>
          <p:cNvSpPr>
            <a:spLocks xmlns:a="http://schemas.openxmlformats.org/drawingml/2006/main" noGrp="1"/>
          </p:cNvSpPr>
          <p:nvPr/>
        </p:nvSpPr>
        <p:spPr>
          <a:xfrm xmlns:a="http://schemas.openxmlformats.org/drawingml/2006/main">
            <a:off x="723900" y="5381625"/>
            <a:ext cx="10744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Equate prices, solve for Q, then substitute to find P.</a:t>
            </a:r>
          </a:p>
        </p:txBody>
      </p:sp>
      <p:sp>
        <p:nvSpPr>
          <p:cNvPr id="8" name="">
            <a:extLst xmlns:a="http://schemas.openxmlformats.org/drawingml/2006/main">
              <a:ext uri="{FF2B5EF4-FFF2-40B4-BE49-F238E27FC236}">
                <a16:creationId xmlns:a16="http://schemas.microsoft.com/office/drawing/2014/main" id="{79292FBE-9EB2-4A7D-A75F-E6B7D0A217EB}"/>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E470D695-8036-4CBC-98A1-21B0B2D31D71}"/>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Problems And Applications</a:t>
            </a:r>
          </a:p>
        </p:txBody>
      </p:sp>
      <p:sp>
        <p:nvSpPr>
          <p:cNvPr id="10" name="text-9">
            <a:extLst xmlns:a="http://schemas.openxmlformats.org/drawingml/2006/main">
              <a:ext uri="{FF2B5EF4-FFF2-40B4-BE49-F238E27FC236}">
                <a16:creationId xmlns:a16="http://schemas.microsoft.com/office/drawing/2014/main" id="{C00674FC-0DF2-4E6F-80EA-83F02B6905E1}"/>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70</a:t>
            </a:r>
          </a:p>
        </p:txBody>
      </p:sp>
    </p:spTree>
    <p:extLst>
      <p:ext uri="{BB962C8B-B14F-4D97-AF65-F5344CB8AC3E}">
        <p14:creationId xmlns:p14="http://schemas.microsoft.com/office/powerpoint/2010/main" val="1948913607"/>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9626802-0F8D-41C6-94F3-AE91993CBA4F}"/>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PRACTICE</a:t>
            </a:r>
          </a:p>
        </p:txBody>
      </p:sp>
      <p:sp>
        <p:nvSpPr>
          <p:cNvPr id="2" name="text-1">
            <a:extLst xmlns:a="http://schemas.openxmlformats.org/drawingml/2006/main">
              <a:ext uri="{FF2B5EF4-FFF2-40B4-BE49-F238E27FC236}">
                <a16:creationId xmlns:a16="http://schemas.microsoft.com/office/drawing/2014/main" id="{9614B665-AE87-4334-82B8-170D5D9E9326}"/>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Practice 5–6 · Imbalances and revenue</a:t>
            </a:r>
          </a:p>
        </p:txBody>
      </p:sp>
      <p:sp>
        <p:nvSpPr>
          <p:cNvPr id="3" name="text-2">
            <a:extLst xmlns:a="http://schemas.openxmlformats.org/drawingml/2006/main">
              <a:ext uri="{FF2B5EF4-FFF2-40B4-BE49-F238E27FC236}">
                <a16:creationId xmlns:a16="http://schemas.microsoft.com/office/drawing/2014/main" id="{401AFA58-4DFF-48E1-A991-0F76FB2F7426}"/>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defRPr sz="2325" b="0" i="0">
                <a:solidFill>
                  <a:srgbClr val="1D2A33"/>
                </a:solidFill>
                <a:latin typeface="Aptos"/>
                <a:ea typeface="Aptos"/>
                <a:cs typeface="Aptos"/>
              </a:defRPr>
            </a:pPr>
            <a:r>
              <a:t>5. At $75, quantity demanded is 8,000 and quantity supplied is 11,000. Identify the imbalance and its size. Give two adjustments other than an immediate posted-price change.</a:t>
            </a:r>
          </a:p>
          <a:p xmlns:a="http://schemas.openxmlformats.org/drawingml/2006/main">
            <a:pPr marL="254000" indent="-152400" algn="l">
              <a:spcAft>
                <a:spcPts val="1600"/>
              </a:spcAft>
              <a:defRPr sz="2325" b="0" i="0">
                <a:solidFill>
                  <a:srgbClr val="1D2A33"/>
                </a:solidFill>
                <a:latin typeface="Aptos"/>
                <a:ea typeface="Aptos"/>
                <a:cs typeface="Aptos"/>
              </a:defRPr>
            </a:pPr>
            <a:r>
              <a:t>6. Ticket price rises 8% and quantity demanded falls 4%. Calculate elasticity, classify demand, and predict revenue.</a:t>
            </a:r>
          </a:p>
        </p:txBody>
      </p:sp>
      <p:sp>
        <p:nvSpPr>
          <p:cNvPr id="4" name="">
            <a:extLst xmlns:a="http://schemas.openxmlformats.org/drawingml/2006/main">
              <a:ext uri="{FF2B5EF4-FFF2-40B4-BE49-F238E27FC236}">
                <a16:creationId xmlns:a16="http://schemas.microsoft.com/office/drawing/2014/main" id="{AF45BCE5-FDFA-4711-BD6E-ED8EFC844235}"/>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B7FB6890-953B-4845-846F-79969F38E726}"/>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Problems And Applications</a:t>
            </a:r>
          </a:p>
        </p:txBody>
      </p:sp>
      <p:sp>
        <p:nvSpPr>
          <p:cNvPr id="6" name="text-5">
            <a:extLst xmlns:a="http://schemas.openxmlformats.org/drawingml/2006/main">
              <a:ext uri="{FF2B5EF4-FFF2-40B4-BE49-F238E27FC236}">
                <a16:creationId xmlns:a16="http://schemas.microsoft.com/office/drawing/2014/main" id="{C94A1AFC-7B3B-44A4-8CE8-EED11B836F42}"/>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71</a:t>
            </a:r>
          </a:p>
        </p:txBody>
      </p:sp>
    </p:spTree>
    <p:extLst>
      <p:ext uri="{BB962C8B-B14F-4D97-AF65-F5344CB8AC3E}">
        <p14:creationId xmlns:p14="http://schemas.microsoft.com/office/powerpoint/2010/main" val="213754365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DBC9345-EC06-42BB-8888-84095CE95254}"/>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PRACTICE</a:t>
            </a:r>
          </a:p>
        </p:txBody>
      </p:sp>
      <p:sp>
        <p:nvSpPr>
          <p:cNvPr id="2" name="text-1">
            <a:extLst xmlns:a="http://schemas.openxmlformats.org/drawingml/2006/main">
              <a:ext uri="{FF2B5EF4-FFF2-40B4-BE49-F238E27FC236}">
                <a16:creationId xmlns:a16="http://schemas.microsoft.com/office/drawing/2014/main" id="{2430A92B-86A5-4C0B-8559-F7C49CC99EC1}"/>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Practice 7–8 · Two other elasticities</a:t>
            </a:r>
          </a:p>
        </p:txBody>
      </p:sp>
      <p:sp>
        <p:nvSpPr>
          <p:cNvPr id="3" name="text-2">
            <a:extLst xmlns:a="http://schemas.openxmlformats.org/drawingml/2006/main">
              <a:ext uri="{FF2B5EF4-FFF2-40B4-BE49-F238E27FC236}">
                <a16:creationId xmlns:a16="http://schemas.microsoft.com/office/drawing/2014/main" id="{E130250D-2BD0-4DB1-8005-C9CA88D031A1}"/>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defRPr sz="2325" b="0" i="0">
                <a:solidFill>
                  <a:srgbClr val="1D2A33"/>
                </a:solidFill>
                <a:latin typeface="Aptos"/>
                <a:ea typeface="Aptos"/>
                <a:cs typeface="Aptos"/>
              </a:defRPr>
            </a:pPr>
            <a:r>
              <a:t>7. Parking price rises 20% and ticket demand falls 5%. Calculate cross-price elasticity. Classify the relationship and state a caution.</a:t>
            </a:r>
          </a:p>
          <a:p xmlns:a="http://schemas.openxmlformats.org/drawingml/2006/main">
            <a:pPr marL="254000" indent="-152400" algn="l">
              <a:spcAft>
                <a:spcPts val="1600"/>
              </a:spcAft>
              <a:defRPr sz="2325" b="0" i="0">
                <a:solidFill>
                  <a:srgbClr val="1D2A33"/>
                </a:solidFill>
                <a:latin typeface="Aptos"/>
                <a:ea typeface="Aptos"/>
                <a:cs typeface="Aptos"/>
              </a:defRPr>
            </a:pPr>
            <a:r>
              <a:t>8. Income rises 10% and demand for one premium ticket product rises 15%. Calculate income elasticity. Does it apply to all tickets?</a:t>
            </a:r>
          </a:p>
        </p:txBody>
      </p:sp>
      <p:sp>
        <p:nvSpPr>
          <p:cNvPr id="4" name="">
            <a:extLst xmlns:a="http://schemas.openxmlformats.org/drawingml/2006/main">
              <a:ext uri="{FF2B5EF4-FFF2-40B4-BE49-F238E27FC236}">
                <a16:creationId xmlns:a16="http://schemas.microsoft.com/office/drawing/2014/main" id="{4896B1B3-94BE-4C28-8748-8545E981B23B}"/>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D61CA1D6-AD66-453E-AB0F-67D619F1201B}"/>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Problems And Applications</a:t>
            </a:r>
          </a:p>
        </p:txBody>
      </p:sp>
      <p:sp>
        <p:nvSpPr>
          <p:cNvPr id="6" name="text-5">
            <a:extLst xmlns:a="http://schemas.openxmlformats.org/drawingml/2006/main">
              <a:ext uri="{FF2B5EF4-FFF2-40B4-BE49-F238E27FC236}">
                <a16:creationId xmlns:a16="http://schemas.microsoft.com/office/drawing/2014/main" id="{7D93E369-006E-48E0-9CD6-FBA589D82337}"/>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72</a:t>
            </a:r>
          </a:p>
        </p:txBody>
      </p:sp>
    </p:spTree>
    <p:extLst>
      <p:ext uri="{BB962C8B-B14F-4D97-AF65-F5344CB8AC3E}">
        <p14:creationId xmlns:p14="http://schemas.microsoft.com/office/powerpoint/2010/main" val="101001943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F69CB38-D1A7-4712-BD65-940F3942ECA1}"/>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PRACTICE</a:t>
            </a:r>
          </a:p>
        </p:txBody>
      </p:sp>
      <p:sp>
        <p:nvSpPr>
          <p:cNvPr id="2" name="text-1">
            <a:extLst xmlns:a="http://schemas.openxmlformats.org/drawingml/2006/main">
              <a:ext uri="{FF2B5EF4-FFF2-40B4-BE49-F238E27FC236}">
                <a16:creationId xmlns:a16="http://schemas.microsoft.com/office/drawing/2014/main" id="{0C057151-636B-4A08-B40A-18B0F22C5B04}"/>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Practice 9–10 · Time and simultaneous shifts</a:t>
            </a:r>
          </a:p>
        </p:txBody>
      </p:sp>
      <p:sp>
        <p:nvSpPr>
          <p:cNvPr id="3" name="text-2">
            <a:extLst xmlns:a="http://schemas.openxmlformats.org/drawingml/2006/main">
              <a:ext uri="{FF2B5EF4-FFF2-40B4-BE49-F238E27FC236}">
                <a16:creationId xmlns:a16="http://schemas.microsoft.com/office/drawing/2014/main" id="{9866519F-4C4B-4608-8CE1-AC498AC8CDE9}"/>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defRPr sz="2325" b="0" i="0">
                <a:solidFill>
                  <a:srgbClr val="1D2A33"/>
                </a:solidFill>
                <a:latin typeface="Aptos"/>
                <a:ea typeface="Aptos"/>
                <a:cs typeface="Aptos"/>
              </a:defRPr>
            </a:pPr>
            <a:r>
              <a:t>9. Tomorrow’s admissions are fixed at 50,000, but jersey output can expand over several months. Compare price elasticity of supply.</a:t>
            </a:r>
          </a:p>
          <a:p xmlns:a="http://schemas.openxmlformats.org/drawingml/2006/main">
            <a:pPr marL="254000" indent="-152400" algn="l">
              <a:spcAft>
                <a:spcPts val="1600"/>
              </a:spcAft>
              <a:defRPr sz="2325" b="0" i="0">
                <a:solidFill>
                  <a:srgbClr val="1D2A33"/>
                </a:solidFill>
                <a:latin typeface="Aptos"/>
                <a:ea typeface="Aptos"/>
                <a:cs typeface="Aptos"/>
              </a:defRPr>
            </a:pPr>
            <a:r>
              <a:t>10. Demand increases while supply decreases. What happens unambiguously to price? Why is quantity ambiguous?</a:t>
            </a:r>
          </a:p>
        </p:txBody>
      </p:sp>
      <p:sp>
        <p:nvSpPr>
          <p:cNvPr id="4" name="">
            <a:extLst xmlns:a="http://schemas.openxmlformats.org/drawingml/2006/main">
              <a:ext uri="{FF2B5EF4-FFF2-40B4-BE49-F238E27FC236}">
                <a16:creationId xmlns:a16="http://schemas.microsoft.com/office/drawing/2014/main" id="{7C2A11D2-1B4C-4946-8F63-1D6C9294CA15}"/>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3443F22E-4F39-42AA-87D1-A8BE2A231A90}"/>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Problems And Applications</a:t>
            </a:r>
          </a:p>
        </p:txBody>
      </p:sp>
      <p:sp>
        <p:nvSpPr>
          <p:cNvPr id="6" name="text-5">
            <a:extLst xmlns:a="http://schemas.openxmlformats.org/drawingml/2006/main">
              <a:ext uri="{FF2B5EF4-FFF2-40B4-BE49-F238E27FC236}">
                <a16:creationId xmlns:a16="http://schemas.microsoft.com/office/drawing/2014/main" id="{94AF718A-2698-4410-ABA6-3FB28C1C2115}"/>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73</a:t>
            </a:r>
          </a:p>
        </p:txBody>
      </p:sp>
    </p:spTree>
    <p:extLst>
      <p:ext uri="{BB962C8B-B14F-4D97-AF65-F5344CB8AC3E}">
        <p14:creationId xmlns:p14="http://schemas.microsoft.com/office/powerpoint/2010/main" val="1634786883"/>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AC005BB-865F-489F-AE7B-BE7398BD6C6B}"/>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APPLICATION</a:t>
            </a:r>
          </a:p>
        </p:txBody>
      </p:sp>
      <p:sp>
        <p:nvSpPr>
          <p:cNvPr id="2" name="text-1">
            <a:extLst xmlns:a="http://schemas.openxmlformats.org/drawingml/2006/main">
              <a:ext uri="{FF2B5EF4-FFF2-40B4-BE49-F238E27FC236}">
                <a16:creationId xmlns:a16="http://schemas.microsoft.com/office/drawing/2014/main" id="{96EC69FD-D01A-4547-A417-92A6DB6B8CE2}"/>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Evidence activity · Bring a claim to class</a:t>
            </a:r>
          </a:p>
        </p:txBody>
      </p:sp>
      <p:sp>
        <p:nvSpPr>
          <p:cNvPr id="3" name="text-2">
            <a:extLst xmlns:a="http://schemas.openxmlformats.org/drawingml/2006/main">
              <a:ext uri="{FF2B5EF4-FFF2-40B4-BE49-F238E27FC236}">
                <a16:creationId xmlns:a16="http://schemas.microsoft.com/office/drawing/2014/main" id="{E170569C-46C7-4AF2-A295-FBA8850351E5}"/>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Find an article claiming a signing, winning streak, promotion, or stadium change raised ticket demand or attendance.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Record the link and access date.</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Use the next five questions to assess what the evidence can support.</a:t>
            </a:r>
          </a:p>
        </p:txBody>
      </p:sp>
      <p:sp>
        <p:nvSpPr>
          <p:cNvPr id="4" name="">
            <a:extLst xmlns:a="http://schemas.openxmlformats.org/drawingml/2006/main">
              <a:ext uri="{FF2B5EF4-FFF2-40B4-BE49-F238E27FC236}">
                <a16:creationId xmlns:a16="http://schemas.microsoft.com/office/drawing/2014/main" id="{54248F5E-730E-4E62-B1FA-1CD3C05D9491}"/>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7D0EC62D-8CFF-4D34-AC7B-99A288B17D57}"/>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Evidence Activity</a:t>
            </a:r>
          </a:p>
        </p:txBody>
      </p:sp>
      <p:sp>
        <p:nvSpPr>
          <p:cNvPr id="6" name="text-5">
            <a:extLst xmlns:a="http://schemas.openxmlformats.org/drawingml/2006/main">
              <a:ext uri="{FF2B5EF4-FFF2-40B4-BE49-F238E27FC236}">
                <a16:creationId xmlns:a16="http://schemas.microsoft.com/office/drawing/2014/main" id="{2D3FFCA1-FF77-45D4-B7FD-7EBA3EA95C6F}"/>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74</a:t>
            </a:r>
          </a:p>
        </p:txBody>
      </p:sp>
    </p:spTree>
    <p:extLst>
      <p:ext uri="{BB962C8B-B14F-4D97-AF65-F5344CB8AC3E}">
        <p14:creationId xmlns:p14="http://schemas.microsoft.com/office/powerpoint/2010/main" val="134880207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BE99613-6B03-47EC-A853-0FCF1EB452EF}"/>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APPLICATION</a:t>
            </a:r>
          </a:p>
        </p:txBody>
      </p:sp>
      <p:sp>
        <p:nvSpPr>
          <p:cNvPr id="2" name="text-1">
            <a:extLst xmlns:a="http://schemas.openxmlformats.org/drawingml/2006/main">
              <a:ext uri="{FF2B5EF4-FFF2-40B4-BE49-F238E27FC236}">
                <a16:creationId xmlns:a16="http://schemas.microsoft.com/office/drawing/2014/main" id="{3A307A1A-5257-469E-97CE-99E4D417E71F}"/>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Evidence activity · Evaluate the claim</a:t>
            </a:r>
          </a:p>
        </p:txBody>
      </p:sp>
      <p:sp>
        <p:nvSpPr>
          <p:cNvPr id="3" name="text-2">
            <a:extLst xmlns:a="http://schemas.openxmlformats.org/drawingml/2006/main">
              <a:ext uri="{FF2B5EF4-FFF2-40B4-BE49-F238E27FC236}">
                <a16:creationId xmlns:a16="http://schemas.microsoft.com/office/drawing/2014/main" id="{11D61A44-2BDF-4477-B1B9-23C9A725E3A9}"/>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What market and time period does the claim concern?</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Is the article describing quantity demanded, attendance, price, revenue, or demand itself?</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Which demand or supply determinant supposedly changed?</a:t>
            </a:r>
          </a:p>
        </p:txBody>
      </p:sp>
      <p:sp>
        <p:nvSpPr>
          <p:cNvPr id="4" name="">
            <a:extLst xmlns:a="http://schemas.openxmlformats.org/drawingml/2006/main">
              <a:ext uri="{FF2B5EF4-FFF2-40B4-BE49-F238E27FC236}">
                <a16:creationId xmlns:a16="http://schemas.microsoft.com/office/drawing/2014/main" id="{20A104B7-3781-43DC-84EA-CD2E7066A40E}"/>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DA9B0320-938C-4824-9228-46E341FFDCCD}"/>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Evidence Activity</a:t>
            </a:r>
          </a:p>
        </p:txBody>
      </p:sp>
      <p:sp>
        <p:nvSpPr>
          <p:cNvPr id="6" name="text-5">
            <a:extLst xmlns:a="http://schemas.openxmlformats.org/drawingml/2006/main">
              <a:ext uri="{FF2B5EF4-FFF2-40B4-BE49-F238E27FC236}">
                <a16:creationId xmlns:a16="http://schemas.microsoft.com/office/drawing/2014/main" id="{5C7BB425-7145-499D-AD35-18481141FABC}"/>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75</a:t>
            </a:r>
          </a:p>
        </p:txBody>
      </p:sp>
    </p:spTree>
    <p:extLst>
      <p:ext uri="{BB962C8B-B14F-4D97-AF65-F5344CB8AC3E}">
        <p14:creationId xmlns:p14="http://schemas.microsoft.com/office/powerpoint/2010/main" val="1553639642"/>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AB15C97-F7C0-424E-93EF-48413995A845}"/>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APPLICATION</a:t>
            </a:r>
          </a:p>
        </p:txBody>
      </p:sp>
      <p:sp>
        <p:nvSpPr>
          <p:cNvPr id="2" name="text-1">
            <a:extLst xmlns:a="http://schemas.openxmlformats.org/drawingml/2006/main">
              <a:ext uri="{FF2B5EF4-FFF2-40B4-BE49-F238E27FC236}">
                <a16:creationId xmlns:a16="http://schemas.microsoft.com/office/drawing/2014/main" id="{687A5A3D-1948-4409-B1E5-F62DB89B5505}"/>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Evidence activity · State the limits</a:t>
            </a:r>
          </a:p>
        </p:txBody>
      </p:sp>
      <p:sp>
        <p:nvSpPr>
          <p:cNvPr id="3" name="text-2">
            <a:extLst xmlns:a="http://schemas.openxmlformats.org/drawingml/2006/main">
              <a:ext uri="{FF2B5EF4-FFF2-40B4-BE49-F238E27FC236}">
                <a16:creationId xmlns:a16="http://schemas.microsoft.com/office/drawing/2014/main" id="{2246EC85-BBA5-4F3C-AE39-83D73B4C35FE}"/>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What is the relevant counterfactual—what would have happened without the event?</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Does the evidence establish a causal shift, show only an association, or merely offer a plausible story?</a:t>
            </a:r>
          </a:p>
        </p:txBody>
      </p:sp>
      <p:sp>
        <p:nvSpPr>
          <p:cNvPr id="4" name="text-3">
            <a:extLst xmlns:a="http://schemas.openxmlformats.org/drawingml/2006/main">
              <a:ext uri="{FF2B5EF4-FFF2-40B4-BE49-F238E27FC236}">
                <a16:creationId xmlns:a16="http://schemas.microsoft.com/office/drawing/2014/main" id="{8421B62E-F80D-4F6D-A190-5B5E16D63B47}"/>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Rewrite the claim so it says no more than the evidence supports.</a:t>
            </a:r>
          </a:p>
        </p:txBody>
      </p:sp>
      <p:sp>
        <p:nvSpPr>
          <p:cNvPr id="5" name="">
            <a:extLst xmlns:a="http://schemas.openxmlformats.org/drawingml/2006/main">
              <a:ext uri="{FF2B5EF4-FFF2-40B4-BE49-F238E27FC236}">
                <a16:creationId xmlns:a16="http://schemas.microsoft.com/office/drawing/2014/main" id="{0B134CAE-E1F9-4053-ACC1-0B01A81DB6C3}"/>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D0C4379D-6A5D-4340-A520-1444B6A85C02}"/>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Evidence Activity</a:t>
            </a:r>
          </a:p>
        </p:txBody>
      </p:sp>
      <p:sp>
        <p:nvSpPr>
          <p:cNvPr id="7" name="text-6">
            <a:extLst xmlns:a="http://schemas.openxmlformats.org/drawingml/2006/main">
              <a:ext uri="{FF2B5EF4-FFF2-40B4-BE49-F238E27FC236}">
                <a16:creationId xmlns:a16="http://schemas.microsoft.com/office/drawing/2014/main" id="{EFE6ECBA-59D0-460F-B8A2-36774F42AB7F}"/>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76</a:t>
            </a:r>
          </a:p>
        </p:txBody>
      </p:sp>
    </p:spTree>
    <p:extLst>
      <p:ext uri="{BB962C8B-B14F-4D97-AF65-F5344CB8AC3E}">
        <p14:creationId xmlns:p14="http://schemas.microsoft.com/office/powerpoint/2010/main" val="704009545"/>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DF7E028-A7A3-4D6C-A068-76B115BE5021}"/>
              </a:ext>
            </a:extLst>
          </p:cNvPr>
          <p:cNvSpPr>
            <a:spLocks xmlns:a="http://schemas.openxmlformats.org/drawingml/2006/main" noGrp="1"/>
          </p:cNvSpPr>
          <p:nvPr/>
        </p:nvSpPr>
        <p:spPr>
          <a:xfrm xmlns:a="http://schemas.openxmlformats.org/drawingml/2006/main">
            <a:off x="457200" y="285750"/>
            <a:ext cx="1122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i="0">
                <a:solidFill>
                  <a:srgbClr val="C6532D"/>
                </a:solidFill>
                <a:latin typeface="Aptos"/>
                <a:ea typeface="Aptos"/>
                <a:cs typeface="Aptos"/>
              </a:defRPr>
            </a:pPr>
            <a:r>
              <a:rPr sz="1125" b="1" i="0">
                <a:solidFill>
                  <a:srgbClr val="C6532D"/>
                </a:solidFill>
                <a:latin typeface="Aptos"/>
                <a:ea typeface="Aptos"/>
                <a:cs typeface="Aptos"/>
              </a:rPr>
              <a:t>CHAPTER 2  /  REFERENCE</a:t>
            </a:r>
          </a:p>
        </p:txBody>
      </p:sp>
      <p:sp>
        <p:nvSpPr>
          <p:cNvPr id="2" name="text-1">
            <a:extLst xmlns:a="http://schemas.openxmlformats.org/drawingml/2006/main">
              <a:ext uri="{FF2B5EF4-FFF2-40B4-BE49-F238E27FC236}">
                <a16:creationId xmlns:a16="http://schemas.microsoft.com/office/drawing/2014/main" id="{9497482D-D193-4DD4-9C08-983FFE3B500B}"/>
              </a:ext>
            </a:extLst>
          </p:cNvPr>
          <p:cNvSpPr>
            <a:spLocks xmlns:a="http://schemas.openxmlformats.org/drawingml/2006/main" noGrp="1"/>
          </p:cNvSpPr>
          <p:nvPr/>
        </p:nvSpPr>
        <p:spPr>
          <a:xfrm xmlns:a="http://schemas.openxmlformats.org/drawingml/2006/main">
            <a:off x="457200" y="742950"/>
            <a:ext cx="11277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000" b="1" i="0">
                <a:solidFill>
                  <a:srgbClr val="1D2A33"/>
                </a:solidFill>
                <a:latin typeface="Aptos"/>
                <a:ea typeface="Aptos"/>
                <a:cs typeface="Aptos"/>
              </a:defRPr>
            </a:pPr>
            <a:r>
              <a:rPr sz="3000" b="1" i="0">
                <a:solidFill>
                  <a:srgbClr val="1D2A33"/>
                </a:solidFill>
                <a:latin typeface="Aptos"/>
                <a:ea typeface="Aptos"/>
                <a:cs typeface="Aptos"/>
              </a:rPr>
              <a:t>Sources and reading</a:t>
            </a:r>
          </a:p>
        </p:txBody>
      </p:sp>
      <p:sp>
        <p:nvSpPr>
          <p:cNvPr id="3" name="text-2">
            <a:extLst xmlns:a="http://schemas.openxmlformats.org/drawingml/2006/main">
              <a:ext uri="{FF2B5EF4-FFF2-40B4-BE49-F238E27FC236}">
                <a16:creationId xmlns:a16="http://schemas.microsoft.com/office/drawing/2014/main" id="{D9AD0769-026F-4ACE-B887-DD661F392A5E}"/>
              </a:ext>
            </a:extLst>
          </p:cNvPr>
          <p:cNvSpPr>
            <a:spLocks xmlns:a="http://schemas.openxmlformats.org/drawingml/2006/main" noGrp="1"/>
          </p:cNvSpPr>
          <p:nvPr/>
        </p:nvSpPr>
        <p:spPr>
          <a:xfrm xmlns:a="http://schemas.openxmlformats.org/drawingml/2006/main">
            <a:off x="723900" y="1819275"/>
            <a:ext cx="1074420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254000" indent="-152400" algn="l">
              <a:spcAft>
                <a:spcPts val="1600"/>
              </a:spcAft>
              <a:buChar char="•"/>
              <a:defRPr sz="2400" b="0" i="0">
                <a:solidFill>
                  <a:srgbClr val="1D2A33"/>
                </a:solidFill>
                <a:latin typeface="Aptos"/>
                <a:ea typeface="Aptos"/>
                <a:cs typeface="Aptos"/>
              </a:defRPr>
            </a:pPr>
            <a:r>
              <a:t>The chapter’s Source Notes document the Ruth and Ohtani examples.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The schedules, curves, and calculation exercises are hypothetical teaching examples.</a:t>
            </a:r>
          </a:p>
          <a:p xmlns:a="http://schemas.openxmlformats.org/drawingml/2006/main">
            <a:pPr marL="254000" indent="-152400" algn="l">
              <a:spcAft>
                <a:spcPts val="1600"/>
              </a:spcAft>
              <a:buChar char="•"/>
              <a:defRPr sz="2400" b="0" i="0">
                <a:solidFill>
                  <a:srgbClr val="1D2A33"/>
                </a:solidFill>
                <a:latin typeface="Aptos"/>
                <a:ea typeface="Aptos"/>
                <a:cs typeface="Aptos"/>
              </a:defRPr>
            </a:pPr>
            <a:r>
              <a:t>The Markdown chapter contains the complete explanations, figures, questions, and citations.</a:t>
            </a:r>
          </a:p>
        </p:txBody>
      </p:sp>
      <p:sp>
        <p:nvSpPr>
          <p:cNvPr id="4" name="text-3">
            <a:extLst xmlns:a="http://schemas.openxmlformats.org/drawingml/2006/main">
              <a:ext uri="{FF2B5EF4-FFF2-40B4-BE49-F238E27FC236}">
                <a16:creationId xmlns:a16="http://schemas.microsoft.com/office/drawing/2014/main" id="{EEBB2235-2A78-4052-8461-D9EDA0F5F117}"/>
              </a:ext>
            </a:extLst>
          </p:cNvPr>
          <p:cNvSpPr>
            <a:spLocks xmlns:a="http://schemas.openxmlformats.org/drawingml/2006/main" noGrp="1"/>
          </p:cNvSpPr>
          <p:nvPr/>
        </p:nvSpPr>
        <p:spPr>
          <a:xfrm xmlns:a="http://schemas.openxmlformats.org/drawingml/2006/main">
            <a:off x="723900" y="5486400"/>
            <a:ext cx="10744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i="0">
                <a:solidFill>
                  <a:srgbClr val="12455E"/>
                </a:solidFill>
                <a:latin typeface="Aptos"/>
                <a:ea typeface="Aptos"/>
                <a:cs typeface="Aptos"/>
              </a:defRPr>
            </a:pPr>
            <a:r>
              <a:rPr sz="2100" b="1" i="0">
                <a:solidFill>
                  <a:srgbClr val="12455E"/>
                </a:solidFill>
                <a:latin typeface="Aptos"/>
                <a:ea typeface="Aptos"/>
                <a:cs typeface="Aptos"/>
              </a:rPr>
              <a:t>Book and slides should tell the same economic story.</a:t>
            </a:r>
          </a:p>
        </p:txBody>
      </p:sp>
      <p:sp>
        <p:nvSpPr>
          <p:cNvPr id="5" name="">
            <a:extLst xmlns:a="http://schemas.openxmlformats.org/drawingml/2006/main">
              <a:ext uri="{FF2B5EF4-FFF2-40B4-BE49-F238E27FC236}">
                <a16:creationId xmlns:a16="http://schemas.microsoft.com/office/drawing/2014/main" id="{837D6AC7-31BE-43AB-9AED-715B7DB88817}"/>
              </a:ext>
            </a:extLst>
          </p:cNvPr>
          <p:cNvSpPr>
            <a:spLocks xmlns:a="http://schemas.openxmlformats.org/drawingml/2006/main" noGrp="1"/>
          </p:cNvSpPr>
          <p:nvPr/>
        </p:nvSpPr>
        <p:spPr>
          <a:xfrm xmlns:a="http://schemas.openxmlformats.org/drawingml/2006/main">
            <a:off x="457200" y="6296025"/>
            <a:ext cx="11277600" cy="9525"/>
          </a:xfrm>
          <a:prstGeom xmlns:a="http://schemas.openxmlformats.org/drawingml/2006/main" prst="rect">
            <a:avLst/>
          </a:prstGeom>
          <a:solidFill xmlns:a="http://schemas.openxmlformats.org/drawingml/2006/main">
            <a:srgbClr val="CBD4DA"/>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C49E4C39-C19E-4408-AF07-E588A2ADE2A2}"/>
              </a:ext>
            </a:extLst>
          </p:cNvPr>
          <p:cNvSpPr>
            <a:spLocks xmlns:a="http://schemas.openxmlformats.org/drawingml/2006/main" noGrp="1"/>
          </p:cNvSpPr>
          <p:nvPr/>
        </p:nvSpPr>
        <p:spPr>
          <a:xfrm xmlns:a="http://schemas.openxmlformats.org/drawingml/2006/main">
            <a:off x="457200" y="64198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Source Notes</a:t>
            </a:r>
          </a:p>
        </p:txBody>
      </p:sp>
      <p:sp>
        <p:nvSpPr>
          <p:cNvPr id="7" name="text-6">
            <a:extLst xmlns:a="http://schemas.openxmlformats.org/drawingml/2006/main">
              <a:ext uri="{FF2B5EF4-FFF2-40B4-BE49-F238E27FC236}">
                <a16:creationId xmlns:a16="http://schemas.microsoft.com/office/drawing/2014/main" id="{9D5568AF-54A9-437A-98E3-D49C6B59B1A2}"/>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i="0">
                <a:solidFill>
                  <a:srgbClr val="5F6F79"/>
                </a:solidFill>
                <a:latin typeface="Aptos"/>
                <a:ea typeface="Aptos"/>
                <a:cs typeface="Aptos"/>
              </a:defRPr>
            </a:pPr>
            <a:r>
              <a:rPr sz="975" b="0" i="0">
                <a:solidFill>
                  <a:srgbClr val="5F6F79"/>
                </a:solidFill>
                <a:latin typeface="Aptos"/>
                <a:ea typeface="Aptos"/>
                <a:cs typeface="Aptos"/>
              </a:rPr>
              <a:t>77</a:t>
            </a:r>
          </a:p>
        </p:txBody>
      </p:sp>
    </p:spTree>
    <p:extLst>
      <p:ext uri="{BB962C8B-B14F-4D97-AF65-F5344CB8AC3E}">
        <p14:creationId xmlns:p14="http://schemas.microsoft.com/office/powerpoint/2010/main" val="17620303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2026-09-10T17:45:13.0520000Z</dcterms:created>
  <dcterms:modified xsi:type="dcterms:W3CDTF">2026-09-10T17:45:13.0520000Z</dcterms:modified>
</coreProperties>
</file>