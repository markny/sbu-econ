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669a64d72b4520" /><Relationship Type="http://schemas.openxmlformats.org/officeDocument/2006/relationships/extended-properties" Target="/docProps/app.xml" Id="Rf6604f28aa974d78" /><Relationship Type="http://schemas.openxmlformats.org/officeDocument/2006/relationships/officeDocument" Target="/ppt/presentation.xml" Id="Rc7ba39b2b2d247e1" /></Relationships>
</file>

<file path=ppt/presentation.xml><?xml version="1.0" encoding="utf-8"?>
<p:presentation xmlns:p="http://schemas.openxmlformats.org/presentationml/2006/main">
  <p:sldMasterIdLst>
    <p:sldMasterId xmlns:r="http://schemas.openxmlformats.org/officeDocument/2006/relationships" id="2147483648" r:id="Rfa4d488d8dce43fe"/>
  </p:sldMasterIdLst>
  <p:notesMasterIdLst>
    <p:notesMasterId xmlns:r="http://schemas.openxmlformats.org/officeDocument/2006/relationships" r:id="R6230d76769934ca7"/>
  </p:notesMasterIdLst>
  <p:sldIdLst>
    <p:sldId xmlns:r="http://schemas.openxmlformats.org/officeDocument/2006/relationships" id="256" r:id="Rff66ca5f4cc9496f"/>
    <p:sldId xmlns:r="http://schemas.openxmlformats.org/officeDocument/2006/relationships" id="257" r:id="Rcaac817837984ede"/>
    <p:sldId xmlns:r="http://schemas.openxmlformats.org/officeDocument/2006/relationships" id="258" r:id="Rf5e3b92ba0e24949"/>
    <p:sldId xmlns:r="http://schemas.openxmlformats.org/officeDocument/2006/relationships" id="259" r:id="R885e7f4b4bc6415b"/>
    <p:sldId xmlns:r="http://schemas.openxmlformats.org/officeDocument/2006/relationships" id="260" r:id="R15066951bf4f40b5"/>
    <p:sldId xmlns:r="http://schemas.openxmlformats.org/officeDocument/2006/relationships" id="261" r:id="R35585311c09343f4"/>
    <p:sldId xmlns:r="http://schemas.openxmlformats.org/officeDocument/2006/relationships" id="262" r:id="Rc097cc9fd0594d28"/>
    <p:sldId xmlns:r="http://schemas.openxmlformats.org/officeDocument/2006/relationships" id="263" r:id="R670d6b9ef40e45f8"/>
    <p:sldId xmlns:r="http://schemas.openxmlformats.org/officeDocument/2006/relationships" id="264" r:id="R631bc281fde64a95"/>
    <p:sldId xmlns:r="http://schemas.openxmlformats.org/officeDocument/2006/relationships" id="265" r:id="R180b2ca29207467e"/>
    <p:sldId xmlns:r="http://schemas.openxmlformats.org/officeDocument/2006/relationships" id="266" r:id="Rd690a59463204e65"/>
    <p:sldId xmlns:r="http://schemas.openxmlformats.org/officeDocument/2006/relationships" id="267" r:id="R9035529c11b74f1d"/>
    <p:sldId xmlns:r="http://schemas.openxmlformats.org/officeDocument/2006/relationships" id="268" r:id="Rae96379d697c4837"/>
    <p:sldId xmlns:r="http://schemas.openxmlformats.org/officeDocument/2006/relationships" id="269" r:id="Reed384a38a6c41c3"/>
    <p:sldId xmlns:r="http://schemas.openxmlformats.org/officeDocument/2006/relationships" id="270" r:id="R812ad8707d244242"/>
    <p:sldId xmlns:r="http://schemas.openxmlformats.org/officeDocument/2006/relationships" id="271" r:id="Re5c1bbc21bf84b5f"/>
    <p:sldId xmlns:r="http://schemas.openxmlformats.org/officeDocument/2006/relationships" id="272" r:id="Rcedb91b7b5ea4b8c"/>
    <p:sldId xmlns:r="http://schemas.openxmlformats.org/officeDocument/2006/relationships" id="273" r:id="Rc42def75b0824acd"/>
    <p:sldId xmlns:r="http://schemas.openxmlformats.org/officeDocument/2006/relationships" id="274" r:id="Rd3fbd3bd02ef414a"/>
    <p:sldId xmlns:r="http://schemas.openxmlformats.org/officeDocument/2006/relationships" id="275" r:id="Re9d88106afae41e2"/>
    <p:sldId xmlns:r="http://schemas.openxmlformats.org/officeDocument/2006/relationships" id="276" r:id="R2c5fb5de7efb4bac"/>
    <p:sldId xmlns:r="http://schemas.openxmlformats.org/officeDocument/2006/relationships" id="277" r:id="Rd8c1ed326ac34ce3"/>
    <p:sldId xmlns:r="http://schemas.openxmlformats.org/officeDocument/2006/relationships" id="278" r:id="Reb95b1ea8bea465f"/>
    <p:sldId xmlns:r="http://schemas.openxmlformats.org/officeDocument/2006/relationships" id="279" r:id="Rd7274bd482f047e3"/>
    <p:sldId xmlns:r="http://schemas.openxmlformats.org/officeDocument/2006/relationships" id="280" r:id="R5ff5c4ac06d9464f"/>
    <p:sldId xmlns:r="http://schemas.openxmlformats.org/officeDocument/2006/relationships" id="281" r:id="R7b4d00d0feb342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70fc16ff6cd4806" /><Relationship Type="http://schemas.openxmlformats.org/officeDocument/2006/relationships/slideMaster" Target="/ppt/slideMasters/slideMaster1.xml" Id="Rfa4d488d8dce43fe" /><Relationship Type="http://schemas.openxmlformats.org/officeDocument/2006/relationships/notesMaster" Target="/ppt/notesMasters/notesMaster1.xml" Id="R6230d76769934ca7" /><Relationship Type="http://schemas.openxmlformats.org/officeDocument/2006/relationships/presProps" Target="/ppt/presProps.xml" Id="R83d85917a777449b" /><Relationship Type="http://schemas.openxmlformats.org/officeDocument/2006/relationships/tableStyles" Target="/ppt/tableStyles.xml" Id="R07a828130c1847a1" /><Relationship Type="http://schemas.openxmlformats.org/officeDocument/2006/relationships/slide" Target="/ppt/slides/slide1.xml" Id="Rff66ca5f4cc9496f" /><Relationship Type="http://schemas.openxmlformats.org/officeDocument/2006/relationships/slide" Target="/ppt/slides/slide2.xml" Id="Rcaac817837984ede" /><Relationship Type="http://schemas.openxmlformats.org/officeDocument/2006/relationships/slide" Target="/ppt/slides/slide3.xml" Id="Rf5e3b92ba0e24949" /><Relationship Type="http://schemas.openxmlformats.org/officeDocument/2006/relationships/slide" Target="/ppt/slides/slide4.xml" Id="R885e7f4b4bc6415b" /><Relationship Type="http://schemas.openxmlformats.org/officeDocument/2006/relationships/slide" Target="/ppt/slides/slide5.xml" Id="R15066951bf4f40b5" /><Relationship Type="http://schemas.openxmlformats.org/officeDocument/2006/relationships/slide" Target="/ppt/slides/slide6.xml" Id="R35585311c09343f4" /><Relationship Type="http://schemas.openxmlformats.org/officeDocument/2006/relationships/slide" Target="/ppt/slides/slide7.xml" Id="Rc097cc9fd0594d28" /><Relationship Type="http://schemas.openxmlformats.org/officeDocument/2006/relationships/slide" Target="/ppt/slides/slide8.xml" Id="R670d6b9ef40e45f8" /><Relationship Type="http://schemas.openxmlformats.org/officeDocument/2006/relationships/slide" Target="/ppt/slides/slide9.xml" Id="R631bc281fde64a95" /><Relationship Type="http://schemas.openxmlformats.org/officeDocument/2006/relationships/slide" Target="/ppt/slides/slide10.xml" Id="R180b2ca29207467e" /><Relationship Type="http://schemas.openxmlformats.org/officeDocument/2006/relationships/slide" Target="/ppt/slides/slide11.xml" Id="Rd690a59463204e65" /><Relationship Type="http://schemas.openxmlformats.org/officeDocument/2006/relationships/slide" Target="/ppt/slides/slide12.xml" Id="R9035529c11b74f1d" /><Relationship Type="http://schemas.openxmlformats.org/officeDocument/2006/relationships/slide" Target="/ppt/slides/slide13.xml" Id="Rae96379d697c4837" /><Relationship Type="http://schemas.openxmlformats.org/officeDocument/2006/relationships/slide" Target="/ppt/slides/slide14.xml" Id="Reed384a38a6c41c3" /><Relationship Type="http://schemas.openxmlformats.org/officeDocument/2006/relationships/slide" Target="/ppt/slides/slide15.xml" Id="R812ad8707d244242" /><Relationship Type="http://schemas.openxmlformats.org/officeDocument/2006/relationships/slide" Target="/ppt/slides/slide16.xml" Id="Re5c1bbc21bf84b5f" /><Relationship Type="http://schemas.openxmlformats.org/officeDocument/2006/relationships/slide" Target="/ppt/slides/slide17.xml" Id="Rcedb91b7b5ea4b8c" /><Relationship Type="http://schemas.openxmlformats.org/officeDocument/2006/relationships/slide" Target="/ppt/slides/slide18.xml" Id="Rc42def75b0824acd" /><Relationship Type="http://schemas.openxmlformats.org/officeDocument/2006/relationships/slide" Target="/ppt/slides/slide19.xml" Id="Rd3fbd3bd02ef414a" /><Relationship Type="http://schemas.openxmlformats.org/officeDocument/2006/relationships/slide" Target="/ppt/slides/slide20.xml" Id="Re9d88106afae41e2" /><Relationship Type="http://schemas.openxmlformats.org/officeDocument/2006/relationships/slide" Target="/ppt/slides/slide21.xml" Id="R2c5fb5de7efb4bac" /><Relationship Type="http://schemas.openxmlformats.org/officeDocument/2006/relationships/slide" Target="/ppt/slides/slide22.xml" Id="Rd8c1ed326ac34ce3" /><Relationship Type="http://schemas.openxmlformats.org/officeDocument/2006/relationships/slide" Target="/ppt/slides/slide23.xml" Id="Reb95b1ea8bea465f" /><Relationship Type="http://schemas.openxmlformats.org/officeDocument/2006/relationships/slide" Target="/ppt/slides/slide24.xml" Id="Rd7274bd482f047e3" /><Relationship Type="http://schemas.openxmlformats.org/officeDocument/2006/relationships/slide" Target="/ppt/slides/slide25.xml" Id="R5ff5c4ac06d9464f" /><Relationship Type="http://schemas.openxmlformats.org/officeDocument/2006/relationships/slide" Target="/ppt/slides/slide26.xml" Id="R7b4d00d0feb342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2fd48ff8dd45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869fd1a0f3448d" /><Relationship Type="http://schemas.openxmlformats.org/officeDocument/2006/relationships/notesMaster" Target="/ppt/notesMasters/notesMaster1.xml" Id="R06cbfabb94a64fc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6aec9613114a0e" /><Relationship Type="http://schemas.openxmlformats.org/officeDocument/2006/relationships/notesMaster" Target="/ppt/notesMasters/notesMaster1.xml" Id="R2bcf6d454d1b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7505099beb4027" /><Relationship Type="http://schemas.openxmlformats.org/officeDocument/2006/relationships/notesMaster" Target="/ppt/notesMasters/notesMaster1.xml" Id="Rb7d1c101ef2c4c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8a0b458d9b47f6" /><Relationship Type="http://schemas.openxmlformats.org/officeDocument/2006/relationships/notesMaster" Target="/ppt/notesMasters/notesMaster1.xml" Id="R4a63e83add1b4b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e35714e41448dc" /><Relationship Type="http://schemas.openxmlformats.org/officeDocument/2006/relationships/notesMaster" Target="/ppt/notesMasters/notesMaster1.xml" Id="Rf72efd32a42443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af53e3d9744cde" /><Relationship Type="http://schemas.openxmlformats.org/officeDocument/2006/relationships/notesMaster" Target="/ppt/notesMasters/notesMaster1.xml" Id="Rcfad123fb8fa49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ecdcbca5874f9f" /><Relationship Type="http://schemas.openxmlformats.org/officeDocument/2006/relationships/notesMaster" Target="/ppt/notesMasters/notesMaster1.xml" Id="Rb6d16183fb1840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21ede1483a824077" /><Relationship Type="http://schemas.openxmlformats.org/officeDocument/2006/relationships/notesMaster" Target="/ppt/notesMasters/notesMaster1.xml" Id="Rb5dcbd9582f147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571ec9fcec477a" /><Relationship Type="http://schemas.openxmlformats.org/officeDocument/2006/relationships/notesMaster" Target="/ppt/notesMasters/notesMaster1.xml" Id="Rf845bb7f79c346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300d7e97ae4a54" /><Relationship Type="http://schemas.openxmlformats.org/officeDocument/2006/relationships/notesMaster" Target="/ppt/notesMasters/notesMaster1.xml" Id="R4880dde4224940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405e3821ef04db2" /><Relationship Type="http://schemas.openxmlformats.org/officeDocument/2006/relationships/notesMaster" Target="/ppt/notesMasters/notesMaster1.xml" Id="R64fdb4b2d7ab4b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616436b5334e38" /><Relationship Type="http://schemas.openxmlformats.org/officeDocument/2006/relationships/notesMaster" Target="/ppt/notesMasters/notesMaster1.xml" Id="R1dd5e4a298ef45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3ff1c195e24cfe" /><Relationship Type="http://schemas.openxmlformats.org/officeDocument/2006/relationships/notesMaster" Target="/ppt/notesMasters/notesMaster1.xml" Id="R035b7251f1dd48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2fd16208374513" /><Relationship Type="http://schemas.openxmlformats.org/officeDocument/2006/relationships/notesMaster" Target="/ppt/notesMasters/notesMaster1.xml" Id="R6074d99561bf4c4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54c2ff29d24fed" /><Relationship Type="http://schemas.openxmlformats.org/officeDocument/2006/relationships/notesMaster" Target="/ppt/notesMasters/notesMaster1.xml" Id="R613b9c80693b483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5467ba3c274a4e" /><Relationship Type="http://schemas.openxmlformats.org/officeDocument/2006/relationships/notesMaster" Target="/ppt/notesMasters/notesMaster1.xml" Id="R9237444ee686409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d2d6c103ce4071" /><Relationship Type="http://schemas.openxmlformats.org/officeDocument/2006/relationships/notesMaster" Target="/ppt/notesMasters/notesMaster1.xml" Id="R7501985b3ffa4e5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0066862ade40fc" /><Relationship Type="http://schemas.openxmlformats.org/officeDocument/2006/relationships/notesMaster" Target="/ppt/notesMasters/notesMaster1.xml" Id="Rac1b26b6742242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13e3c9de84d4f01" /><Relationship Type="http://schemas.openxmlformats.org/officeDocument/2006/relationships/notesMaster" Target="/ppt/notesMasters/notesMaster1.xml" Id="R6132d53a696c49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6cbc722315b49e8" /><Relationship Type="http://schemas.openxmlformats.org/officeDocument/2006/relationships/notesMaster" Target="/ppt/notesMasters/notesMaster1.xml" Id="R6a081b6f82a248a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4e60b1645094ee7" /><Relationship Type="http://schemas.openxmlformats.org/officeDocument/2006/relationships/notesMaster" Target="/ppt/notesMasters/notesMaster1.xml" Id="Rf31d2edbcc1740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ce9f60671c64b9d" /><Relationship Type="http://schemas.openxmlformats.org/officeDocument/2006/relationships/notesMaster" Target="/ppt/notesMasters/notesMaster1.xml" Id="Rf49baacc945b4cf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79d9158c5b454f" /><Relationship Type="http://schemas.openxmlformats.org/officeDocument/2006/relationships/notesMaster" Target="/ppt/notesMasters/notesMaster1.xml" Id="R47f7548e28f24a7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a4b6e5a6a8b4e97" /><Relationship Type="http://schemas.openxmlformats.org/officeDocument/2006/relationships/notesMaster" Target="/ppt/notesMasters/notesMaster1.xml" Id="R5d94a274af4447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33357ac15ce41bd" /><Relationship Type="http://schemas.openxmlformats.org/officeDocument/2006/relationships/notesMaster" Target="/ppt/notesMasters/notesMaster1.xml" Id="Ra10ad395317d4ba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71601497584468" /><Relationship Type="http://schemas.openxmlformats.org/officeDocument/2006/relationships/notesMaster" Target="/ppt/notesMasters/notesMaster1.xml" Id="R769586fa68064a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copying technology, then treat intellectual property as a problem of designing incentives and boundaries rather than maximizing exclusion.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stronger opening. Digital copying changed the practical value of exclusion and disrupted older business models; streaming became one partial institutional adaptation.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in words. The tension is between ex post pricing for efficient use and ex ante revenue sufficient to motivate creation.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equate nonrivalry with zero production cost or a complete policy answer. Exclusion can be technologically or legally constructed.</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aim is not to select one side. Stronger rights can increase expected returns and also raise prices, licensing costs, and obstacles to follow-on work.</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chapter's central rule. Intellectual property resembles other property only after specifying the institution's purpose and the unusual nature of information.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Prevent a common confusion. Patent or copyright exclusion can create market power, but the economic market may be broader than the protected object.</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categories clean. Trademark primarily supports information and reputation; trade secret relies on secrecy and relational duties rather than public disclosure.</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doctrine at principles level. Copyright needs enough scope to prevent simple appropriation without granting ownership over general ideas or functional methods.</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reduce fair use to free educational use or a mechanical checklist. It is a standard that trades flexibility against uncertainty.</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digital rights management, subscription access, or platform terms. The stack can support new business models while raising competition, notice, and circumvention issues.</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optimal-characteristics framing the user wanted. Do not isolate patent length from the other dimensions of the institution.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how the optimal breadth changes when R&amp;D cost rises, design-around is easy, or downstream inventions require many licenses.</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illustration briefly and carefully. The teaching point is optimal scope, not a detailed patent-history lesson or categorical legal conclusion.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patent thickets and bargaining leverage. When many complementary permissions are needed, fragmentation can create an intellectual-property anticommons.</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not a claim that one industry deserves patents and the other does not. It shows why innovation cost, product life, boundary notice, and cumulative dependence matter.</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Trademark can be socially valuable without giving rights over the underlying product. Trade secret can substitute for patent and may preserve information that public disclosure would spread.</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 prizes, patronage, advertising, crowdfunding, or public funding verbally if time permits. The right mix depends on verifiability and how value is delivered.</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open-source licenses use copyright to structure access and reciprocity. Participants may contribute for many reasons, and governance still allocates authority over versions and inclusion.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at the mechanism level and avoid unstable predictions. AI can discover compact patterns or ‘reduced forms’ of styles and methods, challenging boundaries that were already fuzzy.</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3 minutes. These numbers are invented, and the need for 1,000 separate permissions is an assumption, not a statement that all AI training legally requires consent. Distinguish the $1,000 transfer from $20,000 of resources used to find owners, verify authority, and process agreements. Royalties still affect creator incentives and developer choices. Recall Chapter 5's redevelopment and oil-pool assembly problems. If several independently controlled permissions are needed together, separate vetoes can block a valuable combination. The arithmetic illustrates routine transaction costs, not strategic holdout by itself. Many replaceable works do not automatically constitute an anticommons. Ask whether removing the royalty would eliminate the clearance problem. It would not. Link back to Demsetz: greater value from combining resources need not call for stronger individual exclusion.</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 Chapter 5: Commons and Anticommons; Demsetz and Institutional Evolution.</a:t>
            </a:r>
          </a:p>
          <a:p xmlns:a="http://schemas.openxmlformats.org/drawingml/2006/main">
            <a:r>
              <a:t>- Buchanan and Yoon (2000), Symmetric Tragedies: Commons and Anticommons, https://doi.org/10.1086/467445.</a:t>
            </a:r>
          </a:p>
          <a:p xmlns:a="http://schemas.openxmlformats.org/drawingml/2006/main">
            <a:r>
              <a:t>- Project-authored hypothetical adapted from Mark Wilson, AI Training, Copyright, and the Costs of Exclusion, early draft dated 2026-09-27. No empirical cost estimates.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2-4 minutes. These are institutional alternatives, not four interchangeable descriptions of current AI law. Collective licensing is voluntary coordination among represented owners; outsiders' rights do not disappear. A proposed compensated-access rule would authorize a defined use subject to a payment obligation, replacing individual vetoes without eliminating compensation. A defined exception removes both requirements for the covered use. Merges emphasizes that owners can build institutions that reduce transaction costs, so do not jump from fragmented rights to mandatory licensing. Collective coverage can be incomplete; aggregation can create market power. Administered payments require rate-setting, records, and distribution. Payments to publishers or platforms need not reach creators in the same amounts. Ask which future activity is encouraged, who receives the money, and which arrangement has the lowest total cost. Quick discussion: if the hypothetical collective lowers administration from $20,000 to $2,000 while leaving royalties unchanged, it saves $18,000 in resources. Why might coverage or creator incentives still be a problem?</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 Merges (1996), Contracting into Liability Rules: Intellectual Property Rights and Collective Rights Organizations, https://doi.org/10.2307/3480996.</a:t>
            </a:r>
          </a:p>
          <a:p xmlns:a="http://schemas.openxmlformats.org/drawingml/2006/main">
            <a:r>
              <a:t>- U.S. Copyright Office, Copyright and Artificial Intelligence, Part 3: Generative AI Training, pre-publication report, https://www.copyright.gov/ai/.</a:t>
            </a:r>
          </a:p>
          <a:p xmlns:a="http://schemas.openxmlformats.org/drawingml/2006/main">
            <a:r>
              <a:t>- Mark Wilson, AI Training, Copyright, and the Costs of Exclusion, early draft dated 2026-09-27; institutional comparison adapted for undergraduate teaching.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generic style example rather than the earlier Ghibli reference. The point is to separate economic effect from current doctrinal categories and then analyze the consequences of changing the boundary.</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be able to move from the innovation problem to a bounded institution without saying merely ‘more protection’ or ‘information should be free.’</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an invitation to students with economics backgrounds. The field rewards careful distinction among incentives, boundaries, business models, and institutional capacity.</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internet as copying technology. The objective is neither zero exclusion nor maximum control, but a workable innovation system.</a:t>
            </a:r>
          </a:p>
          <a:p xmlns:a="http://schemas.openxmlformats.org/drawingml/2006/main">
            <a:r>
              <a:t/>
            </a:r>
          </a:p>
          <a:p xmlns:a="http://schemas.openxmlformats.org/drawingml/2006/main">
            <a:r>
              <a:t>[Sources]</a:t>
            </a:r>
          </a:p>
          <a:p xmlns:a="http://schemas.openxmlformats.org/drawingml/2006/main">
            <a:r>
              <a:t>- Rules, Rights, and Runtimes, Chapter 6: Intellectual Property, Innovation, and Information Goods (canonical project draft).</a:t>
            </a:r>
          </a:p>
          <a:p xmlns:a="http://schemas.openxmlformats.org/drawingml/2006/main">
            <a:r>
              <a:t>- Law and Economics project evidence ledger: evidence/ch06_intellectual_property_innovation_and_information_goods.md.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81e25007bc4d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aa28690a12455a" /><Relationship Type="http://schemas.openxmlformats.org/officeDocument/2006/relationships/slideLayout" Target="/ppt/slideLayouts/slideLayout1.xml" Id="R9e8e7e10a1c444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8e7e10a1c444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ca9fd3d79674297" /><Relationship Type="http://schemas.openxmlformats.org/officeDocument/2006/relationships/notesSlide" Target="/ppt/notesSlides/notesSlide1.xml" Id="R28c9fcdf937b49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a8349eaddc4a38" /><Relationship Type="http://schemas.openxmlformats.org/officeDocument/2006/relationships/notesSlide" Target="/ppt/notesSlides/notesSlide2.xml" Id="R987c1f8e028d419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a6372c368044a7" /><Relationship Type="http://schemas.openxmlformats.org/officeDocument/2006/relationships/notesSlide" Target="/ppt/notesSlides/notesSlide3.xml" Id="Re8919bc993974f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efa0412a44bb9" /><Relationship Type="http://schemas.openxmlformats.org/officeDocument/2006/relationships/notesSlide" Target="/ppt/notesSlides/notesSlide4.xml" Id="R88bdac63f5e145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37909a360714913" /><Relationship Type="http://schemas.openxmlformats.org/officeDocument/2006/relationships/notesSlide" Target="/ppt/notesSlides/notesSlide5.xml" Id="R07ac71a21b9d44c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31aedbe8de4a8f" /><Relationship Type="http://schemas.openxmlformats.org/officeDocument/2006/relationships/notesSlide" Target="/ppt/notesSlides/notesSlide6.xml" Id="R34e6e6956e3c4f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a8eb3ca36d440d" /><Relationship Type="http://schemas.openxmlformats.org/officeDocument/2006/relationships/notesSlide" Target="/ppt/notesSlides/notesSlide7.xml" Id="R15f44fac3c7842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0022b3f4db0413c" /><Relationship Type="http://schemas.openxmlformats.org/officeDocument/2006/relationships/notesSlide" Target="/ppt/notesSlides/notesSlide8.xml" Id="R18f689f04b134b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ea7e8a079140ee" /><Relationship Type="http://schemas.openxmlformats.org/officeDocument/2006/relationships/notesSlide" Target="/ppt/notesSlides/notesSlide9.xml" Id="R309a7ba7bfca4c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fd08c3ad38492a" /><Relationship Type="http://schemas.openxmlformats.org/officeDocument/2006/relationships/notesSlide" Target="/ppt/notesSlides/notesSlide10.xml" Id="Rd192d8d622c9403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4527ab8349d4653" /><Relationship Type="http://schemas.openxmlformats.org/officeDocument/2006/relationships/notesSlide" Target="/ppt/notesSlides/notesSlide11.xml" Id="R1d494c50160a42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443fa71d5f64998" /><Relationship Type="http://schemas.openxmlformats.org/officeDocument/2006/relationships/notesSlide" Target="/ppt/notesSlides/notesSlide12.xml" Id="R43b73b0032b945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cde92b0f844e6a" /><Relationship Type="http://schemas.openxmlformats.org/officeDocument/2006/relationships/notesSlide" Target="/ppt/notesSlides/notesSlide13.xml" Id="R4a1eda9e59974bb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3820b9ae47844e5" /><Relationship Type="http://schemas.openxmlformats.org/officeDocument/2006/relationships/notesSlide" Target="/ppt/notesSlides/notesSlide14.xml" Id="R94e76cacc45246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b15f0c97d814292" /><Relationship Type="http://schemas.openxmlformats.org/officeDocument/2006/relationships/notesSlide" Target="/ppt/notesSlides/notesSlide15.xml" Id="Rafdf75aa2d8e438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aa6045a21f0456d" /><Relationship Type="http://schemas.openxmlformats.org/officeDocument/2006/relationships/notesSlide" Target="/ppt/notesSlides/notesSlide16.xml" Id="Rb9f35190087d48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b0ed405dcc64df9" /><Relationship Type="http://schemas.openxmlformats.org/officeDocument/2006/relationships/notesSlide" Target="/ppt/notesSlides/notesSlide17.xml" Id="R7cd6b379d6b145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34eab64651486f" /><Relationship Type="http://schemas.openxmlformats.org/officeDocument/2006/relationships/notesSlide" Target="/ppt/notesSlides/notesSlide18.xml" Id="R4d48068cd05f4c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3bcf4a7bd54ce1" /><Relationship Type="http://schemas.openxmlformats.org/officeDocument/2006/relationships/notesSlide" Target="/ppt/notesSlides/notesSlide19.xml" Id="R22671975f48c49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faedb5add3f4a62" /><Relationship Type="http://schemas.openxmlformats.org/officeDocument/2006/relationships/notesSlide" Target="/ppt/notesSlides/notesSlide20.xml" Id="Rfa4f895f93324a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e27faca3b2b4c11" /><Relationship Type="http://schemas.openxmlformats.org/officeDocument/2006/relationships/notesSlide" Target="/ppt/notesSlides/notesSlide21.xml" Id="Rab598aa016e3444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17783aff1f44d2" /><Relationship Type="http://schemas.openxmlformats.org/officeDocument/2006/relationships/notesSlide" Target="/ppt/notesSlides/notesSlide22.xml" Id="R0525166c85b340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9539cff719d47c9" /><Relationship Type="http://schemas.openxmlformats.org/officeDocument/2006/relationships/notesSlide" Target="/ppt/notesSlides/notesSlide23.xml" Id="Rc4da5ed6739144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4b470188b6c4238" /><Relationship Type="http://schemas.openxmlformats.org/officeDocument/2006/relationships/notesSlide" Target="/ppt/notesSlides/notesSlide24.xml" Id="Re9ca90f0c0b24e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c961f992d804f28" /><Relationship Type="http://schemas.openxmlformats.org/officeDocument/2006/relationships/notesSlide" Target="/ppt/notesSlides/notesSlide25.xml" Id="Rfa49e0f3d4964e9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3786d39e29b4036" /><Relationship Type="http://schemas.openxmlformats.org/officeDocument/2006/relationships/notesSlide" Target="/ppt/notesSlides/notesSlide26.xml" Id="R6a8a7e9413914bc6" /></Relationships>
</file>

<file path=ppt/slides/slide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6FFF27-B193-458E-B33C-6A936B323309}"/>
              </a:ext>
            </a:extLst>
          </p:cNvPr>
          <p:cNvSpPr>
            <a:spLocks xmlns:a="http://schemas.openxmlformats.org/drawingml/2006/main" noGrp="1"/>
          </p:cNvSpPr>
          <p:nvPr/>
        </p:nvSpPr>
        <p:spPr>
          <a:xfrm xmlns:a="http://schemas.openxmlformats.org/drawingml/2006/main">
            <a:off x="666750" y="876300"/>
            <a:ext cx="895350" cy="7620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D39B1B7-622D-4964-8548-42F8939A62AB}"/>
              </a:ext>
            </a:extLst>
          </p:cNvPr>
          <p:cNvSpPr>
            <a:spLocks xmlns:a="http://schemas.openxmlformats.org/drawingml/2006/main" noGrp="1"/>
          </p:cNvSpPr>
          <p:nvPr/>
        </p:nvSpPr>
        <p:spPr>
          <a:xfrm xmlns:a="http://schemas.openxmlformats.org/drawingml/2006/main">
            <a:off x="666750" y="1371600"/>
            <a:ext cx="6762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7242D"/>
                </a:solidFill>
                <a:latin typeface="Georgia"/>
                <a:ea typeface="Georgia"/>
                <a:cs typeface="Georgia"/>
              </a:defRPr>
            </a:pPr>
            <a:r>
              <a:rPr sz="4050" b="1" i="0">
                <a:solidFill>
                  <a:srgbClr val="17242D"/>
                </a:solidFill>
                <a:latin typeface="Georgia"/>
                <a:ea typeface="Georgia"/>
                <a:cs typeface="Georgia"/>
              </a:rPr>
              <a:t>Intellectual Property, Innovation, and Information Goods</a:t>
            </a:r>
          </a:p>
        </p:txBody>
      </p:sp>
      <p:sp>
        <p:nvSpPr>
          <p:cNvPr id="3" name="">
            <a:extLst xmlns:a="http://schemas.openxmlformats.org/drawingml/2006/main">
              <a:ext uri="{FF2B5EF4-FFF2-40B4-BE49-F238E27FC236}">
                <a16:creationId xmlns:a16="http://schemas.microsoft.com/office/drawing/2014/main" id="{7585D7EB-A77B-42BD-AAE4-F1F090E94F8C}"/>
              </a:ext>
            </a:extLst>
          </p:cNvPr>
          <p:cNvSpPr>
            <a:spLocks xmlns:a="http://schemas.openxmlformats.org/drawingml/2006/main" noGrp="1"/>
          </p:cNvSpPr>
          <p:nvPr/>
        </p:nvSpPr>
        <p:spPr>
          <a:xfrm xmlns:a="http://schemas.openxmlformats.org/drawingml/2006/main">
            <a:off x="685800" y="37909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24594E"/>
                </a:solidFill>
                <a:latin typeface="Aptos"/>
                <a:ea typeface="Aptos"/>
                <a:cs typeface="Aptos"/>
              </a:defRPr>
            </a:pPr>
            <a:r>
              <a:rPr sz="1950" b="1" i="0">
                <a:solidFill>
                  <a:srgbClr val="24594E"/>
                </a:solidFill>
                <a:latin typeface="Aptos"/>
                <a:ea typeface="Aptos"/>
                <a:cs typeface="Aptos"/>
              </a:rPr>
              <a:t>Chapter 6</a:t>
            </a:r>
          </a:p>
        </p:txBody>
      </p:sp>
      <p:sp>
        <p:nvSpPr>
          <p:cNvPr id="4" name="">
            <a:extLst xmlns:a="http://schemas.openxmlformats.org/drawingml/2006/main">
              <a:ext uri="{FF2B5EF4-FFF2-40B4-BE49-F238E27FC236}">
                <a16:creationId xmlns:a16="http://schemas.microsoft.com/office/drawing/2014/main" id="{7FB54F18-F79D-410B-9FBD-797577969AEB}"/>
              </a:ext>
            </a:extLst>
          </p:cNvPr>
          <p:cNvSpPr>
            <a:spLocks xmlns:a="http://schemas.openxmlformats.org/drawingml/2006/main" noGrp="1"/>
          </p:cNvSpPr>
          <p:nvPr/>
        </p:nvSpPr>
        <p:spPr>
          <a:xfrm xmlns:a="http://schemas.openxmlformats.org/drawingml/2006/main">
            <a:off x="685800" y="53911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0" i="0">
                <a:solidFill>
                  <a:srgbClr val="17242D"/>
                </a:solidFill>
                <a:latin typeface="Georgia"/>
                <a:ea typeface="Georgia"/>
                <a:cs typeface="Georgia"/>
              </a:defRPr>
            </a:pPr>
            <a:r>
              <a:rPr sz="1800" b="0" i="0">
                <a:solidFill>
                  <a:srgbClr val="17242D"/>
                </a:solidFill>
                <a:latin typeface="Georgia"/>
                <a:ea typeface="Georgia"/>
                <a:cs typeface="Georgia"/>
              </a:rPr>
              <a:t>Rules, Rights, and Runtimes</a:t>
            </a:r>
          </a:p>
        </p:txBody>
      </p:sp>
      <p:sp>
        <p:nvSpPr>
          <p:cNvPr id="5" name="">
            <a:extLst xmlns:a="http://schemas.openxmlformats.org/drawingml/2006/main">
              <a:ext uri="{FF2B5EF4-FFF2-40B4-BE49-F238E27FC236}">
                <a16:creationId xmlns:a16="http://schemas.microsoft.com/office/drawing/2014/main" id="{64886446-869E-4F12-AFAD-8170DABA8285}"/>
              </a:ext>
            </a:extLst>
          </p:cNvPr>
          <p:cNvSpPr>
            <a:spLocks xmlns:a="http://schemas.openxmlformats.org/drawingml/2006/main" noGrp="1"/>
          </p:cNvSpPr>
          <p:nvPr/>
        </p:nvSpPr>
        <p:spPr>
          <a:xfrm xmlns:a="http://schemas.openxmlformats.org/drawingml/2006/main">
            <a:off x="685800" y="58102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586A73"/>
                </a:solidFill>
                <a:latin typeface="Aptos"/>
                <a:ea typeface="Aptos"/>
                <a:cs typeface="Aptos"/>
              </a:defRPr>
            </a:pPr>
            <a:r>
              <a:rPr sz="1350" b="0" i="0">
                <a:solidFill>
                  <a:srgbClr val="586A73"/>
                </a:solidFill>
                <a:latin typeface="Aptos"/>
                <a:ea typeface="Aptos"/>
                <a:cs typeface="Aptos"/>
              </a:rPr>
              <a:t>Law and Economics in the Age of AI</a:t>
            </a:r>
          </a:p>
        </p:txBody>
      </p:sp>
      <p:sp>
        <p:nvSpPr>
          <p:cNvPr id="6" name="">
            <a:extLst xmlns:a="http://schemas.openxmlformats.org/drawingml/2006/main">
              <a:ext uri="{FF2B5EF4-FFF2-40B4-BE49-F238E27FC236}">
                <a16:creationId xmlns:a16="http://schemas.microsoft.com/office/drawing/2014/main" id="{57161ABB-C199-4C52-8859-D462780F1687}"/>
              </a:ext>
            </a:extLst>
          </p:cNvPr>
          <p:cNvSpPr>
            <a:spLocks xmlns:a="http://schemas.openxmlformats.org/drawingml/2006/main" noGrp="1"/>
          </p:cNvSpPr>
          <p:nvPr/>
        </p:nvSpPr>
        <p:spPr>
          <a:xfrm xmlns:a="http://schemas.openxmlformats.org/drawingml/2006/main">
            <a:off x="8077200" y="0"/>
            <a:ext cx="4114800" cy="2286000"/>
          </a:xfrm>
          <a:prstGeom xmlns:a="http://schemas.openxmlformats.org/drawingml/2006/main" prst="rect">
            <a:avLst/>
          </a:prstGeom>
          <a:solidFill xmlns:a="http://schemas.openxmlformats.org/drawingml/2006/main">
            <a:srgbClr val="173F3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636BC9-E3B1-400B-BA6B-29FB1BC1E1F0}"/>
              </a:ext>
            </a:extLst>
          </p:cNvPr>
          <p:cNvSpPr>
            <a:spLocks xmlns:a="http://schemas.openxmlformats.org/drawingml/2006/main" noGrp="1"/>
          </p:cNvSpPr>
          <p:nvPr/>
        </p:nvSpPr>
        <p:spPr>
          <a:xfrm xmlns:a="http://schemas.openxmlformats.org/drawingml/2006/main">
            <a:off x="8324850" y="819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FFFFFF"/>
                </a:solidFill>
                <a:latin typeface="Aptos"/>
                <a:ea typeface="Aptos"/>
                <a:cs typeface="Aptos"/>
              </a:defRPr>
            </a:pPr>
            <a:r>
              <a:rPr sz="2250" b="1" i="0">
                <a:solidFill>
                  <a:srgbClr val="FFFFFF"/>
                </a:solidFill>
                <a:latin typeface="Aptos"/>
                <a:ea typeface="Aptos"/>
                <a:cs typeface="Aptos"/>
              </a:rPr>
              <a:t>CREATION</a:t>
            </a:r>
          </a:p>
        </p:txBody>
      </p:sp>
      <p:sp>
        <p:nvSpPr>
          <p:cNvPr id="8" name="">
            <a:extLst xmlns:a="http://schemas.openxmlformats.org/drawingml/2006/main">
              <a:ext uri="{FF2B5EF4-FFF2-40B4-BE49-F238E27FC236}">
                <a16:creationId xmlns:a16="http://schemas.microsoft.com/office/drawing/2014/main" id="{CDE663D8-9EED-47BD-BB13-722A1AE08FAC}"/>
              </a:ext>
            </a:extLst>
          </p:cNvPr>
          <p:cNvSpPr>
            <a:spLocks xmlns:a="http://schemas.openxmlformats.org/drawingml/2006/main" noGrp="1"/>
          </p:cNvSpPr>
          <p:nvPr/>
        </p:nvSpPr>
        <p:spPr>
          <a:xfrm xmlns:a="http://schemas.openxmlformats.org/drawingml/2006/main">
            <a:off x="8077200" y="2286000"/>
            <a:ext cx="4114800" cy="228600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FD5CD0C-7612-4C77-9955-39CA37FE2FC2}"/>
              </a:ext>
            </a:extLst>
          </p:cNvPr>
          <p:cNvSpPr>
            <a:spLocks xmlns:a="http://schemas.openxmlformats.org/drawingml/2006/main" noGrp="1"/>
          </p:cNvSpPr>
          <p:nvPr/>
        </p:nvSpPr>
        <p:spPr>
          <a:xfrm xmlns:a="http://schemas.openxmlformats.org/drawingml/2006/main">
            <a:off x="8324850" y="3105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FFFFFF"/>
                </a:solidFill>
                <a:latin typeface="Aptos"/>
                <a:ea typeface="Aptos"/>
                <a:cs typeface="Aptos"/>
              </a:defRPr>
            </a:pPr>
            <a:r>
              <a:rPr sz="2250" b="1" i="0">
                <a:solidFill>
                  <a:srgbClr val="FFFFFF"/>
                </a:solidFill>
                <a:latin typeface="Aptos"/>
                <a:ea typeface="Aptos"/>
                <a:cs typeface="Aptos"/>
              </a:rPr>
              <a:t>COPYING</a:t>
            </a:r>
          </a:p>
        </p:txBody>
      </p:sp>
      <p:sp>
        <p:nvSpPr>
          <p:cNvPr id="10" name="">
            <a:extLst xmlns:a="http://schemas.openxmlformats.org/drawingml/2006/main">
              <a:ext uri="{FF2B5EF4-FFF2-40B4-BE49-F238E27FC236}">
                <a16:creationId xmlns:a16="http://schemas.microsoft.com/office/drawing/2014/main" id="{3933AD01-3BD9-4B7D-8EAD-E21A9A0F97D2}"/>
              </a:ext>
            </a:extLst>
          </p:cNvPr>
          <p:cNvSpPr>
            <a:spLocks xmlns:a="http://schemas.openxmlformats.org/drawingml/2006/main" noGrp="1"/>
          </p:cNvSpPr>
          <p:nvPr/>
        </p:nvSpPr>
        <p:spPr>
          <a:xfrm xmlns:a="http://schemas.openxmlformats.org/drawingml/2006/main">
            <a:off x="8077200" y="4572000"/>
            <a:ext cx="4114800" cy="228600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AFFA4C-3FAF-4A82-BE73-94D14BE044F6}"/>
              </a:ext>
            </a:extLst>
          </p:cNvPr>
          <p:cNvSpPr>
            <a:spLocks xmlns:a="http://schemas.openxmlformats.org/drawingml/2006/main" noGrp="1"/>
          </p:cNvSpPr>
          <p:nvPr/>
        </p:nvSpPr>
        <p:spPr>
          <a:xfrm xmlns:a="http://schemas.openxmlformats.org/drawingml/2006/main">
            <a:off x="8324850" y="5391150"/>
            <a:ext cx="3619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250" b="1" i="0">
                <a:solidFill>
                  <a:srgbClr val="17242D"/>
                </a:solidFill>
                <a:latin typeface="Aptos"/>
                <a:ea typeface="Aptos"/>
                <a:cs typeface="Aptos"/>
              </a:defRPr>
            </a:pPr>
            <a:r>
              <a:rPr sz="2250" b="1" i="0">
                <a:solidFill>
                  <a:srgbClr val="17242D"/>
                </a:solidFill>
                <a:latin typeface="Aptos"/>
                <a:ea typeface="Aptos"/>
                <a:cs typeface="Aptos"/>
              </a:rPr>
              <a:t>BOUNDARIES</a:t>
            </a:r>
          </a:p>
        </p:txBody>
      </p:sp>
    </p:spTree>
    <p:extLst>
      <p:ext uri="{BB962C8B-B14F-4D97-AF65-F5344CB8AC3E}">
        <p14:creationId xmlns:p14="http://schemas.microsoft.com/office/powerpoint/2010/main" val="156882334"/>
      </p:ext>
    </p:extLst>
  </p:cSld>
</p:sld>
</file>

<file path=ppt/slides/slide2.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8E53B36-8EE5-46DA-BBC0-1402CCD9C30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9CCB40B-D34B-4376-B6C7-88A747FAE534}"/>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6718550F-B323-4F20-B107-1B90DE563B55}"/>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The internet became an enormous copying technology</a:t>
            </a:r>
          </a:p>
        </p:txBody>
      </p:sp>
      <p:sp>
        <p:nvSpPr>
          <p:cNvPr id="4" name="">
            <a:extLst xmlns:a="http://schemas.openxmlformats.org/drawingml/2006/main">
              <a:ext uri="{FF2B5EF4-FFF2-40B4-BE49-F238E27FC236}">
                <a16:creationId xmlns:a16="http://schemas.microsoft.com/office/drawing/2014/main" id="{0B68108A-7C3E-4379-8AA6-413015831F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4A36F9-6E35-4906-A5F3-93AAABA9050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8DBF54D3-266D-41A5-BDBA-D14DC8B898A1}"/>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2</a:t>
            </a:r>
          </a:p>
        </p:txBody>
      </p:sp>
      <p:sp>
        <p:nvSpPr>
          <p:cNvPr id="7" name="">
            <a:extLst xmlns:a="http://schemas.openxmlformats.org/drawingml/2006/main">
              <a:ext uri="{FF2B5EF4-FFF2-40B4-BE49-F238E27FC236}">
                <a16:creationId xmlns:a16="http://schemas.microsoft.com/office/drawing/2014/main" id="{937C696E-879C-4C40-93CB-677DEC6918BC}"/>
              </a:ext>
            </a:extLst>
          </p:cNvPr>
          <p:cNvSpPr>
            <a:spLocks xmlns:a="http://schemas.openxmlformats.org/drawingml/2006/main" noGrp="1"/>
          </p:cNvSpPr>
          <p:nvPr/>
        </p:nvSpPr>
        <p:spPr>
          <a:xfrm xmlns:a="http://schemas.openxmlformats.org/drawingml/2006/main">
            <a:off x="1066800" y="150495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705"/>
          </a:bodyPr>
          <a:lstStyle xmlns:a="http://schemas.openxmlformats.org/drawingml/2006/main"/>
          <a:p xmlns:a="http://schemas.openxmlformats.org/drawingml/2006/main">
            <a:pPr algn="ctr">
              <a:lnSpc>
                <a:spcPct val="105000"/>
              </a:lnSpc>
              <a:buNone/>
              <a:defRPr sz="2550" b="1" i="0">
                <a:solidFill>
                  <a:srgbClr val="FFFFFF"/>
                </a:solidFill>
                <a:latin typeface="Georgia"/>
                <a:ea typeface="Georgia"/>
                <a:cs typeface="Georgia"/>
              </a:defRPr>
            </a:pPr>
            <a:r>
              <a:rPr sz="2550" b="1" i="0">
                <a:solidFill>
                  <a:srgbClr val="FFFFFF"/>
                </a:solidFill>
                <a:latin typeface="Georgia"/>
                <a:ea typeface="Georgia"/>
                <a:cs typeface="Georgia"/>
              </a:rPr>
              <a:t>Music, software, text, and images can be reproduced and distributed at near-zero marginal cost.</a:t>
            </a:r>
          </a:p>
        </p:txBody>
      </p:sp>
      <p:sp>
        <p:nvSpPr>
          <p:cNvPr id="8" name="">
            <a:extLst xmlns:a="http://schemas.openxmlformats.org/drawingml/2006/main">
              <a:ext uri="{FF2B5EF4-FFF2-40B4-BE49-F238E27FC236}">
                <a16:creationId xmlns:a16="http://schemas.microsoft.com/office/drawing/2014/main" id="{0C6E835B-C0B2-45F1-AA73-A5F2D6288212}"/>
              </a:ext>
            </a:extLst>
          </p:cNvPr>
          <p:cNvSpPr>
            <a:spLocks xmlns:a="http://schemas.openxmlformats.org/drawingml/2006/main" noGrp="1"/>
          </p:cNvSpPr>
          <p:nvPr/>
        </p:nvSpPr>
        <p:spPr>
          <a:xfrm xmlns:a="http://schemas.openxmlformats.org/drawingml/2006/main">
            <a:off x="10668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ECONOMIC PROMISE</a:t>
            </a:r>
          </a:p>
        </p:txBody>
      </p:sp>
      <p:sp>
        <p:nvSpPr>
          <p:cNvPr id="9" name="">
            <a:extLst xmlns:a="http://schemas.openxmlformats.org/drawingml/2006/main">
              <a:ext uri="{FF2B5EF4-FFF2-40B4-BE49-F238E27FC236}">
                <a16:creationId xmlns:a16="http://schemas.microsoft.com/office/drawing/2014/main" id="{CAE10BA2-DF4D-49CE-821D-3993B0C641CE}"/>
              </a:ext>
            </a:extLst>
          </p:cNvPr>
          <p:cNvSpPr>
            <a:spLocks xmlns:a="http://schemas.openxmlformats.org/drawingml/2006/main" noGrp="1"/>
          </p:cNvSpPr>
          <p:nvPr/>
        </p:nvSpPr>
        <p:spPr>
          <a:xfrm xmlns:a="http://schemas.openxmlformats.org/drawingml/2006/main">
            <a:off x="11049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B75531CB-9D15-4190-98AC-23200DA47CE1}"/>
              </a:ext>
            </a:extLst>
          </p:cNvPr>
          <p:cNvSpPr>
            <a:spLocks xmlns:a="http://schemas.openxmlformats.org/drawingml/2006/main" noGrp="1"/>
          </p:cNvSpPr>
          <p:nvPr/>
        </p:nvSpPr>
        <p:spPr>
          <a:xfrm xmlns:a="http://schemas.openxmlformats.org/drawingml/2006/main">
            <a:off x="14287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Cheap access</a:t>
            </a:r>
          </a:p>
        </p:txBody>
      </p:sp>
      <p:sp>
        <p:nvSpPr>
          <p:cNvPr id="11" name="">
            <a:extLst xmlns:a="http://schemas.openxmlformats.org/drawingml/2006/main">
              <a:ext uri="{FF2B5EF4-FFF2-40B4-BE49-F238E27FC236}">
                <a16:creationId xmlns:a16="http://schemas.microsoft.com/office/drawing/2014/main" id="{B54C97CC-8553-48F8-B6E4-FC2D36AFDE04}"/>
              </a:ext>
            </a:extLst>
          </p:cNvPr>
          <p:cNvSpPr>
            <a:spLocks xmlns:a="http://schemas.openxmlformats.org/drawingml/2006/main" noGrp="1"/>
          </p:cNvSpPr>
          <p:nvPr/>
        </p:nvSpPr>
        <p:spPr>
          <a:xfrm xmlns:a="http://schemas.openxmlformats.org/drawingml/2006/main">
            <a:off x="11049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F72E5834-1EB3-4637-B6BE-65DA3FDE2EB5}"/>
              </a:ext>
            </a:extLst>
          </p:cNvPr>
          <p:cNvSpPr>
            <a:spLocks xmlns:a="http://schemas.openxmlformats.org/drawingml/2006/main" noGrp="1"/>
          </p:cNvSpPr>
          <p:nvPr/>
        </p:nvSpPr>
        <p:spPr>
          <a:xfrm xmlns:a="http://schemas.openxmlformats.org/drawingml/2006/main">
            <a:off x="14287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Rapid diffusion</a:t>
            </a:r>
          </a:p>
        </p:txBody>
      </p:sp>
      <p:sp>
        <p:nvSpPr>
          <p:cNvPr id="13" name="">
            <a:extLst xmlns:a="http://schemas.openxmlformats.org/drawingml/2006/main">
              <a:ext uri="{FF2B5EF4-FFF2-40B4-BE49-F238E27FC236}">
                <a16:creationId xmlns:a16="http://schemas.microsoft.com/office/drawing/2014/main" id="{E934D9BE-61E4-4382-8616-5FC84ECB65FD}"/>
              </a:ext>
            </a:extLst>
          </p:cNvPr>
          <p:cNvSpPr>
            <a:spLocks xmlns:a="http://schemas.openxmlformats.org/drawingml/2006/main" noGrp="1"/>
          </p:cNvSpPr>
          <p:nvPr/>
        </p:nvSpPr>
        <p:spPr>
          <a:xfrm xmlns:a="http://schemas.openxmlformats.org/drawingml/2006/main">
            <a:off x="11049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C06E2193-CFA7-45E4-966A-74D3C07C11F8}"/>
              </a:ext>
            </a:extLst>
          </p:cNvPr>
          <p:cNvSpPr>
            <a:spLocks xmlns:a="http://schemas.openxmlformats.org/drawingml/2006/main" noGrp="1"/>
          </p:cNvSpPr>
          <p:nvPr/>
        </p:nvSpPr>
        <p:spPr>
          <a:xfrm xmlns:a="http://schemas.openxmlformats.org/drawingml/2006/main">
            <a:off x="14287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Cumulative creation</a:t>
            </a:r>
          </a:p>
        </p:txBody>
      </p:sp>
      <p:sp>
        <p:nvSpPr>
          <p:cNvPr id="15" name="">
            <a:extLst xmlns:a="http://schemas.openxmlformats.org/drawingml/2006/main">
              <a:ext uri="{FF2B5EF4-FFF2-40B4-BE49-F238E27FC236}">
                <a16:creationId xmlns:a16="http://schemas.microsoft.com/office/drawing/2014/main" id="{1046F2C9-0D11-46FB-829E-9E73724C1306}"/>
              </a:ext>
            </a:extLst>
          </p:cNvPr>
          <p:cNvSpPr>
            <a:spLocks xmlns:a="http://schemas.openxmlformats.org/drawingml/2006/main" noGrp="1"/>
          </p:cNvSpPr>
          <p:nvPr/>
        </p:nvSpPr>
        <p:spPr>
          <a:xfrm xmlns:a="http://schemas.openxmlformats.org/drawingml/2006/main">
            <a:off x="6096000" y="2686050"/>
            <a:ext cx="9525" cy="2381250"/>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891B7A1-2FF5-440C-8F66-6B104646AB87}"/>
              </a:ext>
            </a:extLst>
          </p:cNvPr>
          <p:cNvSpPr>
            <a:spLocks xmlns:a="http://schemas.openxmlformats.org/drawingml/2006/main" noGrp="1"/>
          </p:cNvSpPr>
          <p:nvPr/>
        </p:nvSpPr>
        <p:spPr>
          <a:xfrm xmlns:a="http://schemas.openxmlformats.org/drawingml/2006/main">
            <a:off x="67056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INCENTIVE PROBLEM</a:t>
            </a:r>
          </a:p>
        </p:txBody>
      </p:sp>
      <p:sp>
        <p:nvSpPr>
          <p:cNvPr id="17" name="">
            <a:extLst xmlns:a="http://schemas.openxmlformats.org/drawingml/2006/main">
              <a:ext uri="{FF2B5EF4-FFF2-40B4-BE49-F238E27FC236}">
                <a16:creationId xmlns:a16="http://schemas.microsoft.com/office/drawing/2014/main" id="{70208AF9-DD29-464A-8A5A-6AF6538CAE87}"/>
              </a:ext>
            </a:extLst>
          </p:cNvPr>
          <p:cNvSpPr>
            <a:spLocks xmlns:a="http://schemas.openxmlformats.org/drawingml/2006/main" noGrp="1"/>
          </p:cNvSpPr>
          <p:nvPr/>
        </p:nvSpPr>
        <p:spPr>
          <a:xfrm xmlns:a="http://schemas.openxmlformats.org/drawingml/2006/main">
            <a:off x="67437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E8970A2D-15C0-4B36-9864-2A7E8F485315}"/>
              </a:ext>
            </a:extLst>
          </p:cNvPr>
          <p:cNvSpPr>
            <a:spLocks xmlns:a="http://schemas.openxmlformats.org/drawingml/2006/main" noGrp="1"/>
          </p:cNvSpPr>
          <p:nvPr/>
        </p:nvSpPr>
        <p:spPr>
          <a:xfrm xmlns:a="http://schemas.openxmlformats.org/drawingml/2006/main">
            <a:off x="70675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Costly first copy</a:t>
            </a:r>
          </a:p>
        </p:txBody>
      </p:sp>
      <p:sp>
        <p:nvSpPr>
          <p:cNvPr id="19" name="">
            <a:extLst xmlns:a="http://schemas.openxmlformats.org/drawingml/2006/main">
              <a:ext uri="{FF2B5EF4-FFF2-40B4-BE49-F238E27FC236}">
                <a16:creationId xmlns:a16="http://schemas.microsoft.com/office/drawing/2014/main" id="{6BB0AA6A-3103-4864-8E95-90F90AAA886F}"/>
              </a:ext>
            </a:extLst>
          </p:cNvPr>
          <p:cNvSpPr>
            <a:spLocks xmlns:a="http://schemas.openxmlformats.org/drawingml/2006/main" noGrp="1"/>
          </p:cNvSpPr>
          <p:nvPr/>
        </p:nvSpPr>
        <p:spPr>
          <a:xfrm xmlns:a="http://schemas.openxmlformats.org/drawingml/2006/main">
            <a:off x="67437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041F3B3D-A570-4532-969B-00D1C6F7C1A9}"/>
              </a:ext>
            </a:extLst>
          </p:cNvPr>
          <p:cNvSpPr>
            <a:spLocks xmlns:a="http://schemas.openxmlformats.org/drawingml/2006/main" noGrp="1"/>
          </p:cNvSpPr>
          <p:nvPr/>
        </p:nvSpPr>
        <p:spPr>
          <a:xfrm xmlns:a="http://schemas.openxmlformats.org/drawingml/2006/main">
            <a:off x="70675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Easy imitation</a:t>
            </a:r>
          </a:p>
        </p:txBody>
      </p:sp>
      <p:sp>
        <p:nvSpPr>
          <p:cNvPr id="21" name="">
            <a:extLst xmlns:a="http://schemas.openxmlformats.org/drawingml/2006/main">
              <a:ext uri="{FF2B5EF4-FFF2-40B4-BE49-F238E27FC236}">
                <a16:creationId xmlns:a16="http://schemas.microsoft.com/office/drawing/2014/main" id="{68DF9030-2F5D-43F5-BB71-C5C215C5AE33}"/>
              </a:ext>
            </a:extLst>
          </p:cNvPr>
          <p:cNvSpPr>
            <a:spLocks xmlns:a="http://schemas.openxmlformats.org/drawingml/2006/main" noGrp="1"/>
          </p:cNvSpPr>
          <p:nvPr/>
        </p:nvSpPr>
        <p:spPr>
          <a:xfrm xmlns:a="http://schemas.openxmlformats.org/drawingml/2006/main">
            <a:off x="67437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925957A1-FE5D-46CE-B1EC-8FA245599057}"/>
              </a:ext>
            </a:extLst>
          </p:cNvPr>
          <p:cNvSpPr>
            <a:spLocks xmlns:a="http://schemas.openxmlformats.org/drawingml/2006/main" noGrp="1"/>
          </p:cNvSpPr>
          <p:nvPr/>
        </p:nvSpPr>
        <p:spPr>
          <a:xfrm xmlns:a="http://schemas.openxmlformats.org/drawingml/2006/main">
            <a:off x="70675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Harder return on investment</a:t>
            </a:r>
          </a:p>
        </p:txBody>
      </p:sp>
      <p:sp>
        <p:nvSpPr>
          <p:cNvPr id="23" name="">
            <a:extLst xmlns:a="http://schemas.openxmlformats.org/drawingml/2006/main">
              <a:ext uri="{FF2B5EF4-FFF2-40B4-BE49-F238E27FC236}">
                <a16:creationId xmlns:a16="http://schemas.microsoft.com/office/drawing/2014/main" id="{18676743-8361-42D9-8ACC-0EB8EE0248DA}"/>
              </a:ext>
            </a:extLst>
          </p:cNvPr>
          <p:cNvSpPr>
            <a:spLocks xmlns:a="http://schemas.openxmlformats.org/drawingml/2006/main" noGrp="1"/>
          </p:cNvSpPr>
          <p:nvPr/>
        </p:nvSpPr>
        <p:spPr>
          <a:xfrm xmlns:a="http://schemas.openxmlformats.org/drawingml/2006/main">
            <a:off x="1200150" y="55054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How can institutions encourage creation without suppressing reuse?</a:t>
            </a:r>
          </a:p>
        </p:txBody>
      </p:sp>
    </p:spTree>
    <p:extLst>
      <p:ext uri="{BB962C8B-B14F-4D97-AF65-F5344CB8AC3E}">
        <p14:creationId xmlns:p14="http://schemas.microsoft.com/office/powerpoint/2010/main" val="2094483555"/>
      </p:ext>
    </p:extLst>
  </p:cSld>
</p:sld>
</file>

<file path=ppt/slides/slide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BA4ED7A-42CE-42B9-87F4-0CF04C788AED}"/>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6CB97FF-725E-44D6-B909-036BCA362B9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6C92A39B-F895-4B97-8D8C-5A8DF0F9F500}"/>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Information goods have an unusual cost structure</a:t>
            </a:r>
          </a:p>
        </p:txBody>
      </p:sp>
      <p:sp>
        <p:nvSpPr>
          <p:cNvPr id="4" name="">
            <a:extLst xmlns:a="http://schemas.openxmlformats.org/drawingml/2006/main">
              <a:ext uri="{FF2B5EF4-FFF2-40B4-BE49-F238E27FC236}">
                <a16:creationId xmlns:a16="http://schemas.microsoft.com/office/drawing/2014/main" id="{AE6AD522-1A96-4DF0-9DC9-D4C717728E3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3B3CF1-8A1B-436B-8E37-74B8829B8F7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2664BACC-FDE3-44BE-8631-C3A7F8509C15}"/>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3</a:t>
            </a:r>
          </a:p>
        </p:txBody>
      </p:sp>
      <p:sp>
        <p:nvSpPr>
          <p:cNvPr id="7" name="">
            <a:extLst xmlns:a="http://schemas.openxmlformats.org/drawingml/2006/main">
              <a:ext uri="{FF2B5EF4-FFF2-40B4-BE49-F238E27FC236}">
                <a16:creationId xmlns:a16="http://schemas.microsoft.com/office/drawing/2014/main" id="{BD34FC20-C73E-4059-B69B-BCEA65F0CC6C}"/>
              </a:ext>
            </a:extLst>
          </p:cNvPr>
          <p:cNvSpPr>
            <a:spLocks xmlns:a="http://schemas.openxmlformats.org/drawingml/2006/main" noGrp="1"/>
          </p:cNvSpPr>
          <p:nvPr/>
        </p:nvSpPr>
        <p:spPr>
          <a:xfrm xmlns:a="http://schemas.openxmlformats.org/drawingml/2006/main">
            <a:off x="2476500" y="1504950"/>
            <a:ext cx="723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6459"/>
          </a:bodyPr>
          <a:lstStyle xmlns:a="http://schemas.openxmlformats.org/drawingml/2006/main"/>
          <a:p xmlns:a="http://schemas.openxmlformats.org/drawingml/2006/main">
            <a:pPr algn="ctr">
              <a:lnSpc>
                <a:spcPct val="105000"/>
              </a:lnSpc>
              <a:buNone/>
              <a:defRPr sz="3600" b="1" i="0">
                <a:solidFill>
                  <a:srgbClr val="173F38"/>
                </a:solidFill>
                <a:latin typeface="Georgia"/>
                <a:ea typeface="Georgia"/>
                <a:cs typeface="Georgia"/>
              </a:defRPr>
            </a:pPr>
            <a:r>
              <a:rPr sz="3600" b="1" i="0">
                <a:solidFill>
                  <a:srgbClr val="173F38"/>
                </a:solidFill>
                <a:latin typeface="Georgia"/>
                <a:ea typeface="Georgia"/>
                <a:cs typeface="Georgia"/>
              </a:rPr>
              <a:t>High first-copy cost + low next-copy cost</a:t>
            </a:r>
          </a:p>
        </p:txBody>
      </p:sp>
      <p:sp>
        <p:nvSpPr>
          <p:cNvPr id="8" name="">
            <a:extLst xmlns:a="http://schemas.openxmlformats.org/drawingml/2006/main">
              <a:ext uri="{FF2B5EF4-FFF2-40B4-BE49-F238E27FC236}">
                <a16:creationId xmlns:a16="http://schemas.microsoft.com/office/drawing/2014/main" id="{5097DE78-F839-4352-AA55-1833CAD211D9}"/>
              </a:ext>
            </a:extLst>
          </p:cNvPr>
          <p:cNvSpPr>
            <a:spLocks xmlns:a="http://schemas.openxmlformats.org/drawingml/2006/main" noGrp="1"/>
          </p:cNvSpPr>
          <p:nvPr/>
        </p:nvSpPr>
        <p:spPr>
          <a:xfrm xmlns:a="http://schemas.openxmlformats.org/drawingml/2006/main">
            <a:off x="1143000" y="2724150"/>
            <a:ext cx="4791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FIRST COPY</a:t>
            </a:r>
          </a:p>
        </p:txBody>
      </p:sp>
      <p:sp>
        <p:nvSpPr>
          <p:cNvPr id="9" name="">
            <a:extLst xmlns:a="http://schemas.openxmlformats.org/drawingml/2006/main">
              <a:ext uri="{FF2B5EF4-FFF2-40B4-BE49-F238E27FC236}">
                <a16:creationId xmlns:a16="http://schemas.microsoft.com/office/drawing/2014/main" id="{CAE3B6FA-B409-454D-9032-C63A3CDEA32E}"/>
              </a:ext>
            </a:extLst>
          </p:cNvPr>
          <p:cNvSpPr>
            <a:spLocks xmlns:a="http://schemas.openxmlformats.org/drawingml/2006/main" noGrp="1"/>
          </p:cNvSpPr>
          <p:nvPr/>
        </p:nvSpPr>
        <p:spPr>
          <a:xfrm xmlns:a="http://schemas.openxmlformats.org/drawingml/2006/main">
            <a:off x="1143000" y="3162300"/>
            <a:ext cx="4791075" cy="12763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0" name="">
            <a:extLst xmlns:a="http://schemas.openxmlformats.org/drawingml/2006/main">
              <a:ext uri="{FF2B5EF4-FFF2-40B4-BE49-F238E27FC236}">
                <a16:creationId xmlns:a16="http://schemas.microsoft.com/office/drawing/2014/main" id="{745CF87E-5FE8-49F3-B5BA-3C6D3D39EC22}"/>
              </a:ext>
            </a:extLst>
          </p:cNvPr>
          <p:cNvSpPr>
            <a:spLocks xmlns:a="http://schemas.openxmlformats.org/drawingml/2006/main" noGrp="1"/>
          </p:cNvSpPr>
          <p:nvPr/>
        </p:nvSpPr>
        <p:spPr>
          <a:xfrm xmlns:a="http://schemas.openxmlformats.org/drawingml/2006/main">
            <a:off x="1333500" y="3371850"/>
            <a:ext cx="44100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Research, writing, recording, design, testing</a:t>
            </a:r>
          </a:p>
        </p:txBody>
      </p:sp>
      <p:sp>
        <p:nvSpPr>
          <p:cNvPr id="11" name="">
            <a:extLst xmlns:a="http://schemas.openxmlformats.org/drawingml/2006/main">
              <a:ext uri="{FF2B5EF4-FFF2-40B4-BE49-F238E27FC236}">
                <a16:creationId xmlns:a16="http://schemas.microsoft.com/office/drawing/2014/main" id="{3997E1D9-8818-4864-AE35-4355BBD35B45}"/>
              </a:ext>
            </a:extLst>
          </p:cNvPr>
          <p:cNvSpPr>
            <a:spLocks xmlns:a="http://schemas.openxmlformats.org/drawingml/2006/main" noGrp="1"/>
          </p:cNvSpPr>
          <p:nvPr/>
        </p:nvSpPr>
        <p:spPr>
          <a:xfrm xmlns:a="http://schemas.openxmlformats.org/drawingml/2006/main">
            <a:off x="6257925" y="2724150"/>
            <a:ext cx="47910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NEXT COPY</a:t>
            </a:r>
          </a:p>
        </p:txBody>
      </p:sp>
      <p:sp>
        <p:nvSpPr>
          <p:cNvPr id="12" name="">
            <a:extLst xmlns:a="http://schemas.openxmlformats.org/drawingml/2006/main">
              <a:ext uri="{FF2B5EF4-FFF2-40B4-BE49-F238E27FC236}">
                <a16:creationId xmlns:a16="http://schemas.microsoft.com/office/drawing/2014/main" id="{CAEA4406-E43B-41A1-ABD7-D81DDB76AB23}"/>
              </a:ext>
            </a:extLst>
          </p:cNvPr>
          <p:cNvSpPr>
            <a:spLocks xmlns:a="http://schemas.openxmlformats.org/drawingml/2006/main" noGrp="1"/>
          </p:cNvSpPr>
          <p:nvPr/>
        </p:nvSpPr>
        <p:spPr>
          <a:xfrm xmlns:a="http://schemas.openxmlformats.org/drawingml/2006/main">
            <a:off x="6257925" y="3162300"/>
            <a:ext cx="4791075" cy="12763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3" name="">
            <a:extLst xmlns:a="http://schemas.openxmlformats.org/drawingml/2006/main">
              <a:ext uri="{FF2B5EF4-FFF2-40B4-BE49-F238E27FC236}">
                <a16:creationId xmlns:a16="http://schemas.microsoft.com/office/drawing/2014/main" id="{FFB5C26C-4A1B-460C-A3FB-FEDFC8278B21}"/>
              </a:ext>
            </a:extLst>
          </p:cNvPr>
          <p:cNvSpPr>
            <a:spLocks xmlns:a="http://schemas.openxmlformats.org/drawingml/2006/main" noGrp="1"/>
          </p:cNvSpPr>
          <p:nvPr/>
        </p:nvSpPr>
        <p:spPr>
          <a:xfrm xmlns:a="http://schemas.openxmlformats.org/drawingml/2006/main">
            <a:off x="6448425" y="3371850"/>
            <a:ext cx="44100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Reproduction and distribution may cost almost nothing</a:t>
            </a:r>
          </a:p>
        </p:txBody>
      </p:sp>
      <p:sp>
        <p:nvSpPr>
          <p:cNvPr id="14" name="">
            <a:extLst xmlns:a="http://schemas.openxmlformats.org/drawingml/2006/main">
              <a:ext uri="{FF2B5EF4-FFF2-40B4-BE49-F238E27FC236}">
                <a16:creationId xmlns:a16="http://schemas.microsoft.com/office/drawing/2014/main" id="{B50E82F5-11F6-4C97-A406-4114211DC2CD}"/>
              </a:ext>
            </a:extLst>
          </p:cNvPr>
          <p:cNvSpPr>
            <a:spLocks xmlns:a="http://schemas.openxmlformats.org/drawingml/2006/main" noGrp="1"/>
          </p:cNvSpPr>
          <p:nvPr/>
        </p:nvSpPr>
        <p:spPr>
          <a:xfrm xmlns:a="http://schemas.openxmlformats.org/drawingml/2006/main">
            <a:off x="1619250" y="4724400"/>
            <a:ext cx="895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002"/>
          </a:bodyPr>
          <a:lstStyle xmlns:a="http://schemas.openxmlformats.org/drawingml/2006/main"/>
          <a:p xmlns:a="http://schemas.openxmlformats.org/drawingml/2006/main">
            <a:pPr algn="ctr">
              <a:lnSpc>
                <a:spcPct val="105000"/>
              </a:lnSpc>
              <a:buNone/>
              <a:defRPr sz="2025" b="1" i="0">
                <a:solidFill>
                  <a:srgbClr val="17242D"/>
                </a:solidFill>
                <a:latin typeface="Georgia"/>
                <a:ea typeface="Georgia"/>
                <a:cs typeface="Georgia"/>
              </a:defRPr>
            </a:pPr>
            <a:r>
              <a:rPr sz="2025" b="1" i="0">
                <a:solidFill>
                  <a:srgbClr val="17242D"/>
                </a:solidFill>
                <a:latin typeface="Georgia"/>
                <a:ea typeface="Georgia"/>
                <a:cs typeface="Georgia"/>
              </a:rPr>
              <a:t>Price near marginal cost promotes access but may not recover creation cost.</a:t>
            </a:r>
          </a:p>
        </p:txBody>
      </p:sp>
    </p:spTree>
    <p:extLst>
      <p:ext uri="{BB962C8B-B14F-4D97-AF65-F5344CB8AC3E}">
        <p14:creationId xmlns:p14="http://schemas.microsoft.com/office/powerpoint/2010/main" val="1178499174"/>
      </p:ext>
    </p:extLst>
  </p:cSld>
</p:sld>
</file>

<file path=ppt/slides/slide4.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5C4B22-6293-4740-84C3-EFFD394955F6}"/>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9D5438-2F95-4D67-853A-FDEF2EBADF25}"/>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FDD0E9D0-15A5-44E2-B7EE-452C37252D8C}"/>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Information is often nonrival but not naturally free</a:t>
            </a:r>
          </a:p>
        </p:txBody>
      </p:sp>
      <p:sp>
        <p:nvSpPr>
          <p:cNvPr id="4" name="">
            <a:extLst xmlns:a="http://schemas.openxmlformats.org/drawingml/2006/main">
              <a:ext uri="{FF2B5EF4-FFF2-40B4-BE49-F238E27FC236}">
                <a16:creationId xmlns:a16="http://schemas.microsoft.com/office/drawing/2014/main" id="{794526A2-31E8-4BA3-BA4E-A0903B79E1C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1300EA1-74C9-4ACC-B886-E411DB13E6A1}"/>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67DAA8BB-1401-416A-BF80-766F03305E14}"/>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4</a:t>
            </a:r>
          </a:p>
        </p:txBody>
      </p:sp>
      <p:sp>
        <p:nvSpPr>
          <p:cNvPr id="7" name="">
            <a:extLst xmlns:a="http://schemas.openxmlformats.org/drawingml/2006/main">
              <a:ext uri="{FF2B5EF4-FFF2-40B4-BE49-F238E27FC236}">
                <a16:creationId xmlns:a16="http://schemas.microsoft.com/office/drawing/2014/main" id="{0EC494FE-BFE1-478B-BB74-9180FCBB7787}"/>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NONRIVALRY</a:t>
            </a:r>
          </a:p>
        </p:txBody>
      </p:sp>
      <p:sp>
        <p:nvSpPr>
          <p:cNvPr id="8" name="">
            <a:extLst xmlns:a="http://schemas.openxmlformats.org/drawingml/2006/main">
              <a:ext uri="{FF2B5EF4-FFF2-40B4-BE49-F238E27FC236}">
                <a16:creationId xmlns:a16="http://schemas.microsoft.com/office/drawing/2014/main" id="{2EA1ECDE-752D-4988-84B9-FCFA0ED646F4}"/>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0A22533D-C153-4CB7-89BD-4037C71B69C6}"/>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One person's use need not reduce another's use</a:t>
            </a:r>
          </a:p>
        </p:txBody>
      </p:sp>
      <p:sp>
        <p:nvSpPr>
          <p:cNvPr id="10" name="">
            <a:extLst xmlns:a="http://schemas.openxmlformats.org/drawingml/2006/main">
              <a:ext uri="{FF2B5EF4-FFF2-40B4-BE49-F238E27FC236}">
                <a16:creationId xmlns:a16="http://schemas.microsoft.com/office/drawing/2014/main" id="{55B17836-4F89-4C45-ADEE-17FDD7729938}"/>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EXCLUDABILITY</a:t>
            </a:r>
          </a:p>
        </p:txBody>
      </p:sp>
      <p:sp>
        <p:nvSpPr>
          <p:cNvPr id="11" name="">
            <a:extLst xmlns:a="http://schemas.openxmlformats.org/drawingml/2006/main">
              <a:ext uri="{FF2B5EF4-FFF2-40B4-BE49-F238E27FC236}">
                <a16:creationId xmlns:a16="http://schemas.microsoft.com/office/drawing/2014/main" id="{6CE13D81-210F-45DD-9741-E271573ED844}"/>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3EAB9172-1391-4F3A-AB4D-4BC86F58E087}"/>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Law, secrecy, contract, or code can restrict access</a:t>
            </a:r>
          </a:p>
        </p:txBody>
      </p:sp>
      <p:sp>
        <p:nvSpPr>
          <p:cNvPr id="13" name="">
            <a:extLst xmlns:a="http://schemas.openxmlformats.org/drawingml/2006/main">
              <a:ext uri="{FF2B5EF4-FFF2-40B4-BE49-F238E27FC236}">
                <a16:creationId xmlns:a16="http://schemas.microsoft.com/office/drawing/2014/main" id="{AF35DB3F-71D0-420D-B709-B9E0D47E896A}"/>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CUMULATIVENESS</a:t>
            </a:r>
          </a:p>
        </p:txBody>
      </p:sp>
      <p:sp>
        <p:nvSpPr>
          <p:cNvPr id="14" name="">
            <a:extLst xmlns:a="http://schemas.openxmlformats.org/drawingml/2006/main">
              <a:ext uri="{FF2B5EF4-FFF2-40B4-BE49-F238E27FC236}">
                <a16:creationId xmlns:a16="http://schemas.microsoft.com/office/drawing/2014/main" id="{76E0D5C6-DF9D-4EF5-A077-4EA50AB83867}"/>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FF6619B4-0F7A-4892-B576-CA870C19D866}"/>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New creators build on earlier knowledge and expression</a:t>
            </a:r>
          </a:p>
        </p:txBody>
      </p:sp>
      <p:sp>
        <p:nvSpPr>
          <p:cNvPr id="16" name="">
            <a:extLst xmlns:a="http://schemas.openxmlformats.org/drawingml/2006/main">
              <a:ext uri="{FF2B5EF4-FFF2-40B4-BE49-F238E27FC236}">
                <a16:creationId xmlns:a16="http://schemas.microsoft.com/office/drawing/2014/main" id="{462B44FB-5F4C-4EDC-9072-F9FCBE33D802}"/>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Institutional design affects both access today and invention tomorrow.</a:t>
            </a:r>
          </a:p>
        </p:txBody>
      </p:sp>
    </p:spTree>
    <p:extLst>
      <p:ext uri="{BB962C8B-B14F-4D97-AF65-F5344CB8AC3E}">
        <p14:creationId xmlns:p14="http://schemas.microsoft.com/office/powerpoint/2010/main" val="535213129"/>
      </p:ext>
    </p:extLst>
  </p:cSld>
</p:sld>
</file>

<file path=ppt/slides/slide5.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C3982A9-1202-4078-9776-C2B66E86CA3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9B4B4D0-27E0-42AB-9AD6-3490BF6DD8E1}"/>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8EC7CCCC-E433-407C-AF59-4CE6D0F77E7C}"/>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714"/>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Static and dynamic efficiency pull in different directions</a:t>
            </a:r>
          </a:p>
        </p:txBody>
      </p:sp>
      <p:sp>
        <p:nvSpPr>
          <p:cNvPr id="4" name="">
            <a:extLst xmlns:a="http://schemas.openxmlformats.org/drawingml/2006/main">
              <a:ext uri="{FF2B5EF4-FFF2-40B4-BE49-F238E27FC236}">
                <a16:creationId xmlns:a16="http://schemas.microsoft.com/office/drawing/2014/main" id="{7CFC3751-C456-480C-AF9E-0FF1CCDE3580}"/>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7B668C-BDDF-4086-B9B4-F51FC2E924A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9101E197-7643-4F6C-B5E2-4F65674BB8BE}"/>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5</a:t>
            </a:r>
          </a:p>
        </p:txBody>
      </p:sp>
      <p:sp>
        <p:nvSpPr>
          <p:cNvPr id="7" name="">
            <a:extLst xmlns:a="http://schemas.openxmlformats.org/drawingml/2006/main">
              <a:ext uri="{FF2B5EF4-FFF2-40B4-BE49-F238E27FC236}">
                <a16:creationId xmlns:a16="http://schemas.microsoft.com/office/drawing/2014/main" id="{A6F0411B-9241-4B71-B9C6-8FA6AE330B88}"/>
              </a:ext>
            </a:extLst>
          </p:cNvPr>
          <p:cNvSpPr>
            <a:spLocks xmlns:a="http://schemas.openxmlformats.org/drawingml/2006/main" noGrp="1"/>
          </p:cNvSpPr>
          <p:nvPr/>
        </p:nvSpPr>
        <p:spPr>
          <a:xfrm xmlns:a="http://schemas.openxmlformats.org/drawingml/2006/main">
            <a:off x="952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STATIC ACCESS</a:t>
            </a:r>
          </a:p>
        </p:txBody>
      </p:sp>
      <p:sp>
        <p:nvSpPr>
          <p:cNvPr id="8" name="">
            <a:extLst xmlns:a="http://schemas.openxmlformats.org/drawingml/2006/main">
              <a:ext uri="{FF2B5EF4-FFF2-40B4-BE49-F238E27FC236}">
                <a16:creationId xmlns:a16="http://schemas.microsoft.com/office/drawing/2014/main" id="{B455F1AD-875E-4743-8229-DD1F03986EF7}"/>
              </a:ext>
            </a:extLst>
          </p:cNvPr>
          <p:cNvSpPr>
            <a:spLocks xmlns:a="http://schemas.openxmlformats.org/drawingml/2006/main" noGrp="1"/>
          </p:cNvSpPr>
          <p:nvPr/>
        </p:nvSpPr>
        <p:spPr>
          <a:xfrm xmlns:a="http://schemas.openxmlformats.org/drawingml/2006/main">
            <a:off x="952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43064D7C-EFE3-4605-BA08-462145B1EA4D}"/>
              </a:ext>
            </a:extLst>
          </p:cNvPr>
          <p:cNvSpPr>
            <a:spLocks xmlns:a="http://schemas.openxmlformats.org/drawingml/2006/main" noGrp="1"/>
          </p:cNvSpPr>
          <p:nvPr/>
        </p:nvSpPr>
        <p:spPr>
          <a:xfrm xmlns:a="http://schemas.openxmlformats.org/drawingml/2006/main">
            <a:off x="1276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Broad use of existing works</a:t>
            </a:r>
          </a:p>
        </p:txBody>
      </p:sp>
      <p:sp>
        <p:nvSpPr>
          <p:cNvPr id="10" name="">
            <a:extLst xmlns:a="http://schemas.openxmlformats.org/drawingml/2006/main">
              <a:ext uri="{FF2B5EF4-FFF2-40B4-BE49-F238E27FC236}">
                <a16:creationId xmlns:a16="http://schemas.microsoft.com/office/drawing/2014/main" id="{D3B76CAE-96A1-4202-976A-9637779889A4}"/>
              </a:ext>
            </a:extLst>
          </p:cNvPr>
          <p:cNvSpPr>
            <a:spLocks xmlns:a="http://schemas.openxmlformats.org/drawingml/2006/main" noGrp="1"/>
          </p:cNvSpPr>
          <p:nvPr/>
        </p:nvSpPr>
        <p:spPr>
          <a:xfrm xmlns:a="http://schemas.openxmlformats.org/drawingml/2006/main">
            <a:off x="952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915E130D-DAC8-430A-976D-DCBC0CBC9AB6}"/>
              </a:ext>
            </a:extLst>
          </p:cNvPr>
          <p:cNvSpPr>
            <a:spLocks xmlns:a="http://schemas.openxmlformats.org/drawingml/2006/main" noGrp="1"/>
          </p:cNvSpPr>
          <p:nvPr/>
        </p:nvSpPr>
        <p:spPr>
          <a:xfrm xmlns:a="http://schemas.openxmlformats.org/drawingml/2006/main">
            <a:off x="1276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Price closer to copying cost</a:t>
            </a:r>
          </a:p>
        </p:txBody>
      </p:sp>
      <p:sp>
        <p:nvSpPr>
          <p:cNvPr id="12" name="">
            <a:extLst xmlns:a="http://schemas.openxmlformats.org/drawingml/2006/main">
              <a:ext uri="{FF2B5EF4-FFF2-40B4-BE49-F238E27FC236}">
                <a16:creationId xmlns:a16="http://schemas.microsoft.com/office/drawing/2014/main" id="{635FF491-87F1-4A87-8487-1385FC82E4B6}"/>
              </a:ext>
            </a:extLst>
          </p:cNvPr>
          <p:cNvSpPr>
            <a:spLocks xmlns:a="http://schemas.openxmlformats.org/drawingml/2006/main" noGrp="1"/>
          </p:cNvSpPr>
          <p:nvPr/>
        </p:nvSpPr>
        <p:spPr>
          <a:xfrm xmlns:a="http://schemas.openxmlformats.org/drawingml/2006/main">
            <a:off x="952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09BBC67B-6A6A-4DC0-88CF-A1450E1DDB6E}"/>
              </a:ext>
            </a:extLst>
          </p:cNvPr>
          <p:cNvSpPr>
            <a:spLocks xmlns:a="http://schemas.openxmlformats.org/drawingml/2006/main" noGrp="1"/>
          </p:cNvSpPr>
          <p:nvPr/>
        </p:nvSpPr>
        <p:spPr>
          <a:xfrm xmlns:a="http://schemas.openxmlformats.org/drawingml/2006/main">
            <a:off x="1276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More diffusion and follow-on use</a:t>
            </a:r>
          </a:p>
        </p:txBody>
      </p:sp>
      <p:sp>
        <p:nvSpPr>
          <p:cNvPr id="14" name="">
            <a:extLst xmlns:a="http://schemas.openxmlformats.org/drawingml/2006/main">
              <a:ext uri="{FF2B5EF4-FFF2-40B4-BE49-F238E27FC236}">
                <a16:creationId xmlns:a16="http://schemas.microsoft.com/office/drawing/2014/main" id="{5C263E85-C475-4304-9163-FB3685AC186B}"/>
              </a:ext>
            </a:extLst>
          </p:cNvPr>
          <p:cNvSpPr>
            <a:spLocks xmlns:a="http://schemas.openxmlformats.org/drawingml/2006/main" noGrp="1"/>
          </p:cNvSpPr>
          <p:nvPr/>
        </p:nvSpPr>
        <p:spPr>
          <a:xfrm xmlns:a="http://schemas.openxmlformats.org/drawingml/2006/main">
            <a:off x="6096000" y="1676400"/>
            <a:ext cx="9525" cy="3409950"/>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9EE2C4E-8AF1-4653-97DA-329906E53068}"/>
              </a:ext>
            </a:extLst>
          </p:cNvPr>
          <p:cNvSpPr>
            <a:spLocks xmlns:a="http://schemas.openxmlformats.org/drawingml/2006/main" noGrp="1"/>
          </p:cNvSpPr>
          <p:nvPr/>
        </p:nvSpPr>
        <p:spPr>
          <a:xfrm xmlns:a="http://schemas.openxmlformats.org/drawingml/2006/main">
            <a:off x="6667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DYNAMIC INCENTIVES</a:t>
            </a:r>
          </a:p>
        </p:txBody>
      </p:sp>
      <p:sp>
        <p:nvSpPr>
          <p:cNvPr id="16" name="">
            <a:extLst xmlns:a="http://schemas.openxmlformats.org/drawingml/2006/main">
              <a:ext uri="{FF2B5EF4-FFF2-40B4-BE49-F238E27FC236}">
                <a16:creationId xmlns:a16="http://schemas.microsoft.com/office/drawing/2014/main" id="{029A1456-CB4C-47C8-8927-93BA2DE25994}"/>
              </a:ext>
            </a:extLst>
          </p:cNvPr>
          <p:cNvSpPr>
            <a:spLocks xmlns:a="http://schemas.openxmlformats.org/drawingml/2006/main" noGrp="1"/>
          </p:cNvSpPr>
          <p:nvPr/>
        </p:nvSpPr>
        <p:spPr>
          <a:xfrm xmlns:a="http://schemas.openxmlformats.org/drawingml/2006/main">
            <a:off x="6667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6A563102-B676-40E3-9615-E7B5245F6555}"/>
              </a:ext>
            </a:extLst>
          </p:cNvPr>
          <p:cNvSpPr>
            <a:spLocks xmlns:a="http://schemas.openxmlformats.org/drawingml/2006/main" noGrp="1"/>
          </p:cNvSpPr>
          <p:nvPr/>
        </p:nvSpPr>
        <p:spPr>
          <a:xfrm xmlns:a="http://schemas.openxmlformats.org/drawingml/2006/main">
            <a:off x="6991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Recover fixed creation cost</a:t>
            </a:r>
          </a:p>
        </p:txBody>
      </p:sp>
      <p:sp>
        <p:nvSpPr>
          <p:cNvPr id="18" name="">
            <a:extLst xmlns:a="http://schemas.openxmlformats.org/drawingml/2006/main">
              <a:ext uri="{FF2B5EF4-FFF2-40B4-BE49-F238E27FC236}">
                <a16:creationId xmlns:a16="http://schemas.microsoft.com/office/drawing/2014/main" id="{3408D83D-3B89-4FB3-A42A-A16E0A24D910}"/>
              </a:ext>
            </a:extLst>
          </p:cNvPr>
          <p:cNvSpPr>
            <a:spLocks xmlns:a="http://schemas.openxmlformats.org/drawingml/2006/main" noGrp="1"/>
          </p:cNvSpPr>
          <p:nvPr/>
        </p:nvSpPr>
        <p:spPr>
          <a:xfrm xmlns:a="http://schemas.openxmlformats.org/drawingml/2006/main">
            <a:off x="6667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206BE97A-FF16-498D-883B-688973178D28}"/>
              </a:ext>
            </a:extLst>
          </p:cNvPr>
          <p:cNvSpPr>
            <a:spLocks xmlns:a="http://schemas.openxmlformats.org/drawingml/2006/main" noGrp="1"/>
          </p:cNvSpPr>
          <p:nvPr/>
        </p:nvSpPr>
        <p:spPr>
          <a:xfrm xmlns:a="http://schemas.openxmlformats.org/drawingml/2006/main">
            <a:off x="6991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Finance experimentation and disclosure</a:t>
            </a:r>
          </a:p>
        </p:txBody>
      </p:sp>
      <p:sp>
        <p:nvSpPr>
          <p:cNvPr id="20" name="">
            <a:extLst xmlns:a="http://schemas.openxmlformats.org/drawingml/2006/main">
              <a:ext uri="{FF2B5EF4-FFF2-40B4-BE49-F238E27FC236}">
                <a16:creationId xmlns:a16="http://schemas.microsoft.com/office/drawing/2014/main" id="{12369343-ACE9-44C7-BF86-DDE089FF4A23}"/>
              </a:ext>
            </a:extLst>
          </p:cNvPr>
          <p:cNvSpPr>
            <a:spLocks xmlns:a="http://schemas.openxmlformats.org/drawingml/2006/main" noGrp="1"/>
          </p:cNvSpPr>
          <p:nvPr/>
        </p:nvSpPr>
        <p:spPr>
          <a:xfrm xmlns:a="http://schemas.openxmlformats.org/drawingml/2006/main">
            <a:off x="6667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DACFCEDA-0C09-46BA-AFB5-DFDD3943BCDE}"/>
              </a:ext>
            </a:extLst>
          </p:cNvPr>
          <p:cNvSpPr>
            <a:spLocks xmlns:a="http://schemas.openxmlformats.org/drawingml/2006/main" noGrp="1"/>
          </p:cNvSpPr>
          <p:nvPr/>
        </p:nvSpPr>
        <p:spPr>
          <a:xfrm xmlns:a="http://schemas.openxmlformats.org/drawingml/2006/main">
            <a:off x="6991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Reward successful investment</a:t>
            </a:r>
          </a:p>
        </p:txBody>
      </p:sp>
      <p:sp>
        <p:nvSpPr>
          <p:cNvPr id="22" name="">
            <a:extLst xmlns:a="http://schemas.openxmlformats.org/drawingml/2006/main">
              <a:ext uri="{FF2B5EF4-FFF2-40B4-BE49-F238E27FC236}">
                <a16:creationId xmlns:a16="http://schemas.microsoft.com/office/drawing/2014/main" id="{04141FE5-8C62-4C24-8239-98DEB222C8C3}"/>
              </a:ext>
            </a:extLst>
          </p:cNvPr>
          <p:cNvSpPr>
            <a:spLocks xmlns:a="http://schemas.openxmlformats.org/drawingml/2006/main" noGrp="1"/>
          </p:cNvSpPr>
          <p:nvPr/>
        </p:nvSpPr>
        <p:spPr>
          <a:xfrm xmlns:a="http://schemas.openxmlformats.org/drawingml/2006/main">
            <a:off x="1200150" y="54102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Optimal policy balances creation, access, and cumulative innovation.</a:t>
            </a:r>
          </a:p>
        </p:txBody>
      </p:sp>
    </p:spTree>
    <p:extLst>
      <p:ext uri="{BB962C8B-B14F-4D97-AF65-F5344CB8AC3E}">
        <p14:creationId xmlns:p14="http://schemas.microsoft.com/office/powerpoint/2010/main" val="343007643"/>
      </p:ext>
    </p:extLst>
  </p:cSld>
</p:sld>
</file>

<file path=ppt/slides/slide6.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648A17-1A4A-41BB-8223-A189C6B9EC1D}"/>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DE1D534-5313-4BAF-9A6A-26AFE4961A4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2ED4E04C-9D32-44D7-BFAC-252E9D1ABAE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Design rights; do not maximize them</a:t>
            </a:r>
          </a:p>
        </p:txBody>
      </p:sp>
      <p:sp>
        <p:nvSpPr>
          <p:cNvPr id="4" name="">
            <a:extLst xmlns:a="http://schemas.openxmlformats.org/drawingml/2006/main">
              <a:ext uri="{FF2B5EF4-FFF2-40B4-BE49-F238E27FC236}">
                <a16:creationId xmlns:a16="http://schemas.microsoft.com/office/drawing/2014/main" id="{6C339961-4D43-4087-BDED-ECC852379A4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E69B56-2151-428E-8490-4686324E207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4523C37F-835B-4218-BDDF-EE48A04CBB1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6</a:t>
            </a:r>
          </a:p>
        </p:txBody>
      </p:sp>
      <p:sp>
        <p:nvSpPr>
          <p:cNvPr id="7" name="">
            <a:extLst xmlns:a="http://schemas.openxmlformats.org/drawingml/2006/main">
              <a:ext uri="{FF2B5EF4-FFF2-40B4-BE49-F238E27FC236}">
                <a16:creationId xmlns:a16="http://schemas.microsoft.com/office/drawing/2014/main" id="{6B547845-3E1E-4CAE-BAF1-67D240081B44}"/>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More breadth, duration, remedies, and control are not automatically better.</a:t>
            </a:r>
          </a:p>
        </p:txBody>
      </p:sp>
      <p:sp>
        <p:nvSpPr>
          <p:cNvPr id="8" name="">
            <a:extLst xmlns:a="http://schemas.openxmlformats.org/drawingml/2006/main">
              <a:ext uri="{FF2B5EF4-FFF2-40B4-BE49-F238E27FC236}">
                <a16:creationId xmlns:a16="http://schemas.microsoft.com/office/drawing/2014/main" id="{280DE352-AABC-4057-A1CC-4B88D4E18209}"/>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Each dimension can increase appropriation while also increasing access cost, boundary uncertainty, bargaining leverage, and cumulative blockage.</a:t>
            </a:r>
          </a:p>
        </p:txBody>
      </p:sp>
    </p:spTree>
    <p:extLst>
      <p:ext uri="{BB962C8B-B14F-4D97-AF65-F5344CB8AC3E}">
        <p14:creationId xmlns:p14="http://schemas.microsoft.com/office/powerpoint/2010/main" val="1514623906"/>
      </p:ext>
    </p:extLst>
  </p:cSld>
</p:sld>
</file>

<file path=ppt/slides/slide7.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697922-A8D4-420F-9105-AD1F33E9277F}"/>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6175D8-3ABB-4591-B72B-61B8FBCB7D89}"/>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E00D8A78-2344-4B9A-BC72-82151C80468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281"/>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An intellectual-property right is not automatically a market monopoly</a:t>
            </a:r>
          </a:p>
        </p:txBody>
      </p:sp>
      <p:sp>
        <p:nvSpPr>
          <p:cNvPr id="4" name="">
            <a:extLst xmlns:a="http://schemas.openxmlformats.org/drawingml/2006/main">
              <a:ext uri="{FF2B5EF4-FFF2-40B4-BE49-F238E27FC236}">
                <a16:creationId xmlns:a16="http://schemas.microsoft.com/office/drawing/2014/main" id="{AC5A5C71-B7C8-44F5-BCCF-51468272D7F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5488CEC-459D-4256-B4E4-DA99DEDA24A8}"/>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FEAD82DF-E0FD-46F8-98ED-2A928F8D2218}"/>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7</a:t>
            </a:r>
          </a:p>
        </p:txBody>
      </p:sp>
      <p:sp>
        <p:nvSpPr>
          <p:cNvPr id="7" name="">
            <a:extLst xmlns:a="http://schemas.openxmlformats.org/drawingml/2006/main">
              <a:ext uri="{FF2B5EF4-FFF2-40B4-BE49-F238E27FC236}">
                <a16:creationId xmlns:a16="http://schemas.microsoft.com/office/drawing/2014/main" id="{18BA0DE2-4FCC-4DF6-B871-EC8B0FF6CBD6}"/>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A legal right may cover one work, invention, mark, or secret while substitutes continue to discipline price.</a:t>
            </a:r>
          </a:p>
        </p:txBody>
      </p:sp>
      <p:sp>
        <p:nvSpPr>
          <p:cNvPr id="8" name="">
            <a:extLst xmlns:a="http://schemas.openxmlformats.org/drawingml/2006/main">
              <a:ext uri="{FF2B5EF4-FFF2-40B4-BE49-F238E27FC236}">
                <a16:creationId xmlns:a16="http://schemas.microsoft.com/office/drawing/2014/main" id="{354F8883-5ED9-4387-8834-8668FEEB7CD9}"/>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Market power depends on demand substitution, alternatives, scope, and bargaining conditions, not on the word ‘exclusive.’</a:t>
            </a:r>
          </a:p>
        </p:txBody>
      </p:sp>
    </p:spTree>
    <p:extLst>
      <p:ext uri="{BB962C8B-B14F-4D97-AF65-F5344CB8AC3E}">
        <p14:creationId xmlns:p14="http://schemas.microsoft.com/office/powerpoint/2010/main" val="995053802"/>
      </p:ext>
    </p:extLst>
  </p:cSld>
</p:sld>
</file>

<file path=ppt/slides/slide8.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7524C33-441A-47EB-8C6D-9787953B6104}"/>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F14098-3275-4078-8BEB-9106F8882E6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DD4B52FE-9770-494A-9BBA-923B8DCC7EB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Four institutions solve different information problems</a:t>
            </a:r>
          </a:p>
        </p:txBody>
      </p:sp>
      <p:sp>
        <p:nvSpPr>
          <p:cNvPr id="4" name="">
            <a:extLst xmlns:a="http://schemas.openxmlformats.org/drawingml/2006/main">
              <a:ext uri="{FF2B5EF4-FFF2-40B4-BE49-F238E27FC236}">
                <a16:creationId xmlns:a16="http://schemas.microsoft.com/office/drawing/2014/main" id="{ECF30B69-C1CD-4F3B-8949-D359B6B8F85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102A6CF-EA52-4869-8F6F-05FB62D6587D}"/>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123FD182-196A-42EF-82C6-1BF129131B1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8</a:t>
            </a:r>
          </a:p>
        </p:txBody>
      </p:sp>
      <p:sp>
        <p:nvSpPr>
          <p:cNvPr id="7" name="">
            <a:extLst xmlns:a="http://schemas.openxmlformats.org/drawingml/2006/main">
              <a:ext uri="{FF2B5EF4-FFF2-40B4-BE49-F238E27FC236}">
                <a16:creationId xmlns:a16="http://schemas.microsoft.com/office/drawing/2014/main" id="{CE3BCA4F-EB12-4C2D-B75D-77535C337A68}"/>
              </a:ext>
            </a:extLst>
          </p:cNvPr>
          <p:cNvSpPr>
            <a:spLocks xmlns:a="http://schemas.openxmlformats.org/drawingml/2006/main" noGrp="1"/>
          </p:cNvSpPr>
          <p:nvPr/>
        </p:nvSpPr>
        <p:spPr>
          <a:xfrm xmlns:a="http://schemas.openxmlformats.org/drawingml/2006/main">
            <a:off x="809625" y="1676400"/>
            <a:ext cx="2190750" cy="68580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596B1193-3B5B-474C-931D-38367F4F6C83}"/>
              </a:ext>
            </a:extLst>
          </p:cNvPr>
          <p:cNvSpPr>
            <a:spLocks xmlns:a="http://schemas.openxmlformats.org/drawingml/2006/main" noGrp="1"/>
          </p:cNvSpPr>
          <p:nvPr/>
        </p:nvSpPr>
        <p:spPr>
          <a:xfrm xmlns:a="http://schemas.openxmlformats.org/drawingml/2006/main">
            <a:off x="885825" y="173355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Institution</a:t>
            </a:r>
          </a:p>
        </p:txBody>
      </p:sp>
      <p:sp>
        <p:nvSpPr>
          <p:cNvPr id="9" name="">
            <a:extLst xmlns:a="http://schemas.openxmlformats.org/drawingml/2006/main">
              <a:ext uri="{FF2B5EF4-FFF2-40B4-BE49-F238E27FC236}">
                <a16:creationId xmlns:a16="http://schemas.microsoft.com/office/drawing/2014/main" id="{CF101843-889A-4E95-AFCF-1429F6C52E89}"/>
              </a:ext>
            </a:extLst>
          </p:cNvPr>
          <p:cNvSpPr>
            <a:spLocks xmlns:a="http://schemas.openxmlformats.org/drawingml/2006/main" noGrp="1"/>
          </p:cNvSpPr>
          <p:nvPr/>
        </p:nvSpPr>
        <p:spPr>
          <a:xfrm xmlns:a="http://schemas.openxmlformats.org/drawingml/2006/main">
            <a:off x="3000375" y="1676400"/>
            <a:ext cx="3619500" cy="68580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0" name="">
            <a:extLst xmlns:a="http://schemas.openxmlformats.org/drawingml/2006/main">
              <a:ext uri="{FF2B5EF4-FFF2-40B4-BE49-F238E27FC236}">
                <a16:creationId xmlns:a16="http://schemas.microsoft.com/office/drawing/2014/main" id="{19DD9742-9B5B-4872-8A8B-D792D375E0F8}"/>
              </a:ext>
            </a:extLst>
          </p:cNvPr>
          <p:cNvSpPr>
            <a:spLocks xmlns:a="http://schemas.openxmlformats.org/drawingml/2006/main" noGrp="1"/>
          </p:cNvSpPr>
          <p:nvPr/>
        </p:nvSpPr>
        <p:spPr>
          <a:xfrm xmlns:a="http://schemas.openxmlformats.org/drawingml/2006/main">
            <a:off x="3076575" y="1733550"/>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Protects</a:t>
            </a:r>
          </a:p>
        </p:txBody>
      </p:sp>
      <p:sp>
        <p:nvSpPr>
          <p:cNvPr id="11" name="">
            <a:extLst xmlns:a="http://schemas.openxmlformats.org/drawingml/2006/main">
              <a:ext uri="{FF2B5EF4-FFF2-40B4-BE49-F238E27FC236}">
                <a16:creationId xmlns:a16="http://schemas.microsoft.com/office/drawing/2014/main" id="{1225C430-5634-4382-9F47-298EA6B83ACC}"/>
              </a:ext>
            </a:extLst>
          </p:cNvPr>
          <p:cNvSpPr>
            <a:spLocks xmlns:a="http://schemas.openxmlformats.org/drawingml/2006/main" noGrp="1"/>
          </p:cNvSpPr>
          <p:nvPr/>
        </p:nvSpPr>
        <p:spPr>
          <a:xfrm xmlns:a="http://schemas.openxmlformats.org/drawingml/2006/main">
            <a:off x="6619875" y="1676400"/>
            <a:ext cx="4762500" cy="685800"/>
          </a:xfrm>
          <a:prstGeom xmlns:a="http://schemas.openxmlformats.org/drawingml/2006/main" prst="rect">
            <a:avLst/>
          </a:prstGeom>
          <a:solidFill xmlns:a="http://schemas.openxmlformats.org/drawingml/2006/main">
            <a:srgbClr val="173F38"/>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68C9F862-EE01-40F8-916D-DD101EFF8DD8}"/>
              </a:ext>
            </a:extLst>
          </p:cNvPr>
          <p:cNvSpPr>
            <a:spLocks xmlns:a="http://schemas.openxmlformats.org/drawingml/2006/main" noGrp="1"/>
          </p:cNvSpPr>
          <p:nvPr/>
        </p:nvSpPr>
        <p:spPr>
          <a:xfrm xmlns:a="http://schemas.openxmlformats.org/drawingml/2006/main">
            <a:off x="6696075" y="17335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Primary mechanism</a:t>
            </a:r>
          </a:p>
        </p:txBody>
      </p:sp>
      <p:sp>
        <p:nvSpPr>
          <p:cNvPr id="13" name="">
            <a:extLst xmlns:a="http://schemas.openxmlformats.org/drawingml/2006/main">
              <a:ext uri="{FF2B5EF4-FFF2-40B4-BE49-F238E27FC236}">
                <a16:creationId xmlns:a16="http://schemas.microsoft.com/office/drawing/2014/main" id="{3AC6F438-9E0C-4594-BA48-7D976914AEE8}"/>
              </a:ext>
            </a:extLst>
          </p:cNvPr>
          <p:cNvSpPr>
            <a:spLocks xmlns:a="http://schemas.openxmlformats.org/drawingml/2006/main" noGrp="1"/>
          </p:cNvSpPr>
          <p:nvPr/>
        </p:nvSpPr>
        <p:spPr>
          <a:xfrm xmlns:a="http://schemas.openxmlformats.org/drawingml/2006/main">
            <a:off x="809625" y="2362200"/>
            <a:ext cx="2190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4" name="">
            <a:extLst xmlns:a="http://schemas.openxmlformats.org/drawingml/2006/main">
              <a:ext uri="{FF2B5EF4-FFF2-40B4-BE49-F238E27FC236}">
                <a16:creationId xmlns:a16="http://schemas.microsoft.com/office/drawing/2014/main" id="{462C474F-D02F-4841-94F3-581F60B6007E}"/>
              </a:ext>
            </a:extLst>
          </p:cNvPr>
          <p:cNvSpPr>
            <a:spLocks xmlns:a="http://schemas.openxmlformats.org/drawingml/2006/main" noGrp="1"/>
          </p:cNvSpPr>
          <p:nvPr/>
        </p:nvSpPr>
        <p:spPr>
          <a:xfrm xmlns:a="http://schemas.openxmlformats.org/drawingml/2006/main">
            <a:off x="885825" y="241935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Copyright</a:t>
            </a:r>
          </a:p>
        </p:txBody>
      </p:sp>
      <p:sp>
        <p:nvSpPr>
          <p:cNvPr id="15" name="">
            <a:extLst xmlns:a="http://schemas.openxmlformats.org/drawingml/2006/main">
              <a:ext uri="{FF2B5EF4-FFF2-40B4-BE49-F238E27FC236}">
                <a16:creationId xmlns:a16="http://schemas.microsoft.com/office/drawing/2014/main" id="{6E83B11F-C86C-42D5-B156-A2FB3CDA04AF}"/>
              </a:ext>
            </a:extLst>
          </p:cNvPr>
          <p:cNvSpPr>
            <a:spLocks xmlns:a="http://schemas.openxmlformats.org/drawingml/2006/main" noGrp="1"/>
          </p:cNvSpPr>
          <p:nvPr/>
        </p:nvSpPr>
        <p:spPr>
          <a:xfrm xmlns:a="http://schemas.openxmlformats.org/drawingml/2006/main">
            <a:off x="3000375" y="2362200"/>
            <a:ext cx="3619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14447EC7-20A2-4FB9-AC4D-C56D02117B33}"/>
              </a:ext>
            </a:extLst>
          </p:cNvPr>
          <p:cNvSpPr>
            <a:spLocks xmlns:a="http://schemas.openxmlformats.org/drawingml/2006/main" noGrp="1"/>
          </p:cNvSpPr>
          <p:nvPr/>
        </p:nvSpPr>
        <p:spPr>
          <a:xfrm xmlns:a="http://schemas.openxmlformats.org/drawingml/2006/main">
            <a:off x="3076575" y="2419350"/>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Original expression</a:t>
            </a:r>
          </a:p>
        </p:txBody>
      </p:sp>
      <p:sp>
        <p:nvSpPr>
          <p:cNvPr id="17" name="">
            <a:extLst xmlns:a="http://schemas.openxmlformats.org/drawingml/2006/main">
              <a:ext uri="{FF2B5EF4-FFF2-40B4-BE49-F238E27FC236}">
                <a16:creationId xmlns:a16="http://schemas.microsoft.com/office/drawing/2014/main" id="{625863FB-3782-4D50-B286-68D305316B40}"/>
              </a:ext>
            </a:extLst>
          </p:cNvPr>
          <p:cNvSpPr>
            <a:spLocks xmlns:a="http://schemas.openxmlformats.org/drawingml/2006/main" noGrp="1"/>
          </p:cNvSpPr>
          <p:nvPr/>
        </p:nvSpPr>
        <p:spPr>
          <a:xfrm xmlns:a="http://schemas.openxmlformats.org/drawingml/2006/main">
            <a:off x="6619875" y="2362200"/>
            <a:ext cx="4762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18" name="">
            <a:extLst xmlns:a="http://schemas.openxmlformats.org/drawingml/2006/main">
              <a:ext uri="{FF2B5EF4-FFF2-40B4-BE49-F238E27FC236}">
                <a16:creationId xmlns:a16="http://schemas.microsoft.com/office/drawing/2014/main" id="{D5611036-AC3C-4C7F-9273-A7AA861C48A5}"/>
              </a:ext>
            </a:extLst>
          </p:cNvPr>
          <p:cNvSpPr>
            <a:spLocks xmlns:a="http://schemas.openxmlformats.org/drawingml/2006/main" noGrp="1"/>
          </p:cNvSpPr>
          <p:nvPr/>
        </p:nvSpPr>
        <p:spPr>
          <a:xfrm xmlns:a="http://schemas.openxmlformats.org/drawingml/2006/main">
            <a:off x="6696075" y="24193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Rights over copying and selected uses</a:t>
            </a:r>
          </a:p>
        </p:txBody>
      </p:sp>
      <p:sp>
        <p:nvSpPr>
          <p:cNvPr id="19" name="">
            <a:extLst xmlns:a="http://schemas.openxmlformats.org/drawingml/2006/main">
              <a:ext uri="{FF2B5EF4-FFF2-40B4-BE49-F238E27FC236}">
                <a16:creationId xmlns:a16="http://schemas.microsoft.com/office/drawing/2014/main" id="{F522C6C0-5774-45C1-BAA4-58249B287C2D}"/>
              </a:ext>
            </a:extLst>
          </p:cNvPr>
          <p:cNvSpPr>
            <a:spLocks xmlns:a="http://schemas.openxmlformats.org/drawingml/2006/main" noGrp="1"/>
          </p:cNvSpPr>
          <p:nvPr/>
        </p:nvSpPr>
        <p:spPr>
          <a:xfrm xmlns:a="http://schemas.openxmlformats.org/drawingml/2006/main">
            <a:off x="809625" y="3048000"/>
            <a:ext cx="219075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C3479176-D6FD-4AB6-9A84-92D0CF5897BE}"/>
              </a:ext>
            </a:extLst>
          </p:cNvPr>
          <p:cNvSpPr>
            <a:spLocks xmlns:a="http://schemas.openxmlformats.org/drawingml/2006/main" noGrp="1"/>
          </p:cNvSpPr>
          <p:nvPr/>
        </p:nvSpPr>
        <p:spPr>
          <a:xfrm xmlns:a="http://schemas.openxmlformats.org/drawingml/2006/main">
            <a:off x="885825" y="310515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Patent</a:t>
            </a:r>
          </a:p>
        </p:txBody>
      </p:sp>
      <p:sp>
        <p:nvSpPr>
          <p:cNvPr id="21" name="">
            <a:extLst xmlns:a="http://schemas.openxmlformats.org/drawingml/2006/main">
              <a:ext uri="{FF2B5EF4-FFF2-40B4-BE49-F238E27FC236}">
                <a16:creationId xmlns:a16="http://schemas.microsoft.com/office/drawing/2014/main" id="{25F7103A-20E1-4B88-B876-B73D8EB13C12}"/>
              </a:ext>
            </a:extLst>
          </p:cNvPr>
          <p:cNvSpPr>
            <a:spLocks xmlns:a="http://schemas.openxmlformats.org/drawingml/2006/main" noGrp="1"/>
          </p:cNvSpPr>
          <p:nvPr/>
        </p:nvSpPr>
        <p:spPr>
          <a:xfrm xmlns:a="http://schemas.openxmlformats.org/drawingml/2006/main">
            <a:off x="3000375" y="3048000"/>
            <a:ext cx="361950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2" name="">
            <a:extLst xmlns:a="http://schemas.openxmlformats.org/drawingml/2006/main">
              <a:ext uri="{FF2B5EF4-FFF2-40B4-BE49-F238E27FC236}">
                <a16:creationId xmlns:a16="http://schemas.microsoft.com/office/drawing/2014/main" id="{EE583CA4-5A95-484D-BDD1-F3C6FD6DF6DC}"/>
              </a:ext>
            </a:extLst>
          </p:cNvPr>
          <p:cNvSpPr>
            <a:spLocks xmlns:a="http://schemas.openxmlformats.org/drawingml/2006/main" noGrp="1"/>
          </p:cNvSpPr>
          <p:nvPr/>
        </p:nvSpPr>
        <p:spPr>
          <a:xfrm xmlns:a="http://schemas.openxmlformats.org/drawingml/2006/main">
            <a:off x="3076575" y="3105150"/>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Novel useful invention</a:t>
            </a:r>
          </a:p>
        </p:txBody>
      </p:sp>
      <p:sp>
        <p:nvSpPr>
          <p:cNvPr id="23" name="">
            <a:extLst xmlns:a="http://schemas.openxmlformats.org/drawingml/2006/main">
              <a:ext uri="{FF2B5EF4-FFF2-40B4-BE49-F238E27FC236}">
                <a16:creationId xmlns:a16="http://schemas.microsoft.com/office/drawing/2014/main" id="{12025D78-BAF2-45D7-A101-05617EF86892}"/>
              </a:ext>
            </a:extLst>
          </p:cNvPr>
          <p:cNvSpPr>
            <a:spLocks xmlns:a="http://schemas.openxmlformats.org/drawingml/2006/main" noGrp="1"/>
          </p:cNvSpPr>
          <p:nvPr/>
        </p:nvSpPr>
        <p:spPr>
          <a:xfrm xmlns:a="http://schemas.openxmlformats.org/drawingml/2006/main">
            <a:off x="6619875" y="3048000"/>
            <a:ext cx="476250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24" name="">
            <a:extLst xmlns:a="http://schemas.openxmlformats.org/drawingml/2006/main">
              <a:ext uri="{FF2B5EF4-FFF2-40B4-BE49-F238E27FC236}">
                <a16:creationId xmlns:a16="http://schemas.microsoft.com/office/drawing/2014/main" id="{DB1FA54A-717E-4AD7-94D2-FC3BA60036E0}"/>
              </a:ext>
            </a:extLst>
          </p:cNvPr>
          <p:cNvSpPr>
            <a:spLocks xmlns:a="http://schemas.openxmlformats.org/drawingml/2006/main" noGrp="1"/>
          </p:cNvSpPr>
          <p:nvPr/>
        </p:nvSpPr>
        <p:spPr>
          <a:xfrm xmlns:a="http://schemas.openxmlformats.org/drawingml/2006/main">
            <a:off x="6696075" y="31051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Time-limited exclusion for disclosure</a:t>
            </a:r>
          </a:p>
        </p:txBody>
      </p:sp>
      <p:sp>
        <p:nvSpPr>
          <p:cNvPr id="25" name="">
            <a:extLst xmlns:a="http://schemas.openxmlformats.org/drawingml/2006/main">
              <a:ext uri="{FF2B5EF4-FFF2-40B4-BE49-F238E27FC236}">
                <a16:creationId xmlns:a16="http://schemas.microsoft.com/office/drawing/2014/main" id="{7C07CA54-D1ED-48FC-AD2C-9AA17DBFD503}"/>
              </a:ext>
            </a:extLst>
          </p:cNvPr>
          <p:cNvSpPr>
            <a:spLocks xmlns:a="http://schemas.openxmlformats.org/drawingml/2006/main" noGrp="1"/>
          </p:cNvSpPr>
          <p:nvPr/>
        </p:nvSpPr>
        <p:spPr>
          <a:xfrm xmlns:a="http://schemas.openxmlformats.org/drawingml/2006/main">
            <a:off x="809625" y="3733800"/>
            <a:ext cx="21907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6" name="">
            <a:extLst xmlns:a="http://schemas.openxmlformats.org/drawingml/2006/main">
              <a:ext uri="{FF2B5EF4-FFF2-40B4-BE49-F238E27FC236}">
                <a16:creationId xmlns:a16="http://schemas.microsoft.com/office/drawing/2014/main" id="{7A1D19D9-1CD8-4963-9DDA-F1956E7BD030}"/>
              </a:ext>
            </a:extLst>
          </p:cNvPr>
          <p:cNvSpPr>
            <a:spLocks xmlns:a="http://schemas.openxmlformats.org/drawingml/2006/main" noGrp="1"/>
          </p:cNvSpPr>
          <p:nvPr/>
        </p:nvSpPr>
        <p:spPr>
          <a:xfrm xmlns:a="http://schemas.openxmlformats.org/drawingml/2006/main">
            <a:off x="885825" y="379095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Trademark</a:t>
            </a:r>
          </a:p>
        </p:txBody>
      </p:sp>
      <p:sp>
        <p:nvSpPr>
          <p:cNvPr id="27" name="">
            <a:extLst xmlns:a="http://schemas.openxmlformats.org/drawingml/2006/main">
              <a:ext uri="{FF2B5EF4-FFF2-40B4-BE49-F238E27FC236}">
                <a16:creationId xmlns:a16="http://schemas.microsoft.com/office/drawing/2014/main" id="{F631E1C4-5B41-456D-8A53-7A34B3BC7959}"/>
              </a:ext>
            </a:extLst>
          </p:cNvPr>
          <p:cNvSpPr>
            <a:spLocks xmlns:a="http://schemas.openxmlformats.org/drawingml/2006/main" noGrp="1"/>
          </p:cNvSpPr>
          <p:nvPr/>
        </p:nvSpPr>
        <p:spPr>
          <a:xfrm xmlns:a="http://schemas.openxmlformats.org/drawingml/2006/main">
            <a:off x="3000375" y="3733800"/>
            <a:ext cx="3619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28" name="">
            <a:extLst xmlns:a="http://schemas.openxmlformats.org/drawingml/2006/main">
              <a:ext uri="{FF2B5EF4-FFF2-40B4-BE49-F238E27FC236}">
                <a16:creationId xmlns:a16="http://schemas.microsoft.com/office/drawing/2014/main" id="{DA9B4F3F-2447-4503-8074-C0340A389917}"/>
              </a:ext>
            </a:extLst>
          </p:cNvPr>
          <p:cNvSpPr>
            <a:spLocks xmlns:a="http://schemas.openxmlformats.org/drawingml/2006/main" noGrp="1"/>
          </p:cNvSpPr>
          <p:nvPr/>
        </p:nvSpPr>
        <p:spPr>
          <a:xfrm xmlns:a="http://schemas.openxmlformats.org/drawingml/2006/main">
            <a:off x="3076575" y="3790950"/>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Source identification</a:t>
            </a:r>
          </a:p>
        </p:txBody>
      </p:sp>
      <p:sp>
        <p:nvSpPr>
          <p:cNvPr id="29" name="">
            <a:extLst xmlns:a="http://schemas.openxmlformats.org/drawingml/2006/main">
              <a:ext uri="{FF2B5EF4-FFF2-40B4-BE49-F238E27FC236}">
                <a16:creationId xmlns:a16="http://schemas.microsoft.com/office/drawing/2014/main" id="{C4C340BF-1DD8-43D2-A5BD-26C8575380F7}"/>
              </a:ext>
            </a:extLst>
          </p:cNvPr>
          <p:cNvSpPr>
            <a:spLocks xmlns:a="http://schemas.openxmlformats.org/drawingml/2006/main" noGrp="1"/>
          </p:cNvSpPr>
          <p:nvPr/>
        </p:nvSpPr>
        <p:spPr>
          <a:xfrm xmlns:a="http://schemas.openxmlformats.org/drawingml/2006/main">
            <a:off x="6619875" y="3733800"/>
            <a:ext cx="476250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CCD5D2"/>
            </a:solidFill>
            <a:prstDash val="solid"/>
          </a:ln>
        </p:spPr>
      </p:sp>
      <p:sp>
        <p:nvSpPr>
          <p:cNvPr id="30" name="">
            <a:extLst xmlns:a="http://schemas.openxmlformats.org/drawingml/2006/main">
              <a:ext uri="{FF2B5EF4-FFF2-40B4-BE49-F238E27FC236}">
                <a16:creationId xmlns:a16="http://schemas.microsoft.com/office/drawing/2014/main" id="{6D1A4D19-F950-4A65-9EB0-83F7CECD09C4}"/>
              </a:ext>
            </a:extLst>
          </p:cNvPr>
          <p:cNvSpPr>
            <a:spLocks xmlns:a="http://schemas.openxmlformats.org/drawingml/2006/main" noGrp="1"/>
          </p:cNvSpPr>
          <p:nvPr/>
        </p:nvSpPr>
        <p:spPr>
          <a:xfrm xmlns:a="http://schemas.openxmlformats.org/drawingml/2006/main">
            <a:off x="6696075" y="37909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Reduces consumer confusion</a:t>
            </a:r>
          </a:p>
        </p:txBody>
      </p:sp>
      <p:sp>
        <p:nvSpPr>
          <p:cNvPr id="31" name="">
            <a:extLst xmlns:a="http://schemas.openxmlformats.org/drawingml/2006/main">
              <a:ext uri="{FF2B5EF4-FFF2-40B4-BE49-F238E27FC236}">
                <a16:creationId xmlns:a16="http://schemas.microsoft.com/office/drawing/2014/main" id="{3E4AEE8D-5404-4C1D-BAC7-208A8B479018}"/>
              </a:ext>
            </a:extLst>
          </p:cNvPr>
          <p:cNvSpPr>
            <a:spLocks xmlns:a="http://schemas.openxmlformats.org/drawingml/2006/main" noGrp="1"/>
          </p:cNvSpPr>
          <p:nvPr/>
        </p:nvSpPr>
        <p:spPr>
          <a:xfrm xmlns:a="http://schemas.openxmlformats.org/drawingml/2006/main">
            <a:off x="809625" y="4419600"/>
            <a:ext cx="219075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2" name="">
            <a:extLst xmlns:a="http://schemas.openxmlformats.org/drawingml/2006/main">
              <a:ext uri="{FF2B5EF4-FFF2-40B4-BE49-F238E27FC236}">
                <a16:creationId xmlns:a16="http://schemas.microsoft.com/office/drawing/2014/main" id="{1C4C5574-EFE5-478C-B73F-1AE4872E76EF}"/>
              </a:ext>
            </a:extLst>
          </p:cNvPr>
          <p:cNvSpPr>
            <a:spLocks xmlns:a="http://schemas.openxmlformats.org/drawingml/2006/main" noGrp="1"/>
          </p:cNvSpPr>
          <p:nvPr/>
        </p:nvSpPr>
        <p:spPr>
          <a:xfrm xmlns:a="http://schemas.openxmlformats.org/drawingml/2006/main">
            <a:off x="885825" y="4476750"/>
            <a:ext cx="20383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Trade secret</a:t>
            </a:r>
          </a:p>
        </p:txBody>
      </p:sp>
      <p:sp>
        <p:nvSpPr>
          <p:cNvPr id="33" name="">
            <a:extLst xmlns:a="http://schemas.openxmlformats.org/drawingml/2006/main">
              <a:ext uri="{FF2B5EF4-FFF2-40B4-BE49-F238E27FC236}">
                <a16:creationId xmlns:a16="http://schemas.microsoft.com/office/drawing/2014/main" id="{24B6139F-3344-4191-9A45-F6628D613376}"/>
              </a:ext>
            </a:extLst>
          </p:cNvPr>
          <p:cNvSpPr>
            <a:spLocks xmlns:a="http://schemas.openxmlformats.org/drawingml/2006/main" noGrp="1"/>
          </p:cNvSpPr>
          <p:nvPr/>
        </p:nvSpPr>
        <p:spPr>
          <a:xfrm xmlns:a="http://schemas.openxmlformats.org/drawingml/2006/main">
            <a:off x="3000375" y="4419600"/>
            <a:ext cx="361950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4" name="">
            <a:extLst xmlns:a="http://schemas.openxmlformats.org/drawingml/2006/main">
              <a:ext uri="{FF2B5EF4-FFF2-40B4-BE49-F238E27FC236}">
                <a16:creationId xmlns:a16="http://schemas.microsoft.com/office/drawing/2014/main" id="{A53D16B0-3F75-48F8-99EE-625483394EE2}"/>
              </a:ext>
            </a:extLst>
          </p:cNvPr>
          <p:cNvSpPr>
            <a:spLocks xmlns:a="http://schemas.openxmlformats.org/drawingml/2006/main" noGrp="1"/>
          </p:cNvSpPr>
          <p:nvPr/>
        </p:nvSpPr>
        <p:spPr>
          <a:xfrm xmlns:a="http://schemas.openxmlformats.org/drawingml/2006/main">
            <a:off x="3076575" y="4476750"/>
            <a:ext cx="3467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Valuable secret information</a:t>
            </a:r>
          </a:p>
        </p:txBody>
      </p:sp>
      <p:sp>
        <p:nvSpPr>
          <p:cNvPr id="35" name="">
            <a:extLst xmlns:a="http://schemas.openxmlformats.org/drawingml/2006/main">
              <a:ext uri="{FF2B5EF4-FFF2-40B4-BE49-F238E27FC236}">
                <a16:creationId xmlns:a16="http://schemas.microsoft.com/office/drawing/2014/main" id="{196B82FD-EDC9-49F3-8FAB-EC90953ECB0E}"/>
              </a:ext>
            </a:extLst>
          </p:cNvPr>
          <p:cNvSpPr>
            <a:spLocks xmlns:a="http://schemas.openxmlformats.org/drawingml/2006/main" noGrp="1"/>
          </p:cNvSpPr>
          <p:nvPr/>
        </p:nvSpPr>
        <p:spPr>
          <a:xfrm xmlns:a="http://schemas.openxmlformats.org/drawingml/2006/main">
            <a:off x="6619875" y="4419600"/>
            <a:ext cx="4762500" cy="685800"/>
          </a:xfrm>
          <a:prstGeom xmlns:a="http://schemas.openxmlformats.org/drawingml/2006/main" prst="rect">
            <a:avLst/>
          </a:prstGeom>
          <a:solidFill xmlns:a="http://schemas.openxmlformats.org/drawingml/2006/main">
            <a:srgbClr val="F4F7F5"/>
          </a:solidFill>
          <a:ln xmlns:a="http://schemas.openxmlformats.org/drawingml/2006/main" w="9525">
            <a:solidFill>
              <a:srgbClr val="CCD5D2"/>
            </a:solidFill>
            <a:prstDash val="solid"/>
          </a:ln>
        </p:spPr>
      </p:sp>
      <p:sp>
        <p:nvSpPr>
          <p:cNvPr id="36" name="">
            <a:extLst xmlns:a="http://schemas.openxmlformats.org/drawingml/2006/main">
              <a:ext uri="{FF2B5EF4-FFF2-40B4-BE49-F238E27FC236}">
                <a16:creationId xmlns:a16="http://schemas.microsoft.com/office/drawing/2014/main" id="{578BAC35-C9DE-4D4C-ABBE-C2983D9F0F3A}"/>
              </a:ext>
            </a:extLst>
          </p:cNvPr>
          <p:cNvSpPr>
            <a:spLocks xmlns:a="http://schemas.openxmlformats.org/drawingml/2006/main" noGrp="1"/>
          </p:cNvSpPr>
          <p:nvPr/>
        </p:nvSpPr>
        <p:spPr>
          <a:xfrm xmlns:a="http://schemas.openxmlformats.org/drawingml/2006/main">
            <a:off x="6696075" y="4476750"/>
            <a:ext cx="46101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350" b="0" i="0">
                <a:solidFill>
                  <a:srgbClr val="17242D"/>
                </a:solidFill>
                <a:latin typeface="Aptos"/>
                <a:ea typeface="Aptos"/>
                <a:cs typeface="Aptos"/>
              </a:defRPr>
            </a:pPr>
            <a:r>
              <a:rPr sz="1350" b="0" i="0">
                <a:solidFill>
                  <a:srgbClr val="17242D"/>
                </a:solidFill>
                <a:latin typeface="Aptos"/>
                <a:ea typeface="Aptos"/>
                <a:cs typeface="Aptos"/>
              </a:rPr>
              <a:t>Liability for wrongful acquisition or use</a:t>
            </a:r>
          </a:p>
        </p:txBody>
      </p:sp>
      <p:sp>
        <p:nvSpPr>
          <p:cNvPr id="37" name="">
            <a:extLst xmlns:a="http://schemas.openxmlformats.org/drawingml/2006/main">
              <a:ext uri="{FF2B5EF4-FFF2-40B4-BE49-F238E27FC236}">
                <a16:creationId xmlns:a16="http://schemas.microsoft.com/office/drawing/2014/main" id="{EF5DC4A3-D9A5-4CCA-B97B-084E242379D4}"/>
              </a:ext>
            </a:extLst>
          </p:cNvPr>
          <p:cNvSpPr>
            <a:spLocks xmlns:a="http://schemas.openxmlformats.org/drawingml/2006/main" noGrp="1"/>
          </p:cNvSpPr>
          <p:nvPr/>
        </p:nvSpPr>
        <p:spPr>
          <a:xfrm xmlns:a="http://schemas.openxmlformats.org/drawingml/2006/main">
            <a:off x="1200150" y="5715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Different subject matter calls for different boundaries and durations.</a:t>
            </a:r>
          </a:p>
        </p:txBody>
      </p:sp>
    </p:spTree>
    <p:extLst>
      <p:ext uri="{BB962C8B-B14F-4D97-AF65-F5344CB8AC3E}">
        <p14:creationId xmlns:p14="http://schemas.microsoft.com/office/powerpoint/2010/main" val="1285369690"/>
      </p:ext>
    </p:extLst>
  </p:cSld>
</p:sld>
</file>

<file path=ppt/slides/slide9.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1D77B45-0866-4B72-B724-1BE7553AAB29}"/>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0277D6-2341-4A47-BF48-C0DA19C81D9C}"/>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22D12703-8AF9-4F56-974B-FBBB2678A6C4}"/>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Copyright divides expression from ideas</a:t>
            </a:r>
          </a:p>
        </p:txBody>
      </p:sp>
      <p:sp>
        <p:nvSpPr>
          <p:cNvPr id="4" name="">
            <a:extLst xmlns:a="http://schemas.openxmlformats.org/drawingml/2006/main">
              <a:ext uri="{FF2B5EF4-FFF2-40B4-BE49-F238E27FC236}">
                <a16:creationId xmlns:a16="http://schemas.microsoft.com/office/drawing/2014/main" id="{E2FA767A-A5D0-4A5C-84C7-4FA9D6BCB9F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9203932-F646-4A31-BC68-BF53859331D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50EB2CF6-826F-4FD1-9A8D-9BE087904DA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9</a:t>
            </a:r>
          </a:p>
        </p:txBody>
      </p:sp>
      <p:sp>
        <p:nvSpPr>
          <p:cNvPr id="7" name="">
            <a:extLst xmlns:a="http://schemas.openxmlformats.org/drawingml/2006/main">
              <a:ext uri="{FF2B5EF4-FFF2-40B4-BE49-F238E27FC236}">
                <a16:creationId xmlns:a16="http://schemas.microsoft.com/office/drawing/2014/main" id="{CB13E452-07F1-4A40-B59A-E18D70BFB712}"/>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PROTECTED</a:t>
            </a:r>
          </a:p>
        </p:txBody>
      </p:sp>
      <p:sp>
        <p:nvSpPr>
          <p:cNvPr id="8" name="">
            <a:extLst xmlns:a="http://schemas.openxmlformats.org/drawingml/2006/main">
              <a:ext uri="{FF2B5EF4-FFF2-40B4-BE49-F238E27FC236}">
                <a16:creationId xmlns:a16="http://schemas.microsoft.com/office/drawing/2014/main" id="{28D8C9C7-C7FE-4B85-ABDD-302DA5BFF6CE}"/>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D9EE25AF-80F2-4AA9-AB48-F7E69B916BF1}"/>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Original expression fixed in a work</a:t>
            </a:r>
          </a:p>
        </p:txBody>
      </p:sp>
      <p:sp>
        <p:nvSpPr>
          <p:cNvPr id="10" name="">
            <a:extLst xmlns:a="http://schemas.openxmlformats.org/drawingml/2006/main">
              <a:ext uri="{FF2B5EF4-FFF2-40B4-BE49-F238E27FC236}">
                <a16:creationId xmlns:a16="http://schemas.microsoft.com/office/drawing/2014/main" id="{BAE33A9E-D512-4BD5-ACF4-AA2D1C48BD97}"/>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UNPROTECTED CORE</a:t>
            </a:r>
          </a:p>
        </p:txBody>
      </p:sp>
      <p:sp>
        <p:nvSpPr>
          <p:cNvPr id="11" name="">
            <a:extLst xmlns:a="http://schemas.openxmlformats.org/drawingml/2006/main">
              <a:ext uri="{FF2B5EF4-FFF2-40B4-BE49-F238E27FC236}">
                <a16:creationId xmlns:a16="http://schemas.microsoft.com/office/drawing/2014/main" id="{F7595434-4604-4309-86CC-68084000FACC}"/>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3B663E56-E070-4EF5-B667-C9A1F7073AE0}"/>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Ideas, facts, systems, and methods</a:t>
            </a:r>
          </a:p>
        </p:txBody>
      </p:sp>
      <p:sp>
        <p:nvSpPr>
          <p:cNvPr id="13" name="">
            <a:extLst xmlns:a="http://schemas.openxmlformats.org/drawingml/2006/main">
              <a:ext uri="{FF2B5EF4-FFF2-40B4-BE49-F238E27FC236}">
                <a16:creationId xmlns:a16="http://schemas.microsoft.com/office/drawing/2014/main" id="{75E88C6E-78CA-40B2-98D3-B1B0E1D50096}"/>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BOUNDARY PROBLEM</a:t>
            </a:r>
          </a:p>
        </p:txBody>
      </p:sp>
      <p:sp>
        <p:nvSpPr>
          <p:cNvPr id="14" name="">
            <a:extLst xmlns:a="http://schemas.openxmlformats.org/drawingml/2006/main">
              <a:ext uri="{FF2B5EF4-FFF2-40B4-BE49-F238E27FC236}">
                <a16:creationId xmlns:a16="http://schemas.microsoft.com/office/drawing/2014/main" id="{8882DC25-5B2A-418B-8CD8-44CF62F209CA}"/>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C61BC5AC-0493-42CA-9DE6-63F84BAC38F3}"/>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How much similarity counts as copying protected expression?</a:t>
            </a:r>
          </a:p>
        </p:txBody>
      </p:sp>
      <p:sp>
        <p:nvSpPr>
          <p:cNvPr id="16" name="">
            <a:extLst xmlns:a="http://schemas.openxmlformats.org/drawingml/2006/main">
              <a:ext uri="{FF2B5EF4-FFF2-40B4-BE49-F238E27FC236}">
                <a16:creationId xmlns:a16="http://schemas.microsoft.com/office/drawing/2014/main" id="{4BEFC139-9BB7-473E-88EE-C6BE98FDDF0F}"/>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613"/>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idea-expression boundary protects both incentives and a shared creative vocabulary.</a:t>
            </a:r>
          </a:p>
        </p:txBody>
      </p:sp>
    </p:spTree>
    <p:extLst>
      <p:ext uri="{BB962C8B-B14F-4D97-AF65-F5344CB8AC3E}">
        <p14:creationId xmlns:p14="http://schemas.microsoft.com/office/powerpoint/2010/main" val="2141301263"/>
      </p:ext>
    </p:extLst>
  </p:cSld>
</p:sld>
</file>

<file path=ppt/slides/slide10.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2F35CB-6CAD-479C-B0A1-EEE9E3AF3434}"/>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01EA5E-A190-4072-9F0A-0F017CE8894A}"/>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71C79402-011C-4600-806D-22802D6DC15F}"/>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Fair use supplies breathing room</a:t>
            </a:r>
          </a:p>
        </p:txBody>
      </p:sp>
      <p:sp>
        <p:nvSpPr>
          <p:cNvPr id="4" name="">
            <a:extLst xmlns:a="http://schemas.openxmlformats.org/drawingml/2006/main">
              <a:ext uri="{FF2B5EF4-FFF2-40B4-BE49-F238E27FC236}">
                <a16:creationId xmlns:a16="http://schemas.microsoft.com/office/drawing/2014/main" id="{9176D1B1-F336-4969-B702-BBA4DBFA844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491DA2-0E09-408E-8EB6-8C51FD9E096A}"/>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794AB280-F78F-4209-94BA-E753C798CEA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A8243F04-1C0C-43A5-9A76-FC2A447FF019}"/>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Some unlicensed uses can be lawful because context, purpose, amount, and market effect matter.</a:t>
            </a:r>
          </a:p>
        </p:txBody>
      </p:sp>
      <p:sp>
        <p:nvSpPr>
          <p:cNvPr id="8" name="">
            <a:extLst xmlns:a="http://schemas.openxmlformats.org/drawingml/2006/main">
              <a:ext uri="{FF2B5EF4-FFF2-40B4-BE49-F238E27FC236}">
                <a16:creationId xmlns:a16="http://schemas.microsoft.com/office/drawing/2014/main" id="{5CC1557A-5D8E-45A2-8BA1-3685617EE37E}"/>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The doctrine preserves criticism, teaching, transformation, and other uses where transaction costs or follow-on value complicate blanket exclusion.</a:t>
            </a:r>
          </a:p>
        </p:txBody>
      </p:sp>
    </p:spTree>
    <p:extLst>
      <p:ext uri="{BB962C8B-B14F-4D97-AF65-F5344CB8AC3E}">
        <p14:creationId xmlns:p14="http://schemas.microsoft.com/office/powerpoint/2010/main" val="1539181008"/>
      </p:ext>
    </p:extLst>
  </p:cSld>
</p:sld>
</file>

<file path=ppt/slides/slide1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A225944-7B9F-48B1-8C28-327B30405C7D}"/>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E8065E-3721-4D02-A8AE-2EF814E8574E}"/>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185C5573-DDF0-42A1-B922-47A85A23837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Law, contract, and code can stack</a:t>
            </a:r>
          </a:p>
        </p:txBody>
      </p:sp>
      <p:sp>
        <p:nvSpPr>
          <p:cNvPr id="4" name="">
            <a:extLst xmlns:a="http://schemas.openxmlformats.org/drawingml/2006/main">
              <a:ext uri="{FF2B5EF4-FFF2-40B4-BE49-F238E27FC236}">
                <a16:creationId xmlns:a16="http://schemas.microsoft.com/office/drawing/2014/main" id="{C8057FE0-8062-49F1-9BE5-0FAEB12CA9D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BF5E69-D44B-4C26-A588-EED8477042AC}"/>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766B5240-B37D-4751-93BA-A6E6A84A0AF6}"/>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470B084D-1CBE-492A-AD9E-CA7C191C4490}"/>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LAW</a:t>
            </a:r>
          </a:p>
        </p:txBody>
      </p:sp>
      <p:sp>
        <p:nvSpPr>
          <p:cNvPr id="8" name="">
            <a:extLst xmlns:a="http://schemas.openxmlformats.org/drawingml/2006/main">
              <a:ext uri="{FF2B5EF4-FFF2-40B4-BE49-F238E27FC236}">
                <a16:creationId xmlns:a16="http://schemas.microsoft.com/office/drawing/2014/main" id="{AA51FDD2-FB96-420E-B49F-B210C2EC6EE2}"/>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BC8381A8-B97D-47AA-B5D8-F103A32AFB89}"/>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Defines baseline rights, limits, and remedies</a:t>
            </a:r>
          </a:p>
        </p:txBody>
      </p:sp>
      <p:sp>
        <p:nvSpPr>
          <p:cNvPr id="10" name="">
            <a:extLst xmlns:a="http://schemas.openxmlformats.org/drawingml/2006/main">
              <a:ext uri="{FF2B5EF4-FFF2-40B4-BE49-F238E27FC236}">
                <a16:creationId xmlns:a16="http://schemas.microsoft.com/office/drawing/2014/main" id="{DAD30CF8-7A42-424E-BE4D-5C709A92E1A1}"/>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CONTRACT</a:t>
            </a:r>
          </a:p>
        </p:txBody>
      </p:sp>
      <p:sp>
        <p:nvSpPr>
          <p:cNvPr id="11" name="">
            <a:extLst xmlns:a="http://schemas.openxmlformats.org/drawingml/2006/main">
              <a:ext uri="{FF2B5EF4-FFF2-40B4-BE49-F238E27FC236}">
                <a16:creationId xmlns:a16="http://schemas.microsoft.com/office/drawing/2014/main" id="{B39B970D-9461-4F63-BF96-BBFB46862397}"/>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6777EA0F-5F77-435A-AF99-B94045F69CAC}"/>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Adds license terms and access conditions</a:t>
            </a:r>
          </a:p>
        </p:txBody>
      </p:sp>
      <p:sp>
        <p:nvSpPr>
          <p:cNvPr id="13" name="">
            <a:extLst xmlns:a="http://schemas.openxmlformats.org/drawingml/2006/main">
              <a:ext uri="{FF2B5EF4-FFF2-40B4-BE49-F238E27FC236}">
                <a16:creationId xmlns:a16="http://schemas.microsoft.com/office/drawing/2014/main" id="{A8FDAAC3-BF93-404D-BD02-D2E6C05990D1}"/>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CODE</a:t>
            </a:r>
          </a:p>
        </p:txBody>
      </p:sp>
      <p:sp>
        <p:nvSpPr>
          <p:cNvPr id="14" name="">
            <a:extLst xmlns:a="http://schemas.openxmlformats.org/drawingml/2006/main">
              <a:ext uri="{FF2B5EF4-FFF2-40B4-BE49-F238E27FC236}">
                <a16:creationId xmlns:a16="http://schemas.microsoft.com/office/drawing/2014/main" id="{F5CEC84F-1881-4EA8-A19A-DA9760943711}"/>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B4F83EC6-9A68-4984-AD2B-8264D7ABDCC8}"/>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Controls copying, access, interoperability, and execution</a:t>
            </a:r>
          </a:p>
        </p:txBody>
      </p:sp>
      <p:sp>
        <p:nvSpPr>
          <p:cNvPr id="16" name="">
            <a:extLst xmlns:a="http://schemas.openxmlformats.org/drawingml/2006/main">
              <a:ext uri="{FF2B5EF4-FFF2-40B4-BE49-F238E27FC236}">
                <a16:creationId xmlns:a16="http://schemas.microsoft.com/office/drawing/2014/main" id="{411AEB2B-6B91-47C1-92AC-BD033799B6CB}"/>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029"/>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Private control can become broader in practice than the underlying legal right.</a:t>
            </a:r>
          </a:p>
        </p:txBody>
      </p:sp>
    </p:spTree>
    <p:extLst>
      <p:ext uri="{BB962C8B-B14F-4D97-AF65-F5344CB8AC3E}">
        <p14:creationId xmlns:p14="http://schemas.microsoft.com/office/powerpoint/2010/main" val="1878842774"/>
      </p:ext>
    </p:extLst>
  </p:cSld>
</p:sld>
</file>

<file path=ppt/slides/slide12.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8CFD96-1C0F-45C9-A360-00018BA6BB0A}"/>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B1CC6A-8888-41B1-B576-407AEB4C4FA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F8E75830-130D-4A71-B655-FE51CCD439AC}"/>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Patent boundaries are economic instruments</a:t>
            </a:r>
          </a:p>
        </p:txBody>
      </p:sp>
      <p:sp>
        <p:nvSpPr>
          <p:cNvPr id="4" name="">
            <a:extLst xmlns:a="http://schemas.openxmlformats.org/drawingml/2006/main">
              <a:ext uri="{FF2B5EF4-FFF2-40B4-BE49-F238E27FC236}">
                <a16:creationId xmlns:a16="http://schemas.microsoft.com/office/drawing/2014/main" id="{94E4F5E3-D5B4-4BCB-AD19-C11F88366D2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20C4DB8-5FAA-49B1-AE1F-AD581BD1A930}"/>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42EA86C8-4EA0-411B-9BCC-F2B72654C66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FE0AC5E5-C09C-412C-9711-A5F0CFC3DDC1}"/>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A patent must be broad enough to protect an invention but not so broad that it captures remote substitutes and follow-on improvements.</a:t>
            </a:r>
          </a:p>
        </p:txBody>
      </p:sp>
      <p:sp>
        <p:nvSpPr>
          <p:cNvPr id="8" name="">
            <a:extLst xmlns:a="http://schemas.openxmlformats.org/drawingml/2006/main">
              <a:ext uri="{FF2B5EF4-FFF2-40B4-BE49-F238E27FC236}">
                <a16:creationId xmlns:a16="http://schemas.microsoft.com/office/drawing/2014/main" id="{0E14B55B-4186-4DB5-80D6-8621EC56D37C}"/>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Duration, breadth, novelty, disclosure, remedies, and notice form one policy bundle.</a:t>
            </a:r>
          </a:p>
        </p:txBody>
      </p:sp>
    </p:spTree>
    <p:extLst>
      <p:ext uri="{BB962C8B-B14F-4D97-AF65-F5344CB8AC3E}">
        <p14:creationId xmlns:p14="http://schemas.microsoft.com/office/powerpoint/2010/main" val="1918038923"/>
      </p:ext>
    </p:extLst>
  </p:cSld>
</p:sld>
</file>

<file path=ppt/slides/slide1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E529771-DF2E-4061-A017-A03FE4C3E8C7}"/>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6D617E-8130-4ADF-B6A4-B6C0C593A6DB}"/>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90C6CCAF-927C-423C-8AB9-0B6CC90B82B8}"/>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Breadth creates a recurring tradeoff</a:t>
            </a:r>
          </a:p>
        </p:txBody>
      </p:sp>
      <p:sp>
        <p:nvSpPr>
          <p:cNvPr id="4" name="">
            <a:extLst xmlns:a="http://schemas.openxmlformats.org/drawingml/2006/main">
              <a:ext uri="{FF2B5EF4-FFF2-40B4-BE49-F238E27FC236}">
                <a16:creationId xmlns:a16="http://schemas.microsoft.com/office/drawing/2014/main" id="{ADE5BC6E-DF5A-404C-8A80-5FEFB926F2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309BAFE-1D62-4835-A390-302373D269C3}"/>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EB1031EA-7348-40D3-9D30-B2437373616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83910703-5759-47A5-9F22-17B8E131E89C}"/>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TOO NARROW</a:t>
            </a:r>
          </a:p>
        </p:txBody>
      </p:sp>
      <p:sp>
        <p:nvSpPr>
          <p:cNvPr id="8" name="">
            <a:extLst xmlns:a="http://schemas.openxmlformats.org/drawingml/2006/main">
              <a:ext uri="{FF2B5EF4-FFF2-40B4-BE49-F238E27FC236}">
                <a16:creationId xmlns:a16="http://schemas.microsoft.com/office/drawing/2014/main" id="{8BF437E0-EB26-44C0-BD1C-FB1DDD9BFFA8}"/>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9331DA87-BE95-4164-A34F-6AE438DB3178}"/>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Easy design-around may erase expected reward</a:t>
            </a:r>
          </a:p>
        </p:txBody>
      </p:sp>
      <p:sp>
        <p:nvSpPr>
          <p:cNvPr id="10" name="">
            <a:extLst xmlns:a="http://schemas.openxmlformats.org/drawingml/2006/main">
              <a:ext uri="{FF2B5EF4-FFF2-40B4-BE49-F238E27FC236}">
                <a16:creationId xmlns:a16="http://schemas.microsoft.com/office/drawing/2014/main" id="{22DCFB11-37FC-41BB-BE28-D891599781C2}"/>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USEFUL RANGE</a:t>
            </a:r>
          </a:p>
        </p:txBody>
      </p:sp>
      <p:sp>
        <p:nvSpPr>
          <p:cNvPr id="11" name="">
            <a:extLst xmlns:a="http://schemas.openxmlformats.org/drawingml/2006/main">
              <a:ext uri="{FF2B5EF4-FFF2-40B4-BE49-F238E27FC236}">
                <a16:creationId xmlns:a16="http://schemas.microsoft.com/office/drawing/2014/main" id="{C01AD344-79F5-4D08-8A48-CFFBBC5440A0}"/>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6EFCAE58-3F43-45E6-AB12-71CA1700403A}"/>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Protects the inventive contribution while preserving alternatives</a:t>
            </a:r>
          </a:p>
        </p:txBody>
      </p:sp>
      <p:sp>
        <p:nvSpPr>
          <p:cNvPr id="13" name="">
            <a:extLst xmlns:a="http://schemas.openxmlformats.org/drawingml/2006/main">
              <a:ext uri="{FF2B5EF4-FFF2-40B4-BE49-F238E27FC236}">
                <a16:creationId xmlns:a16="http://schemas.microsoft.com/office/drawing/2014/main" id="{B9192391-4D0B-4C6F-9E70-EB8371CCCF0F}"/>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TOO BROAD</a:t>
            </a:r>
          </a:p>
        </p:txBody>
      </p:sp>
      <p:sp>
        <p:nvSpPr>
          <p:cNvPr id="14" name="">
            <a:extLst xmlns:a="http://schemas.openxmlformats.org/drawingml/2006/main">
              <a:ext uri="{FF2B5EF4-FFF2-40B4-BE49-F238E27FC236}">
                <a16:creationId xmlns:a16="http://schemas.microsoft.com/office/drawing/2014/main" id="{6FA61DED-4334-422E-80B7-DA31319F553E}"/>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16BC9AC1-B5C3-4AA8-80F8-E23B566D8ECC}"/>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Blocks substitutes and follow-on innovation beyond the contribution</a:t>
            </a:r>
          </a:p>
        </p:txBody>
      </p:sp>
      <p:sp>
        <p:nvSpPr>
          <p:cNvPr id="16" name="">
            <a:extLst xmlns:a="http://schemas.openxmlformats.org/drawingml/2006/main">
              <a:ext uri="{FF2B5EF4-FFF2-40B4-BE49-F238E27FC236}">
                <a16:creationId xmlns:a16="http://schemas.microsoft.com/office/drawing/2014/main" id="{D4F58826-AF02-40DB-9B3D-858BE7638F71}"/>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47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The proper boundary depends on inventive cost, substitutes, notice, and cumulative innovation.</a:t>
            </a:r>
          </a:p>
        </p:txBody>
      </p:sp>
    </p:spTree>
    <p:extLst>
      <p:ext uri="{BB962C8B-B14F-4D97-AF65-F5344CB8AC3E}">
        <p14:creationId xmlns:p14="http://schemas.microsoft.com/office/powerpoint/2010/main" val="514300677"/>
      </p:ext>
    </p:extLst>
  </p:cSld>
</p:sld>
</file>

<file path=ppt/slides/slide14.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AB47DA7-AE71-46C6-A4C8-A2E79B6FB4B4}"/>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D3A572-CCD4-4645-A364-86ECDF1392C2}"/>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EC1EF1EE-A8C9-4CA5-A836-086C36B04F1A}"/>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Amazon's one-click claim makes breadth visible</a:t>
            </a:r>
          </a:p>
        </p:txBody>
      </p:sp>
      <p:sp>
        <p:nvSpPr>
          <p:cNvPr id="4" name="">
            <a:extLst xmlns:a="http://schemas.openxmlformats.org/drawingml/2006/main">
              <a:ext uri="{FF2B5EF4-FFF2-40B4-BE49-F238E27FC236}">
                <a16:creationId xmlns:a16="http://schemas.microsoft.com/office/drawing/2014/main" id="{82A4A794-EDF0-4851-8061-BAE816383B9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59F34D2-BF58-45D2-B74E-2CBEE7E27F51}"/>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E312D1F6-1352-419D-815A-A822C5A279E4}"/>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584C4793-06AA-4605-B265-3513903790D5}"/>
              </a:ext>
            </a:extLst>
          </p:cNvPr>
          <p:cNvSpPr>
            <a:spLocks xmlns:a="http://schemas.openxmlformats.org/drawingml/2006/main" noGrp="1"/>
          </p:cNvSpPr>
          <p:nvPr/>
        </p:nvSpPr>
        <p:spPr>
          <a:xfrm xmlns:a="http://schemas.openxmlformats.org/drawingml/2006/main">
            <a:off x="1066800" y="150495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705"/>
          </a:bodyPr>
          <a:lstStyle xmlns:a="http://schemas.openxmlformats.org/drawingml/2006/main"/>
          <a:p xmlns:a="http://schemas.openxmlformats.org/drawingml/2006/main">
            <a:pPr algn="ctr">
              <a:lnSpc>
                <a:spcPct val="105000"/>
              </a:lnSpc>
              <a:buNone/>
              <a:defRPr sz="2550" b="1" i="0">
                <a:solidFill>
                  <a:srgbClr val="FFFFFF"/>
                </a:solidFill>
                <a:latin typeface="Georgia"/>
                <a:ea typeface="Georgia"/>
                <a:cs typeface="Georgia"/>
              </a:defRPr>
            </a:pPr>
            <a:r>
              <a:rPr sz="2550" b="1" i="0">
                <a:solidFill>
                  <a:srgbClr val="FFFFFF"/>
                </a:solidFill>
                <a:latin typeface="Georgia"/>
                <a:ea typeface="Georgia"/>
                <a:cs typeface="Georgia"/>
              </a:rPr>
              <a:t>Should one firm control the general idea of completing an online purchase with one action?</a:t>
            </a:r>
          </a:p>
        </p:txBody>
      </p:sp>
      <p:sp>
        <p:nvSpPr>
          <p:cNvPr id="8" name="">
            <a:extLst xmlns:a="http://schemas.openxmlformats.org/drawingml/2006/main">
              <a:ext uri="{FF2B5EF4-FFF2-40B4-BE49-F238E27FC236}">
                <a16:creationId xmlns:a16="http://schemas.microsoft.com/office/drawing/2014/main" id="{C25A4E38-CDD5-461D-84B5-F94B97249274}"/>
              </a:ext>
            </a:extLst>
          </p:cNvPr>
          <p:cNvSpPr>
            <a:spLocks xmlns:a="http://schemas.openxmlformats.org/drawingml/2006/main" noGrp="1"/>
          </p:cNvSpPr>
          <p:nvPr/>
        </p:nvSpPr>
        <p:spPr>
          <a:xfrm xmlns:a="http://schemas.openxmlformats.org/drawingml/2006/main">
            <a:off x="10668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REWARD ARGUMENT</a:t>
            </a:r>
          </a:p>
        </p:txBody>
      </p:sp>
      <p:sp>
        <p:nvSpPr>
          <p:cNvPr id="9" name="">
            <a:extLst xmlns:a="http://schemas.openxmlformats.org/drawingml/2006/main">
              <a:ext uri="{FF2B5EF4-FFF2-40B4-BE49-F238E27FC236}">
                <a16:creationId xmlns:a16="http://schemas.microsoft.com/office/drawing/2014/main" id="{9B24771D-208D-4D72-A7D2-9F25EE230676}"/>
              </a:ext>
            </a:extLst>
          </p:cNvPr>
          <p:cNvSpPr>
            <a:spLocks xmlns:a="http://schemas.openxmlformats.org/drawingml/2006/main" noGrp="1"/>
          </p:cNvSpPr>
          <p:nvPr/>
        </p:nvSpPr>
        <p:spPr>
          <a:xfrm xmlns:a="http://schemas.openxmlformats.org/drawingml/2006/main">
            <a:off x="11049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3B4D0312-4C06-40C4-8FBE-6E54A769D310}"/>
              </a:ext>
            </a:extLst>
          </p:cNvPr>
          <p:cNvSpPr>
            <a:spLocks xmlns:a="http://schemas.openxmlformats.org/drawingml/2006/main" noGrp="1"/>
          </p:cNvSpPr>
          <p:nvPr/>
        </p:nvSpPr>
        <p:spPr>
          <a:xfrm xmlns:a="http://schemas.openxmlformats.org/drawingml/2006/main">
            <a:off x="14287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Implementation investment</a:t>
            </a:r>
          </a:p>
        </p:txBody>
      </p:sp>
      <p:sp>
        <p:nvSpPr>
          <p:cNvPr id="11" name="">
            <a:extLst xmlns:a="http://schemas.openxmlformats.org/drawingml/2006/main">
              <a:ext uri="{FF2B5EF4-FFF2-40B4-BE49-F238E27FC236}">
                <a16:creationId xmlns:a16="http://schemas.microsoft.com/office/drawing/2014/main" id="{C9E973A3-51AC-4E87-9FB7-B62C2849E96C}"/>
              </a:ext>
            </a:extLst>
          </p:cNvPr>
          <p:cNvSpPr>
            <a:spLocks xmlns:a="http://schemas.openxmlformats.org/drawingml/2006/main" noGrp="1"/>
          </p:cNvSpPr>
          <p:nvPr/>
        </p:nvSpPr>
        <p:spPr>
          <a:xfrm xmlns:a="http://schemas.openxmlformats.org/drawingml/2006/main">
            <a:off x="11049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31A5CD99-2AD2-4496-9BBB-1028C1489A49}"/>
              </a:ext>
            </a:extLst>
          </p:cNvPr>
          <p:cNvSpPr>
            <a:spLocks xmlns:a="http://schemas.openxmlformats.org/drawingml/2006/main" noGrp="1"/>
          </p:cNvSpPr>
          <p:nvPr/>
        </p:nvSpPr>
        <p:spPr>
          <a:xfrm xmlns:a="http://schemas.openxmlformats.org/drawingml/2006/main">
            <a:off x="14287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Commercial adoption</a:t>
            </a:r>
          </a:p>
        </p:txBody>
      </p:sp>
      <p:sp>
        <p:nvSpPr>
          <p:cNvPr id="13" name="">
            <a:extLst xmlns:a="http://schemas.openxmlformats.org/drawingml/2006/main">
              <a:ext uri="{FF2B5EF4-FFF2-40B4-BE49-F238E27FC236}">
                <a16:creationId xmlns:a16="http://schemas.microsoft.com/office/drawing/2014/main" id="{1AC01373-BDFE-4353-AAE6-31C3C94CBC4A}"/>
              </a:ext>
            </a:extLst>
          </p:cNvPr>
          <p:cNvSpPr>
            <a:spLocks xmlns:a="http://schemas.openxmlformats.org/drawingml/2006/main" noGrp="1"/>
          </p:cNvSpPr>
          <p:nvPr/>
        </p:nvSpPr>
        <p:spPr>
          <a:xfrm xmlns:a="http://schemas.openxmlformats.org/drawingml/2006/main">
            <a:off x="11049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76A0E60F-50F2-4909-A208-F0E7997F1E88}"/>
              </a:ext>
            </a:extLst>
          </p:cNvPr>
          <p:cNvSpPr>
            <a:spLocks xmlns:a="http://schemas.openxmlformats.org/drawingml/2006/main" noGrp="1"/>
          </p:cNvSpPr>
          <p:nvPr/>
        </p:nvSpPr>
        <p:spPr>
          <a:xfrm xmlns:a="http://schemas.openxmlformats.org/drawingml/2006/main">
            <a:off x="14287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Disclosure</a:t>
            </a:r>
          </a:p>
        </p:txBody>
      </p:sp>
      <p:sp>
        <p:nvSpPr>
          <p:cNvPr id="15" name="">
            <a:extLst xmlns:a="http://schemas.openxmlformats.org/drawingml/2006/main">
              <a:ext uri="{FF2B5EF4-FFF2-40B4-BE49-F238E27FC236}">
                <a16:creationId xmlns:a16="http://schemas.microsoft.com/office/drawing/2014/main" id="{F56156F8-A5A4-47B1-8F8E-7C5534DF5B85}"/>
              </a:ext>
            </a:extLst>
          </p:cNvPr>
          <p:cNvSpPr>
            <a:spLocks xmlns:a="http://schemas.openxmlformats.org/drawingml/2006/main" noGrp="1"/>
          </p:cNvSpPr>
          <p:nvPr/>
        </p:nvSpPr>
        <p:spPr>
          <a:xfrm xmlns:a="http://schemas.openxmlformats.org/drawingml/2006/main">
            <a:off x="6096000" y="2686050"/>
            <a:ext cx="9525" cy="2381250"/>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F4D0016-1F49-4556-915C-4E99A5C56927}"/>
              </a:ext>
            </a:extLst>
          </p:cNvPr>
          <p:cNvSpPr>
            <a:spLocks xmlns:a="http://schemas.openxmlformats.org/drawingml/2006/main" noGrp="1"/>
          </p:cNvSpPr>
          <p:nvPr/>
        </p:nvSpPr>
        <p:spPr>
          <a:xfrm xmlns:a="http://schemas.openxmlformats.org/drawingml/2006/main">
            <a:off x="67056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BOUNDARY CONCERN</a:t>
            </a:r>
          </a:p>
        </p:txBody>
      </p:sp>
      <p:sp>
        <p:nvSpPr>
          <p:cNvPr id="17" name="">
            <a:extLst xmlns:a="http://schemas.openxmlformats.org/drawingml/2006/main">
              <a:ext uri="{FF2B5EF4-FFF2-40B4-BE49-F238E27FC236}">
                <a16:creationId xmlns:a16="http://schemas.microsoft.com/office/drawing/2014/main" id="{3C4E441A-9DDA-4478-8188-1CE176BE24C7}"/>
              </a:ext>
            </a:extLst>
          </p:cNvPr>
          <p:cNvSpPr>
            <a:spLocks xmlns:a="http://schemas.openxmlformats.org/drawingml/2006/main" noGrp="1"/>
          </p:cNvSpPr>
          <p:nvPr/>
        </p:nvSpPr>
        <p:spPr>
          <a:xfrm xmlns:a="http://schemas.openxmlformats.org/drawingml/2006/main">
            <a:off x="67437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4E3FF5BD-D35F-4FF7-B296-2BF893A9EAF5}"/>
              </a:ext>
            </a:extLst>
          </p:cNvPr>
          <p:cNvSpPr>
            <a:spLocks xmlns:a="http://schemas.openxmlformats.org/drawingml/2006/main" noGrp="1"/>
          </p:cNvSpPr>
          <p:nvPr/>
        </p:nvSpPr>
        <p:spPr>
          <a:xfrm xmlns:a="http://schemas.openxmlformats.org/drawingml/2006/main">
            <a:off x="70675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Broad functional idea</a:t>
            </a:r>
          </a:p>
        </p:txBody>
      </p:sp>
      <p:sp>
        <p:nvSpPr>
          <p:cNvPr id="19" name="">
            <a:extLst xmlns:a="http://schemas.openxmlformats.org/drawingml/2006/main">
              <a:ext uri="{FF2B5EF4-FFF2-40B4-BE49-F238E27FC236}">
                <a16:creationId xmlns:a16="http://schemas.microsoft.com/office/drawing/2014/main" id="{54F3B250-A8E5-4C64-B13A-525C22CA90F8}"/>
              </a:ext>
            </a:extLst>
          </p:cNvPr>
          <p:cNvSpPr>
            <a:spLocks xmlns:a="http://schemas.openxmlformats.org/drawingml/2006/main" noGrp="1"/>
          </p:cNvSpPr>
          <p:nvPr/>
        </p:nvSpPr>
        <p:spPr>
          <a:xfrm xmlns:a="http://schemas.openxmlformats.org/drawingml/2006/main">
            <a:off x="67437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BA864F50-A71E-43B5-B02B-531CDADA6F1E}"/>
              </a:ext>
            </a:extLst>
          </p:cNvPr>
          <p:cNvSpPr>
            <a:spLocks xmlns:a="http://schemas.openxmlformats.org/drawingml/2006/main" noGrp="1"/>
          </p:cNvSpPr>
          <p:nvPr/>
        </p:nvSpPr>
        <p:spPr>
          <a:xfrm xmlns:a="http://schemas.openxmlformats.org/drawingml/2006/main">
            <a:off x="70675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Many alternative implementations</a:t>
            </a:r>
          </a:p>
        </p:txBody>
      </p:sp>
      <p:sp>
        <p:nvSpPr>
          <p:cNvPr id="21" name="">
            <a:extLst xmlns:a="http://schemas.openxmlformats.org/drawingml/2006/main">
              <a:ext uri="{FF2B5EF4-FFF2-40B4-BE49-F238E27FC236}">
                <a16:creationId xmlns:a16="http://schemas.microsoft.com/office/drawing/2014/main" id="{F9A9DF5D-1EC8-48EE-9D05-B4AEED6A7699}"/>
              </a:ext>
            </a:extLst>
          </p:cNvPr>
          <p:cNvSpPr>
            <a:spLocks xmlns:a="http://schemas.openxmlformats.org/drawingml/2006/main" noGrp="1"/>
          </p:cNvSpPr>
          <p:nvPr/>
        </p:nvSpPr>
        <p:spPr>
          <a:xfrm xmlns:a="http://schemas.openxmlformats.org/drawingml/2006/main">
            <a:off x="67437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88B62FCB-DCEF-49DC-BF16-6D2383D37F2C}"/>
              </a:ext>
            </a:extLst>
          </p:cNvPr>
          <p:cNvSpPr>
            <a:spLocks xmlns:a="http://schemas.openxmlformats.org/drawingml/2006/main" noGrp="1"/>
          </p:cNvSpPr>
          <p:nvPr/>
        </p:nvSpPr>
        <p:spPr>
          <a:xfrm xmlns:a="http://schemas.openxmlformats.org/drawingml/2006/main">
            <a:off x="70675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Large downstream reach</a:t>
            </a:r>
          </a:p>
        </p:txBody>
      </p:sp>
      <p:sp>
        <p:nvSpPr>
          <p:cNvPr id="23" name="">
            <a:extLst xmlns:a="http://schemas.openxmlformats.org/drawingml/2006/main">
              <a:ext uri="{FF2B5EF4-FFF2-40B4-BE49-F238E27FC236}">
                <a16:creationId xmlns:a16="http://schemas.microsoft.com/office/drawing/2014/main" id="{D27E9DDA-3871-4C40-A46A-B4D867849BB8}"/>
              </a:ext>
            </a:extLst>
          </p:cNvPr>
          <p:cNvSpPr>
            <a:spLocks xmlns:a="http://schemas.openxmlformats.org/drawingml/2006/main" noGrp="1"/>
          </p:cNvSpPr>
          <p:nvPr/>
        </p:nvSpPr>
        <p:spPr>
          <a:xfrm xmlns:a="http://schemas.openxmlformats.org/drawingml/2006/main">
            <a:off x="1200150" y="55054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Protect the contribution without owning the entire transaction concept.</a:t>
            </a:r>
          </a:p>
        </p:txBody>
      </p:sp>
    </p:spTree>
    <p:extLst>
      <p:ext uri="{BB962C8B-B14F-4D97-AF65-F5344CB8AC3E}">
        <p14:creationId xmlns:p14="http://schemas.microsoft.com/office/powerpoint/2010/main" val="1387910779"/>
      </p:ext>
    </p:extLst>
  </p:cSld>
</p:sld>
</file>

<file path=ppt/slides/slide15.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A47B478-6583-4D69-96A6-24BAA9247D87}"/>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4AE661-F7A9-4390-92BE-DA91A60E5443}"/>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F6D0A3A1-A997-4757-BFD6-FA65B22794D7}"/>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Cumulative innovation creates a chain of claims</a:t>
            </a:r>
          </a:p>
        </p:txBody>
      </p:sp>
      <p:sp>
        <p:nvSpPr>
          <p:cNvPr id="4" name="">
            <a:extLst xmlns:a="http://schemas.openxmlformats.org/drawingml/2006/main">
              <a:ext uri="{FF2B5EF4-FFF2-40B4-BE49-F238E27FC236}">
                <a16:creationId xmlns:a16="http://schemas.microsoft.com/office/drawing/2014/main" id="{BC2DD841-8C5C-47B3-8D7B-B25A05B7A76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EE0D03-28DD-4654-9B36-673073AFA351}"/>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FA80643A-D480-4628-A01C-193FDD76CF7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6936865C-07EA-4F80-B18F-B78F894D4B97}"/>
              </a:ext>
            </a:extLst>
          </p:cNvPr>
          <p:cNvSpPr>
            <a:spLocks xmlns:a="http://schemas.openxmlformats.org/drawingml/2006/main" noGrp="1"/>
          </p:cNvSpPr>
          <p:nvPr/>
        </p:nvSpPr>
        <p:spPr>
          <a:xfrm xmlns:a="http://schemas.openxmlformats.org/drawingml/2006/main">
            <a:off x="762000" y="2171700"/>
            <a:ext cx="2352675" cy="18097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01C710EA-9EF4-4E81-8C45-0AAC6BFA99B7}"/>
              </a:ext>
            </a:extLst>
          </p:cNvPr>
          <p:cNvSpPr>
            <a:spLocks xmlns:a="http://schemas.openxmlformats.org/drawingml/2006/main" noGrp="1"/>
          </p:cNvSpPr>
          <p:nvPr/>
        </p:nvSpPr>
        <p:spPr>
          <a:xfrm xmlns:a="http://schemas.openxmlformats.org/drawingml/2006/main">
            <a:off x="87630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24594E"/>
                </a:solidFill>
                <a:latin typeface="Aptos"/>
                <a:ea typeface="Aptos"/>
                <a:cs typeface="Aptos"/>
              </a:defRPr>
            </a:pPr>
            <a:r>
              <a:rPr sz="1200" b="1" i="0">
                <a:solidFill>
                  <a:srgbClr val="24594E"/>
                </a:solidFill>
                <a:latin typeface="Aptos"/>
                <a:ea typeface="Aptos"/>
                <a:cs typeface="Aptos"/>
              </a:rPr>
              <a:t>FOUNDATION</a:t>
            </a:r>
          </a:p>
        </p:txBody>
      </p:sp>
      <p:sp>
        <p:nvSpPr>
          <p:cNvPr id="9" name="">
            <a:extLst xmlns:a="http://schemas.openxmlformats.org/drawingml/2006/main">
              <a:ext uri="{FF2B5EF4-FFF2-40B4-BE49-F238E27FC236}">
                <a16:creationId xmlns:a16="http://schemas.microsoft.com/office/drawing/2014/main" id="{F251C12C-FA96-443C-9445-4EAB30832EE2}"/>
              </a:ext>
            </a:extLst>
          </p:cNvPr>
          <p:cNvSpPr>
            <a:spLocks xmlns:a="http://schemas.openxmlformats.org/drawingml/2006/main" noGrp="1"/>
          </p:cNvSpPr>
          <p:nvPr/>
        </p:nvSpPr>
        <p:spPr>
          <a:xfrm xmlns:a="http://schemas.openxmlformats.org/drawingml/2006/main">
            <a:off x="91440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Earlier discovery or platform</a:t>
            </a:r>
          </a:p>
        </p:txBody>
      </p:sp>
      <p:sp>
        <p:nvSpPr>
          <p:cNvPr id="10" name="">
            <a:extLst xmlns:a="http://schemas.openxmlformats.org/drawingml/2006/main">
              <a:ext uri="{FF2B5EF4-FFF2-40B4-BE49-F238E27FC236}">
                <a16:creationId xmlns:a16="http://schemas.microsoft.com/office/drawing/2014/main" id="{1C71C222-2418-49E3-8580-6CBF8BCAFCAA}"/>
              </a:ext>
            </a:extLst>
          </p:cNvPr>
          <p:cNvSpPr>
            <a:spLocks xmlns:a="http://schemas.openxmlformats.org/drawingml/2006/main" noGrp="1"/>
          </p:cNvSpPr>
          <p:nvPr/>
        </p:nvSpPr>
        <p:spPr>
          <a:xfrm xmlns:a="http://schemas.openxmlformats.org/drawingml/2006/main">
            <a:off x="311467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D71F7A63-F80C-47CD-A713-4F3BF35EEB45}"/>
              </a:ext>
            </a:extLst>
          </p:cNvPr>
          <p:cNvSpPr>
            <a:spLocks xmlns:a="http://schemas.openxmlformats.org/drawingml/2006/main" noGrp="1"/>
          </p:cNvSpPr>
          <p:nvPr/>
        </p:nvSpPr>
        <p:spPr>
          <a:xfrm xmlns:a="http://schemas.openxmlformats.org/drawingml/2006/main">
            <a:off x="3533775" y="2171700"/>
            <a:ext cx="2352675" cy="18097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49C53B80-DB52-44DA-87CE-DB132E11B8B2}"/>
              </a:ext>
            </a:extLst>
          </p:cNvPr>
          <p:cNvSpPr>
            <a:spLocks xmlns:a="http://schemas.openxmlformats.org/drawingml/2006/main" noGrp="1"/>
          </p:cNvSpPr>
          <p:nvPr/>
        </p:nvSpPr>
        <p:spPr>
          <a:xfrm xmlns:a="http://schemas.openxmlformats.org/drawingml/2006/main">
            <a:off x="364807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75530D"/>
                </a:solidFill>
                <a:latin typeface="Aptos"/>
                <a:ea typeface="Aptos"/>
                <a:cs typeface="Aptos"/>
              </a:defRPr>
            </a:pPr>
            <a:r>
              <a:rPr sz="1200" b="1" i="0">
                <a:solidFill>
                  <a:srgbClr val="75530D"/>
                </a:solidFill>
                <a:latin typeface="Aptos"/>
                <a:ea typeface="Aptos"/>
                <a:cs typeface="Aptos"/>
              </a:rPr>
              <a:t>IMPROVEMENT</a:t>
            </a:r>
          </a:p>
        </p:txBody>
      </p:sp>
      <p:sp>
        <p:nvSpPr>
          <p:cNvPr id="13" name="">
            <a:extLst xmlns:a="http://schemas.openxmlformats.org/drawingml/2006/main">
              <a:ext uri="{FF2B5EF4-FFF2-40B4-BE49-F238E27FC236}">
                <a16:creationId xmlns:a16="http://schemas.microsoft.com/office/drawing/2014/main" id="{C6383535-7702-4D43-B326-C76550E5BA64}"/>
              </a:ext>
            </a:extLst>
          </p:cNvPr>
          <p:cNvSpPr>
            <a:spLocks xmlns:a="http://schemas.openxmlformats.org/drawingml/2006/main" noGrp="1"/>
          </p:cNvSpPr>
          <p:nvPr/>
        </p:nvSpPr>
        <p:spPr>
          <a:xfrm xmlns:a="http://schemas.openxmlformats.org/drawingml/2006/main">
            <a:off x="368617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Follow-on inventor adds value</a:t>
            </a:r>
          </a:p>
        </p:txBody>
      </p:sp>
      <p:sp>
        <p:nvSpPr>
          <p:cNvPr id="14" name="">
            <a:extLst xmlns:a="http://schemas.openxmlformats.org/drawingml/2006/main">
              <a:ext uri="{FF2B5EF4-FFF2-40B4-BE49-F238E27FC236}">
                <a16:creationId xmlns:a16="http://schemas.microsoft.com/office/drawing/2014/main" id="{96921C93-8A55-498F-8F80-BD05127E54DC}"/>
              </a:ext>
            </a:extLst>
          </p:cNvPr>
          <p:cNvSpPr>
            <a:spLocks xmlns:a="http://schemas.openxmlformats.org/drawingml/2006/main" noGrp="1"/>
          </p:cNvSpPr>
          <p:nvPr/>
        </p:nvSpPr>
        <p:spPr>
          <a:xfrm xmlns:a="http://schemas.openxmlformats.org/drawingml/2006/main">
            <a:off x="5886450"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8AB33532-6972-467E-AE8F-90808BF7CE4B}"/>
              </a:ext>
            </a:extLst>
          </p:cNvPr>
          <p:cNvSpPr>
            <a:spLocks xmlns:a="http://schemas.openxmlformats.org/drawingml/2006/main" noGrp="1"/>
          </p:cNvSpPr>
          <p:nvPr/>
        </p:nvSpPr>
        <p:spPr>
          <a:xfrm xmlns:a="http://schemas.openxmlformats.org/drawingml/2006/main">
            <a:off x="6305550" y="2171700"/>
            <a:ext cx="2352675" cy="18097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6347CCA6-FCDB-4962-B447-D9CCB93D8322}"/>
              </a:ext>
            </a:extLst>
          </p:cNvPr>
          <p:cNvSpPr>
            <a:spLocks xmlns:a="http://schemas.openxmlformats.org/drawingml/2006/main" noGrp="1"/>
          </p:cNvSpPr>
          <p:nvPr/>
        </p:nvSpPr>
        <p:spPr>
          <a:xfrm xmlns:a="http://schemas.openxmlformats.org/drawingml/2006/main">
            <a:off x="641985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9A462F"/>
                </a:solidFill>
                <a:latin typeface="Aptos"/>
                <a:ea typeface="Aptos"/>
                <a:cs typeface="Aptos"/>
              </a:defRPr>
            </a:pPr>
            <a:r>
              <a:rPr sz="1200" b="1" i="0">
                <a:solidFill>
                  <a:srgbClr val="9A462F"/>
                </a:solidFill>
                <a:latin typeface="Aptos"/>
                <a:ea typeface="Aptos"/>
                <a:cs typeface="Aptos"/>
              </a:rPr>
              <a:t>LICENSE</a:t>
            </a:r>
          </a:p>
        </p:txBody>
      </p:sp>
      <p:sp>
        <p:nvSpPr>
          <p:cNvPr id="17" name="">
            <a:extLst xmlns:a="http://schemas.openxmlformats.org/drawingml/2006/main">
              <a:ext uri="{FF2B5EF4-FFF2-40B4-BE49-F238E27FC236}">
                <a16:creationId xmlns:a16="http://schemas.microsoft.com/office/drawing/2014/main" id="{90B9ACEF-1345-4D88-8918-A49CBDD72D5D}"/>
              </a:ext>
            </a:extLst>
          </p:cNvPr>
          <p:cNvSpPr>
            <a:spLocks xmlns:a="http://schemas.openxmlformats.org/drawingml/2006/main" noGrp="1"/>
          </p:cNvSpPr>
          <p:nvPr/>
        </p:nvSpPr>
        <p:spPr>
          <a:xfrm xmlns:a="http://schemas.openxmlformats.org/drawingml/2006/main">
            <a:off x="645795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Rights must be found and combined</a:t>
            </a:r>
          </a:p>
        </p:txBody>
      </p:sp>
      <p:sp>
        <p:nvSpPr>
          <p:cNvPr id="18" name="">
            <a:extLst xmlns:a="http://schemas.openxmlformats.org/drawingml/2006/main">
              <a:ext uri="{FF2B5EF4-FFF2-40B4-BE49-F238E27FC236}">
                <a16:creationId xmlns:a16="http://schemas.microsoft.com/office/drawing/2014/main" id="{F009FAE7-BC81-4BBB-98C3-92968AB6E746}"/>
              </a:ext>
            </a:extLst>
          </p:cNvPr>
          <p:cNvSpPr>
            <a:spLocks xmlns:a="http://schemas.openxmlformats.org/drawingml/2006/main" noGrp="1"/>
          </p:cNvSpPr>
          <p:nvPr/>
        </p:nvSpPr>
        <p:spPr>
          <a:xfrm xmlns:a="http://schemas.openxmlformats.org/drawingml/2006/main">
            <a:off x="865822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79C436E4-3A63-4F16-9B46-94A4BDC9B2CA}"/>
              </a:ext>
            </a:extLst>
          </p:cNvPr>
          <p:cNvSpPr>
            <a:spLocks xmlns:a="http://schemas.openxmlformats.org/drawingml/2006/main" noGrp="1"/>
          </p:cNvSpPr>
          <p:nvPr/>
        </p:nvSpPr>
        <p:spPr>
          <a:xfrm xmlns:a="http://schemas.openxmlformats.org/drawingml/2006/main">
            <a:off x="9077325" y="2171700"/>
            <a:ext cx="2352675" cy="18097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EA54A365-9213-477D-BD68-2A7FFCE92F69}"/>
              </a:ext>
            </a:extLst>
          </p:cNvPr>
          <p:cNvSpPr>
            <a:spLocks xmlns:a="http://schemas.openxmlformats.org/drawingml/2006/main" noGrp="1"/>
          </p:cNvSpPr>
          <p:nvPr/>
        </p:nvSpPr>
        <p:spPr>
          <a:xfrm xmlns:a="http://schemas.openxmlformats.org/drawingml/2006/main">
            <a:off x="919162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315F75"/>
                </a:solidFill>
                <a:latin typeface="Aptos"/>
                <a:ea typeface="Aptos"/>
                <a:cs typeface="Aptos"/>
              </a:defRPr>
            </a:pPr>
            <a:r>
              <a:rPr sz="1200" b="1" i="0">
                <a:solidFill>
                  <a:srgbClr val="315F75"/>
                </a:solidFill>
                <a:latin typeface="Aptos"/>
                <a:ea typeface="Aptos"/>
                <a:cs typeface="Aptos"/>
              </a:rPr>
              <a:t>PRODUCT</a:t>
            </a:r>
          </a:p>
        </p:txBody>
      </p:sp>
      <p:sp>
        <p:nvSpPr>
          <p:cNvPr id="21" name="">
            <a:extLst xmlns:a="http://schemas.openxmlformats.org/drawingml/2006/main">
              <a:ext uri="{FF2B5EF4-FFF2-40B4-BE49-F238E27FC236}">
                <a16:creationId xmlns:a16="http://schemas.microsoft.com/office/drawing/2014/main" id="{D8E0711F-FBE6-47F1-ABDF-2B450C6C3D3B}"/>
              </a:ext>
            </a:extLst>
          </p:cNvPr>
          <p:cNvSpPr>
            <a:spLocks xmlns:a="http://schemas.openxmlformats.org/drawingml/2006/main" noGrp="1"/>
          </p:cNvSpPr>
          <p:nvPr/>
        </p:nvSpPr>
        <p:spPr>
          <a:xfrm xmlns:a="http://schemas.openxmlformats.org/drawingml/2006/main">
            <a:off x="922972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Complementary claims reach users</a:t>
            </a:r>
          </a:p>
        </p:txBody>
      </p:sp>
      <p:sp>
        <p:nvSpPr>
          <p:cNvPr id="22" name="">
            <a:extLst xmlns:a="http://schemas.openxmlformats.org/drawingml/2006/main">
              <a:ext uri="{FF2B5EF4-FFF2-40B4-BE49-F238E27FC236}">
                <a16:creationId xmlns:a16="http://schemas.microsoft.com/office/drawing/2014/main" id="{EBA30908-DDAA-4DD6-959E-A089D886AB19}"/>
              </a:ext>
            </a:extLst>
          </p:cNvPr>
          <p:cNvSpPr>
            <a:spLocks xmlns:a="http://schemas.openxmlformats.org/drawingml/2006/main" noGrp="1"/>
          </p:cNvSpPr>
          <p:nvPr/>
        </p:nvSpPr>
        <p:spPr>
          <a:xfrm xmlns:a="http://schemas.openxmlformats.org/drawingml/2006/main">
            <a:off x="1200150" y="49720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Every additional right can reward an input and increase coordination cost.</a:t>
            </a:r>
          </a:p>
        </p:txBody>
      </p:sp>
    </p:spTree>
    <p:extLst>
      <p:ext uri="{BB962C8B-B14F-4D97-AF65-F5344CB8AC3E}">
        <p14:creationId xmlns:p14="http://schemas.microsoft.com/office/powerpoint/2010/main" val="394631863"/>
      </p:ext>
    </p:extLst>
  </p:cSld>
</p:sld>
</file>

<file path=ppt/slides/slide16.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619FEE-F396-41F5-B7DF-A24F926E469A}"/>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5D4F68C-59AE-4F39-8D97-9F41A30F4791}"/>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509586E3-6DC8-4304-9F4F-F6210BCEFBD8}"/>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Industries can require different institutional mixes</a:t>
            </a:r>
          </a:p>
        </p:txBody>
      </p:sp>
      <p:sp>
        <p:nvSpPr>
          <p:cNvPr id="4" name="">
            <a:extLst xmlns:a="http://schemas.openxmlformats.org/drawingml/2006/main">
              <a:ext uri="{FF2B5EF4-FFF2-40B4-BE49-F238E27FC236}">
                <a16:creationId xmlns:a16="http://schemas.microsoft.com/office/drawing/2014/main" id="{E150FE4B-51A8-49B2-8F50-17556825286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CFBA7D8-BE02-4A07-B308-411FE56D25AE}"/>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1A450165-2963-4A4C-B83B-3308D914EA4F}"/>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608C117A-9248-47DF-AAA9-32B2BE194EFD}"/>
              </a:ext>
            </a:extLst>
          </p:cNvPr>
          <p:cNvSpPr>
            <a:spLocks xmlns:a="http://schemas.openxmlformats.org/drawingml/2006/main" noGrp="1"/>
          </p:cNvSpPr>
          <p:nvPr/>
        </p:nvSpPr>
        <p:spPr>
          <a:xfrm xmlns:a="http://schemas.openxmlformats.org/drawingml/2006/main">
            <a:off x="952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PHARMACEUTICALS</a:t>
            </a:r>
          </a:p>
        </p:txBody>
      </p:sp>
      <p:sp>
        <p:nvSpPr>
          <p:cNvPr id="8" name="">
            <a:extLst xmlns:a="http://schemas.openxmlformats.org/drawingml/2006/main">
              <a:ext uri="{FF2B5EF4-FFF2-40B4-BE49-F238E27FC236}">
                <a16:creationId xmlns:a16="http://schemas.microsoft.com/office/drawing/2014/main" id="{B2B465FE-E75B-48D8-A113-F1B572B28A18}"/>
              </a:ext>
            </a:extLst>
          </p:cNvPr>
          <p:cNvSpPr>
            <a:spLocks xmlns:a="http://schemas.openxmlformats.org/drawingml/2006/main" noGrp="1"/>
          </p:cNvSpPr>
          <p:nvPr/>
        </p:nvSpPr>
        <p:spPr>
          <a:xfrm xmlns:a="http://schemas.openxmlformats.org/drawingml/2006/main">
            <a:off x="952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4C34A81B-38D7-49E1-820C-2E5C4B22B56E}"/>
              </a:ext>
            </a:extLst>
          </p:cNvPr>
          <p:cNvSpPr>
            <a:spLocks xmlns:a="http://schemas.openxmlformats.org/drawingml/2006/main" noGrp="1"/>
          </p:cNvSpPr>
          <p:nvPr/>
        </p:nvSpPr>
        <p:spPr>
          <a:xfrm xmlns:a="http://schemas.openxmlformats.org/drawingml/2006/main">
            <a:off x="1276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High trial and regulatory costs</a:t>
            </a:r>
          </a:p>
        </p:txBody>
      </p:sp>
      <p:sp>
        <p:nvSpPr>
          <p:cNvPr id="10" name="">
            <a:extLst xmlns:a="http://schemas.openxmlformats.org/drawingml/2006/main">
              <a:ext uri="{FF2B5EF4-FFF2-40B4-BE49-F238E27FC236}">
                <a16:creationId xmlns:a16="http://schemas.microsoft.com/office/drawing/2014/main" id="{C430E055-58D4-43AC-8EED-979A7AA0ACD1}"/>
              </a:ext>
            </a:extLst>
          </p:cNvPr>
          <p:cNvSpPr>
            <a:spLocks xmlns:a="http://schemas.openxmlformats.org/drawingml/2006/main" noGrp="1"/>
          </p:cNvSpPr>
          <p:nvPr/>
        </p:nvSpPr>
        <p:spPr>
          <a:xfrm xmlns:a="http://schemas.openxmlformats.org/drawingml/2006/main">
            <a:off x="952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52298185-D61D-413D-A0E1-B0C9337CF4C2}"/>
              </a:ext>
            </a:extLst>
          </p:cNvPr>
          <p:cNvSpPr>
            <a:spLocks xmlns:a="http://schemas.openxmlformats.org/drawingml/2006/main" noGrp="1"/>
          </p:cNvSpPr>
          <p:nvPr/>
        </p:nvSpPr>
        <p:spPr>
          <a:xfrm xmlns:a="http://schemas.openxmlformats.org/drawingml/2006/main">
            <a:off x="1276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Relatively legible product boundaries</a:t>
            </a:r>
          </a:p>
        </p:txBody>
      </p:sp>
      <p:sp>
        <p:nvSpPr>
          <p:cNvPr id="12" name="">
            <a:extLst xmlns:a="http://schemas.openxmlformats.org/drawingml/2006/main">
              <a:ext uri="{FF2B5EF4-FFF2-40B4-BE49-F238E27FC236}">
                <a16:creationId xmlns:a16="http://schemas.microsoft.com/office/drawing/2014/main" id="{FDD6BA8F-FFCA-4575-BC19-FED941B49BD6}"/>
              </a:ext>
            </a:extLst>
          </p:cNvPr>
          <p:cNvSpPr>
            <a:spLocks xmlns:a="http://schemas.openxmlformats.org/drawingml/2006/main" noGrp="1"/>
          </p:cNvSpPr>
          <p:nvPr/>
        </p:nvSpPr>
        <p:spPr>
          <a:xfrm xmlns:a="http://schemas.openxmlformats.org/drawingml/2006/main">
            <a:off x="952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4C09F4FC-1E57-465B-AA54-CEF8B27DC25A}"/>
              </a:ext>
            </a:extLst>
          </p:cNvPr>
          <p:cNvSpPr>
            <a:spLocks xmlns:a="http://schemas.openxmlformats.org/drawingml/2006/main" noGrp="1"/>
          </p:cNvSpPr>
          <p:nvPr/>
        </p:nvSpPr>
        <p:spPr>
          <a:xfrm xmlns:a="http://schemas.openxmlformats.org/drawingml/2006/main">
            <a:off x="1276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Imitation may be fast after disclosure</a:t>
            </a:r>
          </a:p>
        </p:txBody>
      </p:sp>
      <p:sp>
        <p:nvSpPr>
          <p:cNvPr id="14" name="">
            <a:extLst xmlns:a="http://schemas.openxmlformats.org/drawingml/2006/main">
              <a:ext uri="{FF2B5EF4-FFF2-40B4-BE49-F238E27FC236}">
                <a16:creationId xmlns:a16="http://schemas.microsoft.com/office/drawing/2014/main" id="{318E13C0-ECBC-4557-A3A8-4C42FB64712D}"/>
              </a:ext>
            </a:extLst>
          </p:cNvPr>
          <p:cNvSpPr>
            <a:spLocks xmlns:a="http://schemas.openxmlformats.org/drawingml/2006/main" noGrp="1"/>
          </p:cNvSpPr>
          <p:nvPr/>
        </p:nvSpPr>
        <p:spPr>
          <a:xfrm xmlns:a="http://schemas.openxmlformats.org/drawingml/2006/main">
            <a:off x="6096000" y="1676400"/>
            <a:ext cx="9525" cy="3409950"/>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5A6607E-020A-40A6-851D-FE7A253DB87B}"/>
              </a:ext>
            </a:extLst>
          </p:cNvPr>
          <p:cNvSpPr>
            <a:spLocks xmlns:a="http://schemas.openxmlformats.org/drawingml/2006/main" noGrp="1"/>
          </p:cNvSpPr>
          <p:nvPr/>
        </p:nvSpPr>
        <p:spPr>
          <a:xfrm xmlns:a="http://schemas.openxmlformats.org/drawingml/2006/main">
            <a:off x="6667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SOFTWARE</a:t>
            </a:r>
          </a:p>
        </p:txBody>
      </p:sp>
      <p:sp>
        <p:nvSpPr>
          <p:cNvPr id="16" name="">
            <a:extLst xmlns:a="http://schemas.openxmlformats.org/drawingml/2006/main">
              <a:ext uri="{FF2B5EF4-FFF2-40B4-BE49-F238E27FC236}">
                <a16:creationId xmlns:a16="http://schemas.microsoft.com/office/drawing/2014/main" id="{F756054B-40F3-452E-A976-E14178CC1DC8}"/>
              </a:ext>
            </a:extLst>
          </p:cNvPr>
          <p:cNvSpPr>
            <a:spLocks xmlns:a="http://schemas.openxmlformats.org/drawingml/2006/main" noGrp="1"/>
          </p:cNvSpPr>
          <p:nvPr/>
        </p:nvSpPr>
        <p:spPr>
          <a:xfrm xmlns:a="http://schemas.openxmlformats.org/drawingml/2006/main">
            <a:off x="6667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BAEBF9ED-1F1E-4048-935C-B6E35674E1A0}"/>
              </a:ext>
            </a:extLst>
          </p:cNvPr>
          <p:cNvSpPr>
            <a:spLocks xmlns:a="http://schemas.openxmlformats.org/drawingml/2006/main" noGrp="1"/>
          </p:cNvSpPr>
          <p:nvPr/>
        </p:nvSpPr>
        <p:spPr>
          <a:xfrm xmlns:a="http://schemas.openxmlformats.org/drawingml/2006/main">
            <a:off x="6991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Rapid cumulative iteration</a:t>
            </a:r>
          </a:p>
        </p:txBody>
      </p:sp>
      <p:sp>
        <p:nvSpPr>
          <p:cNvPr id="18" name="">
            <a:extLst xmlns:a="http://schemas.openxmlformats.org/drawingml/2006/main">
              <a:ext uri="{FF2B5EF4-FFF2-40B4-BE49-F238E27FC236}">
                <a16:creationId xmlns:a16="http://schemas.microsoft.com/office/drawing/2014/main" id="{E306C5CA-113C-463B-ADBD-FF6CADF1F66E}"/>
              </a:ext>
            </a:extLst>
          </p:cNvPr>
          <p:cNvSpPr>
            <a:spLocks xmlns:a="http://schemas.openxmlformats.org/drawingml/2006/main" noGrp="1"/>
          </p:cNvSpPr>
          <p:nvPr/>
        </p:nvSpPr>
        <p:spPr>
          <a:xfrm xmlns:a="http://schemas.openxmlformats.org/drawingml/2006/main">
            <a:off x="6667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1CA761F5-4367-42F3-BB64-6F486AB981E2}"/>
              </a:ext>
            </a:extLst>
          </p:cNvPr>
          <p:cNvSpPr>
            <a:spLocks xmlns:a="http://schemas.openxmlformats.org/drawingml/2006/main" noGrp="1"/>
          </p:cNvSpPr>
          <p:nvPr/>
        </p:nvSpPr>
        <p:spPr>
          <a:xfrm xmlns:a="http://schemas.openxmlformats.org/drawingml/2006/main">
            <a:off x="6991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Complex and overlapping functions</a:t>
            </a:r>
          </a:p>
        </p:txBody>
      </p:sp>
      <p:sp>
        <p:nvSpPr>
          <p:cNvPr id="20" name="">
            <a:extLst xmlns:a="http://schemas.openxmlformats.org/drawingml/2006/main">
              <a:ext uri="{FF2B5EF4-FFF2-40B4-BE49-F238E27FC236}">
                <a16:creationId xmlns:a16="http://schemas.microsoft.com/office/drawing/2014/main" id="{51DD8772-4337-46DD-972C-0554D187A6BA}"/>
              </a:ext>
            </a:extLst>
          </p:cNvPr>
          <p:cNvSpPr>
            <a:spLocks xmlns:a="http://schemas.openxmlformats.org/drawingml/2006/main" noGrp="1"/>
          </p:cNvSpPr>
          <p:nvPr/>
        </p:nvSpPr>
        <p:spPr>
          <a:xfrm xmlns:a="http://schemas.openxmlformats.org/drawingml/2006/main">
            <a:off x="6667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D56DA5E0-7E96-41AC-9BF5-231F9983695A}"/>
              </a:ext>
            </a:extLst>
          </p:cNvPr>
          <p:cNvSpPr>
            <a:spLocks xmlns:a="http://schemas.openxmlformats.org/drawingml/2006/main" noGrp="1"/>
          </p:cNvSpPr>
          <p:nvPr/>
        </p:nvSpPr>
        <p:spPr>
          <a:xfrm xmlns:a="http://schemas.openxmlformats.org/drawingml/2006/main">
            <a:off x="6991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1624"/>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Copyright, patent, contract, and open source interact</a:t>
            </a:r>
          </a:p>
        </p:txBody>
      </p:sp>
      <p:sp>
        <p:nvSpPr>
          <p:cNvPr id="22" name="">
            <a:extLst xmlns:a="http://schemas.openxmlformats.org/drawingml/2006/main">
              <a:ext uri="{FF2B5EF4-FFF2-40B4-BE49-F238E27FC236}">
                <a16:creationId xmlns:a16="http://schemas.microsoft.com/office/drawing/2014/main" id="{0041E8EA-7463-4D1F-B68B-3B1B3BF0F2D4}"/>
              </a:ext>
            </a:extLst>
          </p:cNvPr>
          <p:cNvSpPr>
            <a:spLocks xmlns:a="http://schemas.openxmlformats.org/drawingml/2006/main" noGrp="1"/>
          </p:cNvSpPr>
          <p:nvPr/>
        </p:nvSpPr>
        <p:spPr>
          <a:xfrm xmlns:a="http://schemas.openxmlformats.org/drawingml/2006/main">
            <a:off x="1200150" y="54102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256"/>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A uniform formal right can produce different economic effects across industries.</a:t>
            </a:r>
          </a:p>
        </p:txBody>
      </p:sp>
    </p:spTree>
    <p:extLst>
      <p:ext uri="{BB962C8B-B14F-4D97-AF65-F5344CB8AC3E}">
        <p14:creationId xmlns:p14="http://schemas.microsoft.com/office/powerpoint/2010/main" val="1662791831"/>
      </p:ext>
    </p:extLst>
  </p:cSld>
</p:sld>
</file>

<file path=ppt/slides/slide17.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439F199-8929-412D-AD3E-7459445466E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39B40E-7B06-4BFB-A4E6-4BD7B4FA84E4}"/>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6F20235E-69CC-4B01-AD8F-97977B263BE0}"/>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Trademark and trade secret solve different failures</a:t>
            </a:r>
          </a:p>
        </p:txBody>
      </p:sp>
      <p:sp>
        <p:nvSpPr>
          <p:cNvPr id="4" name="">
            <a:extLst xmlns:a="http://schemas.openxmlformats.org/drawingml/2006/main">
              <a:ext uri="{FF2B5EF4-FFF2-40B4-BE49-F238E27FC236}">
                <a16:creationId xmlns:a16="http://schemas.microsoft.com/office/drawing/2014/main" id="{0EE87949-8010-45A7-B52D-DE9AA860E978}"/>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716A90-9D70-47F8-A288-F6972177FBDF}"/>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A3D13571-F118-4440-987F-5654E97E7682}"/>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02200BAB-4E2B-4FEB-BD10-7A8E796E519F}"/>
              </a:ext>
            </a:extLst>
          </p:cNvPr>
          <p:cNvSpPr>
            <a:spLocks xmlns:a="http://schemas.openxmlformats.org/drawingml/2006/main" noGrp="1"/>
          </p:cNvSpPr>
          <p:nvPr/>
        </p:nvSpPr>
        <p:spPr>
          <a:xfrm xmlns:a="http://schemas.openxmlformats.org/drawingml/2006/main">
            <a:off x="952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TRADEMARK</a:t>
            </a:r>
          </a:p>
        </p:txBody>
      </p:sp>
      <p:sp>
        <p:nvSpPr>
          <p:cNvPr id="8" name="">
            <a:extLst xmlns:a="http://schemas.openxmlformats.org/drawingml/2006/main">
              <a:ext uri="{FF2B5EF4-FFF2-40B4-BE49-F238E27FC236}">
                <a16:creationId xmlns:a16="http://schemas.microsoft.com/office/drawing/2014/main" id="{5D0B6EC1-DB97-448A-8D82-2FEAAFCF9FA6}"/>
              </a:ext>
            </a:extLst>
          </p:cNvPr>
          <p:cNvSpPr>
            <a:spLocks xmlns:a="http://schemas.openxmlformats.org/drawingml/2006/main" noGrp="1"/>
          </p:cNvSpPr>
          <p:nvPr/>
        </p:nvSpPr>
        <p:spPr>
          <a:xfrm xmlns:a="http://schemas.openxmlformats.org/drawingml/2006/main">
            <a:off x="952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964A70D6-43A7-407E-B2E0-6FA001AEA4EE}"/>
              </a:ext>
            </a:extLst>
          </p:cNvPr>
          <p:cNvSpPr>
            <a:spLocks xmlns:a="http://schemas.openxmlformats.org/drawingml/2006/main" noGrp="1"/>
          </p:cNvSpPr>
          <p:nvPr/>
        </p:nvSpPr>
        <p:spPr>
          <a:xfrm xmlns:a="http://schemas.openxmlformats.org/drawingml/2006/main">
            <a:off x="1276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Identifies source</a:t>
            </a:r>
          </a:p>
        </p:txBody>
      </p:sp>
      <p:sp>
        <p:nvSpPr>
          <p:cNvPr id="10" name="">
            <a:extLst xmlns:a="http://schemas.openxmlformats.org/drawingml/2006/main">
              <a:ext uri="{FF2B5EF4-FFF2-40B4-BE49-F238E27FC236}">
                <a16:creationId xmlns:a16="http://schemas.microsoft.com/office/drawing/2014/main" id="{4A956775-10AB-4DAF-9588-6D69B04D2E55}"/>
              </a:ext>
            </a:extLst>
          </p:cNvPr>
          <p:cNvSpPr>
            <a:spLocks xmlns:a="http://schemas.openxmlformats.org/drawingml/2006/main" noGrp="1"/>
          </p:cNvSpPr>
          <p:nvPr/>
        </p:nvSpPr>
        <p:spPr>
          <a:xfrm xmlns:a="http://schemas.openxmlformats.org/drawingml/2006/main">
            <a:off x="952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BAAA0310-D76A-4DC2-9FB3-B6DF81F9191E}"/>
              </a:ext>
            </a:extLst>
          </p:cNvPr>
          <p:cNvSpPr>
            <a:spLocks xmlns:a="http://schemas.openxmlformats.org/drawingml/2006/main" noGrp="1"/>
          </p:cNvSpPr>
          <p:nvPr/>
        </p:nvSpPr>
        <p:spPr>
          <a:xfrm xmlns:a="http://schemas.openxmlformats.org/drawingml/2006/main">
            <a:off x="1276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Protects reputation signals</a:t>
            </a:r>
          </a:p>
        </p:txBody>
      </p:sp>
      <p:sp>
        <p:nvSpPr>
          <p:cNvPr id="12" name="">
            <a:extLst xmlns:a="http://schemas.openxmlformats.org/drawingml/2006/main">
              <a:ext uri="{FF2B5EF4-FFF2-40B4-BE49-F238E27FC236}">
                <a16:creationId xmlns:a16="http://schemas.microsoft.com/office/drawing/2014/main" id="{F4914256-ED7F-4D69-9C8A-1D90B2F99982}"/>
              </a:ext>
            </a:extLst>
          </p:cNvPr>
          <p:cNvSpPr>
            <a:spLocks xmlns:a="http://schemas.openxmlformats.org/drawingml/2006/main" noGrp="1"/>
          </p:cNvSpPr>
          <p:nvPr/>
        </p:nvSpPr>
        <p:spPr>
          <a:xfrm xmlns:a="http://schemas.openxmlformats.org/drawingml/2006/main">
            <a:off x="952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639D10DC-0895-4238-A37A-805022EA81FC}"/>
              </a:ext>
            </a:extLst>
          </p:cNvPr>
          <p:cNvSpPr>
            <a:spLocks xmlns:a="http://schemas.openxmlformats.org/drawingml/2006/main" noGrp="1"/>
          </p:cNvSpPr>
          <p:nvPr/>
        </p:nvSpPr>
        <p:spPr>
          <a:xfrm xmlns:a="http://schemas.openxmlformats.org/drawingml/2006/main">
            <a:off x="1276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Reduces consumer search and confusion</a:t>
            </a:r>
          </a:p>
        </p:txBody>
      </p:sp>
      <p:sp>
        <p:nvSpPr>
          <p:cNvPr id="14" name="">
            <a:extLst xmlns:a="http://schemas.openxmlformats.org/drawingml/2006/main">
              <a:ext uri="{FF2B5EF4-FFF2-40B4-BE49-F238E27FC236}">
                <a16:creationId xmlns:a16="http://schemas.microsoft.com/office/drawing/2014/main" id="{7D12BF2E-ED2E-4C77-B2B5-44DEC28A31B0}"/>
              </a:ext>
            </a:extLst>
          </p:cNvPr>
          <p:cNvSpPr>
            <a:spLocks xmlns:a="http://schemas.openxmlformats.org/drawingml/2006/main" noGrp="1"/>
          </p:cNvSpPr>
          <p:nvPr/>
        </p:nvSpPr>
        <p:spPr>
          <a:xfrm xmlns:a="http://schemas.openxmlformats.org/drawingml/2006/main">
            <a:off x="6096000" y="1676400"/>
            <a:ext cx="9525" cy="3409950"/>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0CF062C-8192-492B-8B46-EFD979E7A6C5}"/>
              </a:ext>
            </a:extLst>
          </p:cNvPr>
          <p:cNvSpPr>
            <a:spLocks xmlns:a="http://schemas.openxmlformats.org/drawingml/2006/main" noGrp="1"/>
          </p:cNvSpPr>
          <p:nvPr/>
        </p:nvSpPr>
        <p:spPr>
          <a:xfrm xmlns:a="http://schemas.openxmlformats.org/drawingml/2006/main">
            <a:off x="6667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TRADE SECRET</a:t>
            </a:r>
          </a:p>
        </p:txBody>
      </p:sp>
      <p:sp>
        <p:nvSpPr>
          <p:cNvPr id="16" name="">
            <a:extLst xmlns:a="http://schemas.openxmlformats.org/drawingml/2006/main">
              <a:ext uri="{FF2B5EF4-FFF2-40B4-BE49-F238E27FC236}">
                <a16:creationId xmlns:a16="http://schemas.microsoft.com/office/drawing/2014/main" id="{B46A0752-91DD-481A-9F2D-AC6DFCE08DCD}"/>
              </a:ext>
            </a:extLst>
          </p:cNvPr>
          <p:cNvSpPr>
            <a:spLocks xmlns:a="http://schemas.openxmlformats.org/drawingml/2006/main" noGrp="1"/>
          </p:cNvSpPr>
          <p:nvPr/>
        </p:nvSpPr>
        <p:spPr>
          <a:xfrm xmlns:a="http://schemas.openxmlformats.org/drawingml/2006/main">
            <a:off x="6667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AD4E9781-EC1E-446B-9745-E4774C0B0BD6}"/>
              </a:ext>
            </a:extLst>
          </p:cNvPr>
          <p:cNvSpPr>
            <a:spLocks xmlns:a="http://schemas.openxmlformats.org/drawingml/2006/main" noGrp="1"/>
          </p:cNvSpPr>
          <p:nvPr/>
        </p:nvSpPr>
        <p:spPr>
          <a:xfrm xmlns:a="http://schemas.openxmlformats.org/drawingml/2006/main">
            <a:off x="6991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Protects valuable secrecy</a:t>
            </a:r>
          </a:p>
        </p:txBody>
      </p:sp>
      <p:sp>
        <p:nvSpPr>
          <p:cNvPr id="18" name="">
            <a:extLst xmlns:a="http://schemas.openxmlformats.org/drawingml/2006/main">
              <a:ext uri="{FF2B5EF4-FFF2-40B4-BE49-F238E27FC236}">
                <a16:creationId xmlns:a16="http://schemas.microsoft.com/office/drawing/2014/main" id="{B0FDEE50-F199-425B-BD81-E4ACB1D7E1D6}"/>
              </a:ext>
            </a:extLst>
          </p:cNvPr>
          <p:cNvSpPr>
            <a:spLocks xmlns:a="http://schemas.openxmlformats.org/drawingml/2006/main" noGrp="1"/>
          </p:cNvSpPr>
          <p:nvPr/>
        </p:nvSpPr>
        <p:spPr>
          <a:xfrm xmlns:a="http://schemas.openxmlformats.org/drawingml/2006/main">
            <a:off x="6667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0FD187A8-F028-433C-88EC-D4BE1E2838B5}"/>
              </a:ext>
            </a:extLst>
          </p:cNvPr>
          <p:cNvSpPr>
            <a:spLocks xmlns:a="http://schemas.openxmlformats.org/drawingml/2006/main" noGrp="1"/>
          </p:cNvSpPr>
          <p:nvPr/>
        </p:nvSpPr>
        <p:spPr>
          <a:xfrm xmlns:a="http://schemas.openxmlformats.org/drawingml/2006/main">
            <a:off x="6991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Encourages controlled sharing</a:t>
            </a:r>
          </a:p>
        </p:txBody>
      </p:sp>
      <p:sp>
        <p:nvSpPr>
          <p:cNvPr id="20" name="">
            <a:extLst xmlns:a="http://schemas.openxmlformats.org/drawingml/2006/main">
              <a:ext uri="{FF2B5EF4-FFF2-40B4-BE49-F238E27FC236}">
                <a16:creationId xmlns:a16="http://schemas.microsoft.com/office/drawing/2014/main" id="{A968BB4C-6C44-40F6-B31B-3A3165FD8F33}"/>
              </a:ext>
            </a:extLst>
          </p:cNvPr>
          <p:cNvSpPr>
            <a:spLocks xmlns:a="http://schemas.openxmlformats.org/drawingml/2006/main" noGrp="1"/>
          </p:cNvSpPr>
          <p:nvPr/>
        </p:nvSpPr>
        <p:spPr>
          <a:xfrm xmlns:a="http://schemas.openxmlformats.org/drawingml/2006/main">
            <a:off x="6667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5A11F10A-6E34-436A-8CC0-39A093BF429F}"/>
              </a:ext>
            </a:extLst>
          </p:cNvPr>
          <p:cNvSpPr>
            <a:spLocks xmlns:a="http://schemas.openxmlformats.org/drawingml/2006/main" noGrp="1"/>
          </p:cNvSpPr>
          <p:nvPr/>
        </p:nvSpPr>
        <p:spPr>
          <a:xfrm xmlns:a="http://schemas.openxmlformats.org/drawingml/2006/main">
            <a:off x="6991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015"/>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Can discourage disclosure and employee mobility</a:t>
            </a:r>
          </a:p>
        </p:txBody>
      </p:sp>
      <p:sp>
        <p:nvSpPr>
          <p:cNvPr id="22" name="">
            <a:extLst xmlns:a="http://schemas.openxmlformats.org/drawingml/2006/main">
              <a:ext uri="{FF2B5EF4-FFF2-40B4-BE49-F238E27FC236}">
                <a16:creationId xmlns:a16="http://schemas.microsoft.com/office/drawing/2014/main" id="{B903F543-5D4D-41DE-99B2-8BDE97EA4F2D}"/>
              </a:ext>
            </a:extLst>
          </p:cNvPr>
          <p:cNvSpPr>
            <a:spLocks xmlns:a="http://schemas.openxmlformats.org/drawingml/2006/main" noGrp="1"/>
          </p:cNvSpPr>
          <p:nvPr/>
        </p:nvSpPr>
        <p:spPr>
          <a:xfrm xmlns:a="http://schemas.openxmlformats.org/drawingml/2006/main">
            <a:off x="1200150" y="54102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Not every intellectual-property institution is an invention reward.</a:t>
            </a:r>
          </a:p>
        </p:txBody>
      </p:sp>
    </p:spTree>
    <p:extLst>
      <p:ext uri="{BB962C8B-B14F-4D97-AF65-F5344CB8AC3E}">
        <p14:creationId xmlns:p14="http://schemas.microsoft.com/office/powerpoint/2010/main" val="1341868168"/>
      </p:ext>
    </p:extLst>
  </p:cSld>
</p:sld>
</file>

<file path=ppt/slides/slide18.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ABCD85B-D665-4616-B03B-2F784A485CF1}"/>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A74B53-5B6D-424D-B9B8-D377904D7F48}"/>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566FC7CE-3982-4D31-AFA3-B7BAF74EC8BD}"/>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Creators can earn returns without maximum exclusion</a:t>
            </a:r>
          </a:p>
        </p:txBody>
      </p:sp>
      <p:sp>
        <p:nvSpPr>
          <p:cNvPr id="4" name="">
            <a:extLst xmlns:a="http://schemas.openxmlformats.org/drawingml/2006/main">
              <a:ext uri="{FF2B5EF4-FFF2-40B4-BE49-F238E27FC236}">
                <a16:creationId xmlns:a16="http://schemas.microsoft.com/office/drawing/2014/main" id="{82CD3E84-C579-4A67-B831-D11DB152469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D7854F-CF53-44DA-BF38-4396B016CB6B}"/>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A23A5989-C3D7-447D-8A16-201DDC4E946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19F1ADCD-B990-4058-AB4D-C2908BA92DDA}"/>
              </a:ext>
            </a:extLst>
          </p:cNvPr>
          <p:cNvSpPr>
            <a:spLocks xmlns:a="http://schemas.openxmlformats.org/drawingml/2006/main" noGrp="1"/>
          </p:cNvSpPr>
          <p:nvPr/>
        </p:nvSpPr>
        <p:spPr>
          <a:xfrm xmlns:a="http://schemas.openxmlformats.org/drawingml/2006/main">
            <a:off x="6667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LICENSING</a:t>
            </a:r>
          </a:p>
        </p:txBody>
      </p:sp>
      <p:sp>
        <p:nvSpPr>
          <p:cNvPr id="8" name="">
            <a:extLst xmlns:a="http://schemas.openxmlformats.org/drawingml/2006/main">
              <a:ext uri="{FF2B5EF4-FFF2-40B4-BE49-F238E27FC236}">
                <a16:creationId xmlns:a16="http://schemas.microsoft.com/office/drawing/2014/main" id="{17FC13B2-F004-43B6-BD76-8F842A1BE376}"/>
              </a:ext>
            </a:extLst>
          </p:cNvPr>
          <p:cNvSpPr>
            <a:spLocks xmlns:a="http://schemas.openxmlformats.org/drawingml/2006/main" noGrp="1"/>
          </p:cNvSpPr>
          <p:nvPr/>
        </p:nvSpPr>
        <p:spPr>
          <a:xfrm xmlns:a="http://schemas.openxmlformats.org/drawingml/2006/main">
            <a:off x="666750" y="2228850"/>
            <a:ext cx="3302000"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55A211AE-136D-498E-A62C-C6AA073CB1BE}"/>
              </a:ext>
            </a:extLst>
          </p:cNvPr>
          <p:cNvSpPr>
            <a:spLocks xmlns:a="http://schemas.openxmlformats.org/drawingml/2006/main" noGrp="1"/>
          </p:cNvSpPr>
          <p:nvPr/>
        </p:nvSpPr>
        <p:spPr>
          <a:xfrm xmlns:a="http://schemas.openxmlformats.org/drawingml/2006/main">
            <a:off x="8572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Price differentiated uses and combine complements</a:t>
            </a:r>
          </a:p>
        </p:txBody>
      </p:sp>
      <p:sp>
        <p:nvSpPr>
          <p:cNvPr id="10" name="">
            <a:extLst xmlns:a="http://schemas.openxmlformats.org/drawingml/2006/main">
              <a:ext uri="{FF2B5EF4-FFF2-40B4-BE49-F238E27FC236}">
                <a16:creationId xmlns:a16="http://schemas.microsoft.com/office/drawing/2014/main" id="{42974E0E-A8EE-4BFA-9C17-18E6F61C766E}"/>
              </a:ext>
            </a:extLst>
          </p:cNvPr>
          <p:cNvSpPr>
            <a:spLocks xmlns:a="http://schemas.openxmlformats.org/drawingml/2006/main" noGrp="1"/>
          </p:cNvSpPr>
          <p:nvPr/>
        </p:nvSpPr>
        <p:spPr>
          <a:xfrm xmlns:a="http://schemas.openxmlformats.org/drawingml/2006/main">
            <a:off x="444500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SERVICES AND COMPLEMENTS</a:t>
            </a:r>
          </a:p>
        </p:txBody>
      </p:sp>
      <p:sp>
        <p:nvSpPr>
          <p:cNvPr id="11" name="">
            <a:extLst xmlns:a="http://schemas.openxmlformats.org/drawingml/2006/main">
              <a:ext uri="{FF2B5EF4-FFF2-40B4-BE49-F238E27FC236}">
                <a16:creationId xmlns:a16="http://schemas.microsoft.com/office/drawing/2014/main" id="{C6FC710D-8748-4CDA-B301-2DAE7F40A65B}"/>
              </a:ext>
            </a:extLst>
          </p:cNvPr>
          <p:cNvSpPr>
            <a:spLocks xmlns:a="http://schemas.openxmlformats.org/drawingml/2006/main" noGrp="1"/>
          </p:cNvSpPr>
          <p:nvPr/>
        </p:nvSpPr>
        <p:spPr>
          <a:xfrm xmlns:a="http://schemas.openxmlformats.org/drawingml/2006/main">
            <a:off x="4445000" y="2228850"/>
            <a:ext cx="3302000"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6B43A4C1-AA62-46C0-8A2A-E98DE47D6066}"/>
              </a:ext>
            </a:extLst>
          </p:cNvPr>
          <p:cNvSpPr>
            <a:spLocks xmlns:a="http://schemas.openxmlformats.org/drawingml/2006/main" noGrp="1"/>
          </p:cNvSpPr>
          <p:nvPr/>
        </p:nvSpPr>
        <p:spPr>
          <a:xfrm xmlns:a="http://schemas.openxmlformats.org/drawingml/2006/main">
            <a:off x="463550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Earn from support, performance, hardware, or reputation</a:t>
            </a:r>
          </a:p>
        </p:txBody>
      </p:sp>
      <p:sp>
        <p:nvSpPr>
          <p:cNvPr id="13" name="">
            <a:extLst xmlns:a="http://schemas.openxmlformats.org/drawingml/2006/main">
              <a:ext uri="{FF2B5EF4-FFF2-40B4-BE49-F238E27FC236}">
                <a16:creationId xmlns:a16="http://schemas.microsoft.com/office/drawing/2014/main" id="{D6F41C02-8681-4FDD-BBD0-126A15A8C7E2}"/>
              </a:ext>
            </a:extLst>
          </p:cNvPr>
          <p:cNvSpPr>
            <a:spLocks xmlns:a="http://schemas.openxmlformats.org/drawingml/2006/main" noGrp="1"/>
          </p:cNvSpPr>
          <p:nvPr/>
        </p:nvSpPr>
        <p:spPr>
          <a:xfrm xmlns:a="http://schemas.openxmlformats.org/drawingml/2006/main">
            <a:off x="8223250" y="1790700"/>
            <a:ext cx="330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315F75"/>
                </a:solidFill>
                <a:latin typeface="Aptos"/>
                <a:ea typeface="Aptos"/>
                <a:cs typeface="Aptos"/>
              </a:defRPr>
            </a:pPr>
            <a:r>
              <a:rPr sz="1275" b="1" i="0">
                <a:solidFill>
                  <a:srgbClr val="315F75"/>
                </a:solidFill>
                <a:latin typeface="Aptos"/>
                <a:ea typeface="Aptos"/>
                <a:cs typeface="Aptos"/>
              </a:rPr>
              <a:t>FIRST MOVER AND SECRECY</a:t>
            </a:r>
          </a:p>
        </p:txBody>
      </p:sp>
      <p:sp>
        <p:nvSpPr>
          <p:cNvPr id="14" name="">
            <a:extLst xmlns:a="http://schemas.openxmlformats.org/drawingml/2006/main">
              <a:ext uri="{FF2B5EF4-FFF2-40B4-BE49-F238E27FC236}">
                <a16:creationId xmlns:a16="http://schemas.microsoft.com/office/drawing/2014/main" id="{4DC5CEBC-16DF-49E0-9474-90D5BDAE7872}"/>
              </a:ext>
            </a:extLst>
          </p:cNvPr>
          <p:cNvSpPr>
            <a:spLocks xmlns:a="http://schemas.openxmlformats.org/drawingml/2006/main" noGrp="1"/>
          </p:cNvSpPr>
          <p:nvPr/>
        </p:nvSpPr>
        <p:spPr>
          <a:xfrm xmlns:a="http://schemas.openxmlformats.org/drawingml/2006/main">
            <a:off x="8223250" y="2228850"/>
            <a:ext cx="3302000" cy="26098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24889CEE-8544-4625-9B56-48CC5AFD05AB}"/>
              </a:ext>
            </a:extLst>
          </p:cNvPr>
          <p:cNvSpPr>
            <a:spLocks xmlns:a="http://schemas.openxmlformats.org/drawingml/2006/main" noGrp="1"/>
          </p:cNvSpPr>
          <p:nvPr/>
        </p:nvSpPr>
        <p:spPr>
          <a:xfrm xmlns:a="http://schemas.openxmlformats.org/drawingml/2006/main">
            <a:off x="8413750" y="2438400"/>
            <a:ext cx="2921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17242D"/>
                </a:solidFill>
                <a:latin typeface="Aptos"/>
                <a:ea typeface="Aptos"/>
                <a:cs typeface="Aptos"/>
              </a:defRPr>
            </a:pPr>
            <a:r>
              <a:rPr sz="1800" b="0" i="0">
                <a:solidFill>
                  <a:srgbClr val="17242D"/>
                </a:solidFill>
                <a:latin typeface="Aptos"/>
                <a:ea typeface="Aptos"/>
                <a:cs typeface="Aptos"/>
              </a:rPr>
              <a:t>Use lead time, learning, and controlled disclosure</a:t>
            </a:r>
          </a:p>
        </p:txBody>
      </p:sp>
      <p:sp>
        <p:nvSpPr>
          <p:cNvPr id="16" name="">
            <a:extLst xmlns:a="http://schemas.openxmlformats.org/drawingml/2006/main">
              <a:ext uri="{FF2B5EF4-FFF2-40B4-BE49-F238E27FC236}">
                <a16:creationId xmlns:a16="http://schemas.microsoft.com/office/drawing/2014/main" id="{E87D3420-53F8-4C40-AC9B-7921A97F52A4}"/>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Appropriation is an institutional portfolio, not a single legal switch.</a:t>
            </a:r>
          </a:p>
        </p:txBody>
      </p:sp>
    </p:spTree>
    <p:extLst>
      <p:ext uri="{BB962C8B-B14F-4D97-AF65-F5344CB8AC3E}">
        <p14:creationId xmlns:p14="http://schemas.microsoft.com/office/powerpoint/2010/main" val="897336114"/>
      </p:ext>
    </p:extLst>
  </p:cSld>
</p:sld>
</file>

<file path=ppt/slides/slide19.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E2AE25-330E-421F-9B35-996893D7F0D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46828B-4DF0-4E42-8FEE-CB16A8267595}"/>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4E032A71-2C4E-491D-99D4-F465514338BB}"/>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Open source is an innovation institution</a:t>
            </a:r>
          </a:p>
        </p:txBody>
      </p:sp>
      <p:sp>
        <p:nvSpPr>
          <p:cNvPr id="4" name="">
            <a:extLst xmlns:a="http://schemas.openxmlformats.org/drawingml/2006/main">
              <a:ext uri="{FF2B5EF4-FFF2-40B4-BE49-F238E27FC236}">
                <a16:creationId xmlns:a16="http://schemas.microsoft.com/office/drawing/2014/main" id="{1BF95717-4330-4FC2-A2DE-FEA3B3B323D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B20050C-EC50-469B-8D00-F5E9E62AED57}"/>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0A4D1DE6-75A9-438F-A6F6-9E56BCC76C2D}"/>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E60FB885-6195-4678-97A1-3F8CFAE6C4FF}"/>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Shared code can be produced through licenses, reputation, complementary services, community governance, and distributed problem solving.</a:t>
            </a:r>
          </a:p>
        </p:txBody>
      </p:sp>
      <p:sp>
        <p:nvSpPr>
          <p:cNvPr id="8" name="">
            <a:extLst xmlns:a="http://schemas.openxmlformats.org/drawingml/2006/main">
              <a:ext uri="{FF2B5EF4-FFF2-40B4-BE49-F238E27FC236}">
                <a16:creationId xmlns:a16="http://schemas.microsoft.com/office/drawing/2014/main" id="{82E75B7E-5B07-4C7D-BABB-BCD50F3EC254}"/>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Openness changes the revenue model and the governance problem; it does not eliminate incentives or property rules.</a:t>
            </a:r>
          </a:p>
        </p:txBody>
      </p:sp>
    </p:spTree>
    <p:extLst>
      <p:ext uri="{BB962C8B-B14F-4D97-AF65-F5344CB8AC3E}">
        <p14:creationId xmlns:p14="http://schemas.microsoft.com/office/powerpoint/2010/main" val="1372693590"/>
      </p:ext>
    </p:extLst>
  </p:cSld>
</p:sld>
</file>

<file path=ppt/slides/slide20.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EB867A8-088D-436C-8879-2947C6EA2D0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E4F7B5E-8895-4D25-9AA9-64686EDC323A}"/>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043F315C-33A5-45A8-8BC8-314CA0D181C5}"/>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AI makes boundary problems more important</a:t>
            </a:r>
          </a:p>
        </p:txBody>
      </p:sp>
      <p:sp>
        <p:nvSpPr>
          <p:cNvPr id="4" name="">
            <a:extLst xmlns:a="http://schemas.openxmlformats.org/drawingml/2006/main">
              <a:ext uri="{FF2B5EF4-FFF2-40B4-BE49-F238E27FC236}">
                <a16:creationId xmlns:a16="http://schemas.microsoft.com/office/drawing/2014/main" id="{3EDBBD87-9B32-4F6B-9AC0-12FD03EAE9C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3FD867D-A034-42F7-A881-3AEB5B52B5FC}"/>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A413E56B-4DB6-4DCA-8A78-BC41ECC086E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0444945C-C32A-4B51-9F4B-D6458278D161}"/>
              </a:ext>
            </a:extLst>
          </p:cNvPr>
          <p:cNvSpPr>
            <a:spLocks xmlns:a="http://schemas.openxmlformats.org/drawingml/2006/main" noGrp="1"/>
          </p:cNvSpPr>
          <p:nvPr/>
        </p:nvSpPr>
        <p:spPr>
          <a:xfrm xmlns:a="http://schemas.openxmlformats.org/drawingml/2006/main">
            <a:off x="1066800" y="1504950"/>
            <a:ext cx="10058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4246"/>
          </a:bodyPr>
          <a:lstStyle xmlns:a="http://schemas.openxmlformats.org/drawingml/2006/main"/>
          <a:p xmlns:a="http://schemas.openxmlformats.org/drawingml/2006/main">
            <a:pPr algn="ctr">
              <a:lnSpc>
                <a:spcPct val="105000"/>
              </a:lnSpc>
              <a:buNone/>
              <a:defRPr sz="2550" b="1" i="0">
                <a:solidFill>
                  <a:srgbClr val="FFFFFF"/>
                </a:solidFill>
                <a:latin typeface="Georgia"/>
                <a:ea typeface="Georgia"/>
                <a:cs typeface="Georgia"/>
              </a:defRPr>
            </a:pPr>
            <a:r>
              <a:rPr sz="2550" b="1" i="0">
                <a:solidFill>
                  <a:srgbClr val="FFFFFF"/>
                </a:solidFill>
                <a:latin typeface="Georgia"/>
                <a:ea typeface="Georgia"/>
                <a:cs typeface="Georgia"/>
              </a:rPr>
              <a:t>A model can learn patterns across enormous bodies of protected and unprotected material, then generate outputs without reproducing an obvious source.</a:t>
            </a:r>
          </a:p>
        </p:txBody>
      </p:sp>
      <p:sp>
        <p:nvSpPr>
          <p:cNvPr id="8" name="">
            <a:extLst xmlns:a="http://schemas.openxmlformats.org/drawingml/2006/main">
              <a:ext uri="{FF2B5EF4-FFF2-40B4-BE49-F238E27FC236}">
                <a16:creationId xmlns:a16="http://schemas.microsoft.com/office/drawing/2014/main" id="{C4B7B66E-C2A0-4294-8289-1BD162FB367B}"/>
              </a:ext>
            </a:extLst>
          </p:cNvPr>
          <p:cNvSpPr>
            <a:spLocks xmlns:a="http://schemas.openxmlformats.org/drawingml/2006/main" noGrp="1"/>
          </p:cNvSpPr>
          <p:nvPr/>
        </p:nvSpPr>
        <p:spPr>
          <a:xfrm xmlns:a="http://schemas.openxmlformats.org/drawingml/2006/main">
            <a:off x="10668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POTENTIAL GAINS</a:t>
            </a:r>
          </a:p>
        </p:txBody>
      </p:sp>
      <p:sp>
        <p:nvSpPr>
          <p:cNvPr id="9" name="">
            <a:extLst xmlns:a="http://schemas.openxmlformats.org/drawingml/2006/main">
              <a:ext uri="{FF2B5EF4-FFF2-40B4-BE49-F238E27FC236}">
                <a16:creationId xmlns:a16="http://schemas.microsoft.com/office/drawing/2014/main" id="{89887CB1-C367-4C5C-A380-4B1CA9C936CC}"/>
              </a:ext>
            </a:extLst>
          </p:cNvPr>
          <p:cNvSpPr>
            <a:spLocks xmlns:a="http://schemas.openxmlformats.org/drawingml/2006/main" noGrp="1"/>
          </p:cNvSpPr>
          <p:nvPr/>
        </p:nvSpPr>
        <p:spPr>
          <a:xfrm xmlns:a="http://schemas.openxmlformats.org/drawingml/2006/main">
            <a:off x="11049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4BB4D0B1-6D0B-492A-B816-C46EA01A23AF}"/>
              </a:ext>
            </a:extLst>
          </p:cNvPr>
          <p:cNvSpPr>
            <a:spLocks xmlns:a="http://schemas.openxmlformats.org/drawingml/2006/main" noGrp="1"/>
          </p:cNvSpPr>
          <p:nvPr/>
        </p:nvSpPr>
        <p:spPr>
          <a:xfrm xmlns:a="http://schemas.openxmlformats.org/drawingml/2006/main">
            <a:off x="14287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Lower creation cost</a:t>
            </a:r>
          </a:p>
        </p:txBody>
      </p:sp>
      <p:sp>
        <p:nvSpPr>
          <p:cNvPr id="11" name="">
            <a:extLst xmlns:a="http://schemas.openxmlformats.org/drawingml/2006/main">
              <a:ext uri="{FF2B5EF4-FFF2-40B4-BE49-F238E27FC236}">
                <a16:creationId xmlns:a16="http://schemas.microsoft.com/office/drawing/2014/main" id="{7ED3DA03-4E01-4EB7-B109-FAAD7AF19D9E}"/>
              </a:ext>
            </a:extLst>
          </p:cNvPr>
          <p:cNvSpPr>
            <a:spLocks xmlns:a="http://schemas.openxmlformats.org/drawingml/2006/main" noGrp="1"/>
          </p:cNvSpPr>
          <p:nvPr/>
        </p:nvSpPr>
        <p:spPr>
          <a:xfrm xmlns:a="http://schemas.openxmlformats.org/drawingml/2006/main">
            <a:off x="11049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CAD2BF24-D0A0-40EA-9043-6A6E2C4472E9}"/>
              </a:ext>
            </a:extLst>
          </p:cNvPr>
          <p:cNvSpPr>
            <a:spLocks xmlns:a="http://schemas.openxmlformats.org/drawingml/2006/main" noGrp="1"/>
          </p:cNvSpPr>
          <p:nvPr/>
        </p:nvSpPr>
        <p:spPr>
          <a:xfrm xmlns:a="http://schemas.openxmlformats.org/drawingml/2006/main">
            <a:off x="14287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New recombination</a:t>
            </a:r>
          </a:p>
        </p:txBody>
      </p:sp>
      <p:sp>
        <p:nvSpPr>
          <p:cNvPr id="13" name="">
            <a:extLst xmlns:a="http://schemas.openxmlformats.org/drawingml/2006/main">
              <a:ext uri="{FF2B5EF4-FFF2-40B4-BE49-F238E27FC236}">
                <a16:creationId xmlns:a16="http://schemas.microsoft.com/office/drawing/2014/main" id="{C53C1262-325A-4274-8785-C1636DCF76C0}"/>
              </a:ext>
            </a:extLst>
          </p:cNvPr>
          <p:cNvSpPr>
            <a:spLocks xmlns:a="http://schemas.openxmlformats.org/drawingml/2006/main" noGrp="1"/>
          </p:cNvSpPr>
          <p:nvPr/>
        </p:nvSpPr>
        <p:spPr>
          <a:xfrm xmlns:a="http://schemas.openxmlformats.org/drawingml/2006/main">
            <a:off x="11049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5BF2883C-0C00-4624-8F19-5B4C33D5F099}"/>
              </a:ext>
            </a:extLst>
          </p:cNvPr>
          <p:cNvSpPr>
            <a:spLocks xmlns:a="http://schemas.openxmlformats.org/drawingml/2006/main" noGrp="1"/>
          </p:cNvSpPr>
          <p:nvPr/>
        </p:nvSpPr>
        <p:spPr>
          <a:xfrm xmlns:a="http://schemas.openxmlformats.org/drawingml/2006/main">
            <a:off x="14287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Broader access to tools</a:t>
            </a:r>
          </a:p>
        </p:txBody>
      </p:sp>
      <p:sp>
        <p:nvSpPr>
          <p:cNvPr id="15" name="">
            <a:extLst xmlns:a="http://schemas.openxmlformats.org/drawingml/2006/main">
              <a:ext uri="{FF2B5EF4-FFF2-40B4-BE49-F238E27FC236}">
                <a16:creationId xmlns:a16="http://schemas.microsoft.com/office/drawing/2014/main" id="{F5A5A509-B052-4AC2-8E95-C909DDE3D2A9}"/>
              </a:ext>
            </a:extLst>
          </p:cNvPr>
          <p:cNvSpPr>
            <a:spLocks xmlns:a="http://schemas.openxmlformats.org/drawingml/2006/main" noGrp="1"/>
          </p:cNvSpPr>
          <p:nvPr/>
        </p:nvSpPr>
        <p:spPr>
          <a:xfrm xmlns:a="http://schemas.openxmlformats.org/drawingml/2006/main">
            <a:off x="6096000" y="2686050"/>
            <a:ext cx="9525" cy="2381250"/>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B7167E-306F-47B9-9D81-127EEDD420D9}"/>
              </a:ext>
            </a:extLst>
          </p:cNvPr>
          <p:cNvSpPr>
            <a:spLocks xmlns:a="http://schemas.openxmlformats.org/drawingml/2006/main" noGrp="1"/>
          </p:cNvSpPr>
          <p:nvPr/>
        </p:nvSpPr>
        <p:spPr>
          <a:xfrm xmlns:a="http://schemas.openxmlformats.org/drawingml/2006/main">
            <a:off x="6705600" y="27241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INSTITUTIONAL QUESTIONS</a:t>
            </a:r>
          </a:p>
        </p:txBody>
      </p:sp>
      <p:sp>
        <p:nvSpPr>
          <p:cNvPr id="17" name="">
            <a:extLst xmlns:a="http://schemas.openxmlformats.org/drawingml/2006/main">
              <a:ext uri="{FF2B5EF4-FFF2-40B4-BE49-F238E27FC236}">
                <a16:creationId xmlns:a16="http://schemas.microsoft.com/office/drawing/2014/main" id="{38271809-2817-4B78-A44F-8C20171AD5C5}"/>
              </a:ext>
            </a:extLst>
          </p:cNvPr>
          <p:cNvSpPr>
            <a:spLocks xmlns:a="http://schemas.openxmlformats.org/drawingml/2006/main" noGrp="1"/>
          </p:cNvSpPr>
          <p:nvPr/>
        </p:nvSpPr>
        <p:spPr>
          <a:xfrm xmlns:a="http://schemas.openxmlformats.org/drawingml/2006/main">
            <a:off x="6743700" y="311467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F5427C17-44ED-49FE-AD36-798D4F69460B}"/>
              </a:ext>
            </a:extLst>
          </p:cNvPr>
          <p:cNvSpPr>
            <a:spLocks xmlns:a="http://schemas.openxmlformats.org/drawingml/2006/main" noGrp="1"/>
          </p:cNvSpPr>
          <p:nvPr/>
        </p:nvSpPr>
        <p:spPr>
          <a:xfrm xmlns:a="http://schemas.openxmlformats.org/drawingml/2006/main">
            <a:off x="7067550" y="312420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Training inputs</a:t>
            </a:r>
          </a:p>
        </p:txBody>
      </p:sp>
      <p:sp>
        <p:nvSpPr>
          <p:cNvPr id="19" name="">
            <a:extLst xmlns:a="http://schemas.openxmlformats.org/drawingml/2006/main">
              <a:ext uri="{FF2B5EF4-FFF2-40B4-BE49-F238E27FC236}">
                <a16:creationId xmlns:a16="http://schemas.microsoft.com/office/drawing/2014/main" id="{5E8B6A8E-00B5-489C-BE73-5725345560E6}"/>
              </a:ext>
            </a:extLst>
          </p:cNvPr>
          <p:cNvSpPr>
            <a:spLocks xmlns:a="http://schemas.openxmlformats.org/drawingml/2006/main" noGrp="1"/>
          </p:cNvSpPr>
          <p:nvPr/>
        </p:nvSpPr>
        <p:spPr>
          <a:xfrm xmlns:a="http://schemas.openxmlformats.org/drawingml/2006/main">
            <a:off x="6743700" y="3600450"/>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A75D2B51-7938-4F38-98E0-4533A9712C95}"/>
              </a:ext>
            </a:extLst>
          </p:cNvPr>
          <p:cNvSpPr>
            <a:spLocks xmlns:a="http://schemas.openxmlformats.org/drawingml/2006/main" noGrp="1"/>
          </p:cNvSpPr>
          <p:nvPr/>
        </p:nvSpPr>
        <p:spPr>
          <a:xfrm xmlns:a="http://schemas.openxmlformats.org/drawingml/2006/main">
            <a:off x="7067550" y="3609975"/>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Output similarity</a:t>
            </a:r>
          </a:p>
        </p:txBody>
      </p:sp>
      <p:sp>
        <p:nvSpPr>
          <p:cNvPr id="21" name="">
            <a:extLst xmlns:a="http://schemas.openxmlformats.org/drawingml/2006/main">
              <a:ext uri="{FF2B5EF4-FFF2-40B4-BE49-F238E27FC236}">
                <a16:creationId xmlns:a16="http://schemas.microsoft.com/office/drawing/2014/main" id="{729B6395-8781-4B7C-8796-195300607239}"/>
              </a:ext>
            </a:extLst>
          </p:cNvPr>
          <p:cNvSpPr>
            <a:spLocks xmlns:a="http://schemas.openxmlformats.org/drawingml/2006/main" noGrp="1"/>
          </p:cNvSpPr>
          <p:nvPr/>
        </p:nvSpPr>
        <p:spPr>
          <a:xfrm xmlns:a="http://schemas.openxmlformats.org/drawingml/2006/main">
            <a:off x="6743700" y="4086225"/>
            <a:ext cx="228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2" name="">
            <a:extLst xmlns:a="http://schemas.openxmlformats.org/drawingml/2006/main">
              <a:ext uri="{FF2B5EF4-FFF2-40B4-BE49-F238E27FC236}">
                <a16:creationId xmlns:a16="http://schemas.microsoft.com/office/drawing/2014/main" id="{CC98C5A3-AC45-4549-8E53-187F674DCB7F}"/>
              </a:ext>
            </a:extLst>
          </p:cNvPr>
          <p:cNvSpPr>
            <a:spLocks xmlns:a="http://schemas.openxmlformats.org/drawingml/2006/main" noGrp="1"/>
          </p:cNvSpPr>
          <p:nvPr/>
        </p:nvSpPr>
        <p:spPr>
          <a:xfrm xmlns:a="http://schemas.openxmlformats.org/drawingml/2006/main">
            <a:off x="7067550" y="4095750"/>
            <a:ext cx="4057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FFFFFF"/>
                </a:solidFill>
                <a:latin typeface="Aptos"/>
                <a:ea typeface="Aptos"/>
                <a:cs typeface="Aptos"/>
              </a:defRPr>
            </a:pPr>
            <a:r>
              <a:rPr sz="1725" b="0" i="0">
                <a:solidFill>
                  <a:srgbClr val="FFFFFF"/>
                </a:solidFill>
                <a:latin typeface="Aptos"/>
                <a:ea typeface="Aptos"/>
                <a:cs typeface="Aptos"/>
              </a:rPr>
              <a:t>Attribution and market substitution</a:t>
            </a:r>
          </a:p>
        </p:txBody>
      </p:sp>
      <p:sp>
        <p:nvSpPr>
          <p:cNvPr id="23" name="">
            <a:extLst xmlns:a="http://schemas.openxmlformats.org/drawingml/2006/main">
              <a:ext uri="{FF2B5EF4-FFF2-40B4-BE49-F238E27FC236}">
                <a16:creationId xmlns:a16="http://schemas.microsoft.com/office/drawing/2014/main" id="{A5C0216D-09F3-45BA-9CF8-3B665CBB1062}"/>
              </a:ext>
            </a:extLst>
          </p:cNvPr>
          <p:cNvSpPr>
            <a:spLocks xmlns:a="http://schemas.openxmlformats.org/drawingml/2006/main" noGrp="1"/>
          </p:cNvSpPr>
          <p:nvPr/>
        </p:nvSpPr>
        <p:spPr>
          <a:xfrm xmlns:a="http://schemas.openxmlformats.org/drawingml/2006/main">
            <a:off x="1200150" y="55054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What exactly should be controlled, compensated, disclosed, or left open?</a:t>
            </a:r>
          </a:p>
        </p:txBody>
      </p:sp>
    </p:spTree>
    <p:extLst>
      <p:ext uri="{BB962C8B-B14F-4D97-AF65-F5344CB8AC3E}">
        <p14:creationId xmlns:p14="http://schemas.microsoft.com/office/powerpoint/2010/main" val="581064587"/>
      </p:ext>
    </p:extLst>
  </p:cSld>
</p:sld>
</file>

<file path=ppt/slides/slide21.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C0C97F-E92E-45E5-ACAE-65F06E55C85E}"/>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12DCAB-3CA4-4E52-AE8C-0D7800C91B89}"/>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F45314AB-0069-487C-B73C-0E29C1BB6E76}"/>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AI training: payments and permission costs</a:t>
            </a:r>
          </a:p>
        </p:txBody>
      </p:sp>
      <p:sp>
        <p:nvSpPr>
          <p:cNvPr id="4" name="">
            <a:extLst xmlns:a="http://schemas.openxmlformats.org/drawingml/2006/main">
              <a:ext uri="{FF2B5EF4-FFF2-40B4-BE49-F238E27FC236}">
                <a16:creationId xmlns:a16="http://schemas.microsoft.com/office/drawing/2014/main" id="{6315FCC9-C023-44D0-BB52-7486FA037D1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4A9E2E-2FCA-4C4F-8E56-208B30027634}"/>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8B67509D-152D-4CE0-A34D-96E1E123455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244D8954-7D01-4DDC-A340-B6DC48ACC07C}"/>
              </a:ext>
            </a:extLst>
          </p:cNvPr>
          <p:cNvSpPr>
            <a:spLocks xmlns:a="http://schemas.openxmlformats.org/drawingml/2006/main" noGrp="1"/>
          </p:cNvSpPr>
          <p:nvPr/>
        </p:nvSpPr>
        <p:spPr>
          <a:xfrm xmlns:a="http://schemas.openxmlformats.org/drawingml/2006/main">
            <a:off x="952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4594E"/>
                </a:solidFill>
                <a:latin typeface="Aptos"/>
                <a:ea typeface="Aptos"/>
                <a:cs typeface="Aptos"/>
              </a:defRPr>
            </a:pPr>
            <a:r>
              <a:rPr sz="1050" b="1" i="0">
                <a:solidFill>
                  <a:srgbClr val="24594E"/>
                </a:solidFill>
                <a:latin typeface="Aptos"/>
                <a:ea typeface="Aptos"/>
                <a:cs typeface="Aptos"/>
              </a:rPr>
              <a:t>HYPOTHETICAL: 1,000 PERMISSIONS</a:t>
            </a:r>
          </a:p>
        </p:txBody>
      </p:sp>
      <p:sp>
        <p:nvSpPr>
          <p:cNvPr id="8" name="">
            <a:extLst xmlns:a="http://schemas.openxmlformats.org/drawingml/2006/main">
              <a:ext uri="{FF2B5EF4-FFF2-40B4-BE49-F238E27FC236}">
                <a16:creationId xmlns:a16="http://schemas.microsoft.com/office/drawing/2014/main" id="{BE27BEFD-C9DA-4F22-BA84-DB1AF133E6EA}"/>
              </a:ext>
            </a:extLst>
          </p:cNvPr>
          <p:cNvSpPr>
            <a:spLocks xmlns:a="http://schemas.openxmlformats.org/drawingml/2006/main" noGrp="1"/>
          </p:cNvSpPr>
          <p:nvPr/>
        </p:nvSpPr>
        <p:spPr>
          <a:xfrm xmlns:a="http://schemas.openxmlformats.org/drawingml/2006/main">
            <a:off x="952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9" name="">
            <a:extLst xmlns:a="http://schemas.openxmlformats.org/drawingml/2006/main">
              <a:ext uri="{FF2B5EF4-FFF2-40B4-BE49-F238E27FC236}">
                <a16:creationId xmlns:a16="http://schemas.microsoft.com/office/drawing/2014/main" id="{FA85EF77-DE38-41DD-8327-78D03211509E}"/>
              </a:ext>
            </a:extLst>
          </p:cNvPr>
          <p:cNvSpPr>
            <a:spLocks xmlns:a="http://schemas.openxmlformats.org/drawingml/2006/main" noGrp="1"/>
          </p:cNvSpPr>
          <p:nvPr/>
        </p:nvSpPr>
        <p:spPr>
          <a:xfrm xmlns:a="http://schemas.openxmlformats.org/drawingml/2006/main">
            <a:off x="1276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$1 paid to each rights holder</a:t>
            </a:r>
          </a:p>
        </p:txBody>
      </p:sp>
      <p:sp>
        <p:nvSpPr>
          <p:cNvPr id="10" name="">
            <a:extLst xmlns:a="http://schemas.openxmlformats.org/drawingml/2006/main">
              <a:ext uri="{FF2B5EF4-FFF2-40B4-BE49-F238E27FC236}">
                <a16:creationId xmlns:a16="http://schemas.microsoft.com/office/drawing/2014/main" id="{7741CAA8-9227-4E54-BF62-E360371FE8BD}"/>
              </a:ext>
            </a:extLst>
          </p:cNvPr>
          <p:cNvSpPr>
            <a:spLocks xmlns:a="http://schemas.openxmlformats.org/drawingml/2006/main" noGrp="1"/>
          </p:cNvSpPr>
          <p:nvPr/>
        </p:nvSpPr>
        <p:spPr>
          <a:xfrm xmlns:a="http://schemas.openxmlformats.org/drawingml/2006/main">
            <a:off x="952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D86BD973-8119-4C11-BCE2-DCB71F413910}"/>
              </a:ext>
            </a:extLst>
          </p:cNvPr>
          <p:cNvSpPr>
            <a:spLocks xmlns:a="http://schemas.openxmlformats.org/drawingml/2006/main" noGrp="1"/>
          </p:cNvSpPr>
          <p:nvPr/>
        </p:nvSpPr>
        <p:spPr>
          <a:xfrm xmlns:a="http://schemas.openxmlformats.org/drawingml/2006/main">
            <a:off x="1276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$1,000 in total payments</a:t>
            </a:r>
          </a:p>
        </p:txBody>
      </p:sp>
      <p:sp>
        <p:nvSpPr>
          <p:cNvPr id="12" name="">
            <a:extLst xmlns:a="http://schemas.openxmlformats.org/drawingml/2006/main">
              <a:ext uri="{FF2B5EF4-FFF2-40B4-BE49-F238E27FC236}">
                <a16:creationId xmlns:a16="http://schemas.microsoft.com/office/drawing/2014/main" id="{37B78D19-12F9-4843-B8C2-3405CAA9EE60}"/>
              </a:ext>
            </a:extLst>
          </p:cNvPr>
          <p:cNvSpPr>
            <a:spLocks xmlns:a="http://schemas.openxmlformats.org/drawingml/2006/main" noGrp="1"/>
          </p:cNvSpPr>
          <p:nvPr/>
        </p:nvSpPr>
        <p:spPr>
          <a:xfrm xmlns:a="http://schemas.openxmlformats.org/drawingml/2006/main">
            <a:off x="952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9A462F"/>
                </a:solidFill>
                <a:latin typeface="Aptos"/>
                <a:ea typeface="Aptos"/>
                <a:cs typeface="Aptos"/>
              </a:defRPr>
            </a:pPr>
            <a:r>
              <a:rPr sz="1725" b="1" i="0">
                <a:solidFill>
                  <a:srgbClr val="9A462F"/>
                </a:solidFill>
                <a:latin typeface="Aptos"/>
                <a:ea typeface="Aptos"/>
                <a:cs typeface="Aptos"/>
              </a:rPr>
              <a:t>•</a:t>
            </a:r>
          </a:p>
        </p:txBody>
      </p:sp>
      <p:sp>
        <p:nvSpPr>
          <p:cNvPr id="13" name="">
            <a:extLst xmlns:a="http://schemas.openxmlformats.org/drawingml/2006/main">
              <a:ext uri="{FF2B5EF4-FFF2-40B4-BE49-F238E27FC236}">
                <a16:creationId xmlns:a16="http://schemas.microsoft.com/office/drawing/2014/main" id="{D9C5C2E5-A242-4F42-9AEE-572E59DD7D66}"/>
              </a:ext>
            </a:extLst>
          </p:cNvPr>
          <p:cNvSpPr>
            <a:spLocks xmlns:a="http://schemas.openxmlformats.org/drawingml/2006/main" noGrp="1"/>
          </p:cNvSpPr>
          <p:nvPr/>
        </p:nvSpPr>
        <p:spPr>
          <a:xfrm xmlns:a="http://schemas.openxmlformats.org/drawingml/2006/main">
            <a:off x="1276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Income changes hands</a:t>
            </a:r>
          </a:p>
        </p:txBody>
      </p:sp>
      <p:sp>
        <p:nvSpPr>
          <p:cNvPr id="14" name="">
            <a:extLst xmlns:a="http://schemas.openxmlformats.org/drawingml/2006/main">
              <a:ext uri="{FF2B5EF4-FFF2-40B4-BE49-F238E27FC236}">
                <a16:creationId xmlns:a16="http://schemas.microsoft.com/office/drawing/2014/main" id="{4EC60838-DBB8-44CD-AB15-67DA1C71AAFB}"/>
              </a:ext>
            </a:extLst>
          </p:cNvPr>
          <p:cNvSpPr>
            <a:spLocks xmlns:a="http://schemas.openxmlformats.org/drawingml/2006/main" noGrp="1"/>
          </p:cNvSpPr>
          <p:nvPr/>
        </p:nvSpPr>
        <p:spPr>
          <a:xfrm xmlns:a="http://schemas.openxmlformats.org/drawingml/2006/main">
            <a:off x="6096000" y="1676400"/>
            <a:ext cx="9525" cy="3409950"/>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50F8FBE-B524-4C2C-A78E-94299F823EF6}"/>
              </a:ext>
            </a:extLst>
          </p:cNvPr>
          <p:cNvSpPr>
            <a:spLocks xmlns:a="http://schemas.openxmlformats.org/drawingml/2006/main" noGrp="1"/>
          </p:cNvSpPr>
          <p:nvPr/>
        </p:nvSpPr>
        <p:spPr>
          <a:xfrm xmlns:a="http://schemas.openxmlformats.org/drawingml/2006/main">
            <a:off x="6667500" y="1657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RIGHTS CLEARANCE</a:t>
            </a:r>
          </a:p>
        </p:txBody>
      </p:sp>
      <p:sp>
        <p:nvSpPr>
          <p:cNvPr id="16" name="">
            <a:extLst xmlns:a="http://schemas.openxmlformats.org/drawingml/2006/main">
              <a:ext uri="{FF2B5EF4-FFF2-40B4-BE49-F238E27FC236}">
                <a16:creationId xmlns:a16="http://schemas.microsoft.com/office/drawing/2014/main" id="{FF48F1E2-9F34-47F1-9EDB-5418976CAA55}"/>
              </a:ext>
            </a:extLst>
          </p:cNvPr>
          <p:cNvSpPr>
            <a:spLocks xmlns:a="http://schemas.openxmlformats.org/drawingml/2006/main" noGrp="1"/>
          </p:cNvSpPr>
          <p:nvPr/>
        </p:nvSpPr>
        <p:spPr>
          <a:xfrm xmlns:a="http://schemas.openxmlformats.org/drawingml/2006/main">
            <a:off x="6667500" y="21050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7" name="">
            <a:extLst xmlns:a="http://schemas.openxmlformats.org/drawingml/2006/main">
              <a:ext uri="{FF2B5EF4-FFF2-40B4-BE49-F238E27FC236}">
                <a16:creationId xmlns:a16="http://schemas.microsoft.com/office/drawing/2014/main" id="{92E79852-9043-428E-BDE5-E485CEF28467}"/>
              </a:ext>
            </a:extLst>
          </p:cNvPr>
          <p:cNvSpPr>
            <a:spLocks xmlns:a="http://schemas.openxmlformats.org/drawingml/2006/main" noGrp="1"/>
          </p:cNvSpPr>
          <p:nvPr/>
        </p:nvSpPr>
        <p:spPr>
          <a:xfrm xmlns:a="http://schemas.openxmlformats.org/drawingml/2006/main">
            <a:off x="6991350" y="21145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$20 per separate permission</a:t>
            </a:r>
          </a:p>
        </p:txBody>
      </p:sp>
      <p:sp>
        <p:nvSpPr>
          <p:cNvPr id="18" name="">
            <a:extLst xmlns:a="http://schemas.openxmlformats.org/drawingml/2006/main">
              <a:ext uri="{FF2B5EF4-FFF2-40B4-BE49-F238E27FC236}">
                <a16:creationId xmlns:a16="http://schemas.microsoft.com/office/drawing/2014/main" id="{22A89801-009F-4447-9539-12EE3118D1D2}"/>
              </a:ext>
            </a:extLst>
          </p:cNvPr>
          <p:cNvSpPr>
            <a:spLocks xmlns:a="http://schemas.openxmlformats.org/drawingml/2006/main" noGrp="1"/>
          </p:cNvSpPr>
          <p:nvPr/>
        </p:nvSpPr>
        <p:spPr>
          <a:xfrm xmlns:a="http://schemas.openxmlformats.org/drawingml/2006/main">
            <a:off x="6667500" y="26384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1EA16785-4AB1-4A30-9E94-02D92219C448}"/>
              </a:ext>
            </a:extLst>
          </p:cNvPr>
          <p:cNvSpPr>
            <a:spLocks xmlns:a="http://schemas.openxmlformats.org/drawingml/2006/main" noGrp="1"/>
          </p:cNvSpPr>
          <p:nvPr/>
        </p:nvSpPr>
        <p:spPr>
          <a:xfrm xmlns:a="http://schemas.openxmlformats.org/drawingml/2006/main">
            <a:off x="6991350" y="26479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$20,000 in real resource costs</a:t>
            </a:r>
          </a:p>
        </p:txBody>
      </p:sp>
      <p:sp>
        <p:nvSpPr>
          <p:cNvPr id="20" name="">
            <a:extLst xmlns:a="http://schemas.openxmlformats.org/drawingml/2006/main">
              <a:ext uri="{FF2B5EF4-FFF2-40B4-BE49-F238E27FC236}">
                <a16:creationId xmlns:a16="http://schemas.microsoft.com/office/drawing/2014/main" id="{60A25D88-4AEC-4375-895B-E4B886620828}"/>
              </a:ext>
            </a:extLst>
          </p:cNvPr>
          <p:cNvSpPr>
            <a:spLocks xmlns:a="http://schemas.openxmlformats.org/drawingml/2006/main" noGrp="1"/>
          </p:cNvSpPr>
          <p:nvPr/>
        </p:nvSpPr>
        <p:spPr>
          <a:xfrm xmlns:a="http://schemas.openxmlformats.org/drawingml/2006/main">
            <a:off x="6667500" y="31718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B88424"/>
                </a:solidFill>
                <a:latin typeface="Aptos"/>
                <a:ea typeface="Aptos"/>
                <a:cs typeface="Aptos"/>
              </a:defRPr>
            </a:pPr>
            <a:r>
              <a:rPr sz="1725" b="1" i="0">
                <a:solidFill>
                  <a:srgbClr val="B88424"/>
                </a:solidFill>
                <a:latin typeface="Aptos"/>
                <a:ea typeface="Aptos"/>
                <a:cs typeface="Aptos"/>
              </a:rPr>
              <a:t>•</a:t>
            </a:r>
          </a:p>
        </p:txBody>
      </p:sp>
      <p:sp>
        <p:nvSpPr>
          <p:cNvPr id="21" name="">
            <a:extLst xmlns:a="http://schemas.openxmlformats.org/drawingml/2006/main">
              <a:ext uri="{FF2B5EF4-FFF2-40B4-BE49-F238E27FC236}">
                <a16:creationId xmlns:a16="http://schemas.microsoft.com/office/drawing/2014/main" id="{C03D27FA-B036-4AAA-95CE-0B3EE8A143DD}"/>
              </a:ext>
            </a:extLst>
          </p:cNvPr>
          <p:cNvSpPr>
            <a:spLocks xmlns:a="http://schemas.openxmlformats.org/drawingml/2006/main" noGrp="1"/>
          </p:cNvSpPr>
          <p:nvPr/>
        </p:nvSpPr>
        <p:spPr>
          <a:xfrm xmlns:a="http://schemas.openxmlformats.org/drawingml/2006/main">
            <a:off x="6991350" y="3181350"/>
            <a:ext cx="424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i="0">
                <a:solidFill>
                  <a:srgbClr val="17242D"/>
                </a:solidFill>
                <a:latin typeface="Aptos"/>
                <a:ea typeface="Aptos"/>
                <a:cs typeface="Aptos"/>
              </a:defRPr>
            </a:pPr>
            <a:r>
              <a:rPr sz="1725" b="0" i="0">
                <a:solidFill>
                  <a:srgbClr val="17242D"/>
                </a:solidFill>
                <a:latin typeface="Aptos"/>
                <a:ea typeface="Aptos"/>
                <a:cs typeface="Aptos"/>
              </a:rPr>
              <a:t>Search, verification, administration</a:t>
            </a:r>
          </a:p>
        </p:txBody>
      </p:sp>
      <p:sp>
        <p:nvSpPr>
          <p:cNvPr id="22" name="">
            <a:extLst xmlns:a="http://schemas.openxmlformats.org/drawingml/2006/main">
              <a:ext uri="{FF2B5EF4-FFF2-40B4-BE49-F238E27FC236}">
                <a16:creationId xmlns:a16="http://schemas.microsoft.com/office/drawing/2014/main" id="{9607DABB-428A-4D40-9D5F-6DA485A5F899}"/>
              </a:ext>
            </a:extLst>
          </p:cNvPr>
          <p:cNvSpPr>
            <a:spLocks xmlns:a="http://schemas.openxmlformats.org/drawingml/2006/main" noGrp="1"/>
          </p:cNvSpPr>
          <p:nvPr/>
        </p:nvSpPr>
        <p:spPr>
          <a:xfrm xmlns:a="http://schemas.openxmlformats.org/drawingml/2006/main">
            <a:off x="1200150" y="54102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Necessary permissions can create Chapter 5's anticommons.</a:t>
            </a:r>
          </a:p>
        </p:txBody>
      </p:sp>
    </p:spTree>
    <p:extLst>
      <p:ext uri="{BB962C8B-B14F-4D97-AF65-F5344CB8AC3E}">
        <p14:creationId xmlns:p14="http://schemas.microsoft.com/office/powerpoint/2010/main" val="1163471467"/>
      </p:ext>
    </p:extLst>
  </p:cSld>
</p:sld>
</file>

<file path=ppt/slides/slide22.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47E8D47-A010-48C6-BF06-178EBF76CA3B}"/>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1323D0-7B2E-476B-A314-A2705DDE9D86}"/>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62BD6E25-1E91-4A66-A6C0-2C558B2B88C8}"/>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Must compensation require an individual veto?</a:t>
            </a:r>
          </a:p>
        </p:txBody>
      </p:sp>
      <p:sp>
        <p:nvSpPr>
          <p:cNvPr id="4" name="">
            <a:extLst xmlns:a="http://schemas.openxmlformats.org/drawingml/2006/main">
              <a:ext uri="{FF2B5EF4-FFF2-40B4-BE49-F238E27FC236}">
                <a16:creationId xmlns:a16="http://schemas.microsoft.com/office/drawing/2014/main" id="{A0586A5B-6BE7-4350-8268-CA596D8097F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C890F4-7FEB-4E15-A535-47F93622B26A}"/>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9BB5E4FB-9540-4CE7-9C3F-67663E5C0F37}"/>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167E4D53-674F-44D6-B13B-81B1AA50BC2C}"/>
              </a:ext>
            </a:extLst>
          </p:cNvPr>
          <p:cNvSpPr>
            <a:spLocks xmlns:a="http://schemas.openxmlformats.org/drawingml/2006/main" noGrp="1"/>
          </p:cNvSpPr>
          <p:nvPr/>
        </p:nvSpPr>
        <p:spPr>
          <a:xfrm xmlns:a="http://schemas.openxmlformats.org/drawingml/2006/main">
            <a:off x="666750" y="1790700"/>
            <a:ext cx="25288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4594E"/>
                </a:solidFill>
                <a:latin typeface="Aptos"/>
                <a:ea typeface="Aptos"/>
                <a:cs typeface="Aptos"/>
              </a:defRPr>
            </a:pPr>
            <a:r>
              <a:rPr sz="1275" b="1" i="0">
                <a:solidFill>
                  <a:srgbClr val="24594E"/>
                </a:solidFill>
                <a:latin typeface="Aptos"/>
                <a:ea typeface="Aptos"/>
                <a:cs typeface="Aptos"/>
              </a:rPr>
              <a:t>INDIVIDUAL LICENSE</a:t>
            </a:r>
          </a:p>
        </p:txBody>
      </p:sp>
      <p:sp>
        <p:nvSpPr>
          <p:cNvPr id="8" name="">
            <a:extLst xmlns:a="http://schemas.openxmlformats.org/drawingml/2006/main">
              <a:ext uri="{FF2B5EF4-FFF2-40B4-BE49-F238E27FC236}">
                <a16:creationId xmlns:a16="http://schemas.microsoft.com/office/drawing/2014/main" id="{203A626C-C7BC-43AF-B254-DD9E458D8DD0}"/>
              </a:ext>
            </a:extLst>
          </p:cNvPr>
          <p:cNvSpPr>
            <a:spLocks xmlns:a="http://schemas.openxmlformats.org/drawingml/2006/main" noGrp="1"/>
          </p:cNvSpPr>
          <p:nvPr/>
        </p:nvSpPr>
        <p:spPr>
          <a:xfrm xmlns:a="http://schemas.openxmlformats.org/drawingml/2006/main">
            <a:off x="666750" y="2228850"/>
            <a:ext cx="2528888" cy="26098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9" name="">
            <a:extLst xmlns:a="http://schemas.openxmlformats.org/drawingml/2006/main">
              <a:ext uri="{FF2B5EF4-FFF2-40B4-BE49-F238E27FC236}">
                <a16:creationId xmlns:a16="http://schemas.microsoft.com/office/drawing/2014/main" id="{984A8619-89BD-4B0F-86CC-B988EA4BABF2}"/>
              </a:ext>
            </a:extLst>
          </p:cNvPr>
          <p:cNvSpPr>
            <a:spLocks xmlns:a="http://schemas.openxmlformats.org/drawingml/2006/main" noGrp="1"/>
          </p:cNvSpPr>
          <p:nvPr/>
        </p:nvSpPr>
        <p:spPr>
          <a:xfrm xmlns:a="http://schemas.openxmlformats.org/drawingml/2006/main">
            <a:off x="857250" y="2438400"/>
            <a:ext cx="2147888"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575" b="0" i="0">
                <a:solidFill>
                  <a:srgbClr val="17242D"/>
                </a:solidFill>
                <a:latin typeface="Aptos"/>
                <a:ea typeface="Aptos"/>
                <a:cs typeface="Aptos"/>
              </a:defRPr>
            </a:pPr>
            <a:r>
              <a:rPr sz="1575" b="0" i="0">
                <a:solidFill>
                  <a:srgbClr val="17242D"/>
                </a:solidFill>
                <a:latin typeface="Aptos"/>
                <a:ea typeface="Aptos"/>
                <a:cs typeface="Aptos"/>
              </a:rPr>
              <a:t>Owner chooses consent and price</a:t>
            </a:r>
          </a:p>
        </p:txBody>
      </p:sp>
      <p:sp>
        <p:nvSpPr>
          <p:cNvPr id="10" name="">
            <a:extLst xmlns:a="http://schemas.openxmlformats.org/drawingml/2006/main">
              <a:ext uri="{FF2B5EF4-FFF2-40B4-BE49-F238E27FC236}">
                <a16:creationId xmlns:a16="http://schemas.microsoft.com/office/drawing/2014/main" id="{501BD0D4-D19F-49D1-9420-C99751D9E7A5}"/>
              </a:ext>
            </a:extLst>
          </p:cNvPr>
          <p:cNvSpPr>
            <a:spLocks xmlns:a="http://schemas.openxmlformats.org/drawingml/2006/main" noGrp="1"/>
          </p:cNvSpPr>
          <p:nvPr/>
        </p:nvSpPr>
        <p:spPr>
          <a:xfrm xmlns:a="http://schemas.openxmlformats.org/drawingml/2006/main">
            <a:off x="3443288" y="1790700"/>
            <a:ext cx="25288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315F75"/>
                </a:solidFill>
                <a:latin typeface="Aptos"/>
                <a:ea typeface="Aptos"/>
                <a:cs typeface="Aptos"/>
              </a:defRPr>
            </a:pPr>
            <a:r>
              <a:rPr sz="1275" b="1" i="0">
                <a:solidFill>
                  <a:srgbClr val="315F75"/>
                </a:solidFill>
                <a:latin typeface="Aptos"/>
                <a:ea typeface="Aptos"/>
                <a:cs typeface="Aptos"/>
              </a:rPr>
              <a:t>COLLECTIVE LICENSE</a:t>
            </a:r>
          </a:p>
        </p:txBody>
      </p:sp>
      <p:sp>
        <p:nvSpPr>
          <p:cNvPr id="11" name="">
            <a:extLst xmlns:a="http://schemas.openxmlformats.org/drawingml/2006/main">
              <a:ext uri="{FF2B5EF4-FFF2-40B4-BE49-F238E27FC236}">
                <a16:creationId xmlns:a16="http://schemas.microsoft.com/office/drawing/2014/main" id="{D4E108AC-AE3E-4789-915D-DFBE47AD2B37}"/>
              </a:ext>
            </a:extLst>
          </p:cNvPr>
          <p:cNvSpPr>
            <a:spLocks xmlns:a="http://schemas.openxmlformats.org/drawingml/2006/main" noGrp="1"/>
          </p:cNvSpPr>
          <p:nvPr/>
        </p:nvSpPr>
        <p:spPr>
          <a:xfrm xmlns:a="http://schemas.openxmlformats.org/drawingml/2006/main">
            <a:off x="3443288" y="2228850"/>
            <a:ext cx="2528888" cy="26098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948DD222-8A93-489D-A85B-A788989BF07B}"/>
              </a:ext>
            </a:extLst>
          </p:cNvPr>
          <p:cNvSpPr>
            <a:spLocks xmlns:a="http://schemas.openxmlformats.org/drawingml/2006/main" noGrp="1"/>
          </p:cNvSpPr>
          <p:nvPr/>
        </p:nvSpPr>
        <p:spPr>
          <a:xfrm xmlns:a="http://schemas.openxmlformats.org/drawingml/2006/main">
            <a:off x="3633788" y="2438400"/>
            <a:ext cx="2147888"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575" b="0" i="0">
                <a:solidFill>
                  <a:srgbClr val="17242D"/>
                </a:solidFill>
                <a:latin typeface="Aptos"/>
                <a:ea typeface="Aptos"/>
                <a:cs typeface="Aptos"/>
              </a:defRPr>
            </a:pPr>
            <a:r>
              <a:rPr sz="1575" b="0" i="0">
                <a:solidFill>
                  <a:srgbClr val="17242D"/>
                </a:solidFill>
                <a:latin typeface="Aptos"/>
                <a:ea typeface="Aptos"/>
                <a:cs typeface="Aptos"/>
              </a:rPr>
              <a:t>Owners delegate permission and payment</a:t>
            </a:r>
          </a:p>
        </p:txBody>
      </p:sp>
      <p:sp>
        <p:nvSpPr>
          <p:cNvPr id="13" name="">
            <a:extLst xmlns:a="http://schemas.openxmlformats.org/drawingml/2006/main">
              <a:ext uri="{FF2B5EF4-FFF2-40B4-BE49-F238E27FC236}">
                <a16:creationId xmlns:a16="http://schemas.microsoft.com/office/drawing/2014/main" id="{9386F983-7A86-41D8-BF31-A177B3536290}"/>
              </a:ext>
            </a:extLst>
          </p:cNvPr>
          <p:cNvSpPr>
            <a:spLocks xmlns:a="http://schemas.openxmlformats.org/drawingml/2006/main" noGrp="1"/>
          </p:cNvSpPr>
          <p:nvPr/>
        </p:nvSpPr>
        <p:spPr>
          <a:xfrm xmlns:a="http://schemas.openxmlformats.org/drawingml/2006/main">
            <a:off x="6219825" y="1790700"/>
            <a:ext cx="25288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75530D"/>
                </a:solidFill>
                <a:latin typeface="Aptos"/>
                <a:ea typeface="Aptos"/>
                <a:cs typeface="Aptos"/>
              </a:defRPr>
            </a:pPr>
            <a:r>
              <a:rPr sz="1275" b="1" i="0">
                <a:solidFill>
                  <a:srgbClr val="75530D"/>
                </a:solidFill>
                <a:latin typeface="Aptos"/>
                <a:ea typeface="Aptos"/>
                <a:cs typeface="Aptos"/>
              </a:rPr>
              <a:t>COMPENSATED ACCESS</a:t>
            </a:r>
          </a:p>
        </p:txBody>
      </p:sp>
      <p:sp>
        <p:nvSpPr>
          <p:cNvPr id="14" name="">
            <a:extLst xmlns:a="http://schemas.openxmlformats.org/drawingml/2006/main">
              <a:ext uri="{FF2B5EF4-FFF2-40B4-BE49-F238E27FC236}">
                <a16:creationId xmlns:a16="http://schemas.microsoft.com/office/drawing/2014/main" id="{B6EFA215-8270-4F3B-86BF-2727D8DA1F25}"/>
              </a:ext>
            </a:extLst>
          </p:cNvPr>
          <p:cNvSpPr>
            <a:spLocks xmlns:a="http://schemas.openxmlformats.org/drawingml/2006/main" noGrp="1"/>
          </p:cNvSpPr>
          <p:nvPr/>
        </p:nvSpPr>
        <p:spPr>
          <a:xfrm xmlns:a="http://schemas.openxmlformats.org/drawingml/2006/main">
            <a:off x="6219825" y="2228850"/>
            <a:ext cx="2528888" cy="26098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5" name="">
            <a:extLst xmlns:a="http://schemas.openxmlformats.org/drawingml/2006/main">
              <a:ext uri="{FF2B5EF4-FFF2-40B4-BE49-F238E27FC236}">
                <a16:creationId xmlns:a16="http://schemas.microsoft.com/office/drawing/2014/main" id="{AAB992F5-3AA8-43F9-8A12-81C0A919A35D}"/>
              </a:ext>
            </a:extLst>
          </p:cNvPr>
          <p:cNvSpPr>
            <a:spLocks xmlns:a="http://schemas.openxmlformats.org/drawingml/2006/main" noGrp="1"/>
          </p:cNvSpPr>
          <p:nvPr/>
        </p:nvSpPr>
        <p:spPr>
          <a:xfrm xmlns:a="http://schemas.openxmlformats.org/drawingml/2006/main">
            <a:off x="6410325" y="2438400"/>
            <a:ext cx="2147888"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575" b="0" i="0">
                <a:solidFill>
                  <a:srgbClr val="17242D"/>
                </a:solidFill>
                <a:latin typeface="Aptos"/>
                <a:ea typeface="Aptos"/>
                <a:cs typeface="Aptos"/>
              </a:defRPr>
            </a:pPr>
            <a:r>
              <a:rPr sz="1575" b="0" i="0">
                <a:solidFill>
                  <a:srgbClr val="17242D"/>
                </a:solidFill>
                <a:latin typeface="Aptos"/>
                <a:ea typeface="Aptos"/>
                <a:cs typeface="Aptos"/>
              </a:rPr>
              <a:t>Proposed covered use with a payment duty</a:t>
            </a:r>
          </a:p>
        </p:txBody>
      </p:sp>
      <p:sp>
        <p:nvSpPr>
          <p:cNvPr id="16" name="">
            <a:extLst xmlns:a="http://schemas.openxmlformats.org/drawingml/2006/main">
              <a:ext uri="{FF2B5EF4-FFF2-40B4-BE49-F238E27FC236}">
                <a16:creationId xmlns:a16="http://schemas.microsoft.com/office/drawing/2014/main" id="{17C60181-8CEA-422A-B80E-00F486EA38D2}"/>
              </a:ext>
            </a:extLst>
          </p:cNvPr>
          <p:cNvSpPr>
            <a:spLocks xmlns:a="http://schemas.openxmlformats.org/drawingml/2006/main" noGrp="1"/>
          </p:cNvSpPr>
          <p:nvPr/>
        </p:nvSpPr>
        <p:spPr>
          <a:xfrm xmlns:a="http://schemas.openxmlformats.org/drawingml/2006/main">
            <a:off x="8996363" y="1790700"/>
            <a:ext cx="2528888"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9A462F"/>
                </a:solidFill>
                <a:latin typeface="Aptos"/>
                <a:ea typeface="Aptos"/>
                <a:cs typeface="Aptos"/>
              </a:defRPr>
            </a:pPr>
            <a:r>
              <a:rPr sz="1275" b="1" i="0">
                <a:solidFill>
                  <a:srgbClr val="9A462F"/>
                </a:solidFill>
                <a:latin typeface="Aptos"/>
                <a:ea typeface="Aptos"/>
                <a:cs typeface="Aptos"/>
              </a:rPr>
              <a:t>DEFINED EXCEPTION</a:t>
            </a:r>
          </a:p>
        </p:txBody>
      </p:sp>
      <p:sp>
        <p:nvSpPr>
          <p:cNvPr id="17" name="">
            <a:extLst xmlns:a="http://schemas.openxmlformats.org/drawingml/2006/main">
              <a:ext uri="{FF2B5EF4-FFF2-40B4-BE49-F238E27FC236}">
                <a16:creationId xmlns:a16="http://schemas.microsoft.com/office/drawing/2014/main" id="{7D9548D4-A726-49F4-8581-931F260AC67B}"/>
              </a:ext>
            </a:extLst>
          </p:cNvPr>
          <p:cNvSpPr>
            <a:spLocks xmlns:a="http://schemas.openxmlformats.org/drawingml/2006/main" noGrp="1"/>
          </p:cNvSpPr>
          <p:nvPr/>
        </p:nvSpPr>
        <p:spPr>
          <a:xfrm xmlns:a="http://schemas.openxmlformats.org/drawingml/2006/main">
            <a:off x="8996363" y="2228850"/>
            <a:ext cx="2528888" cy="26098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8" name="">
            <a:extLst xmlns:a="http://schemas.openxmlformats.org/drawingml/2006/main">
              <a:ext uri="{FF2B5EF4-FFF2-40B4-BE49-F238E27FC236}">
                <a16:creationId xmlns:a16="http://schemas.microsoft.com/office/drawing/2014/main" id="{B4385006-A764-40E2-BA82-75931D74F27E}"/>
              </a:ext>
            </a:extLst>
          </p:cNvPr>
          <p:cNvSpPr>
            <a:spLocks xmlns:a="http://schemas.openxmlformats.org/drawingml/2006/main" noGrp="1"/>
          </p:cNvSpPr>
          <p:nvPr/>
        </p:nvSpPr>
        <p:spPr>
          <a:xfrm xmlns:a="http://schemas.openxmlformats.org/drawingml/2006/main">
            <a:off x="9186863" y="2438400"/>
            <a:ext cx="2147888"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575" b="0" i="0">
                <a:solidFill>
                  <a:srgbClr val="17242D"/>
                </a:solidFill>
                <a:latin typeface="Aptos"/>
                <a:ea typeface="Aptos"/>
                <a:cs typeface="Aptos"/>
              </a:defRPr>
            </a:pPr>
            <a:r>
              <a:rPr sz="1575" b="0" i="0">
                <a:solidFill>
                  <a:srgbClr val="17242D"/>
                </a:solidFill>
                <a:latin typeface="Aptos"/>
                <a:ea typeface="Aptos"/>
                <a:cs typeface="Aptos"/>
              </a:rPr>
              <a:t>Covered use without permission or payment</a:t>
            </a:r>
          </a:p>
        </p:txBody>
      </p:sp>
      <p:sp>
        <p:nvSpPr>
          <p:cNvPr id="19" name="">
            <a:extLst xmlns:a="http://schemas.openxmlformats.org/drawingml/2006/main">
              <a:ext uri="{FF2B5EF4-FFF2-40B4-BE49-F238E27FC236}">
                <a16:creationId xmlns:a16="http://schemas.microsoft.com/office/drawing/2014/main" id="{C4CBBB8A-0B6E-4EF3-BF1D-3C57D4C38330}"/>
              </a:ext>
            </a:extLst>
          </p:cNvPr>
          <p:cNvSpPr>
            <a:spLocks xmlns:a="http://schemas.openxmlformats.org/drawingml/2006/main" noGrp="1"/>
          </p:cNvSpPr>
          <p:nvPr/>
        </p:nvSpPr>
        <p:spPr>
          <a:xfrm xmlns:a="http://schemas.openxmlformats.org/drawingml/2006/main">
            <a:off x="1200150" y="53340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Compare access, future creation, and the cost of administration.</a:t>
            </a:r>
          </a:p>
        </p:txBody>
      </p:sp>
    </p:spTree>
    <p:extLst>
      <p:ext uri="{BB962C8B-B14F-4D97-AF65-F5344CB8AC3E}">
        <p14:creationId xmlns:p14="http://schemas.microsoft.com/office/powerpoint/2010/main" val="105548483"/>
      </p:ext>
    </p:extLst>
  </p:cSld>
</p:sld>
</file>

<file path=ppt/slides/slide23.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3BF48B-77F7-4E11-B586-83C36208A5B2}"/>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55218C-50CA-4390-AEC4-65CAC1DB4955}"/>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871C344F-E5FA-41A8-970E-E6D1C708C7EC}"/>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Style illustrates the limits of ownership categories</a:t>
            </a:r>
          </a:p>
        </p:txBody>
      </p:sp>
      <p:sp>
        <p:nvSpPr>
          <p:cNvPr id="4" name="">
            <a:extLst xmlns:a="http://schemas.openxmlformats.org/drawingml/2006/main">
              <a:ext uri="{FF2B5EF4-FFF2-40B4-BE49-F238E27FC236}">
                <a16:creationId xmlns:a16="http://schemas.microsoft.com/office/drawing/2014/main" id="{A30E0CCA-1269-4C38-969F-1383A72B619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0CC9FC-EDE5-4B19-AF86-3207E556319D}"/>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C733B4F5-1AFC-4253-A0F1-499B3C078760}"/>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E99DFBAB-A06A-4827-BF4D-92C90D00BFF3}"/>
              </a:ext>
            </a:extLst>
          </p:cNvPr>
          <p:cNvSpPr>
            <a:spLocks xmlns:a="http://schemas.openxmlformats.org/drawingml/2006/main" noGrp="1"/>
          </p:cNvSpPr>
          <p:nvPr/>
        </p:nvSpPr>
        <p:spPr>
          <a:xfrm xmlns:a="http://schemas.openxmlformats.org/drawingml/2006/main">
            <a:off x="1200150" y="2152650"/>
            <a:ext cx="97917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3150" b="1" i="0">
                <a:solidFill>
                  <a:srgbClr val="173F38"/>
                </a:solidFill>
                <a:latin typeface="Georgia"/>
                <a:ea typeface="Georgia"/>
                <a:cs typeface="Georgia"/>
              </a:defRPr>
            </a:pPr>
            <a:r>
              <a:rPr sz="3150" b="1" i="0">
                <a:solidFill>
                  <a:srgbClr val="173F38"/>
                </a:solidFill>
                <a:latin typeface="Georgia"/>
                <a:ea typeface="Georgia"/>
                <a:cs typeface="Georgia"/>
              </a:rPr>
              <a:t>A recognizable visual or musical style can have economic value even when copyright does not ordinarily grant a broad right over style itself.</a:t>
            </a:r>
          </a:p>
        </p:txBody>
      </p:sp>
      <p:sp>
        <p:nvSpPr>
          <p:cNvPr id="8" name="">
            <a:extLst xmlns:a="http://schemas.openxmlformats.org/drawingml/2006/main">
              <a:ext uri="{FF2B5EF4-FFF2-40B4-BE49-F238E27FC236}">
                <a16:creationId xmlns:a16="http://schemas.microsoft.com/office/drawing/2014/main" id="{F9FB559E-1CDC-4AE7-BC5B-E83677963EA0}"/>
              </a:ext>
            </a:extLst>
          </p:cNvPr>
          <p:cNvSpPr>
            <a:spLocks xmlns:a="http://schemas.openxmlformats.org/drawingml/2006/main" noGrp="1"/>
          </p:cNvSpPr>
          <p:nvPr/>
        </p:nvSpPr>
        <p:spPr>
          <a:xfrm xmlns:a="http://schemas.openxmlformats.org/drawingml/2006/main">
            <a:off x="1562100" y="4629150"/>
            <a:ext cx="90678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00" b="0" i="0">
                <a:solidFill>
                  <a:srgbClr val="586A73"/>
                </a:solidFill>
                <a:latin typeface="Aptos"/>
                <a:ea typeface="Aptos"/>
                <a:cs typeface="Aptos"/>
              </a:defRPr>
            </a:pPr>
            <a:r>
              <a:rPr sz="1800" b="0" i="0">
                <a:solidFill>
                  <a:srgbClr val="586A73"/>
                </a:solidFill>
                <a:latin typeface="Aptos"/>
                <a:ea typeface="Aptos"/>
                <a:cs typeface="Aptos"/>
              </a:rPr>
              <a:t>Extending control could protect creators and also fence off general artistic vocabularies and independent learning.</a:t>
            </a:r>
          </a:p>
        </p:txBody>
      </p:sp>
    </p:spTree>
    <p:extLst>
      <p:ext uri="{BB962C8B-B14F-4D97-AF65-F5344CB8AC3E}">
        <p14:creationId xmlns:p14="http://schemas.microsoft.com/office/powerpoint/2010/main" val="1948368237"/>
      </p:ext>
    </p:extLst>
  </p:cSld>
</p:sld>
</file>

<file path=ppt/slides/slide24.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A1BD7CF-528F-44B1-BD68-D990A2827C9A}"/>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33F174A-AA81-4EF7-B105-938F032F9FD0}"/>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6A0C7E7D-7866-4655-9D24-D8CC62870263}"/>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Design an intellectual-property regime as a system</a:t>
            </a:r>
          </a:p>
        </p:txBody>
      </p:sp>
      <p:sp>
        <p:nvSpPr>
          <p:cNvPr id="4" name="">
            <a:extLst xmlns:a="http://schemas.openxmlformats.org/drawingml/2006/main">
              <a:ext uri="{FF2B5EF4-FFF2-40B4-BE49-F238E27FC236}">
                <a16:creationId xmlns:a16="http://schemas.microsoft.com/office/drawing/2014/main" id="{535EE928-4B55-4AF5-BB22-A0EF202A031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820ADD-0965-400D-B446-AC3E72979890}"/>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A87E1193-C2F2-413F-A7F8-572AEEB8E6DA}"/>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DB2602BB-59D0-4F71-A472-82DC6F97DE65}"/>
              </a:ext>
            </a:extLst>
          </p:cNvPr>
          <p:cNvSpPr>
            <a:spLocks xmlns:a="http://schemas.openxmlformats.org/drawingml/2006/main" noGrp="1"/>
          </p:cNvSpPr>
          <p:nvPr/>
        </p:nvSpPr>
        <p:spPr>
          <a:xfrm xmlns:a="http://schemas.openxmlformats.org/drawingml/2006/main">
            <a:off x="762000" y="2171700"/>
            <a:ext cx="2352675" cy="1809750"/>
          </a:xfrm>
          <a:prstGeom xmlns:a="http://schemas.openxmlformats.org/drawingml/2006/main" prst="rect">
            <a:avLst/>
          </a:prstGeom>
          <a:solidFill xmlns:a="http://schemas.openxmlformats.org/drawingml/2006/main">
            <a:srgbClr val="E8F1ED"/>
          </a:solidFill>
          <a:ln xmlns:a="http://schemas.openxmlformats.org/drawingml/2006/main" w="9525">
            <a:solidFill>
              <a:srgbClr val="CCD5D2"/>
            </a:solidFill>
            <a:prstDash val="solid"/>
          </a:ln>
        </p:spPr>
      </p:sp>
      <p:sp>
        <p:nvSpPr>
          <p:cNvPr id="8" name="">
            <a:extLst xmlns:a="http://schemas.openxmlformats.org/drawingml/2006/main">
              <a:ext uri="{FF2B5EF4-FFF2-40B4-BE49-F238E27FC236}">
                <a16:creationId xmlns:a16="http://schemas.microsoft.com/office/drawing/2014/main" id="{83469227-ED28-41A7-AB31-6630F5C7DBBF}"/>
              </a:ext>
            </a:extLst>
          </p:cNvPr>
          <p:cNvSpPr>
            <a:spLocks xmlns:a="http://schemas.openxmlformats.org/drawingml/2006/main" noGrp="1"/>
          </p:cNvSpPr>
          <p:nvPr/>
        </p:nvSpPr>
        <p:spPr>
          <a:xfrm xmlns:a="http://schemas.openxmlformats.org/drawingml/2006/main">
            <a:off x="87630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24594E"/>
                </a:solidFill>
                <a:latin typeface="Aptos"/>
                <a:ea typeface="Aptos"/>
                <a:cs typeface="Aptos"/>
              </a:defRPr>
            </a:pPr>
            <a:r>
              <a:rPr sz="1200" b="1" i="0">
                <a:solidFill>
                  <a:srgbClr val="24594E"/>
                </a:solidFill>
                <a:latin typeface="Aptos"/>
                <a:ea typeface="Aptos"/>
                <a:cs typeface="Aptos"/>
              </a:rPr>
              <a:t>INCENTIVE</a:t>
            </a:r>
          </a:p>
        </p:txBody>
      </p:sp>
      <p:sp>
        <p:nvSpPr>
          <p:cNvPr id="9" name="">
            <a:extLst xmlns:a="http://schemas.openxmlformats.org/drawingml/2006/main">
              <a:ext uri="{FF2B5EF4-FFF2-40B4-BE49-F238E27FC236}">
                <a16:creationId xmlns:a16="http://schemas.microsoft.com/office/drawing/2014/main" id="{6FAD6778-230C-492B-9180-E70A33602306}"/>
              </a:ext>
            </a:extLst>
          </p:cNvPr>
          <p:cNvSpPr>
            <a:spLocks xmlns:a="http://schemas.openxmlformats.org/drawingml/2006/main" noGrp="1"/>
          </p:cNvSpPr>
          <p:nvPr/>
        </p:nvSpPr>
        <p:spPr>
          <a:xfrm xmlns:a="http://schemas.openxmlformats.org/drawingml/2006/main">
            <a:off x="91440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What creation needs support?</a:t>
            </a:r>
          </a:p>
        </p:txBody>
      </p:sp>
      <p:sp>
        <p:nvSpPr>
          <p:cNvPr id="10" name="">
            <a:extLst xmlns:a="http://schemas.openxmlformats.org/drawingml/2006/main">
              <a:ext uri="{FF2B5EF4-FFF2-40B4-BE49-F238E27FC236}">
                <a16:creationId xmlns:a16="http://schemas.microsoft.com/office/drawing/2014/main" id="{68A45739-1309-41CF-8B30-FF8C188ECD13}"/>
              </a:ext>
            </a:extLst>
          </p:cNvPr>
          <p:cNvSpPr>
            <a:spLocks xmlns:a="http://schemas.openxmlformats.org/drawingml/2006/main" noGrp="1"/>
          </p:cNvSpPr>
          <p:nvPr/>
        </p:nvSpPr>
        <p:spPr>
          <a:xfrm xmlns:a="http://schemas.openxmlformats.org/drawingml/2006/main">
            <a:off x="311467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1" name="">
            <a:extLst xmlns:a="http://schemas.openxmlformats.org/drawingml/2006/main">
              <a:ext uri="{FF2B5EF4-FFF2-40B4-BE49-F238E27FC236}">
                <a16:creationId xmlns:a16="http://schemas.microsoft.com/office/drawing/2014/main" id="{97E7F350-93C7-4E84-B319-D9ACAE02F3A0}"/>
              </a:ext>
            </a:extLst>
          </p:cNvPr>
          <p:cNvSpPr>
            <a:spLocks xmlns:a="http://schemas.openxmlformats.org/drawingml/2006/main" noGrp="1"/>
          </p:cNvSpPr>
          <p:nvPr/>
        </p:nvSpPr>
        <p:spPr>
          <a:xfrm xmlns:a="http://schemas.openxmlformats.org/drawingml/2006/main">
            <a:off x="3533775" y="2171700"/>
            <a:ext cx="2352675" cy="1809750"/>
          </a:xfrm>
          <a:prstGeom xmlns:a="http://schemas.openxmlformats.org/drawingml/2006/main" prst="rect">
            <a:avLst/>
          </a:prstGeom>
          <a:solidFill xmlns:a="http://schemas.openxmlformats.org/drawingml/2006/main">
            <a:srgbClr val="F6F0DF"/>
          </a:solidFill>
          <a:ln xmlns:a="http://schemas.openxmlformats.org/drawingml/2006/main" w="9525">
            <a:solidFill>
              <a:srgbClr val="CCD5D2"/>
            </a:solidFill>
            <a:prstDash val="solid"/>
          </a:ln>
        </p:spPr>
      </p:sp>
      <p:sp>
        <p:nvSpPr>
          <p:cNvPr id="12" name="">
            <a:extLst xmlns:a="http://schemas.openxmlformats.org/drawingml/2006/main">
              <a:ext uri="{FF2B5EF4-FFF2-40B4-BE49-F238E27FC236}">
                <a16:creationId xmlns:a16="http://schemas.microsoft.com/office/drawing/2014/main" id="{C2865EA7-6876-49E8-8DD2-F478CD4D2CDD}"/>
              </a:ext>
            </a:extLst>
          </p:cNvPr>
          <p:cNvSpPr>
            <a:spLocks xmlns:a="http://schemas.openxmlformats.org/drawingml/2006/main" noGrp="1"/>
          </p:cNvSpPr>
          <p:nvPr/>
        </p:nvSpPr>
        <p:spPr>
          <a:xfrm xmlns:a="http://schemas.openxmlformats.org/drawingml/2006/main">
            <a:off x="364807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75530D"/>
                </a:solidFill>
                <a:latin typeface="Aptos"/>
                <a:ea typeface="Aptos"/>
                <a:cs typeface="Aptos"/>
              </a:defRPr>
            </a:pPr>
            <a:r>
              <a:rPr sz="1200" b="1" i="0">
                <a:solidFill>
                  <a:srgbClr val="75530D"/>
                </a:solidFill>
                <a:latin typeface="Aptos"/>
                <a:ea typeface="Aptos"/>
                <a:cs typeface="Aptos"/>
              </a:rPr>
              <a:t>BOUNDARY</a:t>
            </a:r>
          </a:p>
        </p:txBody>
      </p:sp>
      <p:sp>
        <p:nvSpPr>
          <p:cNvPr id="13" name="">
            <a:extLst xmlns:a="http://schemas.openxmlformats.org/drawingml/2006/main">
              <a:ext uri="{FF2B5EF4-FFF2-40B4-BE49-F238E27FC236}">
                <a16:creationId xmlns:a16="http://schemas.microsoft.com/office/drawing/2014/main" id="{88D135D2-941E-4B4C-8AA7-782A7EC29E49}"/>
              </a:ext>
            </a:extLst>
          </p:cNvPr>
          <p:cNvSpPr>
            <a:spLocks xmlns:a="http://schemas.openxmlformats.org/drawingml/2006/main" noGrp="1"/>
          </p:cNvSpPr>
          <p:nvPr/>
        </p:nvSpPr>
        <p:spPr>
          <a:xfrm xmlns:a="http://schemas.openxmlformats.org/drawingml/2006/main">
            <a:off x="368617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What conduct is controlled?</a:t>
            </a:r>
          </a:p>
        </p:txBody>
      </p:sp>
      <p:sp>
        <p:nvSpPr>
          <p:cNvPr id="14" name="">
            <a:extLst xmlns:a="http://schemas.openxmlformats.org/drawingml/2006/main">
              <a:ext uri="{FF2B5EF4-FFF2-40B4-BE49-F238E27FC236}">
                <a16:creationId xmlns:a16="http://schemas.microsoft.com/office/drawing/2014/main" id="{0A09B415-D876-41A0-88AC-E446F9DE0D19}"/>
              </a:ext>
            </a:extLst>
          </p:cNvPr>
          <p:cNvSpPr>
            <a:spLocks xmlns:a="http://schemas.openxmlformats.org/drawingml/2006/main" noGrp="1"/>
          </p:cNvSpPr>
          <p:nvPr/>
        </p:nvSpPr>
        <p:spPr>
          <a:xfrm xmlns:a="http://schemas.openxmlformats.org/drawingml/2006/main">
            <a:off x="5886450"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5" name="">
            <a:extLst xmlns:a="http://schemas.openxmlformats.org/drawingml/2006/main">
              <a:ext uri="{FF2B5EF4-FFF2-40B4-BE49-F238E27FC236}">
                <a16:creationId xmlns:a16="http://schemas.microsoft.com/office/drawing/2014/main" id="{AB40E291-21A6-4106-87D6-4C7B7CCCE6F0}"/>
              </a:ext>
            </a:extLst>
          </p:cNvPr>
          <p:cNvSpPr>
            <a:spLocks xmlns:a="http://schemas.openxmlformats.org/drawingml/2006/main" noGrp="1"/>
          </p:cNvSpPr>
          <p:nvPr/>
        </p:nvSpPr>
        <p:spPr>
          <a:xfrm xmlns:a="http://schemas.openxmlformats.org/drawingml/2006/main">
            <a:off x="6305550" y="2171700"/>
            <a:ext cx="2352675" cy="1809750"/>
          </a:xfrm>
          <a:prstGeom xmlns:a="http://schemas.openxmlformats.org/drawingml/2006/main" prst="rect">
            <a:avLst/>
          </a:prstGeom>
          <a:solidFill xmlns:a="http://schemas.openxmlformats.org/drawingml/2006/main">
            <a:srgbClr val="F5EAE6"/>
          </a:solidFill>
          <a:ln xmlns:a="http://schemas.openxmlformats.org/drawingml/2006/main" w="9525">
            <a:solidFill>
              <a:srgbClr val="CCD5D2"/>
            </a:solidFill>
            <a:prstDash val="solid"/>
          </a:ln>
        </p:spPr>
      </p:sp>
      <p:sp>
        <p:nvSpPr>
          <p:cNvPr id="16" name="">
            <a:extLst xmlns:a="http://schemas.openxmlformats.org/drawingml/2006/main">
              <a:ext uri="{FF2B5EF4-FFF2-40B4-BE49-F238E27FC236}">
                <a16:creationId xmlns:a16="http://schemas.microsoft.com/office/drawing/2014/main" id="{77A26336-A3D6-454A-93EB-47EB3F98C4CD}"/>
              </a:ext>
            </a:extLst>
          </p:cNvPr>
          <p:cNvSpPr>
            <a:spLocks xmlns:a="http://schemas.openxmlformats.org/drawingml/2006/main" noGrp="1"/>
          </p:cNvSpPr>
          <p:nvPr/>
        </p:nvSpPr>
        <p:spPr>
          <a:xfrm xmlns:a="http://schemas.openxmlformats.org/drawingml/2006/main">
            <a:off x="6419850"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9A462F"/>
                </a:solidFill>
                <a:latin typeface="Aptos"/>
                <a:ea typeface="Aptos"/>
                <a:cs typeface="Aptos"/>
              </a:defRPr>
            </a:pPr>
            <a:r>
              <a:rPr sz="1200" b="1" i="0">
                <a:solidFill>
                  <a:srgbClr val="9A462F"/>
                </a:solidFill>
                <a:latin typeface="Aptos"/>
                <a:ea typeface="Aptos"/>
                <a:cs typeface="Aptos"/>
              </a:rPr>
              <a:t>ACCESS</a:t>
            </a:r>
          </a:p>
        </p:txBody>
      </p:sp>
      <p:sp>
        <p:nvSpPr>
          <p:cNvPr id="17" name="">
            <a:extLst xmlns:a="http://schemas.openxmlformats.org/drawingml/2006/main">
              <a:ext uri="{FF2B5EF4-FFF2-40B4-BE49-F238E27FC236}">
                <a16:creationId xmlns:a16="http://schemas.microsoft.com/office/drawing/2014/main" id="{2012772E-073E-4799-A007-570629E41588}"/>
              </a:ext>
            </a:extLst>
          </p:cNvPr>
          <p:cNvSpPr>
            <a:spLocks xmlns:a="http://schemas.openxmlformats.org/drawingml/2006/main" noGrp="1"/>
          </p:cNvSpPr>
          <p:nvPr/>
        </p:nvSpPr>
        <p:spPr>
          <a:xfrm xmlns:a="http://schemas.openxmlformats.org/drawingml/2006/main">
            <a:off x="6457950"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Which reuse should remain cheap?</a:t>
            </a:r>
          </a:p>
        </p:txBody>
      </p:sp>
      <p:sp>
        <p:nvSpPr>
          <p:cNvPr id="18" name="">
            <a:extLst xmlns:a="http://schemas.openxmlformats.org/drawingml/2006/main">
              <a:ext uri="{FF2B5EF4-FFF2-40B4-BE49-F238E27FC236}">
                <a16:creationId xmlns:a16="http://schemas.microsoft.com/office/drawing/2014/main" id="{AC8C32B1-DC5D-47AB-9867-58F1A0058848}"/>
              </a:ext>
            </a:extLst>
          </p:cNvPr>
          <p:cNvSpPr>
            <a:spLocks xmlns:a="http://schemas.openxmlformats.org/drawingml/2006/main" noGrp="1"/>
          </p:cNvSpPr>
          <p:nvPr/>
        </p:nvSpPr>
        <p:spPr>
          <a:xfrm xmlns:a="http://schemas.openxmlformats.org/drawingml/2006/main">
            <a:off x="8658225" y="2857500"/>
            <a:ext cx="41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2550" b="1" i="0">
                <a:solidFill>
                  <a:srgbClr val="B88424"/>
                </a:solidFill>
                <a:latin typeface="Aptos"/>
                <a:ea typeface="Aptos"/>
                <a:cs typeface="Aptos"/>
              </a:defRPr>
            </a:pPr>
            <a:r>
              <a:rPr sz="2550" b="1" i="0">
                <a:solidFill>
                  <a:srgbClr val="B88424"/>
                </a:solidFill>
                <a:latin typeface="Aptos"/>
                <a:ea typeface="Aptos"/>
                <a:cs typeface="Aptos"/>
              </a:rPr>
              <a:t>→</a:t>
            </a:r>
          </a:p>
        </p:txBody>
      </p:sp>
      <p:sp>
        <p:nvSpPr>
          <p:cNvPr id="19" name="">
            <a:extLst xmlns:a="http://schemas.openxmlformats.org/drawingml/2006/main">
              <a:ext uri="{FF2B5EF4-FFF2-40B4-BE49-F238E27FC236}">
                <a16:creationId xmlns:a16="http://schemas.microsoft.com/office/drawing/2014/main" id="{9A4C84A8-CD13-4AC4-B095-463A96F80628}"/>
              </a:ext>
            </a:extLst>
          </p:cNvPr>
          <p:cNvSpPr>
            <a:spLocks xmlns:a="http://schemas.openxmlformats.org/drawingml/2006/main" noGrp="1"/>
          </p:cNvSpPr>
          <p:nvPr/>
        </p:nvSpPr>
        <p:spPr>
          <a:xfrm xmlns:a="http://schemas.openxmlformats.org/drawingml/2006/main">
            <a:off x="9077325" y="2171700"/>
            <a:ext cx="2352675" cy="1809750"/>
          </a:xfrm>
          <a:prstGeom xmlns:a="http://schemas.openxmlformats.org/drawingml/2006/main" prst="rect">
            <a:avLst/>
          </a:prstGeom>
          <a:solidFill xmlns:a="http://schemas.openxmlformats.org/drawingml/2006/main">
            <a:srgbClr val="E9F1F5"/>
          </a:solidFill>
          <a:ln xmlns:a="http://schemas.openxmlformats.org/drawingml/2006/main" w="9525">
            <a:solidFill>
              <a:srgbClr val="CCD5D2"/>
            </a:solidFill>
            <a:prstDash val="solid"/>
          </a:ln>
        </p:spPr>
      </p:sp>
      <p:sp>
        <p:nvSpPr>
          <p:cNvPr id="20" name="">
            <a:extLst xmlns:a="http://schemas.openxmlformats.org/drawingml/2006/main">
              <a:ext uri="{FF2B5EF4-FFF2-40B4-BE49-F238E27FC236}">
                <a16:creationId xmlns:a16="http://schemas.microsoft.com/office/drawing/2014/main" id="{CED073A7-C8D2-4981-8930-AB6B9DEB59B1}"/>
              </a:ext>
            </a:extLst>
          </p:cNvPr>
          <p:cNvSpPr>
            <a:spLocks xmlns:a="http://schemas.openxmlformats.org/drawingml/2006/main" noGrp="1"/>
          </p:cNvSpPr>
          <p:nvPr/>
        </p:nvSpPr>
        <p:spPr>
          <a:xfrm xmlns:a="http://schemas.openxmlformats.org/drawingml/2006/main">
            <a:off x="9191625" y="2400300"/>
            <a:ext cx="21240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315F75"/>
                </a:solidFill>
                <a:latin typeface="Aptos"/>
                <a:ea typeface="Aptos"/>
                <a:cs typeface="Aptos"/>
              </a:defRPr>
            </a:pPr>
            <a:r>
              <a:rPr sz="1200" b="1" i="0">
                <a:solidFill>
                  <a:srgbClr val="315F75"/>
                </a:solidFill>
                <a:latin typeface="Aptos"/>
                <a:ea typeface="Aptos"/>
                <a:cs typeface="Aptos"/>
              </a:rPr>
              <a:t>GOVERNANCE</a:t>
            </a:r>
          </a:p>
        </p:txBody>
      </p:sp>
      <p:sp>
        <p:nvSpPr>
          <p:cNvPr id="21" name="">
            <a:extLst xmlns:a="http://schemas.openxmlformats.org/drawingml/2006/main">
              <a:ext uri="{FF2B5EF4-FFF2-40B4-BE49-F238E27FC236}">
                <a16:creationId xmlns:a16="http://schemas.microsoft.com/office/drawing/2014/main" id="{FC6CB828-3633-4D8B-B63C-BB7FFC7A64B8}"/>
              </a:ext>
            </a:extLst>
          </p:cNvPr>
          <p:cNvSpPr>
            <a:spLocks xmlns:a="http://schemas.openxmlformats.org/drawingml/2006/main" noGrp="1"/>
          </p:cNvSpPr>
          <p:nvPr/>
        </p:nvSpPr>
        <p:spPr>
          <a:xfrm xmlns:a="http://schemas.openxmlformats.org/drawingml/2006/main">
            <a:off x="9229725" y="2857500"/>
            <a:ext cx="204787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650" b="0" i="0">
                <a:solidFill>
                  <a:srgbClr val="17242D"/>
                </a:solidFill>
                <a:latin typeface="Aptos"/>
                <a:ea typeface="Aptos"/>
                <a:cs typeface="Aptos"/>
              </a:defRPr>
            </a:pPr>
            <a:r>
              <a:rPr sz="1650" b="0" i="0">
                <a:solidFill>
                  <a:srgbClr val="17242D"/>
                </a:solidFill>
                <a:latin typeface="Aptos"/>
                <a:ea typeface="Aptos"/>
                <a:cs typeface="Aptos"/>
              </a:rPr>
              <a:t>Who decides errors and remedies?</a:t>
            </a:r>
          </a:p>
        </p:txBody>
      </p:sp>
      <p:sp>
        <p:nvSpPr>
          <p:cNvPr id="22" name="">
            <a:extLst xmlns:a="http://schemas.openxmlformats.org/drawingml/2006/main">
              <a:ext uri="{FF2B5EF4-FFF2-40B4-BE49-F238E27FC236}">
                <a16:creationId xmlns:a16="http://schemas.microsoft.com/office/drawing/2014/main" id="{CD599E2B-B290-4848-96FC-704C8809F337}"/>
              </a:ext>
            </a:extLst>
          </p:cNvPr>
          <p:cNvSpPr>
            <a:spLocks xmlns:a="http://schemas.openxmlformats.org/drawingml/2006/main" noGrp="1"/>
          </p:cNvSpPr>
          <p:nvPr/>
        </p:nvSpPr>
        <p:spPr>
          <a:xfrm xmlns:a="http://schemas.openxmlformats.org/drawingml/2006/main">
            <a:off x="1200150" y="497205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5879"/>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Evaluate the full bundle, including licensing, notice, enforcement, and industry structure.</a:t>
            </a:r>
          </a:p>
        </p:txBody>
      </p:sp>
    </p:spTree>
    <p:extLst>
      <p:ext uri="{BB962C8B-B14F-4D97-AF65-F5344CB8AC3E}">
        <p14:creationId xmlns:p14="http://schemas.microsoft.com/office/powerpoint/2010/main" val="339648716"/>
      </p:ext>
    </p:extLst>
  </p:cSld>
</p:sld>
</file>

<file path=ppt/slides/slide25.xml><?xml version="1.0" encoding="utf-8"?>
<p:sld xmlns:p="http://schemas.openxmlformats.org/presentationml/2006/main">
  <p:cSld>
    <p:bg>
      <p:bgPr>
        <a:solidFill xmlns:a="http://schemas.openxmlformats.org/drawingml/2006/main">
          <a:srgbClr val="FB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D03889B-11C0-4F0C-84A5-1FAB4EF7C82C}"/>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9A462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9EB2C7E-B4F7-41E3-8613-FF2347B92079}"/>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9A462F"/>
                </a:solidFill>
                <a:latin typeface="Aptos"/>
                <a:ea typeface="Aptos"/>
                <a:cs typeface="Aptos"/>
              </a:defRPr>
            </a:pPr>
            <a:r>
              <a:rPr sz="1050" b="1" i="0">
                <a:solidFill>
                  <a:srgbClr val="9A462F"/>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0881AEC3-2813-40B1-A416-87DEAD78FD8F}"/>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17242D"/>
                </a:solidFill>
                <a:latin typeface="Georgia"/>
                <a:ea typeface="Georgia"/>
                <a:cs typeface="Georgia"/>
              </a:defRPr>
            </a:pPr>
            <a:r>
              <a:rPr sz="3000" b="1" i="0">
                <a:solidFill>
                  <a:srgbClr val="17242D"/>
                </a:solidFill>
                <a:latin typeface="Georgia"/>
                <a:ea typeface="Georgia"/>
                <a:cs typeface="Georgia"/>
              </a:rPr>
              <a:t>Law and economics is unusually useful in this field</a:t>
            </a:r>
          </a:p>
        </p:txBody>
      </p:sp>
      <p:sp>
        <p:nvSpPr>
          <p:cNvPr id="4" name="">
            <a:extLst xmlns:a="http://schemas.openxmlformats.org/drawingml/2006/main">
              <a:ext uri="{FF2B5EF4-FFF2-40B4-BE49-F238E27FC236}">
                <a16:creationId xmlns:a16="http://schemas.microsoft.com/office/drawing/2014/main" id="{C5C1B931-B8C7-451D-9CAF-81F8BA4124E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CCD5D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AFC123-28B9-44AF-A725-B998999DFCF5}"/>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586A73"/>
                </a:solidFill>
                <a:latin typeface="Aptos"/>
                <a:ea typeface="Aptos"/>
                <a:cs typeface="Aptos"/>
              </a:defRPr>
            </a:pPr>
            <a:r>
              <a:rPr sz="825" b="1" i="0">
                <a:solidFill>
                  <a:srgbClr val="586A73"/>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66A02E32-1ADA-435E-AABA-9EE95B55FFAD}"/>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586A73"/>
                </a:solidFill>
                <a:latin typeface="Aptos"/>
                <a:ea typeface="Aptos"/>
                <a:cs typeface="Aptos"/>
              </a:defRPr>
            </a:pPr>
            <a:r>
              <a:rPr sz="825" b="0" i="0">
                <a:solidFill>
                  <a:srgbClr val="586A73"/>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6F377A97-8382-4F8D-BAFA-D0B39B55BF8E}"/>
              </a:ext>
            </a:extLst>
          </p:cNvPr>
          <p:cNvSpPr>
            <a:spLocks xmlns:a="http://schemas.openxmlformats.org/drawingml/2006/main" noGrp="1"/>
          </p:cNvSpPr>
          <p:nvPr/>
        </p:nvSpPr>
        <p:spPr>
          <a:xfrm xmlns:a="http://schemas.openxmlformats.org/drawingml/2006/main">
            <a:off x="1257300" y="1990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CBD25A48-8FCC-400F-94BB-B85B529D1AD2}"/>
              </a:ext>
            </a:extLst>
          </p:cNvPr>
          <p:cNvSpPr>
            <a:spLocks xmlns:a="http://schemas.openxmlformats.org/drawingml/2006/main" noGrp="1"/>
          </p:cNvSpPr>
          <p:nvPr/>
        </p:nvSpPr>
        <p:spPr>
          <a:xfrm xmlns:a="http://schemas.openxmlformats.org/drawingml/2006/main">
            <a:off x="1581150" y="2000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Technology changes copying, search, verification, and bargaining costs.</a:t>
            </a:r>
          </a:p>
        </p:txBody>
      </p:sp>
      <p:sp>
        <p:nvSpPr>
          <p:cNvPr id="9" name="">
            <a:extLst xmlns:a="http://schemas.openxmlformats.org/drawingml/2006/main">
              <a:ext uri="{FF2B5EF4-FFF2-40B4-BE49-F238E27FC236}">
                <a16:creationId xmlns:a16="http://schemas.microsoft.com/office/drawing/2014/main" id="{656C43CC-81C0-4174-AF11-4FE6A90E09C0}"/>
              </a:ext>
            </a:extLst>
          </p:cNvPr>
          <p:cNvSpPr>
            <a:spLocks xmlns:a="http://schemas.openxmlformats.org/drawingml/2006/main" noGrp="1"/>
          </p:cNvSpPr>
          <p:nvPr/>
        </p:nvSpPr>
        <p:spPr>
          <a:xfrm xmlns:a="http://schemas.openxmlformats.org/drawingml/2006/main">
            <a:off x="1257300" y="2562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B1CF0DCA-F767-41A5-96A3-8F9EE5CB099E}"/>
              </a:ext>
            </a:extLst>
          </p:cNvPr>
          <p:cNvSpPr>
            <a:spLocks xmlns:a="http://schemas.openxmlformats.org/drawingml/2006/main" noGrp="1"/>
          </p:cNvSpPr>
          <p:nvPr/>
        </p:nvSpPr>
        <p:spPr>
          <a:xfrm xmlns:a="http://schemas.openxmlformats.org/drawingml/2006/main">
            <a:off x="1581150" y="2571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Rights affect invention, access, entry, competition, and cumulative reuse.</a:t>
            </a:r>
          </a:p>
        </p:txBody>
      </p:sp>
      <p:sp>
        <p:nvSpPr>
          <p:cNvPr id="11" name="">
            <a:extLst xmlns:a="http://schemas.openxmlformats.org/drawingml/2006/main">
              <a:ext uri="{FF2B5EF4-FFF2-40B4-BE49-F238E27FC236}">
                <a16:creationId xmlns:a16="http://schemas.microsoft.com/office/drawing/2014/main" id="{45998B3A-A2C3-48B6-B161-F0BD14DAA908}"/>
              </a:ext>
            </a:extLst>
          </p:cNvPr>
          <p:cNvSpPr>
            <a:spLocks xmlns:a="http://schemas.openxmlformats.org/drawingml/2006/main" noGrp="1"/>
          </p:cNvSpPr>
          <p:nvPr/>
        </p:nvSpPr>
        <p:spPr>
          <a:xfrm xmlns:a="http://schemas.openxmlformats.org/drawingml/2006/main">
            <a:off x="1257300" y="31337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75EEDA8C-7810-4D4A-A241-171DB08474A5}"/>
              </a:ext>
            </a:extLst>
          </p:cNvPr>
          <p:cNvSpPr>
            <a:spLocks xmlns:a="http://schemas.openxmlformats.org/drawingml/2006/main" noGrp="1"/>
          </p:cNvSpPr>
          <p:nvPr/>
        </p:nvSpPr>
        <p:spPr>
          <a:xfrm xmlns:a="http://schemas.openxmlformats.org/drawingml/2006/main">
            <a:off x="1581150" y="31432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Formal categories may lag the economic mechanisms they govern.</a:t>
            </a:r>
          </a:p>
        </p:txBody>
      </p:sp>
      <p:sp>
        <p:nvSpPr>
          <p:cNvPr id="13" name="">
            <a:extLst xmlns:a="http://schemas.openxmlformats.org/drawingml/2006/main">
              <a:ext uri="{FF2B5EF4-FFF2-40B4-BE49-F238E27FC236}">
                <a16:creationId xmlns:a16="http://schemas.microsoft.com/office/drawing/2014/main" id="{493DC077-7C4C-4EA1-9F23-DD84960019FC}"/>
              </a:ext>
            </a:extLst>
          </p:cNvPr>
          <p:cNvSpPr>
            <a:spLocks xmlns:a="http://schemas.openxmlformats.org/drawingml/2006/main" noGrp="1"/>
          </p:cNvSpPr>
          <p:nvPr/>
        </p:nvSpPr>
        <p:spPr>
          <a:xfrm xmlns:a="http://schemas.openxmlformats.org/drawingml/2006/main">
            <a:off x="1257300" y="3705225"/>
            <a:ext cx="228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9A462F"/>
                </a:solidFill>
                <a:latin typeface="Aptos"/>
                <a:ea typeface="Aptos"/>
                <a:cs typeface="Aptos"/>
              </a:defRPr>
            </a:pPr>
            <a:r>
              <a:rPr sz="1875" b="1" i="0">
                <a:solidFill>
                  <a:srgbClr val="9A462F"/>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584D5DBD-F96E-433A-8BD1-13826F12A07A}"/>
              </a:ext>
            </a:extLst>
          </p:cNvPr>
          <p:cNvSpPr>
            <a:spLocks xmlns:a="http://schemas.openxmlformats.org/drawingml/2006/main" noGrp="1"/>
          </p:cNvSpPr>
          <p:nvPr/>
        </p:nvSpPr>
        <p:spPr>
          <a:xfrm xmlns:a="http://schemas.openxmlformats.org/drawingml/2006/main">
            <a:off x="1581150" y="3714750"/>
            <a:ext cx="9353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866"/>
          </a:bodyPr>
          <a:lstStyle xmlns:a="http://schemas.openxmlformats.org/drawingml/2006/main"/>
          <a:p xmlns:a="http://schemas.openxmlformats.org/drawingml/2006/main">
            <a:pPr algn="l">
              <a:lnSpc>
                <a:spcPct val="105000"/>
              </a:lnSpc>
              <a:buNone/>
              <a:defRPr sz="1875" b="0" i="0">
                <a:solidFill>
                  <a:srgbClr val="17242D"/>
                </a:solidFill>
                <a:latin typeface="Aptos"/>
                <a:ea typeface="Aptos"/>
                <a:cs typeface="Aptos"/>
              </a:defRPr>
            </a:pPr>
            <a:r>
              <a:rPr sz="1875" b="0" i="0">
                <a:solidFill>
                  <a:srgbClr val="17242D"/>
                </a:solidFill>
                <a:latin typeface="Aptos"/>
                <a:ea typeface="Aptos"/>
                <a:cs typeface="Aptos"/>
              </a:rPr>
              <a:t>Institutional alternatives can combine law, contract, code, markets, and open production.</a:t>
            </a:r>
          </a:p>
        </p:txBody>
      </p:sp>
      <p:sp>
        <p:nvSpPr>
          <p:cNvPr id="15" name="">
            <a:extLst xmlns:a="http://schemas.openxmlformats.org/drawingml/2006/main">
              <a:ext uri="{FF2B5EF4-FFF2-40B4-BE49-F238E27FC236}">
                <a16:creationId xmlns:a16="http://schemas.microsoft.com/office/drawing/2014/main" id="{E0340F81-AA58-4EF5-A3C0-823CC9E0EFE6}"/>
              </a:ext>
            </a:extLst>
          </p:cNvPr>
          <p:cNvSpPr>
            <a:spLocks xmlns:a="http://schemas.openxmlformats.org/drawingml/2006/main" noGrp="1"/>
          </p:cNvSpPr>
          <p:nvPr/>
        </p:nvSpPr>
        <p:spPr>
          <a:xfrm xmlns:a="http://schemas.openxmlformats.org/drawingml/2006/main">
            <a:off x="1200150" y="55626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175"/>
          </a:bodyPr>
          <a:lstStyle xmlns:a="http://schemas.openxmlformats.org/drawingml/2006/main"/>
          <a:p xmlns:a="http://schemas.openxmlformats.org/drawingml/2006/main">
            <a:pPr algn="ctr">
              <a:lnSpc>
                <a:spcPct val="105000"/>
              </a:lnSpc>
              <a:buNone/>
              <a:defRPr sz="1950" b="1" i="0">
                <a:solidFill>
                  <a:srgbClr val="173F38"/>
                </a:solidFill>
                <a:latin typeface="Georgia"/>
                <a:ea typeface="Georgia"/>
                <a:cs typeface="Georgia"/>
              </a:defRPr>
            </a:pPr>
            <a:r>
              <a:rPr sz="1950" b="1" i="0">
                <a:solidFill>
                  <a:srgbClr val="173F38"/>
                </a:solidFill>
                <a:latin typeface="Georgia"/>
                <a:ea typeface="Georgia"/>
                <a:cs typeface="Georgia"/>
              </a:rPr>
              <a:t>Future lawyers need economic reasoning precisely where doctrine is unsettled.</a:t>
            </a:r>
          </a:p>
        </p:txBody>
      </p:sp>
    </p:spTree>
    <p:extLst>
      <p:ext uri="{BB962C8B-B14F-4D97-AF65-F5344CB8AC3E}">
        <p14:creationId xmlns:p14="http://schemas.microsoft.com/office/powerpoint/2010/main" val="841245092"/>
      </p:ext>
    </p:extLst>
  </p:cSld>
</p:sld>
</file>

<file path=ppt/slides/slide26.xml><?xml version="1.0" encoding="utf-8"?>
<p:sld xmlns:p="http://schemas.openxmlformats.org/presentationml/2006/main">
  <p:cSld>
    <p:bg>
      <p:bgPr>
        <a:solidFill xmlns:a="http://schemas.openxmlformats.org/drawingml/2006/main">
          <a:srgbClr val="173F3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F65F8C-7251-409D-8F75-4075309EFCD7}"/>
              </a:ext>
            </a:extLst>
          </p:cNvPr>
          <p:cNvSpPr>
            <a:spLocks xmlns:a="http://schemas.openxmlformats.org/drawingml/2006/main" noGrp="1"/>
          </p:cNvSpPr>
          <p:nvPr/>
        </p:nvSpPr>
        <p:spPr>
          <a:xfrm xmlns:a="http://schemas.openxmlformats.org/drawingml/2006/main">
            <a:off x="514350" y="400050"/>
            <a:ext cx="685800" cy="57150"/>
          </a:xfrm>
          <a:prstGeom xmlns:a="http://schemas.openxmlformats.org/drawingml/2006/main" prst="rect">
            <a:avLst/>
          </a:prstGeom>
          <a:solidFill xmlns:a="http://schemas.openxmlformats.org/drawingml/2006/main">
            <a:srgbClr val="B884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A9307A-6123-40FB-92E7-37F813357E24}"/>
              </a:ext>
            </a:extLst>
          </p:cNvPr>
          <p:cNvSpPr>
            <a:spLocks xmlns:a="http://schemas.openxmlformats.org/drawingml/2006/main" noGrp="1"/>
          </p:cNvSpPr>
          <p:nvPr/>
        </p:nvSpPr>
        <p:spPr>
          <a:xfrm xmlns:a="http://schemas.openxmlformats.org/drawingml/2006/main">
            <a:off x="1390650" y="304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B88424"/>
                </a:solidFill>
                <a:latin typeface="Aptos"/>
                <a:ea typeface="Aptos"/>
                <a:cs typeface="Aptos"/>
              </a:defRPr>
            </a:pPr>
            <a:r>
              <a:rPr sz="1050" b="1" i="0">
                <a:solidFill>
                  <a:srgbClr val="B88424"/>
                </a:solidFill>
                <a:latin typeface="Aptos"/>
                <a:ea typeface="Aptos"/>
                <a:cs typeface="Aptos"/>
              </a:rPr>
              <a:t>CHAPTER 6</a:t>
            </a:r>
          </a:p>
        </p:txBody>
      </p:sp>
      <p:sp>
        <p:nvSpPr>
          <p:cNvPr id="3" name="">
            <a:extLst xmlns:a="http://schemas.openxmlformats.org/drawingml/2006/main">
              <a:ext uri="{FF2B5EF4-FFF2-40B4-BE49-F238E27FC236}">
                <a16:creationId xmlns:a16="http://schemas.microsoft.com/office/drawing/2014/main" id="{3ACBFA57-2EEA-4072-AE16-BCD9AE6FF555}"/>
              </a:ext>
            </a:extLst>
          </p:cNvPr>
          <p:cNvSpPr>
            <a:spLocks xmlns:a="http://schemas.openxmlformats.org/drawingml/2006/main" noGrp="1"/>
          </p:cNvSpPr>
          <p:nvPr/>
        </p:nvSpPr>
        <p:spPr>
          <a:xfrm xmlns:a="http://schemas.openxmlformats.org/drawingml/2006/main">
            <a:off x="609600" y="68580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FFFF"/>
                </a:solidFill>
                <a:latin typeface="Georgia"/>
                <a:ea typeface="Georgia"/>
                <a:cs typeface="Georgia"/>
              </a:defRPr>
            </a:pPr>
            <a:r>
              <a:rPr sz="3000" b="1" i="0">
                <a:solidFill>
                  <a:srgbClr val="FFFFFF"/>
                </a:solidFill>
                <a:latin typeface="Georgia"/>
                <a:ea typeface="Georgia"/>
                <a:cs typeface="Georgia"/>
              </a:rPr>
              <a:t>Reward creation without enclosing the future</a:t>
            </a:r>
          </a:p>
        </p:txBody>
      </p:sp>
      <p:sp>
        <p:nvSpPr>
          <p:cNvPr id="4" name="">
            <a:extLst xmlns:a="http://schemas.openxmlformats.org/drawingml/2006/main">
              <a:ext uri="{FF2B5EF4-FFF2-40B4-BE49-F238E27FC236}">
                <a16:creationId xmlns:a16="http://schemas.microsoft.com/office/drawing/2014/main" id="{7934DACD-A540-4F07-8FFD-1A769133B4C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4F776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96818B7-1F6A-4E29-84C9-202C8B7AB196}"/>
              </a:ext>
            </a:extLst>
          </p:cNvPr>
          <p:cNvSpPr>
            <a:spLocks xmlns:a="http://schemas.openxmlformats.org/drawingml/2006/main" noGrp="1"/>
          </p:cNvSpPr>
          <p:nvPr/>
        </p:nvSpPr>
        <p:spPr>
          <a:xfrm xmlns:a="http://schemas.openxmlformats.org/drawingml/2006/main">
            <a:off x="609600" y="65151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C8D9D5"/>
                </a:solidFill>
                <a:latin typeface="Aptos"/>
                <a:ea typeface="Aptos"/>
                <a:cs typeface="Aptos"/>
              </a:defRPr>
            </a:pPr>
            <a:r>
              <a:rPr sz="825" b="1" i="0">
                <a:solidFill>
                  <a:srgbClr val="C8D9D5"/>
                </a:solidFill>
                <a:latin typeface="Aptos"/>
                <a:ea typeface="Aptos"/>
                <a:cs typeface="Aptos"/>
              </a:rPr>
              <a:t>RULES, RIGHTS, AND RUNTIMES</a:t>
            </a:r>
          </a:p>
        </p:txBody>
      </p:sp>
      <p:sp>
        <p:nvSpPr>
          <p:cNvPr id="6" name="">
            <a:extLst xmlns:a="http://schemas.openxmlformats.org/drawingml/2006/main">
              <a:ext uri="{FF2B5EF4-FFF2-40B4-BE49-F238E27FC236}">
                <a16:creationId xmlns:a16="http://schemas.microsoft.com/office/drawing/2014/main" id="{9CB100BB-EE9F-4CA0-93F4-C61BCF2FF573}"/>
              </a:ext>
            </a:extLst>
          </p:cNvPr>
          <p:cNvSpPr>
            <a:spLocks xmlns:a="http://schemas.openxmlformats.org/drawingml/2006/main" noGrp="1"/>
          </p:cNvSpPr>
          <p:nvPr/>
        </p:nvSpPr>
        <p:spPr>
          <a:xfrm xmlns:a="http://schemas.openxmlformats.org/drawingml/2006/main">
            <a:off x="11049000" y="64960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825" b="0" i="0">
                <a:solidFill>
                  <a:srgbClr val="C8D9D5"/>
                </a:solidFill>
                <a:latin typeface="Aptos"/>
                <a:ea typeface="Aptos"/>
                <a:cs typeface="Aptos"/>
              </a:defRPr>
            </a:pPr>
            <a:r>
              <a:rPr sz="825" b="0" i="0">
                <a:solidFill>
                  <a:srgbClr val="C8D9D5"/>
                </a:solidFill>
                <a:latin typeface="Aptos"/>
                <a:ea typeface="Aptos"/>
                <a:cs typeface="Aptos"/>
              </a:rPr>
              <a:t>26</a:t>
            </a:r>
          </a:p>
        </p:txBody>
      </p:sp>
      <p:sp>
        <p:nvSpPr>
          <p:cNvPr id="7" name="">
            <a:extLst xmlns:a="http://schemas.openxmlformats.org/drawingml/2006/main">
              <a:ext uri="{FF2B5EF4-FFF2-40B4-BE49-F238E27FC236}">
                <a16:creationId xmlns:a16="http://schemas.microsoft.com/office/drawing/2014/main" id="{7838F257-CBC3-4051-857D-8C4D8C1FA15A}"/>
              </a:ext>
            </a:extLst>
          </p:cNvPr>
          <p:cNvSpPr>
            <a:spLocks xmlns:a="http://schemas.openxmlformats.org/drawingml/2006/main" noGrp="1"/>
          </p:cNvSpPr>
          <p:nvPr/>
        </p:nvSpPr>
        <p:spPr>
          <a:xfrm xmlns:a="http://schemas.openxmlformats.org/drawingml/2006/main">
            <a:off x="1352550" y="1495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8" name="">
            <a:extLst xmlns:a="http://schemas.openxmlformats.org/drawingml/2006/main">
              <a:ext uri="{FF2B5EF4-FFF2-40B4-BE49-F238E27FC236}">
                <a16:creationId xmlns:a16="http://schemas.microsoft.com/office/drawing/2014/main" id="{CD280FF4-4D0A-4B48-A636-9EC0918A1673}"/>
              </a:ext>
            </a:extLst>
          </p:cNvPr>
          <p:cNvSpPr>
            <a:spLocks xmlns:a="http://schemas.openxmlformats.org/drawingml/2006/main" noGrp="1"/>
          </p:cNvSpPr>
          <p:nvPr/>
        </p:nvSpPr>
        <p:spPr>
          <a:xfrm xmlns:a="http://schemas.openxmlformats.org/drawingml/2006/main">
            <a:off x="1676400" y="15049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What is costly to create and cheap to copy?</a:t>
            </a:r>
          </a:p>
        </p:txBody>
      </p:sp>
      <p:sp>
        <p:nvSpPr>
          <p:cNvPr id="9" name="">
            <a:extLst xmlns:a="http://schemas.openxmlformats.org/drawingml/2006/main">
              <a:ext uri="{FF2B5EF4-FFF2-40B4-BE49-F238E27FC236}">
                <a16:creationId xmlns:a16="http://schemas.microsoft.com/office/drawing/2014/main" id="{8BD33873-AD6F-49E3-B354-7A6FBC2446A9}"/>
              </a:ext>
            </a:extLst>
          </p:cNvPr>
          <p:cNvSpPr>
            <a:spLocks xmlns:a="http://schemas.openxmlformats.org/drawingml/2006/main" noGrp="1"/>
          </p:cNvSpPr>
          <p:nvPr/>
        </p:nvSpPr>
        <p:spPr>
          <a:xfrm xmlns:a="http://schemas.openxmlformats.org/drawingml/2006/main">
            <a:off x="1352550" y="20097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0" name="">
            <a:extLst xmlns:a="http://schemas.openxmlformats.org/drawingml/2006/main">
              <a:ext uri="{FF2B5EF4-FFF2-40B4-BE49-F238E27FC236}">
                <a16:creationId xmlns:a16="http://schemas.microsoft.com/office/drawing/2014/main" id="{EC0C36FE-79DE-4092-AF8C-EB66F7C7EF6C}"/>
              </a:ext>
            </a:extLst>
          </p:cNvPr>
          <p:cNvSpPr>
            <a:spLocks xmlns:a="http://schemas.openxmlformats.org/drawingml/2006/main" noGrp="1"/>
          </p:cNvSpPr>
          <p:nvPr/>
        </p:nvSpPr>
        <p:spPr>
          <a:xfrm xmlns:a="http://schemas.openxmlformats.org/drawingml/2006/main">
            <a:off x="1676400" y="20193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Which failure limits expected returns?</a:t>
            </a:r>
          </a:p>
        </p:txBody>
      </p:sp>
      <p:sp>
        <p:nvSpPr>
          <p:cNvPr id="11" name="">
            <a:extLst xmlns:a="http://schemas.openxmlformats.org/drawingml/2006/main">
              <a:ext uri="{FF2B5EF4-FFF2-40B4-BE49-F238E27FC236}">
                <a16:creationId xmlns:a16="http://schemas.microsoft.com/office/drawing/2014/main" id="{5AD4DD81-5712-45B6-B61B-B1374B3E3D1C}"/>
              </a:ext>
            </a:extLst>
          </p:cNvPr>
          <p:cNvSpPr>
            <a:spLocks xmlns:a="http://schemas.openxmlformats.org/drawingml/2006/main" noGrp="1"/>
          </p:cNvSpPr>
          <p:nvPr/>
        </p:nvSpPr>
        <p:spPr>
          <a:xfrm xmlns:a="http://schemas.openxmlformats.org/drawingml/2006/main">
            <a:off x="1352550" y="2524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2" name="">
            <a:extLst xmlns:a="http://schemas.openxmlformats.org/drawingml/2006/main">
              <a:ext uri="{FF2B5EF4-FFF2-40B4-BE49-F238E27FC236}">
                <a16:creationId xmlns:a16="http://schemas.microsoft.com/office/drawing/2014/main" id="{242244D8-FBEA-4C3E-9A56-A47F2DF43086}"/>
              </a:ext>
            </a:extLst>
          </p:cNvPr>
          <p:cNvSpPr>
            <a:spLocks xmlns:a="http://schemas.openxmlformats.org/drawingml/2006/main" noGrp="1"/>
          </p:cNvSpPr>
          <p:nvPr/>
        </p:nvSpPr>
        <p:spPr>
          <a:xfrm xmlns:a="http://schemas.openxmlformats.org/drawingml/2006/main">
            <a:off x="1676400" y="25336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What scope and duration address that failure?</a:t>
            </a:r>
          </a:p>
        </p:txBody>
      </p:sp>
      <p:sp>
        <p:nvSpPr>
          <p:cNvPr id="13" name="">
            <a:extLst xmlns:a="http://schemas.openxmlformats.org/drawingml/2006/main">
              <a:ext uri="{FF2B5EF4-FFF2-40B4-BE49-F238E27FC236}">
                <a16:creationId xmlns:a16="http://schemas.microsoft.com/office/drawing/2014/main" id="{C013C021-DD48-4779-9DF6-6A3C30593E99}"/>
              </a:ext>
            </a:extLst>
          </p:cNvPr>
          <p:cNvSpPr>
            <a:spLocks xmlns:a="http://schemas.openxmlformats.org/drawingml/2006/main" noGrp="1"/>
          </p:cNvSpPr>
          <p:nvPr/>
        </p:nvSpPr>
        <p:spPr>
          <a:xfrm xmlns:a="http://schemas.openxmlformats.org/drawingml/2006/main">
            <a:off x="1352550" y="30384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588C27B7-E52E-414F-95CD-83A671CD1E5E}"/>
              </a:ext>
            </a:extLst>
          </p:cNvPr>
          <p:cNvSpPr>
            <a:spLocks xmlns:a="http://schemas.openxmlformats.org/drawingml/2006/main" noGrp="1"/>
          </p:cNvSpPr>
          <p:nvPr/>
        </p:nvSpPr>
        <p:spPr>
          <a:xfrm xmlns:a="http://schemas.openxmlformats.org/drawingml/2006/main">
            <a:off x="1676400" y="30480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Which access, notice, and cumulative costs follow?</a:t>
            </a:r>
          </a:p>
        </p:txBody>
      </p:sp>
      <p:sp>
        <p:nvSpPr>
          <p:cNvPr id="15" name="">
            <a:extLst xmlns:a="http://schemas.openxmlformats.org/drawingml/2006/main">
              <a:ext uri="{FF2B5EF4-FFF2-40B4-BE49-F238E27FC236}">
                <a16:creationId xmlns:a16="http://schemas.microsoft.com/office/drawing/2014/main" id="{B3F518E6-7543-450A-A82B-9909CEEF04DA}"/>
              </a:ext>
            </a:extLst>
          </p:cNvPr>
          <p:cNvSpPr>
            <a:spLocks xmlns:a="http://schemas.openxmlformats.org/drawingml/2006/main" noGrp="1"/>
          </p:cNvSpPr>
          <p:nvPr/>
        </p:nvSpPr>
        <p:spPr>
          <a:xfrm xmlns:a="http://schemas.openxmlformats.org/drawingml/2006/main">
            <a:off x="1352550" y="35528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6" name="">
            <a:extLst xmlns:a="http://schemas.openxmlformats.org/drawingml/2006/main">
              <a:ext uri="{FF2B5EF4-FFF2-40B4-BE49-F238E27FC236}">
                <a16:creationId xmlns:a16="http://schemas.microsoft.com/office/drawing/2014/main" id="{26716EDD-2BBB-4351-BA1C-049C9300F173}"/>
              </a:ext>
            </a:extLst>
          </p:cNvPr>
          <p:cNvSpPr>
            <a:spLocks xmlns:a="http://schemas.openxmlformats.org/drawingml/2006/main" noGrp="1"/>
          </p:cNvSpPr>
          <p:nvPr/>
        </p:nvSpPr>
        <p:spPr>
          <a:xfrm xmlns:a="http://schemas.openxmlformats.org/drawingml/2006/main">
            <a:off x="1676400" y="356235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What licensing or alternative business model exists?</a:t>
            </a:r>
          </a:p>
        </p:txBody>
      </p:sp>
      <p:sp>
        <p:nvSpPr>
          <p:cNvPr id="17" name="">
            <a:extLst xmlns:a="http://schemas.openxmlformats.org/drawingml/2006/main">
              <a:ext uri="{FF2B5EF4-FFF2-40B4-BE49-F238E27FC236}">
                <a16:creationId xmlns:a16="http://schemas.microsoft.com/office/drawing/2014/main" id="{6F2DEFA2-E1B2-406C-BFE5-01954101CB62}"/>
              </a:ext>
            </a:extLst>
          </p:cNvPr>
          <p:cNvSpPr>
            <a:spLocks xmlns:a="http://schemas.openxmlformats.org/drawingml/2006/main" noGrp="1"/>
          </p:cNvSpPr>
          <p:nvPr/>
        </p:nvSpPr>
        <p:spPr>
          <a:xfrm xmlns:a="http://schemas.openxmlformats.org/drawingml/2006/main">
            <a:off x="1352550" y="4067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B88424"/>
                </a:solidFill>
                <a:latin typeface="Aptos"/>
                <a:ea typeface="Aptos"/>
                <a:cs typeface="Aptos"/>
              </a:defRPr>
            </a:pPr>
            <a:r>
              <a:rPr sz="1875" b="1" i="0">
                <a:solidFill>
                  <a:srgbClr val="B88424"/>
                </a:solidFill>
                <a:latin typeface="Aptos"/>
                <a:ea typeface="Aptos"/>
                <a:cs typeface="Aptos"/>
              </a:rPr>
              <a:t>•</a:t>
            </a:r>
          </a:p>
        </p:txBody>
      </p:sp>
      <p:sp>
        <p:nvSpPr>
          <p:cNvPr id="18" name="">
            <a:extLst xmlns:a="http://schemas.openxmlformats.org/drawingml/2006/main">
              <a:ext uri="{FF2B5EF4-FFF2-40B4-BE49-F238E27FC236}">
                <a16:creationId xmlns:a16="http://schemas.microsoft.com/office/drawing/2014/main" id="{151502F0-23F9-4B24-A646-9A5574FBFCDE}"/>
              </a:ext>
            </a:extLst>
          </p:cNvPr>
          <p:cNvSpPr>
            <a:spLocks xmlns:a="http://schemas.openxmlformats.org/drawingml/2006/main" noGrp="1"/>
          </p:cNvSpPr>
          <p:nvPr/>
        </p:nvSpPr>
        <p:spPr>
          <a:xfrm xmlns:a="http://schemas.openxmlformats.org/drawingml/2006/main">
            <a:off x="1676400" y="4076700"/>
            <a:ext cx="9201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75" b="0" i="0">
                <a:solidFill>
                  <a:srgbClr val="FFFFFF"/>
                </a:solidFill>
                <a:latin typeface="Aptos"/>
                <a:ea typeface="Aptos"/>
                <a:cs typeface="Aptos"/>
              </a:defRPr>
            </a:pPr>
            <a:r>
              <a:rPr sz="1875" b="0" i="0">
                <a:solidFill>
                  <a:srgbClr val="FFFFFF"/>
                </a:solidFill>
                <a:latin typeface="Aptos"/>
                <a:ea typeface="Aptos"/>
                <a:cs typeface="Aptos"/>
              </a:rPr>
              <a:t>Which institution can revise boundaries as technology changes?</a:t>
            </a:r>
          </a:p>
        </p:txBody>
      </p:sp>
      <p:sp>
        <p:nvSpPr>
          <p:cNvPr id="19" name="">
            <a:extLst xmlns:a="http://schemas.openxmlformats.org/drawingml/2006/main">
              <a:ext uri="{FF2B5EF4-FFF2-40B4-BE49-F238E27FC236}">
                <a16:creationId xmlns:a16="http://schemas.microsoft.com/office/drawing/2014/main" id="{3E1D266E-9E9D-469D-AFEE-FDAA3F4F6E01}"/>
              </a:ext>
            </a:extLst>
          </p:cNvPr>
          <p:cNvSpPr>
            <a:spLocks xmlns:a="http://schemas.openxmlformats.org/drawingml/2006/main" noGrp="1"/>
          </p:cNvSpPr>
          <p:nvPr/>
        </p:nvSpPr>
        <p:spPr>
          <a:xfrm xmlns:a="http://schemas.openxmlformats.org/drawingml/2006/main">
            <a:off x="1200150" y="5638800"/>
            <a:ext cx="97917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950" b="1" i="0">
                <a:solidFill>
                  <a:srgbClr val="B88424"/>
                </a:solidFill>
                <a:latin typeface="Georgia"/>
                <a:ea typeface="Georgia"/>
                <a:cs typeface="Georgia"/>
              </a:defRPr>
            </a:pPr>
            <a:r>
              <a:rPr sz="1950" b="1" i="0">
                <a:solidFill>
                  <a:srgbClr val="B88424"/>
                </a:solidFill>
                <a:latin typeface="Georgia"/>
                <a:ea typeface="Georgia"/>
                <a:cs typeface="Georgia"/>
              </a:rPr>
              <a:t>Intellectual property is the design of a moving boundary.</a:t>
            </a:r>
          </a:p>
        </p:txBody>
      </p:sp>
    </p:spTree>
    <p:extLst>
      <p:ext uri="{BB962C8B-B14F-4D97-AF65-F5344CB8AC3E}">
        <p14:creationId xmlns:p14="http://schemas.microsoft.com/office/powerpoint/2010/main" val="234874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2026-09-28T14:44:25.6870000Z</dcterms:created>
  <dcterms:modified xsi:type="dcterms:W3CDTF">2026-09-28T14:44:25.6870000Z</dcterms:modified>
</coreProperties>
</file>