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7218c292ac44e4" /><Relationship Type="http://schemas.openxmlformats.org/officeDocument/2006/relationships/extended-properties" Target="/docProps/app.xml" Id="Re00edd8623d2444b" /><Relationship Type="http://schemas.openxmlformats.org/officeDocument/2006/relationships/officeDocument" Target="/ppt/presentation.xml" Id="R782ec8f4d3a0484d" /></Relationships>
</file>

<file path=ppt/presentation.xml><?xml version="1.0" encoding="utf-8"?>
<p:presentation xmlns:p="http://schemas.openxmlformats.org/presentationml/2006/main">
  <p:sldMasterIdLst>
    <p:sldMasterId xmlns:r="http://schemas.openxmlformats.org/officeDocument/2006/relationships" id="2147483648" r:id="R96184bcedc5b4dd5"/>
  </p:sldMasterIdLst>
  <p:notesMasterIdLst>
    <p:notesMasterId xmlns:r="http://schemas.openxmlformats.org/officeDocument/2006/relationships" r:id="R6877440713c54fab"/>
  </p:notesMasterIdLst>
  <p:sldIdLst>
    <p:sldId xmlns:r="http://schemas.openxmlformats.org/officeDocument/2006/relationships" id="256" r:id="Rc1c20e4617b44532"/>
    <p:sldId xmlns:r="http://schemas.openxmlformats.org/officeDocument/2006/relationships" id="257" r:id="Rb5a03d1cb6b4419c"/>
    <p:sldId xmlns:r="http://schemas.openxmlformats.org/officeDocument/2006/relationships" id="258" r:id="Ra5d7953c2b874b96"/>
    <p:sldId xmlns:r="http://schemas.openxmlformats.org/officeDocument/2006/relationships" id="259" r:id="R20565f4211b9419a"/>
    <p:sldId xmlns:r="http://schemas.openxmlformats.org/officeDocument/2006/relationships" id="260" r:id="Rc0f670aae2664026"/>
    <p:sldId xmlns:r="http://schemas.openxmlformats.org/officeDocument/2006/relationships" id="261" r:id="R1eccd30d80f74d28"/>
    <p:sldId xmlns:r="http://schemas.openxmlformats.org/officeDocument/2006/relationships" id="262" r:id="R32240123063143c3"/>
    <p:sldId xmlns:r="http://schemas.openxmlformats.org/officeDocument/2006/relationships" id="263" r:id="R4d9c9ae1141640ed"/>
    <p:sldId xmlns:r="http://schemas.openxmlformats.org/officeDocument/2006/relationships" id="264" r:id="Re1a9ffba25bb4d15"/>
    <p:sldId xmlns:r="http://schemas.openxmlformats.org/officeDocument/2006/relationships" id="265" r:id="R913aec863a0b482a"/>
    <p:sldId xmlns:r="http://schemas.openxmlformats.org/officeDocument/2006/relationships" id="266" r:id="Rad000d79fd634a36"/>
    <p:sldId xmlns:r="http://schemas.openxmlformats.org/officeDocument/2006/relationships" id="267" r:id="Ra71aa361cb6048bd"/>
    <p:sldId xmlns:r="http://schemas.openxmlformats.org/officeDocument/2006/relationships" id="268" r:id="Ra21ea05e89d24970"/>
    <p:sldId xmlns:r="http://schemas.openxmlformats.org/officeDocument/2006/relationships" id="269" r:id="R84b85ca084fe4a75"/>
    <p:sldId xmlns:r="http://schemas.openxmlformats.org/officeDocument/2006/relationships" id="270" r:id="R00de0e5ad50249c2"/>
    <p:sldId xmlns:r="http://schemas.openxmlformats.org/officeDocument/2006/relationships" id="271" r:id="R6fb5b82e4f454f76"/>
    <p:sldId xmlns:r="http://schemas.openxmlformats.org/officeDocument/2006/relationships" id="272" r:id="R1e42c05e9cb4404e"/>
    <p:sldId xmlns:r="http://schemas.openxmlformats.org/officeDocument/2006/relationships" id="273" r:id="R91f4fbba489940ec"/>
    <p:sldId xmlns:r="http://schemas.openxmlformats.org/officeDocument/2006/relationships" id="274" r:id="Rc2cbc663170a42a3"/>
    <p:sldId xmlns:r="http://schemas.openxmlformats.org/officeDocument/2006/relationships" id="275" r:id="Radec2f5770dc4227"/>
    <p:sldId xmlns:r="http://schemas.openxmlformats.org/officeDocument/2006/relationships" id="276" r:id="R54afdb96f86946bc"/>
    <p:sldId xmlns:r="http://schemas.openxmlformats.org/officeDocument/2006/relationships" id="277" r:id="R1826704bd8ee4d58"/>
    <p:sldId xmlns:r="http://schemas.openxmlformats.org/officeDocument/2006/relationships" id="278" r:id="Rfeb3ca0b836b4f37"/>
    <p:sldId xmlns:r="http://schemas.openxmlformats.org/officeDocument/2006/relationships" id="279" r:id="R5bc4a2b1690443f1"/>
    <p:sldId xmlns:r="http://schemas.openxmlformats.org/officeDocument/2006/relationships" id="280" r:id="R85d626dc6b7840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1b8f8d10b246a4" /><Relationship Type="http://schemas.openxmlformats.org/officeDocument/2006/relationships/slideMaster" Target="/ppt/slideMasters/slideMaster1.xml" Id="R96184bcedc5b4dd5" /><Relationship Type="http://schemas.openxmlformats.org/officeDocument/2006/relationships/notesMaster" Target="/ppt/notesMasters/notesMaster1.xml" Id="R6877440713c54fab" /><Relationship Type="http://schemas.openxmlformats.org/officeDocument/2006/relationships/presProps" Target="/ppt/presProps.xml" Id="Recdc464198d24ced" /><Relationship Type="http://schemas.openxmlformats.org/officeDocument/2006/relationships/tableStyles" Target="/ppt/tableStyles.xml" Id="R676b25ff8f3a46ce" /><Relationship Type="http://schemas.openxmlformats.org/officeDocument/2006/relationships/slide" Target="/ppt/slides/slide1.xml" Id="Rc1c20e4617b44532" /><Relationship Type="http://schemas.openxmlformats.org/officeDocument/2006/relationships/slide" Target="/ppt/slides/slide2.xml" Id="Rb5a03d1cb6b4419c" /><Relationship Type="http://schemas.openxmlformats.org/officeDocument/2006/relationships/slide" Target="/ppt/slides/slide3.xml" Id="Ra5d7953c2b874b96" /><Relationship Type="http://schemas.openxmlformats.org/officeDocument/2006/relationships/slide" Target="/ppt/slides/slide4.xml" Id="R20565f4211b9419a" /><Relationship Type="http://schemas.openxmlformats.org/officeDocument/2006/relationships/slide" Target="/ppt/slides/slide5.xml" Id="Rc0f670aae2664026" /><Relationship Type="http://schemas.openxmlformats.org/officeDocument/2006/relationships/slide" Target="/ppt/slides/slide6.xml" Id="R1eccd30d80f74d28" /><Relationship Type="http://schemas.openxmlformats.org/officeDocument/2006/relationships/slide" Target="/ppt/slides/slide7.xml" Id="R32240123063143c3" /><Relationship Type="http://schemas.openxmlformats.org/officeDocument/2006/relationships/slide" Target="/ppt/slides/slide8.xml" Id="R4d9c9ae1141640ed" /><Relationship Type="http://schemas.openxmlformats.org/officeDocument/2006/relationships/slide" Target="/ppt/slides/slide9.xml" Id="Re1a9ffba25bb4d15" /><Relationship Type="http://schemas.openxmlformats.org/officeDocument/2006/relationships/slide" Target="/ppt/slides/slide10.xml" Id="R913aec863a0b482a" /><Relationship Type="http://schemas.openxmlformats.org/officeDocument/2006/relationships/slide" Target="/ppt/slides/slide11.xml" Id="Rad000d79fd634a36" /><Relationship Type="http://schemas.openxmlformats.org/officeDocument/2006/relationships/slide" Target="/ppt/slides/slide12.xml" Id="Ra71aa361cb6048bd" /><Relationship Type="http://schemas.openxmlformats.org/officeDocument/2006/relationships/slide" Target="/ppt/slides/slide13.xml" Id="Ra21ea05e89d24970" /><Relationship Type="http://schemas.openxmlformats.org/officeDocument/2006/relationships/slide" Target="/ppt/slides/slide14.xml" Id="R84b85ca084fe4a75" /><Relationship Type="http://schemas.openxmlformats.org/officeDocument/2006/relationships/slide" Target="/ppt/slides/slide15.xml" Id="R00de0e5ad50249c2" /><Relationship Type="http://schemas.openxmlformats.org/officeDocument/2006/relationships/slide" Target="/ppt/slides/slide16.xml" Id="R6fb5b82e4f454f76" /><Relationship Type="http://schemas.openxmlformats.org/officeDocument/2006/relationships/slide" Target="/ppt/slides/slide17.xml" Id="R1e42c05e9cb4404e" /><Relationship Type="http://schemas.openxmlformats.org/officeDocument/2006/relationships/slide" Target="/ppt/slides/slide18.xml" Id="R91f4fbba489940ec" /><Relationship Type="http://schemas.openxmlformats.org/officeDocument/2006/relationships/slide" Target="/ppt/slides/slide19.xml" Id="Rc2cbc663170a42a3" /><Relationship Type="http://schemas.openxmlformats.org/officeDocument/2006/relationships/slide" Target="/ppt/slides/slide20.xml" Id="Radec2f5770dc4227" /><Relationship Type="http://schemas.openxmlformats.org/officeDocument/2006/relationships/slide" Target="/ppt/slides/slide21.xml" Id="R54afdb96f86946bc" /><Relationship Type="http://schemas.openxmlformats.org/officeDocument/2006/relationships/slide" Target="/ppt/slides/slide22.xml" Id="R1826704bd8ee4d58" /><Relationship Type="http://schemas.openxmlformats.org/officeDocument/2006/relationships/slide" Target="/ppt/slides/slide23.xml" Id="Rfeb3ca0b836b4f37" /><Relationship Type="http://schemas.openxmlformats.org/officeDocument/2006/relationships/slide" Target="/ppt/slides/slide24.xml" Id="R5bc4a2b1690443f1" /><Relationship Type="http://schemas.openxmlformats.org/officeDocument/2006/relationships/slide" Target="/ppt/slides/slide25.xml" Id="R85d626dc6b7840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3ab650c19b4f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64ea9c95b64e51" /><Relationship Type="http://schemas.openxmlformats.org/officeDocument/2006/relationships/notesMaster" Target="/ppt/notesMasters/notesMaster1.xml" Id="Rc79c834d83d44b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73ad4509f14454" /><Relationship Type="http://schemas.openxmlformats.org/officeDocument/2006/relationships/notesMaster" Target="/ppt/notesMasters/notesMaster1.xml" Id="Reebc666568014a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bf53cfbbb14777" /><Relationship Type="http://schemas.openxmlformats.org/officeDocument/2006/relationships/notesMaster" Target="/ppt/notesMasters/notesMaster1.xml" Id="R5c045164f50148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2c729f02ec44c2" /><Relationship Type="http://schemas.openxmlformats.org/officeDocument/2006/relationships/notesMaster" Target="/ppt/notesMasters/notesMaster1.xml" Id="R8f00d1e5664946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7e1e9ce3f74452" /><Relationship Type="http://schemas.openxmlformats.org/officeDocument/2006/relationships/notesMaster" Target="/ppt/notesMasters/notesMaster1.xml" Id="Rb6aaa30a91dd4e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ca32c1ad6b4490" /><Relationship Type="http://schemas.openxmlformats.org/officeDocument/2006/relationships/notesMaster" Target="/ppt/notesMasters/notesMaster1.xml" Id="R006e5ce779f644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fd261fab3c44dd" /><Relationship Type="http://schemas.openxmlformats.org/officeDocument/2006/relationships/notesMaster" Target="/ppt/notesMasters/notesMaster1.xml" Id="R68e015f0a7464b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301f0fbc2e44d1" /><Relationship Type="http://schemas.openxmlformats.org/officeDocument/2006/relationships/notesMaster" Target="/ppt/notesMasters/notesMaster1.xml" Id="R06a4e7d6b0564b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45641b5099473d" /><Relationship Type="http://schemas.openxmlformats.org/officeDocument/2006/relationships/notesMaster" Target="/ppt/notesMasters/notesMaster1.xml" Id="R13037932cba945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a65cb941bd422a" /><Relationship Type="http://schemas.openxmlformats.org/officeDocument/2006/relationships/notesMaster" Target="/ppt/notesMasters/notesMaster1.xml" Id="R118f1fabdc6740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34e8dba4014752" /><Relationship Type="http://schemas.openxmlformats.org/officeDocument/2006/relationships/notesMaster" Target="/ppt/notesMasters/notesMaster1.xml" Id="R1edcceab4c7d42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de41ed0ddc4764" /><Relationship Type="http://schemas.openxmlformats.org/officeDocument/2006/relationships/notesMaster" Target="/ppt/notesMasters/notesMaster1.xml" Id="Rd8cfe7d49c874c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7ff8f95d6f49b3" /><Relationship Type="http://schemas.openxmlformats.org/officeDocument/2006/relationships/notesMaster" Target="/ppt/notesMasters/notesMaster1.xml" Id="R40c07011c0234b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e9fcbb89b84abd" /><Relationship Type="http://schemas.openxmlformats.org/officeDocument/2006/relationships/notesMaster" Target="/ppt/notesMasters/notesMaster1.xml" Id="Radcd6bd9fa1149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18097b6f4f4335" /><Relationship Type="http://schemas.openxmlformats.org/officeDocument/2006/relationships/notesMaster" Target="/ppt/notesMasters/notesMaster1.xml" Id="R10ee9b0f001948a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f85c342d3b4a83" /><Relationship Type="http://schemas.openxmlformats.org/officeDocument/2006/relationships/notesMaster" Target="/ppt/notesMasters/notesMaster1.xml" Id="R189ae75160aa4a5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594309a3484bab" /><Relationship Type="http://schemas.openxmlformats.org/officeDocument/2006/relationships/notesMaster" Target="/ppt/notesMasters/notesMaster1.xml" Id="R39dd1a2d2929447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9cfd0b81f240ac" /><Relationship Type="http://schemas.openxmlformats.org/officeDocument/2006/relationships/notesMaster" Target="/ppt/notesMasters/notesMaster1.xml" Id="R71c3a995d2b844c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7dd39836b8249ec" /><Relationship Type="http://schemas.openxmlformats.org/officeDocument/2006/relationships/notesMaster" Target="/ppt/notesMasters/notesMaster1.xml" Id="R0c2d9a99a697493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08d73e8bf94439f" /><Relationship Type="http://schemas.openxmlformats.org/officeDocument/2006/relationships/notesMaster" Target="/ppt/notesMasters/notesMaster1.xml" Id="R9411fa4c9cdb40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6deb0e56eab4187" /><Relationship Type="http://schemas.openxmlformats.org/officeDocument/2006/relationships/notesMaster" Target="/ppt/notesMasters/notesMaster1.xml" Id="R45b49115ee694c4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e0b2487cd21470f" /><Relationship Type="http://schemas.openxmlformats.org/officeDocument/2006/relationships/notesMaster" Target="/ppt/notesMasters/notesMaster1.xml" Id="R586d089559f5446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3edf7f1c3fb44c2" /><Relationship Type="http://schemas.openxmlformats.org/officeDocument/2006/relationships/notesMaster" Target="/ppt/notesMasters/notesMaster1.xml" Id="R7b321cb96a15439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1e1b37b74784458" /><Relationship Type="http://schemas.openxmlformats.org/officeDocument/2006/relationships/notesMaster" Target="/ppt/notesMasters/notesMaster1.xml" Id="R21b8bcdc26a44d7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e0869d4ce5148da" /><Relationship Type="http://schemas.openxmlformats.org/officeDocument/2006/relationships/notesMaster" Target="/ppt/notesMasters/notesMaster1.xml" Id="Rbf03777ff2bf45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sustained encounter with Coase. Briefly connect the economic toolkit in Chapter 2 with the legal institutions in Chapter 3 and explain why Coase matters before introducing the realistic lake conflict. Use the theorem to discover what transaction costs require institutions to do.</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Spend about a minute locating the chapter in the course. The economic and legal material now meet in one question: how do people respond to a legal starting point? They may change behavior, bargain, or remain in conflict. The factory example will make that question concrete, and the same method will return in property, torts, contracts, and regulation.</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Coase did not invent economic thinking about law or externalities. His 1960 article helped establish the modern field by showing why legal rights and the costs of agreement belong in economic analysis. Introduce transaction costs in plain language now; save the categories and numerical bargaining logic for later slides. Identifying harm alone does not select the best institutional response. The method extends beyond pollution to property, accidents, contracts, and regulation.</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 R. H. Coase, The Problem of Social Cost, Journal of Law and Economics 3 (1960), 1-44. https://doi.org/10.1086/466560</a:t>
            </a:r>
          </a:p>
          <a:p xmlns:a="http://schemas.openxmlformats.org/drawingml/2006/main">
            <a:r>
              <a:t>- University of Chicago Law School, Ronald H. Coase, Founding Scholar in Law and Economics, 1910-2013 (September 2, 2013). https://www.law.uchicago.edu/news/ronald-h-coase-founding-scholar-law-and-economics-1910-2013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Freeze the numbers and avoid moral labels. The social comparison is between $500,000 in avoidance cost and $800,000 in development loss.</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figure to reject the idea that one party alone causes the conflict. The institutional question is which activity yields when both cannot fully coexist.</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 Project-original accepted TikZ figure and QA asset: figures/ch04_transaction_costs_and_coase_theorem/.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to Chapter 2. The Pigouvian logic is valuable, but Coase asks us to specify the entitlement and examine whether parties can rearrange it.</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vocabulary prepares students for property rules and liability rules later. An entitlement is a legally protected position, broader than ordinary ownership language.</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Coase's conceptual turn. It does not deny causation or rights; it insists that legal choice affects both sides and should account for joint value.</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gains from trade, not Nash bargaining. The $300,000 is the extra joint value created by choosing avoidance; the parties may divide it in many ways.</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propose several transfers. All transfers in the range can support avoidance; bargaining power determines division within the range.</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say rights do not matter. They matter for wealth, bargaining position, fairness, and possibly behavior through income effects; the narrow invariance result concerns resource use under strong assumptions.</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efficient outcome depends on relative costs. In Case B, forcing $900,000 of avoidance to prevent $300,000 of harm destroys $600,000 of joint value.</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theorem carefully and then immediately flag its demanding assumptions. Its practical value is diagnostic: it tells us where bargaining obstacles matter.</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pie-versus-slices framing. Coasean analysis can identify cooperative surplus without deciding the morally appropriate initial right or division.</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using transaction cost as a synonym for inconvenience. Identify the specific obstacle and explain how it prevents a value-creating bargain.</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the two-party lake case with hundreds of residents or dispersed air pollution. This is where private bargaining may require associations, class procedures, or public action.</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 to incomplete contracts. Cooperation over time requires information, verification, adaptation, and credible remedies.</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this a reusable workflow. The theorem directs attention toward the institutional arrangements that reduce the transaction cost blocking cooperation.</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Cooter and Ulen's useful design labels, not historical claims about Hobbes or Coase. They fit property and institutional design especially well.</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instrument is universally superior. Use the same criteria for each: information, participation, strategy, administration, error, and enforcement.</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bridge to torts. The physical cause does not by itself identify the least-cost avoider or the best allocation of residual loss.</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Coase's spectrum work illustrates that pricing is not the opposite of public authority. Government defines and enforces the entitlement; an auction can then use dispersed information better than administrative assignment.</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Foreshadow Chapter 15 without turning this into a technology chapter. Platforms define tradable positions and procedures inside privately governed systems.</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on the lake, railroad, spectrum, or a student-generated conflict. They convert a slogan into disciplined analysis.</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the paradox: the costless-bargaining theorem is most useful for explaining a world in which bargaining is not costless.</a:t>
            </a:r>
          </a:p>
          <a:p xmlns:a="http://schemas.openxmlformats.org/drawingml/2006/main">
            <a:r>
              <a:t/>
            </a:r>
          </a:p>
          <a:p xmlns:a="http://schemas.openxmlformats.org/drawingml/2006/main">
            <a:r>
              <a:t>[Sources]</a:t>
            </a:r>
          </a:p>
          <a:p xmlns:a="http://schemas.openxmlformats.org/drawingml/2006/main">
            <a:r>
              <a:t>- Rules, Rights, and Runtimes, Chapter 4: Transaction Costs and the Coase Theorem (canonical project draft).</a:t>
            </a:r>
          </a:p>
          <a:p xmlns:a="http://schemas.openxmlformats.org/drawingml/2006/main">
            <a:r>
              <a:t>- Law and Economics project evidence ledger: evidence/ch04_transaction_costs_and_coase_theorem.md.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e013040a3441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4d189b00bb43dc" /><Relationship Type="http://schemas.openxmlformats.org/officeDocument/2006/relationships/slideLayout" Target="/ppt/slideLayouts/slideLayout1.xml" Id="R8e959b3ac4b74d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959b3ac4b74d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34120f6ecc4e5e" /><Relationship Type="http://schemas.openxmlformats.org/officeDocument/2006/relationships/notesSlide" Target="/ppt/notesSlides/notesSlide1.xml" Id="Rd9cfbd89ac3e4b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5af198e8ffc413e" /><Relationship Type="http://schemas.openxmlformats.org/officeDocument/2006/relationships/notesSlide" Target="/ppt/notesSlides/notesSlide2.xml" Id="Rcb3683b1ff5645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e9b412887448ae" /><Relationship Type="http://schemas.openxmlformats.org/officeDocument/2006/relationships/notesSlide" Target="/ppt/notesSlides/notesSlide3.xml" Id="Rbb5ccba4ed344d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bbf319859740c7" /><Relationship Type="http://schemas.openxmlformats.org/officeDocument/2006/relationships/notesSlide" Target="/ppt/notesSlides/notesSlide4.xml" Id="R280ba600f1364e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c33355fffa4dd7" /><Relationship Type="http://schemas.openxmlformats.org/officeDocument/2006/relationships/image" Target="/ppt/media/image.png" Id="Rfbb8109ba13f4d7d" /><Relationship Type="http://schemas.openxmlformats.org/officeDocument/2006/relationships/notesSlide" Target="/ppt/notesSlides/notesSlide5.xml" Id="R30844b0e102449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81f4c276a14569" /><Relationship Type="http://schemas.openxmlformats.org/officeDocument/2006/relationships/notesSlide" Target="/ppt/notesSlides/notesSlide6.xml" Id="R9cda9123e33643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24d5682859490e" /><Relationship Type="http://schemas.openxmlformats.org/officeDocument/2006/relationships/notesSlide" Target="/ppt/notesSlides/notesSlide7.xml" Id="Recd99df8349845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894c58725e4f6c" /><Relationship Type="http://schemas.openxmlformats.org/officeDocument/2006/relationships/notesSlide" Target="/ppt/notesSlides/notesSlide8.xml" Id="Rf3c98f1475ff4f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2be63365c0422e" /><Relationship Type="http://schemas.openxmlformats.org/officeDocument/2006/relationships/notesSlide" Target="/ppt/notesSlides/notesSlide9.xml" Id="R44984aa107ef49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9c76adc61b4379" /><Relationship Type="http://schemas.openxmlformats.org/officeDocument/2006/relationships/notesSlide" Target="/ppt/notesSlides/notesSlide10.xml" Id="R4c43f3b0328f40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17638e12b0e4fe8" /><Relationship Type="http://schemas.openxmlformats.org/officeDocument/2006/relationships/notesSlide" Target="/ppt/notesSlides/notesSlide11.xml" Id="Rea302dac7a0849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e143b3ef4794d59" /><Relationship Type="http://schemas.openxmlformats.org/officeDocument/2006/relationships/notesSlide" Target="/ppt/notesSlides/notesSlide12.xml" Id="R83781d2ae0ce46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a2c2887c21446ad" /><Relationship Type="http://schemas.openxmlformats.org/officeDocument/2006/relationships/notesSlide" Target="/ppt/notesSlides/notesSlide13.xml" Id="Ree01a4c91ca443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fa89c4a4028403a" /><Relationship Type="http://schemas.openxmlformats.org/officeDocument/2006/relationships/notesSlide" Target="/ppt/notesSlides/notesSlide14.xml" Id="R2ba1f122cc354d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1542999dcc44255" /><Relationship Type="http://schemas.openxmlformats.org/officeDocument/2006/relationships/notesSlide" Target="/ppt/notesSlides/notesSlide15.xml" Id="R4dcc2cf4828b4e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e185b4d8d074144" /><Relationship Type="http://schemas.openxmlformats.org/officeDocument/2006/relationships/notesSlide" Target="/ppt/notesSlides/notesSlide16.xml" Id="Raea42bd271374b8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6796bcfcf5349a4" /><Relationship Type="http://schemas.openxmlformats.org/officeDocument/2006/relationships/notesSlide" Target="/ppt/notesSlides/notesSlide17.xml" Id="Rf3c3ff4b268b4ef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e8d71097e424b98" /><Relationship Type="http://schemas.openxmlformats.org/officeDocument/2006/relationships/notesSlide" Target="/ppt/notesSlides/notesSlide18.xml" Id="R701f1f88f08c4eb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a6c38da0ffc4303" /><Relationship Type="http://schemas.openxmlformats.org/officeDocument/2006/relationships/notesSlide" Target="/ppt/notesSlides/notesSlide19.xml" Id="R7f54338ae0464a0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5677159c9384349" /><Relationship Type="http://schemas.openxmlformats.org/officeDocument/2006/relationships/notesSlide" Target="/ppt/notesSlides/notesSlide20.xml" Id="R62daf178d88546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3b10511e5024518" /><Relationship Type="http://schemas.openxmlformats.org/officeDocument/2006/relationships/notesSlide" Target="/ppt/notesSlides/notesSlide21.xml" Id="Re92cf5cebd53422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3918e15173c495c" /><Relationship Type="http://schemas.openxmlformats.org/officeDocument/2006/relationships/notesSlide" Target="/ppt/notesSlides/notesSlide22.xml" Id="R51ce408b605a4e8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f1fd7146604436a" /><Relationship Type="http://schemas.openxmlformats.org/officeDocument/2006/relationships/notesSlide" Target="/ppt/notesSlides/notesSlide23.xml" Id="Rdeff73463e584d7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f6628b99a824d5f" /><Relationship Type="http://schemas.openxmlformats.org/officeDocument/2006/relationships/notesSlide" Target="/ppt/notesSlides/notesSlide24.xml" Id="Re0e74af4fee64e4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0c42e795d914ada" /><Relationship Type="http://schemas.openxmlformats.org/officeDocument/2006/relationships/notesSlide" Target="/ppt/notesSlides/notesSlide25.xml" Id="R883b63b4b5594fbb" /></Relationships>
</file>

<file path=ppt/slides/slide1.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6E41F1-D69E-4788-B94C-216468690CA5}"/>
              </a:ext>
            </a:extLst>
          </p:cNvPr>
          <p:cNvSpPr>
            <a:spLocks xmlns:a="http://schemas.openxmlformats.org/drawingml/2006/main" noGrp="1"/>
          </p:cNvSpPr>
          <p:nvPr/>
        </p:nvSpPr>
        <p:spPr>
          <a:xfrm xmlns:a="http://schemas.openxmlformats.org/drawingml/2006/main">
            <a:off x="666750" y="876300"/>
            <a:ext cx="895350" cy="7620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EBB43D-1678-4E7C-9606-D30799BFEE03}"/>
              </a:ext>
            </a:extLst>
          </p:cNvPr>
          <p:cNvSpPr>
            <a:spLocks xmlns:a="http://schemas.openxmlformats.org/drawingml/2006/main" noGrp="1"/>
          </p:cNvSpPr>
          <p:nvPr/>
        </p:nvSpPr>
        <p:spPr>
          <a:xfrm xmlns:a="http://schemas.openxmlformats.org/drawingml/2006/main">
            <a:off x="666750" y="1371600"/>
            <a:ext cx="6762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7242D"/>
                </a:solidFill>
                <a:latin typeface="Georgia"/>
                <a:ea typeface="Georgia"/>
                <a:cs typeface="Georgia"/>
              </a:defRPr>
            </a:pPr>
            <a:r>
              <a:rPr sz="4050" b="1" i="0">
                <a:solidFill>
                  <a:srgbClr val="17242D"/>
                </a:solidFill>
                <a:latin typeface="Georgia"/>
                <a:ea typeface="Georgia"/>
                <a:cs typeface="Georgia"/>
              </a:rPr>
              <a:t>Transaction Costs and the Coase Theorem</a:t>
            </a:r>
          </a:p>
        </p:txBody>
      </p:sp>
      <p:sp>
        <p:nvSpPr>
          <p:cNvPr id="3" name="">
            <a:extLst xmlns:a="http://schemas.openxmlformats.org/drawingml/2006/main">
              <a:ext uri="{FF2B5EF4-FFF2-40B4-BE49-F238E27FC236}">
                <a16:creationId xmlns:a16="http://schemas.microsoft.com/office/drawing/2014/main" id="{6C22A90A-651C-4F1E-99BA-451C493B25ED}"/>
              </a:ext>
            </a:extLst>
          </p:cNvPr>
          <p:cNvSpPr>
            <a:spLocks xmlns:a="http://schemas.openxmlformats.org/drawingml/2006/main" noGrp="1"/>
          </p:cNvSpPr>
          <p:nvPr/>
        </p:nvSpPr>
        <p:spPr>
          <a:xfrm xmlns:a="http://schemas.openxmlformats.org/drawingml/2006/main">
            <a:off x="685800" y="37909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24594E"/>
                </a:solidFill>
                <a:latin typeface="Aptos"/>
                <a:ea typeface="Aptos"/>
                <a:cs typeface="Aptos"/>
              </a:defRPr>
            </a:pPr>
            <a:r>
              <a:rPr sz="1950" b="1" i="0">
                <a:solidFill>
                  <a:srgbClr val="24594E"/>
                </a:solidFill>
                <a:latin typeface="Aptos"/>
                <a:ea typeface="Aptos"/>
                <a:cs typeface="Aptos"/>
              </a:rPr>
              <a:t>Chapter 4</a:t>
            </a:r>
          </a:p>
        </p:txBody>
      </p:sp>
      <p:sp>
        <p:nvSpPr>
          <p:cNvPr id="4" name="">
            <a:extLst xmlns:a="http://schemas.openxmlformats.org/drawingml/2006/main">
              <a:ext uri="{FF2B5EF4-FFF2-40B4-BE49-F238E27FC236}">
                <a16:creationId xmlns:a16="http://schemas.microsoft.com/office/drawing/2014/main" id="{E56B265B-2A94-4FB2-95F0-6B9F39876B2E}"/>
              </a:ext>
            </a:extLst>
          </p:cNvPr>
          <p:cNvSpPr>
            <a:spLocks xmlns:a="http://schemas.openxmlformats.org/drawingml/2006/main" noGrp="1"/>
          </p:cNvSpPr>
          <p:nvPr/>
        </p:nvSpPr>
        <p:spPr>
          <a:xfrm xmlns:a="http://schemas.openxmlformats.org/drawingml/2006/main">
            <a:off x="685800" y="53911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17242D"/>
                </a:solidFill>
                <a:latin typeface="Georgia"/>
                <a:ea typeface="Georgia"/>
                <a:cs typeface="Georgia"/>
              </a:defRPr>
            </a:pPr>
            <a:r>
              <a:rPr sz="1800" b="0" i="0">
                <a:solidFill>
                  <a:srgbClr val="17242D"/>
                </a:solidFill>
                <a:latin typeface="Georgia"/>
                <a:ea typeface="Georgia"/>
                <a:cs typeface="Georgia"/>
              </a:rPr>
              <a:t>Rules, Rights, and Runtimes</a:t>
            </a:r>
          </a:p>
        </p:txBody>
      </p:sp>
      <p:sp>
        <p:nvSpPr>
          <p:cNvPr id="5" name="">
            <a:extLst xmlns:a="http://schemas.openxmlformats.org/drawingml/2006/main">
              <a:ext uri="{FF2B5EF4-FFF2-40B4-BE49-F238E27FC236}">
                <a16:creationId xmlns:a16="http://schemas.microsoft.com/office/drawing/2014/main" id="{896CD6A4-01CB-4ED6-9C01-94368C6A8EBC}"/>
              </a:ext>
            </a:extLst>
          </p:cNvPr>
          <p:cNvSpPr>
            <a:spLocks xmlns:a="http://schemas.openxmlformats.org/drawingml/2006/main" noGrp="1"/>
          </p:cNvSpPr>
          <p:nvPr/>
        </p:nvSpPr>
        <p:spPr>
          <a:xfrm xmlns:a="http://schemas.openxmlformats.org/drawingml/2006/main">
            <a:off x="685800" y="58102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86A73"/>
                </a:solidFill>
                <a:latin typeface="Aptos"/>
                <a:ea typeface="Aptos"/>
                <a:cs typeface="Aptos"/>
              </a:defRPr>
            </a:pPr>
            <a:r>
              <a:rPr sz="1350" b="0" i="0">
                <a:solidFill>
                  <a:srgbClr val="586A73"/>
                </a:solidFill>
                <a:latin typeface="Aptos"/>
                <a:ea typeface="Aptos"/>
                <a:cs typeface="Aptos"/>
              </a:rPr>
              <a:t>Law and Economics in the Age of AI</a:t>
            </a:r>
          </a:p>
        </p:txBody>
      </p:sp>
      <p:sp>
        <p:nvSpPr>
          <p:cNvPr id="6" name="">
            <a:extLst xmlns:a="http://schemas.openxmlformats.org/drawingml/2006/main">
              <a:ext uri="{FF2B5EF4-FFF2-40B4-BE49-F238E27FC236}">
                <a16:creationId xmlns:a16="http://schemas.microsoft.com/office/drawing/2014/main" id="{6F7BEB75-58C7-4591-AA58-CBE34F28484C}"/>
              </a:ext>
            </a:extLst>
          </p:cNvPr>
          <p:cNvSpPr>
            <a:spLocks xmlns:a="http://schemas.openxmlformats.org/drawingml/2006/main" noGrp="1"/>
          </p:cNvSpPr>
          <p:nvPr/>
        </p:nvSpPr>
        <p:spPr>
          <a:xfrm xmlns:a="http://schemas.openxmlformats.org/drawingml/2006/main">
            <a:off x="8077200" y="0"/>
            <a:ext cx="4114800" cy="2286000"/>
          </a:xfrm>
          <a:prstGeom xmlns:a="http://schemas.openxmlformats.org/drawingml/2006/main" prst="rect">
            <a:avLst/>
          </a:prstGeom>
          <a:solidFill xmlns:a="http://schemas.openxmlformats.org/drawingml/2006/main">
            <a:srgbClr val="173F3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A64955C-AD50-45ED-9C51-4C3AB0FFAADB}"/>
              </a:ext>
            </a:extLst>
          </p:cNvPr>
          <p:cNvSpPr>
            <a:spLocks xmlns:a="http://schemas.openxmlformats.org/drawingml/2006/main" noGrp="1"/>
          </p:cNvSpPr>
          <p:nvPr/>
        </p:nvSpPr>
        <p:spPr>
          <a:xfrm xmlns:a="http://schemas.openxmlformats.org/drawingml/2006/main">
            <a:off x="8324850" y="819150"/>
            <a:ext cx="3619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250" b="1" i="0">
                <a:solidFill>
                  <a:srgbClr val="FFFFFF"/>
                </a:solidFill>
                <a:latin typeface="Aptos"/>
                <a:ea typeface="Aptos"/>
                <a:cs typeface="Aptos"/>
              </a:defRPr>
            </a:pPr>
            <a:r>
              <a:rPr sz="2250" b="1" i="0">
                <a:solidFill>
                  <a:srgbClr val="FFFFFF"/>
                </a:solidFill>
                <a:latin typeface="Aptos"/>
                <a:ea typeface="Aptos"/>
                <a:cs typeface="Aptos"/>
              </a:rPr>
              <a:t>ENTITLEMENTS</a:t>
            </a:r>
          </a:p>
        </p:txBody>
      </p:sp>
      <p:sp>
        <p:nvSpPr>
          <p:cNvPr id="8" name="">
            <a:extLst xmlns:a="http://schemas.openxmlformats.org/drawingml/2006/main">
              <a:ext uri="{FF2B5EF4-FFF2-40B4-BE49-F238E27FC236}">
                <a16:creationId xmlns:a16="http://schemas.microsoft.com/office/drawing/2014/main" id="{77954B7B-7262-4A95-A506-614B251EBD51}"/>
              </a:ext>
            </a:extLst>
          </p:cNvPr>
          <p:cNvSpPr>
            <a:spLocks xmlns:a="http://schemas.openxmlformats.org/drawingml/2006/main" noGrp="1"/>
          </p:cNvSpPr>
          <p:nvPr/>
        </p:nvSpPr>
        <p:spPr>
          <a:xfrm xmlns:a="http://schemas.openxmlformats.org/drawingml/2006/main">
            <a:off x="8077200" y="2286000"/>
            <a:ext cx="4114800" cy="228600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F1844CF-A621-4F6E-A9B3-3188663B1DF6}"/>
              </a:ext>
            </a:extLst>
          </p:cNvPr>
          <p:cNvSpPr>
            <a:spLocks xmlns:a="http://schemas.openxmlformats.org/drawingml/2006/main" noGrp="1"/>
          </p:cNvSpPr>
          <p:nvPr/>
        </p:nvSpPr>
        <p:spPr>
          <a:xfrm xmlns:a="http://schemas.openxmlformats.org/drawingml/2006/main">
            <a:off x="8324850" y="3105150"/>
            <a:ext cx="3619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250" b="1" i="0">
                <a:solidFill>
                  <a:srgbClr val="FFFFFF"/>
                </a:solidFill>
                <a:latin typeface="Aptos"/>
                <a:ea typeface="Aptos"/>
                <a:cs typeface="Aptos"/>
              </a:defRPr>
            </a:pPr>
            <a:r>
              <a:rPr sz="2250" b="1" i="0">
                <a:solidFill>
                  <a:srgbClr val="FFFFFF"/>
                </a:solidFill>
                <a:latin typeface="Aptos"/>
                <a:ea typeface="Aptos"/>
                <a:cs typeface="Aptos"/>
              </a:rPr>
              <a:t>BARGAINING</a:t>
            </a:r>
          </a:p>
        </p:txBody>
      </p:sp>
      <p:sp>
        <p:nvSpPr>
          <p:cNvPr id="10" name="">
            <a:extLst xmlns:a="http://schemas.openxmlformats.org/drawingml/2006/main">
              <a:ext uri="{FF2B5EF4-FFF2-40B4-BE49-F238E27FC236}">
                <a16:creationId xmlns:a16="http://schemas.microsoft.com/office/drawing/2014/main" id="{D235E012-0112-4266-A3E4-CB410DDF0268}"/>
              </a:ext>
            </a:extLst>
          </p:cNvPr>
          <p:cNvSpPr>
            <a:spLocks xmlns:a="http://schemas.openxmlformats.org/drawingml/2006/main" noGrp="1"/>
          </p:cNvSpPr>
          <p:nvPr/>
        </p:nvSpPr>
        <p:spPr>
          <a:xfrm xmlns:a="http://schemas.openxmlformats.org/drawingml/2006/main">
            <a:off x="8077200" y="4572000"/>
            <a:ext cx="4114800" cy="2286000"/>
          </a:xfrm>
          <a:prstGeom xmlns:a="http://schemas.openxmlformats.org/drawingml/2006/main" prst="rect">
            <a:avLst/>
          </a:prstGeom>
          <a:solidFill xmlns:a="http://schemas.openxmlformats.org/drawingml/2006/main">
            <a:srgbClr val="B8842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AC37BA2-4759-4AE9-95A8-650CEA248047}"/>
              </a:ext>
            </a:extLst>
          </p:cNvPr>
          <p:cNvSpPr>
            <a:spLocks xmlns:a="http://schemas.openxmlformats.org/drawingml/2006/main" noGrp="1"/>
          </p:cNvSpPr>
          <p:nvPr/>
        </p:nvSpPr>
        <p:spPr>
          <a:xfrm xmlns:a="http://schemas.openxmlformats.org/drawingml/2006/main">
            <a:off x="8324850" y="5391150"/>
            <a:ext cx="3619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250" b="1" i="0">
                <a:solidFill>
                  <a:srgbClr val="17242D"/>
                </a:solidFill>
                <a:latin typeface="Aptos"/>
                <a:ea typeface="Aptos"/>
                <a:cs typeface="Aptos"/>
              </a:defRPr>
            </a:pPr>
            <a:r>
              <a:rPr sz="2250" b="1" i="0">
                <a:solidFill>
                  <a:srgbClr val="17242D"/>
                </a:solidFill>
                <a:latin typeface="Aptos"/>
                <a:ea typeface="Aptos"/>
                <a:cs typeface="Aptos"/>
              </a:rPr>
              <a:t>INSTITUTIONS</a:t>
            </a:r>
          </a:p>
        </p:txBody>
      </p:sp>
    </p:spTree>
    <p:extLst>
      <p:ext uri="{BB962C8B-B14F-4D97-AF65-F5344CB8AC3E}">
        <p14:creationId xmlns:p14="http://schemas.microsoft.com/office/powerpoint/2010/main" val="1260586407"/>
      </p:ext>
    </p:extLst>
  </p:cSld>
</p:sld>
</file>

<file path=ppt/slides/slide2.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B7A6AD8-8406-4E22-9950-C9410D5EDA1F}"/>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130EC1C-FC0F-455F-B281-D46128CCAC2B}"/>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E520B85A-DCB0-4FEF-A2DE-F41DE8C2133D}"/>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Why this chapter comes next</a:t>
            </a:r>
          </a:p>
        </p:txBody>
      </p:sp>
      <p:sp>
        <p:nvSpPr>
          <p:cNvPr id="4" name="">
            <a:extLst xmlns:a="http://schemas.openxmlformats.org/drawingml/2006/main">
              <a:ext uri="{FF2B5EF4-FFF2-40B4-BE49-F238E27FC236}">
                <a16:creationId xmlns:a16="http://schemas.microsoft.com/office/drawing/2014/main" id="{2D60977E-58C2-4F70-A7C9-CB82631C3F8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3D88B3-60C1-4A34-B8C4-D1FADD0626EA}"/>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914CB181-7DC4-48BC-99D2-87FD0F291A13}"/>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2</a:t>
            </a:r>
          </a:p>
        </p:txBody>
      </p:sp>
      <p:sp>
        <p:nvSpPr>
          <p:cNvPr id="7" name="">
            <a:extLst xmlns:a="http://schemas.openxmlformats.org/drawingml/2006/main">
              <a:ext uri="{FF2B5EF4-FFF2-40B4-BE49-F238E27FC236}">
                <a16:creationId xmlns:a16="http://schemas.microsoft.com/office/drawing/2014/main" id="{DB796CF6-C9F7-486F-911A-7C3C3D6C926A}"/>
              </a:ext>
            </a:extLst>
          </p:cNvPr>
          <p:cNvSpPr>
            <a:spLocks xmlns:a="http://schemas.openxmlformats.org/drawingml/2006/main" noGrp="1"/>
          </p:cNvSpPr>
          <p:nvPr/>
        </p:nvSpPr>
        <p:spPr>
          <a:xfrm xmlns:a="http://schemas.openxmlformats.org/drawingml/2006/main">
            <a:off x="1257300" y="19907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EAEE4EFF-08EA-436A-8748-DC691E0D0BFE}"/>
              </a:ext>
            </a:extLst>
          </p:cNvPr>
          <p:cNvSpPr>
            <a:spLocks xmlns:a="http://schemas.openxmlformats.org/drawingml/2006/main" noGrp="1"/>
          </p:cNvSpPr>
          <p:nvPr/>
        </p:nvSpPr>
        <p:spPr>
          <a:xfrm xmlns:a="http://schemas.openxmlformats.org/drawingml/2006/main">
            <a:off x="1581150" y="20002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Chapter 2: incentives, trade-offs, and gains from exchange.</a:t>
            </a:r>
          </a:p>
        </p:txBody>
      </p:sp>
      <p:sp>
        <p:nvSpPr>
          <p:cNvPr id="9" name="">
            <a:extLst xmlns:a="http://schemas.openxmlformats.org/drawingml/2006/main">
              <a:ext uri="{FF2B5EF4-FFF2-40B4-BE49-F238E27FC236}">
                <a16:creationId xmlns:a16="http://schemas.microsoft.com/office/drawing/2014/main" id="{DF2AC468-DF38-49EE-8C75-2160C6FAD6FE}"/>
              </a:ext>
            </a:extLst>
          </p:cNvPr>
          <p:cNvSpPr>
            <a:spLocks xmlns:a="http://schemas.openxmlformats.org/drawingml/2006/main" noGrp="1"/>
          </p:cNvSpPr>
          <p:nvPr/>
        </p:nvSpPr>
        <p:spPr>
          <a:xfrm xmlns:a="http://schemas.openxmlformats.org/drawingml/2006/main">
            <a:off x="1257300" y="25622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9FB9948A-5404-4D59-B3AA-A294C77FF73B}"/>
              </a:ext>
            </a:extLst>
          </p:cNvPr>
          <p:cNvSpPr>
            <a:spLocks xmlns:a="http://schemas.openxmlformats.org/drawingml/2006/main" noGrp="1"/>
          </p:cNvSpPr>
          <p:nvPr/>
        </p:nvSpPr>
        <p:spPr>
          <a:xfrm xmlns:a="http://schemas.openxmlformats.org/drawingml/2006/main">
            <a:off x="1581150" y="25717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Chapter 3: legal rights and the institutions that enforce them.</a:t>
            </a:r>
          </a:p>
        </p:txBody>
      </p:sp>
      <p:sp>
        <p:nvSpPr>
          <p:cNvPr id="11" name="">
            <a:extLst xmlns:a="http://schemas.openxmlformats.org/drawingml/2006/main">
              <a:ext uri="{FF2B5EF4-FFF2-40B4-BE49-F238E27FC236}">
                <a16:creationId xmlns:a16="http://schemas.microsoft.com/office/drawing/2014/main" id="{860AB922-B87C-426B-ABFA-357A9C4D586A}"/>
              </a:ext>
            </a:extLst>
          </p:cNvPr>
          <p:cNvSpPr>
            <a:spLocks xmlns:a="http://schemas.openxmlformats.org/drawingml/2006/main" noGrp="1"/>
          </p:cNvSpPr>
          <p:nvPr/>
        </p:nvSpPr>
        <p:spPr>
          <a:xfrm xmlns:a="http://schemas.openxmlformats.org/drawingml/2006/main">
            <a:off x="1257300" y="31337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4C2E53CB-8F1C-4BDE-8869-4DE6F94F2104}"/>
              </a:ext>
            </a:extLst>
          </p:cNvPr>
          <p:cNvSpPr>
            <a:spLocks xmlns:a="http://schemas.openxmlformats.org/drawingml/2006/main" noGrp="1"/>
          </p:cNvSpPr>
          <p:nvPr/>
        </p:nvSpPr>
        <p:spPr>
          <a:xfrm xmlns:a="http://schemas.openxmlformats.org/drawingml/2006/main">
            <a:off x="1581150" y="31432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Chapter 4: how rights and bargaining shape the use of resources.</a:t>
            </a:r>
          </a:p>
        </p:txBody>
      </p:sp>
      <p:sp>
        <p:nvSpPr>
          <p:cNvPr id="13" name="">
            <a:extLst xmlns:a="http://schemas.openxmlformats.org/drawingml/2006/main">
              <a:ext uri="{FF2B5EF4-FFF2-40B4-BE49-F238E27FC236}">
                <a16:creationId xmlns:a16="http://schemas.microsoft.com/office/drawing/2014/main" id="{0B47A4F8-8753-4B51-A7D0-C8C0F9023D1B}"/>
              </a:ext>
            </a:extLst>
          </p:cNvPr>
          <p:cNvSpPr>
            <a:spLocks xmlns:a="http://schemas.openxmlformats.org/drawingml/2006/main" noGrp="1"/>
          </p:cNvSpPr>
          <p:nvPr/>
        </p:nvSpPr>
        <p:spPr>
          <a:xfrm xmlns:a="http://schemas.openxmlformats.org/drawingml/2006/main">
            <a:off x="1200150" y="55626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547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When can bargaining resolve a conflict, and when does the legal rule determine the outcome?</a:t>
            </a:r>
          </a:p>
        </p:txBody>
      </p:sp>
    </p:spTree>
    <p:extLst>
      <p:ext uri="{BB962C8B-B14F-4D97-AF65-F5344CB8AC3E}">
        <p14:creationId xmlns:p14="http://schemas.microsoft.com/office/powerpoint/2010/main" val="908283307"/>
      </p:ext>
    </p:extLst>
  </p:cSld>
</p:sld>
</file>

<file path=ppt/slides/slide3.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4A1ABAE-364A-48DC-83E9-515035B818DB}"/>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0FBCC5-8550-4A75-9D95-E9E2F11712D0}"/>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2F3AB119-49B1-4CD6-A705-4EA72D2069DE}"/>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Coase and modern law and economics</a:t>
            </a:r>
          </a:p>
        </p:txBody>
      </p:sp>
      <p:sp>
        <p:nvSpPr>
          <p:cNvPr id="4" name="">
            <a:extLst xmlns:a="http://schemas.openxmlformats.org/drawingml/2006/main">
              <a:ext uri="{FF2B5EF4-FFF2-40B4-BE49-F238E27FC236}">
                <a16:creationId xmlns:a16="http://schemas.microsoft.com/office/drawing/2014/main" id="{13DDF059-686B-4D23-8442-03DFA086E67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98BB4C-F149-4C8F-B341-61BBA87ABF69}"/>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6A97C900-40E2-48CA-8A72-7AC94B56FF0B}"/>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3</a:t>
            </a:r>
          </a:p>
        </p:txBody>
      </p:sp>
      <p:sp>
        <p:nvSpPr>
          <p:cNvPr id="7" name="">
            <a:extLst xmlns:a="http://schemas.openxmlformats.org/drawingml/2006/main">
              <a:ext uri="{FF2B5EF4-FFF2-40B4-BE49-F238E27FC236}">
                <a16:creationId xmlns:a16="http://schemas.microsoft.com/office/drawing/2014/main" id="{FC8FD990-7EA4-43B9-B2CC-EE726D1FC91D}"/>
              </a:ext>
            </a:extLst>
          </p:cNvPr>
          <p:cNvSpPr>
            <a:spLocks xmlns:a="http://schemas.openxmlformats.org/drawingml/2006/main" noGrp="1"/>
          </p:cNvSpPr>
          <p:nvPr/>
        </p:nvSpPr>
        <p:spPr>
          <a:xfrm xmlns:a="http://schemas.openxmlformats.org/drawingml/2006/main">
            <a:off x="1143000" y="15811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4594E"/>
                </a:solidFill>
                <a:latin typeface="Aptos"/>
                <a:ea typeface="Aptos"/>
                <a:cs typeface="Aptos"/>
              </a:defRPr>
            </a:pPr>
            <a:r>
              <a:rPr sz="1050" b="1" i="0">
                <a:solidFill>
                  <a:srgbClr val="24594E"/>
                </a:solidFill>
                <a:latin typeface="Aptos"/>
                <a:ea typeface="Aptos"/>
                <a:cs typeface="Aptos"/>
              </a:rPr>
              <a:t>THE PROBLEM OF SOCIAL COST (1960)</a:t>
            </a:r>
          </a:p>
        </p:txBody>
      </p:sp>
      <p:sp>
        <p:nvSpPr>
          <p:cNvPr id="8" name="">
            <a:extLst xmlns:a="http://schemas.openxmlformats.org/drawingml/2006/main">
              <a:ext uri="{FF2B5EF4-FFF2-40B4-BE49-F238E27FC236}">
                <a16:creationId xmlns:a16="http://schemas.microsoft.com/office/drawing/2014/main" id="{8496241C-F1AD-4CC3-A897-1B314D044B02}"/>
              </a:ext>
            </a:extLst>
          </p:cNvPr>
          <p:cNvSpPr>
            <a:spLocks xmlns:a="http://schemas.openxmlformats.org/drawingml/2006/main" noGrp="1"/>
          </p:cNvSpPr>
          <p:nvPr/>
        </p:nvSpPr>
        <p:spPr>
          <a:xfrm xmlns:a="http://schemas.openxmlformats.org/drawingml/2006/main">
            <a:off x="1257300" y="1990725"/>
            <a:ext cx="228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FD52C9A2-69C8-475B-9CE4-F14792FE8D8C}"/>
              </a:ext>
            </a:extLst>
          </p:cNvPr>
          <p:cNvSpPr>
            <a:spLocks xmlns:a="http://schemas.openxmlformats.org/drawingml/2006/main" noGrp="1"/>
          </p:cNvSpPr>
          <p:nvPr/>
        </p:nvSpPr>
        <p:spPr>
          <a:xfrm xmlns:a="http://schemas.openxmlformats.org/drawingml/2006/main">
            <a:off x="1581150" y="2000250"/>
            <a:ext cx="9353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Coase helped establish modern law and economics.</a:t>
            </a:r>
          </a:p>
        </p:txBody>
      </p:sp>
      <p:sp>
        <p:nvSpPr>
          <p:cNvPr id="10" name="">
            <a:extLst xmlns:a="http://schemas.openxmlformats.org/drawingml/2006/main">
              <a:ext uri="{FF2B5EF4-FFF2-40B4-BE49-F238E27FC236}">
                <a16:creationId xmlns:a16="http://schemas.microsoft.com/office/drawing/2014/main" id="{1D3E4768-CBB4-4AE2-BE43-C8A6EF0990C7}"/>
              </a:ext>
            </a:extLst>
          </p:cNvPr>
          <p:cNvSpPr>
            <a:spLocks xmlns:a="http://schemas.openxmlformats.org/drawingml/2006/main" noGrp="1"/>
          </p:cNvSpPr>
          <p:nvPr/>
        </p:nvSpPr>
        <p:spPr>
          <a:xfrm xmlns:a="http://schemas.openxmlformats.org/drawingml/2006/main">
            <a:off x="1257300" y="2743200"/>
            <a:ext cx="228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F4EFA510-6614-420C-A578-97501E1DCE57}"/>
              </a:ext>
            </a:extLst>
          </p:cNvPr>
          <p:cNvSpPr>
            <a:spLocks xmlns:a="http://schemas.openxmlformats.org/drawingml/2006/main" noGrp="1"/>
          </p:cNvSpPr>
          <p:nvPr/>
        </p:nvSpPr>
        <p:spPr>
          <a:xfrm xmlns:a="http://schemas.openxmlformats.org/drawingml/2006/main">
            <a:off x="1581150" y="2752725"/>
            <a:ext cx="9353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Legal rights set the starting point for negotiation.</a:t>
            </a:r>
          </a:p>
        </p:txBody>
      </p:sp>
      <p:sp>
        <p:nvSpPr>
          <p:cNvPr id="12" name="">
            <a:extLst xmlns:a="http://schemas.openxmlformats.org/drawingml/2006/main">
              <a:ext uri="{FF2B5EF4-FFF2-40B4-BE49-F238E27FC236}">
                <a16:creationId xmlns:a16="http://schemas.microsoft.com/office/drawing/2014/main" id="{EDA3BDA7-D4FE-4CE9-BCC7-B3E978899754}"/>
              </a:ext>
            </a:extLst>
          </p:cNvPr>
          <p:cNvSpPr>
            <a:spLocks xmlns:a="http://schemas.openxmlformats.org/drawingml/2006/main" noGrp="1"/>
          </p:cNvSpPr>
          <p:nvPr/>
        </p:nvSpPr>
        <p:spPr>
          <a:xfrm xmlns:a="http://schemas.openxmlformats.org/drawingml/2006/main">
            <a:off x="1257300" y="3495675"/>
            <a:ext cx="228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72684B7C-E414-4609-9F92-3D8DE86B3798}"/>
              </a:ext>
            </a:extLst>
          </p:cNvPr>
          <p:cNvSpPr>
            <a:spLocks xmlns:a="http://schemas.openxmlformats.org/drawingml/2006/main" noGrp="1"/>
          </p:cNvSpPr>
          <p:nvPr/>
        </p:nvSpPr>
        <p:spPr>
          <a:xfrm xmlns:a="http://schemas.openxmlformats.org/drawingml/2006/main">
            <a:off x="1581150" y="3505200"/>
            <a:ext cx="9353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Transaction costs are the costs of reaching and carrying out agreements.</a:t>
            </a:r>
          </a:p>
        </p:txBody>
      </p:sp>
      <p:sp>
        <p:nvSpPr>
          <p:cNvPr id="14" name="">
            <a:extLst xmlns:a="http://schemas.openxmlformats.org/drawingml/2006/main">
              <a:ext uri="{FF2B5EF4-FFF2-40B4-BE49-F238E27FC236}">
                <a16:creationId xmlns:a16="http://schemas.microsoft.com/office/drawing/2014/main" id="{C690A3DD-C8AC-40A1-A39C-E8D615BAD631}"/>
              </a:ext>
            </a:extLst>
          </p:cNvPr>
          <p:cNvSpPr>
            <a:spLocks xmlns:a="http://schemas.openxmlformats.org/drawingml/2006/main" noGrp="1"/>
          </p:cNvSpPr>
          <p:nvPr/>
        </p:nvSpPr>
        <p:spPr>
          <a:xfrm xmlns:a="http://schemas.openxmlformats.org/drawingml/2006/main">
            <a:off x="1200150" y="55626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The lake example develops a method we will reuse throughout the book.</a:t>
            </a:r>
          </a:p>
        </p:txBody>
      </p:sp>
    </p:spTree>
    <p:extLst>
      <p:ext uri="{BB962C8B-B14F-4D97-AF65-F5344CB8AC3E}">
        <p14:creationId xmlns:p14="http://schemas.microsoft.com/office/powerpoint/2010/main" val="1493575495"/>
      </p:ext>
    </p:extLst>
  </p:cSld>
</p:sld>
</file>

<file path=ppt/slides/slide4.xml><?xml version="1.0" encoding="utf-8"?>
<p:sld xmlns:p="http://schemas.openxmlformats.org/presentationml/2006/main">
  <p:cSld>
    <p:bg>
      <p:bgPr>
        <a:solidFill xmlns:a="http://schemas.openxmlformats.org/drawingml/2006/main">
          <a:srgbClr val="173F3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5562D39-0A8B-490E-936A-47ECEF4E61B2}"/>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B884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427373D-23B2-4E36-BB74-A7066F60BDE6}"/>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A6AB9DA0-4093-4B60-A2B7-7073C0BF932B}"/>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FFFF"/>
                </a:solidFill>
                <a:latin typeface="Georgia"/>
                <a:ea typeface="Georgia"/>
                <a:cs typeface="Georgia"/>
              </a:defRPr>
            </a:pPr>
            <a:r>
              <a:rPr sz="3000" b="1" i="0">
                <a:solidFill>
                  <a:srgbClr val="FFFFFF"/>
                </a:solidFill>
                <a:latin typeface="Georgia"/>
                <a:ea typeface="Georgia"/>
                <a:cs typeface="Georgia"/>
              </a:rPr>
              <a:t>A factory, a lake, and a developer</a:t>
            </a:r>
          </a:p>
        </p:txBody>
      </p:sp>
      <p:sp>
        <p:nvSpPr>
          <p:cNvPr id="4" name="">
            <a:extLst xmlns:a="http://schemas.openxmlformats.org/drawingml/2006/main">
              <a:ext uri="{FF2B5EF4-FFF2-40B4-BE49-F238E27FC236}">
                <a16:creationId xmlns:a16="http://schemas.microsoft.com/office/drawing/2014/main" id="{61CB9D80-5FE2-4826-B851-171BC5D5160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F776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284BE85-23B8-4170-89CD-1796D87D0620}"/>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C8D9D5"/>
                </a:solidFill>
                <a:latin typeface="Aptos"/>
                <a:ea typeface="Aptos"/>
                <a:cs typeface="Aptos"/>
              </a:defRPr>
            </a:pPr>
            <a:r>
              <a:rPr sz="825" b="1" i="0">
                <a:solidFill>
                  <a:srgbClr val="C8D9D5"/>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AE7ED9CD-840C-44D5-BB44-76433D00A50F}"/>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C8D9D5"/>
                </a:solidFill>
                <a:latin typeface="Aptos"/>
                <a:ea typeface="Aptos"/>
                <a:cs typeface="Aptos"/>
              </a:defRPr>
            </a:pPr>
            <a:r>
              <a:rPr sz="825" b="0" i="0">
                <a:solidFill>
                  <a:srgbClr val="C8D9D5"/>
                </a:solidFill>
                <a:latin typeface="Aptos"/>
                <a:ea typeface="Aptos"/>
                <a:cs typeface="Aptos"/>
              </a:rPr>
              <a:t>4</a:t>
            </a:r>
          </a:p>
        </p:txBody>
      </p:sp>
      <p:sp>
        <p:nvSpPr>
          <p:cNvPr id="7" name="">
            <a:extLst xmlns:a="http://schemas.openxmlformats.org/drawingml/2006/main">
              <a:ext uri="{FF2B5EF4-FFF2-40B4-BE49-F238E27FC236}">
                <a16:creationId xmlns:a16="http://schemas.microsoft.com/office/drawing/2014/main" id="{01ABEBDC-B806-43CA-8810-9A1AA55B16B7}"/>
              </a:ext>
            </a:extLst>
          </p:cNvPr>
          <p:cNvSpPr>
            <a:spLocks xmlns:a="http://schemas.openxmlformats.org/drawingml/2006/main" noGrp="1"/>
          </p:cNvSpPr>
          <p:nvPr/>
        </p:nvSpPr>
        <p:spPr>
          <a:xfrm xmlns:a="http://schemas.openxmlformats.org/drawingml/2006/main">
            <a:off x="1066800" y="150495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705"/>
          </a:bodyPr>
          <a:lstStyle xmlns:a="http://schemas.openxmlformats.org/drawingml/2006/main"/>
          <a:p xmlns:a="http://schemas.openxmlformats.org/drawingml/2006/main">
            <a:pPr algn="ctr">
              <a:lnSpc>
                <a:spcPct val="105000"/>
              </a:lnSpc>
              <a:buNone/>
              <a:defRPr sz="2550" b="1" i="0">
                <a:solidFill>
                  <a:srgbClr val="FFFFFF"/>
                </a:solidFill>
                <a:latin typeface="Georgia"/>
                <a:ea typeface="Georgia"/>
                <a:cs typeface="Georgia"/>
              </a:defRPr>
            </a:pPr>
            <a:r>
              <a:rPr sz="2550" b="1" i="0">
                <a:solidFill>
                  <a:srgbClr val="FFFFFF"/>
                </a:solidFill>
                <a:latin typeface="Georgia"/>
                <a:ea typeface="Georgia"/>
                <a:cs typeface="Georgia"/>
              </a:rPr>
              <a:t>Discharge saves the factory $500,000 but reduces nearby development value by $800,000.</a:t>
            </a:r>
          </a:p>
        </p:txBody>
      </p:sp>
      <p:sp>
        <p:nvSpPr>
          <p:cNvPr id="8" name="">
            <a:extLst xmlns:a="http://schemas.openxmlformats.org/drawingml/2006/main">
              <a:ext uri="{FF2B5EF4-FFF2-40B4-BE49-F238E27FC236}">
                <a16:creationId xmlns:a16="http://schemas.microsoft.com/office/drawing/2014/main" id="{C95778E2-6BB5-4C06-9E7C-9EA684F53A3E}"/>
              </a:ext>
            </a:extLst>
          </p:cNvPr>
          <p:cNvSpPr>
            <a:spLocks xmlns:a="http://schemas.openxmlformats.org/drawingml/2006/main" noGrp="1"/>
          </p:cNvSpPr>
          <p:nvPr/>
        </p:nvSpPr>
        <p:spPr>
          <a:xfrm xmlns:a="http://schemas.openxmlformats.org/drawingml/2006/main">
            <a:off x="1066800" y="2724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FACTORY</a:t>
            </a:r>
          </a:p>
        </p:txBody>
      </p:sp>
      <p:sp>
        <p:nvSpPr>
          <p:cNvPr id="9" name="">
            <a:extLst xmlns:a="http://schemas.openxmlformats.org/drawingml/2006/main">
              <a:ext uri="{FF2B5EF4-FFF2-40B4-BE49-F238E27FC236}">
                <a16:creationId xmlns:a16="http://schemas.microsoft.com/office/drawing/2014/main" id="{3311F3CA-A32B-491B-A45C-8E86F62AC9D8}"/>
              </a:ext>
            </a:extLst>
          </p:cNvPr>
          <p:cNvSpPr>
            <a:spLocks xmlns:a="http://schemas.openxmlformats.org/drawingml/2006/main" noGrp="1"/>
          </p:cNvSpPr>
          <p:nvPr/>
        </p:nvSpPr>
        <p:spPr>
          <a:xfrm xmlns:a="http://schemas.openxmlformats.org/drawingml/2006/main">
            <a:off x="1104900" y="311467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83DFAB52-54A0-428F-BE34-832AC6C75BFB}"/>
              </a:ext>
            </a:extLst>
          </p:cNvPr>
          <p:cNvSpPr>
            <a:spLocks xmlns:a="http://schemas.openxmlformats.org/drawingml/2006/main" noGrp="1"/>
          </p:cNvSpPr>
          <p:nvPr/>
        </p:nvSpPr>
        <p:spPr>
          <a:xfrm xmlns:a="http://schemas.openxmlformats.org/drawingml/2006/main">
            <a:off x="1428750" y="312420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Existing productive use</a:t>
            </a:r>
          </a:p>
        </p:txBody>
      </p:sp>
      <p:sp>
        <p:nvSpPr>
          <p:cNvPr id="11" name="">
            <a:extLst xmlns:a="http://schemas.openxmlformats.org/drawingml/2006/main">
              <a:ext uri="{FF2B5EF4-FFF2-40B4-BE49-F238E27FC236}">
                <a16:creationId xmlns:a16="http://schemas.microsoft.com/office/drawing/2014/main" id="{7DD0A44A-7574-4467-B7D2-096ED33F20BC}"/>
              </a:ext>
            </a:extLst>
          </p:cNvPr>
          <p:cNvSpPr>
            <a:spLocks xmlns:a="http://schemas.openxmlformats.org/drawingml/2006/main" noGrp="1"/>
          </p:cNvSpPr>
          <p:nvPr/>
        </p:nvSpPr>
        <p:spPr>
          <a:xfrm xmlns:a="http://schemas.openxmlformats.org/drawingml/2006/main">
            <a:off x="1104900" y="360045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ADB130DB-1DDD-4ECD-9AC4-E68D7AADAB6E}"/>
              </a:ext>
            </a:extLst>
          </p:cNvPr>
          <p:cNvSpPr>
            <a:spLocks xmlns:a="http://schemas.openxmlformats.org/drawingml/2006/main" noGrp="1"/>
          </p:cNvSpPr>
          <p:nvPr/>
        </p:nvSpPr>
        <p:spPr>
          <a:xfrm xmlns:a="http://schemas.openxmlformats.org/drawingml/2006/main">
            <a:off x="1428750" y="3609975"/>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Avoidance costs $500,000</a:t>
            </a:r>
          </a:p>
        </p:txBody>
      </p:sp>
      <p:sp>
        <p:nvSpPr>
          <p:cNvPr id="13" name="">
            <a:extLst xmlns:a="http://schemas.openxmlformats.org/drawingml/2006/main">
              <a:ext uri="{FF2B5EF4-FFF2-40B4-BE49-F238E27FC236}">
                <a16:creationId xmlns:a16="http://schemas.microsoft.com/office/drawing/2014/main" id="{C846184D-D64C-42B1-B830-02EE280B166B}"/>
              </a:ext>
            </a:extLst>
          </p:cNvPr>
          <p:cNvSpPr>
            <a:spLocks xmlns:a="http://schemas.openxmlformats.org/drawingml/2006/main" noGrp="1"/>
          </p:cNvSpPr>
          <p:nvPr/>
        </p:nvSpPr>
        <p:spPr>
          <a:xfrm xmlns:a="http://schemas.openxmlformats.org/drawingml/2006/main">
            <a:off x="1104900" y="408622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74016186-C2F4-4FDE-A3F0-ADB7051CB5C9}"/>
              </a:ext>
            </a:extLst>
          </p:cNvPr>
          <p:cNvSpPr>
            <a:spLocks xmlns:a="http://schemas.openxmlformats.org/drawingml/2006/main" noGrp="1"/>
          </p:cNvSpPr>
          <p:nvPr/>
        </p:nvSpPr>
        <p:spPr>
          <a:xfrm xmlns:a="http://schemas.openxmlformats.org/drawingml/2006/main">
            <a:off x="1428750" y="409575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Needs legal permission to discharge</a:t>
            </a:r>
          </a:p>
        </p:txBody>
      </p:sp>
      <p:sp>
        <p:nvSpPr>
          <p:cNvPr id="15" name="">
            <a:extLst xmlns:a="http://schemas.openxmlformats.org/drawingml/2006/main">
              <a:ext uri="{FF2B5EF4-FFF2-40B4-BE49-F238E27FC236}">
                <a16:creationId xmlns:a16="http://schemas.microsoft.com/office/drawing/2014/main" id="{B1D16491-CF59-451D-AB54-30C3ADD6DEF4}"/>
              </a:ext>
            </a:extLst>
          </p:cNvPr>
          <p:cNvSpPr>
            <a:spLocks xmlns:a="http://schemas.openxmlformats.org/drawingml/2006/main" noGrp="1"/>
          </p:cNvSpPr>
          <p:nvPr/>
        </p:nvSpPr>
        <p:spPr>
          <a:xfrm xmlns:a="http://schemas.openxmlformats.org/drawingml/2006/main">
            <a:off x="6096000" y="2686050"/>
            <a:ext cx="9525" cy="2381250"/>
          </a:xfrm>
          <a:prstGeom xmlns:a="http://schemas.openxmlformats.org/drawingml/2006/main" prst="rect">
            <a:avLst/>
          </a:prstGeom>
          <a:solidFill xmlns:a="http://schemas.openxmlformats.org/drawingml/2006/main">
            <a:srgbClr val="4F776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33C76D1-D47C-43D2-8ECF-735465287250}"/>
              </a:ext>
            </a:extLst>
          </p:cNvPr>
          <p:cNvSpPr>
            <a:spLocks xmlns:a="http://schemas.openxmlformats.org/drawingml/2006/main" noGrp="1"/>
          </p:cNvSpPr>
          <p:nvPr/>
        </p:nvSpPr>
        <p:spPr>
          <a:xfrm xmlns:a="http://schemas.openxmlformats.org/drawingml/2006/main">
            <a:off x="6705600" y="2724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DEVELOPER</a:t>
            </a:r>
          </a:p>
        </p:txBody>
      </p:sp>
      <p:sp>
        <p:nvSpPr>
          <p:cNvPr id="17" name="">
            <a:extLst xmlns:a="http://schemas.openxmlformats.org/drawingml/2006/main">
              <a:ext uri="{FF2B5EF4-FFF2-40B4-BE49-F238E27FC236}">
                <a16:creationId xmlns:a16="http://schemas.microsoft.com/office/drawing/2014/main" id="{7C218955-2732-46EF-BA7E-8092BDFF7235}"/>
              </a:ext>
            </a:extLst>
          </p:cNvPr>
          <p:cNvSpPr>
            <a:spLocks xmlns:a="http://schemas.openxmlformats.org/drawingml/2006/main" noGrp="1"/>
          </p:cNvSpPr>
          <p:nvPr/>
        </p:nvSpPr>
        <p:spPr>
          <a:xfrm xmlns:a="http://schemas.openxmlformats.org/drawingml/2006/main">
            <a:off x="6743700" y="311467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DEA71783-CBFC-4CEC-AF6F-B0FF74883CB4}"/>
              </a:ext>
            </a:extLst>
          </p:cNvPr>
          <p:cNvSpPr>
            <a:spLocks xmlns:a="http://schemas.openxmlformats.org/drawingml/2006/main" noGrp="1"/>
          </p:cNvSpPr>
          <p:nvPr/>
        </p:nvSpPr>
        <p:spPr>
          <a:xfrm xmlns:a="http://schemas.openxmlformats.org/drawingml/2006/main">
            <a:off x="7067550" y="312420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Higher-value housing plan</a:t>
            </a:r>
          </a:p>
        </p:txBody>
      </p:sp>
      <p:sp>
        <p:nvSpPr>
          <p:cNvPr id="19" name="">
            <a:extLst xmlns:a="http://schemas.openxmlformats.org/drawingml/2006/main">
              <a:ext uri="{FF2B5EF4-FFF2-40B4-BE49-F238E27FC236}">
                <a16:creationId xmlns:a16="http://schemas.microsoft.com/office/drawing/2014/main" id="{0B418C8D-7FF7-45CC-AA6E-1408C21640A0}"/>
              </a:ext>
            </a:extLst>
          </p:cNvPr>
          <p:cNvSpPr>
            <a:spLocks xmlns:a="http://schemas.openxmlformats.org/drawingml/2006/main" noGrp="1"/>
          </p:cNvSpPr>
          <p:nvPr/>
        </p:nvSpPr>
        <p:spPr>
          <a:xfrm xmlns:a="http://schemas.openxmlformats.org/drawingml/2006/main">
            <a:off x="6743700" y="360045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7A783024-EA02-4B21-B106-946F4E4DA9C3}"/>
              </a:ext>
            </a:extLst>
          </p:cNvPr>
          <p:cNvSpPr>
            <a:spLocks xmlns:a="http://schemas.openxmlformats.org/drawingml/2006/main" noGrp="1"/>
          </p:cNvSpPr>
          <p:nvPr/>
        </p:nvSpPr>
        <p:spPr>
          <a:xfrm xmlns:a="http://schemas.openxmlformats.org/drawingml/2006/main">
            <a:off x="7067550" y="3609975"/>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Pollution loss $800,000</a:t>
            </a:r>
          </a:p>
        </p:txBody>
      </p:sp>
      <p:sp>
        <p:nvSpPr>
          <p:cNvPr id="21" name="">
            <a:extLst xmlns:a="http://schemas.openxmlformats.org/drawingml/2006/main">
              <a:ext uri="{FF2B5EF4-FFF2-40B4-BE49-F238E27FC236}">
                <a16:creationId xmlns:a16="http://schemas.microsoft.com/office/drawing/2014/main" id="{C2060D94-10F7-454E-A485-0236200DA555}"/>
              </a:ext>
            </a:extLst>
          </p:cNvPr>
          <p:cNvSpPr>
            <a:spLocks xmlns:a="http://schemas.openxmlformats.org/drawingml/2006/main" noGrp="1"/>
          </p:cNvSpPr>
          <p:nvPr/>
        </p:nvSpPr>
        <p:spPr>
          <a:xfrm xmlns:a="http://schemas.openxmlformats.org/drawingml/2006/main">
            <a:off x="6743700" y="408622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0D82C039-CEAF-45A0-82CE-E184DA665164}"/>
              </a:ext>
            </a:extLst>
          </p:cNvPr>
          <p:cNvSpPr>
            <a:spLocks xmlns:a="http://schemas.openxmlformats.org/drawingml/2006/main" noGrp="1"/>
          </p:cNvSpPr>
          <p:nvPr/>
        </p:nvSpPr>
        <p:spPr>
          <a:xfrm xmlns:a="http://schemas.openxmlformats.org/drawingml/2006/main">
            <a:off x="7067550" y="409575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Needs a clean-water entitlement</a:t>
            </a:r>
          </a:p>
        </p:txBody>
      </p:sp>
      <p:sp>
        <p:nvSpPr>
          <p:cNvPr id="23" name="">
            <a:extLst xmlns:a="http://schemas.openxmlformats.org/drawingml/2006/main">
              <a:ext uri="{FF2B5EF4-FFF2-40B4-BE49-F238E27FC236}">
                <a16:creationId xmlns:a16="http://schemas.microsoft.com/office/drawing/2014/main" id="{951D61BC-DE28-4048-9BB0-4EF42FA3FC88}"/>
              </a:ext>
            </a:extLst>
          </p:cNvPr>
          <p:cNvSpPr>
            <a:spLocks xmlns:a="http://schemas.openxmlformats.org/drawingml/2006/main" noGrp="1"/>
          </p:cNvSpPr>
          <p:nvPr/>
        </p:nvSpPr>
        <p:spPr>
          <a:xfrm xmlns:a="http://schemas.openxmlformats.org/drawingml/2006/main">
            <a:off x="1200150" y="550545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B88424"/>
                </a:solidFill>
                <a:latin typeface="Georgia"/>
                <a:ea typeface="Georgia"/>
                <a:cs typeface="Georgia"/>
              </a:defRPr>
            </a:pPr>
            <a:r>
              <a:rPr sz="1950" b="1" i="0">
                <a:solidFill>
                  <a:srgbClr val="B88424"/>
                </a:solidFill>
                <a:latin typeface="Georgia"/>
                <a:ea typeface="Georgia"/>
                <a:cs typeface="Georgia"/>
              </a:rPr>
              <a:t>Which legal arrangement preserves the larger joint value?</a:t>
            </a:r>
          </a:p>
        </p:txBody>
      </p:sp>
    </p:spTree>
    <p:extLst>
      <p:ext uri="{BB962C8B-B14F-4D97-AF65-F5344CB8AC3E}">
        <p14:creationId xmlns:p14="http://schemas.microsoft.com/office/powerpoint/2010/main" val="27029725"/>
      </p:ext>
    </p:extLst>
  </p:cSld>
</p:sld>
</file>

<file path=ppt/slides/slide5.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92513D-43D6-48EA-80F2-9D04D8770A21}"/>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69B33F-2FE4-45C4-A425-35E9B8137BA3}"/>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1DB828ED-DD2B-4DC0-A469-24003EE2A764}"/>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The conflict is reciprocal</a:t>
            </a:r>
          </a:p>
        </p:txBody>
      </p:sp>
      <p:sp>
        <p:nvSpPr>
          <p:cNvPr id="4" name="">
            <a:extLst xmlns:a="http://schemas.openxmlformats.org/drawingml/2006/main">
              <a:ext uri="{FF2B5EF4-FFF2-40B4-BE49-F238E27FC236}">
                <a16:creationId xmlns:a16="http://schemas.microsoft.com/office/drawing/2014/main" id="{0E11B639-65C4-48AD-86B2-4A9200101EB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483D165-DD17-4968-A1C5-258802C696FC}"/>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660F141F-303C-404F-83DB-817AE11948B5}"/>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bb8109ba13f4d7d"/>
          <a:stretch xmlns:a="http://schemas.openxmlformats.org/drawingml/2006/main"/>
        </p:blipFill>
        <p:spPr>
          <a:xfrm xmlns:a="http://schemas.openxmlformats.org/drawingml/2006/main">
            <a:off x="2394459" y="1352550"/>
            <a:ext cx="7403081"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C03042A-A910-4DA8-9584-655E7A0070E3}"/>
              </a:ext>
            </a:extLst>
          </p:cNvPr>
          <p:cNvSpPr>
            <a:spLocks xmlns:a="http://schemas.openxmlformats.org/drawingml/2006/main" noGrp="1"/>
          </p:cNvSpPr>
          <p:nvPr/>
        </p:nvSpPr>
        <p:spPr>
          <a:xfrm xmlns:a="http://schemas.openxmlformats.org/drawingml/2006/main">
            <a:off x="1200150" y="581025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Stopping pollution harms one use; allowing pollution harms another.</a:t>
            </a:r>
          </a:p>
        </p:txBody>
      </p:sp>
    </p:spTree>
    <p:extLst>
      <p:ext uri="{BB962C8B-B14F-4D97-AF65-F5344CB8AC3E}">
        <p14:creationId xmlns:p14="http://schemas.microsoft.com/office/powerpoint/2010/main" val="68231097"/>
      </p:ext>
    </p:extLst>
  </p:cSld>
</p:sld>
</file>

<file path=ppt/slides/slide6.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D0132B-C421-4237-B8AE-E88A4DBC0ECC}"/>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238DAD1-AB18-4B7D-9ED0-9C613395E982}"/>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00C4EDC2-FE21-4829-A1D0-86A472D4CF69}"/>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The Pigouvian first answer</a:t>
            </a:r>
          </a:p>
        </p:txBody>
      </p:sp>
      <p:sp>
        <p:nvSpPr>
          <p:cNvPr id="4" name="">
            <a:extLst xmlns:a="http://schemas.openxmlformats.org/drawingml/2006/main">
              <a:ext uri="{FF2B5EF4-FFF2-40B4-BE49-F238E27FC236}">
                <a16:creationId xmlns:a16="http://schemas.microsoft.com/office/drawing/2014/main" id="{F22625FF-C292-49DA-8C0F-CCB2F654E57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E9E7188-459E-4AFA-9022-F8624ECB9657}"/>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BF4D2B0B-03FB-4A58-A4F5-E2373BBC24AE}"/>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6</a:t>
            </a:r>
          </a:p>
        </p:txBody>
      </p:sp>
      <p:sp>
        <p:nvSpPr>
          <p:cNvPr id="7" name="">
            <a:extLst xmlns:a="http://schemas.openxmlformats.org/drawingml/2006/main">
              <a:ext uri="{FF2B5EF4-FFF2-40B4-BE49-F238E27FC236}">
                <a16:creationId xmlns:a16="http://schemas.microsoft.com/office/drawing/2014/main" id="{2F70A06D-56DF-4139-B138-A5209B5FB7C9}"/>
              </a:ext>
            </a:extLst>
          </p:cNvPr>
          <p:cNvSpPr>
            <a:spLocks xmlns:a="http://schemas.openxmlformats.org/drawingml/2006/main" noGrp="1"/>
          </p:cNvSpPr>
          <p:nvPr/>
        </p:nvSpPr>
        <p:spPr>
          <a:xfrm xmlns:a="http://schemas.openxmlformats.org/drawingml/2006/main">
            <a:off x="1219200" y="1638300"/>
            <a:ext cx="975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EXTERNALITY LOGIC</a:t>
            </a:r>
          </a:p>
        </p:txBody>
      </p:sp>
      <p:sp>
        <p:nvSpPr>
          <p:cNvPr id="8" name="">
            <a:extLst xmlns:a="http://schemas.openxmlformats.org/drawingml/2006/main">
              <a:ext uri="{FF2B5EF4-FFF2-40B4-BE49-F238E27FC236}">
                <a16:creationId xmlns:a16="http://schemas.microsoft.com/office/drawing/2014/main" id="{4176958C-3988-469E-B43C-74862DA2DAA4}"/>
              </a:ext>
            </a:extLst>
          </p:cNvPr>
          <p:cNvSpPr>
            <a:spLocks xmlns:a="http://schemas.openxmlformats.org/drawingml/2006/main" noGrp="1"/>
          </p:cNvSpPr>
          <p:nvPr/>
        </p:nvSpPr>
        <p:spPr>
          <a:xfrm xmlns:a="http://schemas.openxmlformats.org/drawingml/2006/main">
            <a:off x="1200150" y="2152650"/>
            <a:ext cx="97917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3150" b="1" i="0">
                <a:solidFill>
                  <a:srgbClr val="173F38"/>
                </a:solidFill>
                <a:latin typeface="Georgia"/>
                <a:ea typeface="Georgia"/>
                <a:cs typeface="Georgia"/>
              </a:defRPr>
            </a:pPr>
            <a:r>
              <a:rPr sz="3150" b="1" i="0">
                <a:solidFill>
                  <a:srgbClr val="173F38"/>
                </a:solidFill>
                <a:latin typeface="Georgia"/>
                <a:ea typeface="Georgia"/>
                <a:cs typeface="Georgia"/>
              </a:rPr>
              <a:t>Make the decision maker face the social cost imposed on others.</a:t>
            </a:r>
          </a:p>
        </p:txBody>
      </p:sp>
      <p:sp>
        <p:nvSpPr>
          <p:cNvPr id="9" name="">
            <a:extLst xmlns:a="http://schemas.openxmlformats.org/drawingml/2006/main">
              <a:ext uri="{FF2B5EF4-FFF2-40B4-BE49-F238E27FC236}">
                <a16:creationId xmlns:a16="http://schemas.microsoft.com/office/drawing/2014/main" id="{2D63CF49-331B-44BA-9153-9244203C081F}"/>
              </a:ext>
            </a:extLst>
          </p:cNvPr>
          <p:cNvSpPr>
            <a:spLocks xmlns:a="http://schemas.openxmlformats.org/drawingml/2006/main" noGrp="1"/>
          </p:cNvSpPr>
          <p:nvPr/>
        </p:nvSpPr>
        <p:spPr>
          <a:xfrm xmlns:a="http://schemas.openxmlformats.org/drawingml/2006/main">
            <a:off x="1562100" y="4629150"/>
            <a:ext cx="906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586A73"/>
                </a:solidFill>
                <a:latin typeface="Aptos"/>
                <a:ea typeface="Aptos"/>
                <a:cs typeface="Aptos"/>
              </a:defRPr>
            </a:pPr>
            <a:r>
              <a:rPr sz="1800" b="0" i="0">
                <a:solidFill>
                  <a:srgbClr val="586A73"/>
                </a:solidFill>
                <a:latin typeface="Aptos"/>
                <a:ea typeface="Aptos"/>
                <a:cs typeface="Aptos"/>
              </a:rPr>
              <a:t>A tax, liability rule, standard, or property right may internalize harm, but each requires information and enforcement.</a:t>
            </a:r>
          </a:p>
        </p:txBody>
      </p:sp>
    </p:spTree>
    <p:extLst>
      <p:ext uri="{BB962C8B-B14F-4D97-AF65-F5344CB8AC3E}">
        <p14:creationId xmlns:p14="http://schemas.microsoft.com/office/powerpoint/2010/main" val="951095162"/>
      </p:ext>
    </p:extLst>
  </p:cSld>
</p:sld>
</file>

<file path=ppt/slides/slide7.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DD6E9F4-4F33-498E-A1B6-5507F7013169}"/>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AAF528-A515-42F0-A1D3-5E4C45E97666}"/>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095C28FF-AA64-4814-A5AE-7F6F062EC965}"/>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An entitlement has several dimensions</a:t>
            </a:r>
          </a:p>
        </p:txBody>
      </p:sp>
      <p:sp>
        <p:nvSpPr>
          <p:cNvPr id="4" name="">
            <a:extLst xmlns:a="http://schemas.openxmlformats.org/drawingml/2006/main">
              <a:ext uri="{FF2B5EF4-FFF2-40B4-BE49-F238E27FC236}">
                <a16:creationId xmlns:a16="http://schemas.microsoft.com/office/drawing/2014/main" id="{D0AF0CAC-3518-48B6-8CA1-4387B46216D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8DE9872-96A4-44D4-AABC-B825D8745769}"/>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5B98997D-951E-4B51-930E-541EA516D6A3}"/>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7</a:t>
            </a:r>
          </a:p>
        </p:txBody>
      </p:sp>
      <p:sp>
        <p:nvSpPr>
          <p:cNvPr id="7" name="">
            <a:extLst xmlns:a="http://schemas.openxmlformats.org/drawingml/2006/main">
              <a:ext uri="{FF2B5EF4-FFF2-40B4-BE49-F238E27FC236}">
                <a16:creationId xmlns:a16="http://schemas.microsoft.com/office/drawing/2014/main" id="{C7DF9B63-C351-4C25-8760-E569A68BD338}"/>
              </a:ext>
            </a:extLst>
          </p:cNvPr>
          <p:cNvSpPr>
            <a:spLocks xmlns:a="http://schemas.openxmlformats.org/drawingml/2006/main" noGrp="1"/>
          </p:cNvSpPr>
          <p:nvPr/>
        </p:nvSpPr>
        <p:spPr>
          <a:xfrm xmlns:a="http://schemas.openxmlformats.org/drawingml/2006/main">
            <a:off x="6667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HOLDER</a:t>
            </a:r>
          </a:p>
        </p:txBody>
      </p:sp>
      <p:sp>
        <p:nvSpPr>
          <p:cNvPr id="8" name="">
            <a:extLst xmlns:a="http://schemas.openxmlformats.org/drawingml/2006/main">
              <a:ext uri="{FF2B5EF4-FFF2-40B4-BE49-F238E27FC236}">
                <a16:creationId xmlns:a16="http://schemas.microsoft.com/office/drawing/2014/main" id="{D21B82BE-AB84-4134-973C-881F2DFEE410}"/>
              </a:ext>
            </a:extLst>
          </p:cNvPr>
          <p:cNvSpPr>
            <a:spLocks xmlns:a="http://schemas.openxmlformats.org/drawingml/2006/main" noGrp="1"/>
          </p:cNvSpPr>
          <p:nvPr/>
        </p:nvSpPr>
        <p:spPr>
          <a:xfrm xmlns:a="http://schemas.openxmlformats.org/drawingml/2006/main">
            <a:off x="666750" y="2228850"/>
            <a:ext cx="3302000" cy="26098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33D75503-68C7-4FB0-B822-3CA8E5661D05}"/>
              </a:ext>
            </a:extLst>
          </p:cNvPr>
          <p:cNvSpPr>
            <a:spLocks xmlns:a="http://schemas.openxmlformats.org/drawingml/2006/main" noGrp="1"/>
          </p:cNvSpPr>
          <p:nvPr/>
        </p:nvSpPr>
        <p:spPr>
          <a:xfrm xmlns:a="http://schemas.openxmlformats.org/drawingml/2006/main">
            <a:off x="8572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Who begins with the protected claim?</a:t>
            </a:r>
          </a:p>
        </p:txBody>
      </p:sp>
      <p:sp>
        <p:nvSpPr>
          <p:cNvPr id="10" name="">
            <a:extLst xmlns:a="http://schemas.openxmlformats.org/drawingml/2006/main">
              <a:ext uri="{FF2B5EF4-FFF2-40B4-BE49-F238E27FC236}">
                <a16:creationId xmlns:a16="http://schemas.microsoft.com/office/drawing/2014/main" id="{03B16186-75D2-4874-8CB0-0A28964108AA}"/>
              </a:ext>
            </a:extLst>
          </p:cNvPr>
          <p:cNvSpPr>
            <a:spLocks xmlns:a="http://schemas.openxmlformats.org/drawingml/2006/main" noGrp="1"/>
          </p:cNvSpPr>
          <p:nvPr/>
        </p:nvSpPr>
        <p:spPr>
          <a:xfrm xmlns:a="http://schemas.openxmlformats.org/drawingml/2006/main">
            <a:off x="444500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CONTENT</a:t>
            </a:r>
          </a:p>
        </p:txBody>
      </p:sp>
      <p:sp>
        <p:nvSpPr>
          <p:cNvPr id="11" name="">
            <a:extLst xmlns:a="http://schemas.openxmlformats.org/drawingml/2006/main">
              <a:ext uri="{FF2B5EF4-FFF2-40B4-BE49-F238E27FC236}">
                <a16:creationId xmlns:a16="http://schemas.microsoft.com/office/drawing/2014/main" id="{C843E5CC-FDA3-4BCA-A946-4E7ED82294B9}"/>
              </a:ext>
            </a:extLst>
          </p:cNvPr>
          <p:cNvSpPr>
            <a:spLocks xmlns:a="http://schemas.openxmlformats.org/drawingml/2006/main" noGrp="1"/>
          </p:cNvSpPr>
          <p:nvPr/>
        </p:nvSpPr>
        <p:spPr>
          <a:xfrm xmlns:a="http://schemas.openxmlformats.org/drawingml/2006/main">
            <a:off x="4445000" y="2228850"/>
            <a:ext cx="3302000" cy="26098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50CBC014-95AC-4C9F-B566-F1EE2F5BF8DE}"/>
              </a:ext>
            </a:extLst>
          </p:cNvPr>
          <p:cNvSpPr>
            <a:spLocks xmlns:a="http://schemas.openxmlformats.org/drawingml/2006/main" noGrp="1"/>
          </p:cNvSpPr>
          <p:nvPr/>
        </p:nvSpPr>
        <p:spPr>
          <a:xfrm xmlns:a="http://schemas.openxmlformats.org/drawingml/2006/main">
            <a:off x="463550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What conduct may occur or be stopped?</a:t>
            </a:r>
          </a:p>
        </p:txBody>
      </p:sp>
      <p:sp>
        <p:nvSpPr>
          <p:cNvPr id="13" name="">
            <a:extLst xmlns:a="http://schemas.openxmlformats.org/drawingml/2006/main">
              <a:ext uri="{FF2B5EF4-FFF2-40B4-BE49-F238E27FC236}">
                <a16:creationId xmlns:a16="http://schemas.microsoft.com/office/drawing/2014/main" id="{574B3111-D657-40A2-90C7-A350920DA5F6}"/>
              </a:ext>
            </a:extLst>
          </p:cNvPr>
          <p:cNvSpPr>
            <a:spLocks xmlns:a="http://schemas.openxmlformats.org/drawingml/2006/main" noGrp="1"/>
          </p:cNvSpPr>
          <p:nvPr/>
        </p:nvSpPr>
        <p:spPr>
          <a:xfrm xmlns:a="http://schemas.openxmlformats.org/drawingml/2006/main">
            <a:off x="82232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75530D"/>
                </a:solidFill>
                <a:latin typeface="Aptos"/>
                <a:ea typeface="Aptos"/>
                <a:cs typeface="Aptos"/>
              </a:defRPr>
            </a:pPr>
            <a:r>
              <a:rPr sz="1275" b="1" i="0">
                <a:solidFill>
                  <a:srgbClr val="75530D"/>
                </a:solidFill>
                <a:latin typeface="Aptos"/>
                <a:ea typeface="Aptos"/>
                <a:cs typeface="Aptos"/>
              </a:rPr>
              <a:t>PROTECTION</a:t>
            </a:r>
          </a:p>
        </p:txBody>
      </p:sp>
      <p:sp>
        <p:nvSpPr>
          <p:cNvPr id="14" name="">
            <a:extLst xmlns:a="http://schemas.openxmlformats.org/drawingml/2006/main">
              <a:ext uri="{FF2B5EF4-FFF2-40B4-BE49-F238E27FC236}">
                <a16:creationId xmlns:a16="http://schemas.microsoft.com/office/drawing/2014/main" id="{5CBC541E-A5AE-4CF1-8DA2-AFDAD9E04FD7}"/>
              </a:ext>
            </a:extLst>
          </p:cNvPr>
          <p:cNvSpPr>
            <a:spLocks xmlns:a="http://schemas.openxmlformats.org/drawingml/2006/main" noGrp="1"/>
          </p:cNvSpPr>
          <p:nvPr/>
        </p:nvSpPr>
        <p:spPr>
          <a:xfrm xmlns:a="http://schemas.openxmlformats.org/drawingml/2006/main">
            <a:off x="8223250" y="2228850"/>
            <a:ext cx="3302000" cy="26098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5" name="">
            <a:extLst xmlns:a="http://schemas.openxmlformats.org/drawingml/2006/main">
              <a:ext uri="{FF2B5EF4-FFF2-40B4-BE49-F238E27FC236}">
                <a16:creationId xmlns:a16="http://schemas.microsoft.com/office/drawing/2014/main" id="{A76B6CBB-6A7A-40D5-8C94-190E8DB9C894}"/>
              </a:ext>
            </a:extLst>
          </p:cNvPr>
          <p:cNvSpPr>
            <a:spLocks xmlns:a="http://schemas.openxmlformats.org/drawingml/2006/main" noGrp="1"/>
          </p:cNvSpPr>
          <p:nvPr/>
        </p:nvSpPr>
        <p:spPr>
          <a:xfrm xmlns:a="http://schemas.openxmlformats.org/drawingml/2006/main">
            <a:off x="84137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Damages, injunction, regulation, or consent?</a:t>
            </a:r>
          </a:p>
        </p:txBody>
      </p:sp>
      <p:sp>
        <p:nvSpPr>
          <p:cNvPr id="16" name="">
            <a:extLst xmlns:a="http://schemas.openxmlformats.org/drawingml/2006/main">
              <a:ext uri="{FF2B5EF4-FFF2-40B4-BE49-F238E27FC236}">
                <a16:creationId xmlns:a16="http://schemas.microsoft.com/office/drawing/2014/main" id="{5329C019-DCB5-4B5D-B589-22A10C3C371A}"/>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‘The right’ is incomplete until law specifies its holder, content, and remedy.</a:t>
            </a:r>
          </a:p>
        </p:txBody>
      </p:sp>
    </p:spTree>
    <p:extLst>
      <p:ext uri="{BB962C8B-B14F-4D97-AF65-F5344CB8AC3E}">
        <p14:creationId xmlns:p14="http://schemas.microsoft.com/office/powerpoint/2010/main" val="1766235818"/>
      </p:ext>
    </p:extLst>
  </p:cSld>
</p:sld>
</file>

<file path=ppt/slides/slide8.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1DACA7-D18B-4A45-BD18-AE03E94B726F}"/>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BB804A-50AE-4C7E-9DE9-C12A70DDA15E}"/>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6EE260D6-E03D-4AAE-80A5-21672483F6CB}"/>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Reciprocal harm changes the question</a:t>
            </a:r>
          </a:p>
        </p:txBody>
      </p:sp>
      <p:sp>
        <p:nvSpPr>
          <p:cNvPr id="4" name="">
            <a:extLst xmlns:a="http://schemas.openxmlformats.org/drawingml/2006/main">
              <a:ext uri="{FF2B5EF4-FFF2-40B4-BE49-F238E27FC236}">
                <a16:creationId xmlns:a16="http://schemas.microsoft.com/office/drawing/2014/main" id="{0BEA1508-679D-49DE-81B9-501E2BCBF1A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D7A2180-DD7C-4A95-B3FD-CB2AA4A0A412}"/>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408B0122-CC97-4738-A33F-187064FE7FE4}"/>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8</a:t>
            </a:r>
          </a:p>
        </p:txBody>
      </p:sp>
      <p:sp>
        <p:nvSpPr>
          <p:cNvPr id="7" name="">
            <a:extLst xmlns:a="http://schemas.openxmlformats.org/drawingml/2006/main">
              <a:ext uri="{FF2B5EF4-FFF2-40B4-BE49-F238E27FC236}">
                <a16:creationId xmlns:a16="http://schemas.microsoft.com/office/drawing/2014/main" id="{A090C60C-D85A-40A0-B6DF-BCE57CD5E57B}"/>
              </a:ext>
            </a:extLst>
          </p:cNvPr>
          <p:cNvSpPr>
            <a:spLocks xmlns:a="http://schemas.openxmlformats.org/drawingml/2006/main" noGrp="1"/>
          </p:cNvSpPr>
          <p:nvPr/>
        </p:nvSpPr>
        <p:spPr>
          <a:xfrm xmlns:a="http://schemas.openxmlformats.org/drawingml/2006/main">
            <a:off x="1200150" y="2152650"/>
            <a:ext cx="97917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3150" b="1" i="0">
                <a:solidFill>
                  <a:srgbClr val="173F38"/>
                </a:solidFill>
                <a:latin typeface="Georgia"/>
                <a:ea typeface="Georgia"/>
                <a:cs typeface="Georgia"/>
              </a:defRPr>
            </a:pPr>
            <a:r>
              <a:rPr sz="3150" b="1" i="0">
                <a:solidFill>
                  <a:srgbClr val="173F38"/>
                </a:solidFill>
                <a:latin typeface="Georgia"/>
                <a:ea typeface="Georgia"/>
                <a:cs typeface="Georgia"/>
              </a:rPr>
              <a:t>The problem is not simply how to stop A from harming B.</a:t>
            </a:r>
          </a:p>
        </p:txBody>
      </p:sp>
      <p:sp>
        <p:nvSpPr>
          <p:cNvPr id="8" name="">
            <a:extLst xmlns:a="http://schemas.openxmlformats.org/drawingml/2006/main">
              <a:ext uri="{FF2B5EF4-FFF2-40B4-BE49-F238E27FC236}">
                <a16:creationId xmlns:a16="http://schemas.microsoft.com/office/drawing/2014/main" id="{030595F4-3B53-4965-B2E2-CB5FB1EC71FF}"/>
              </a:ext>
            </a:extLst>
          </p:cNvPr>
          <p:cNvSpPr>
            <a:spLocks xmlns:a="http://schemas.openxmlformats.org/drawingml/2006/main" noGrp="1"/>
          </p:cNvSpPr>
          <p:nvPr/>
        </p:nvSpPr>
        <p:spPr>
          <a:xfrm xmlns:a="http://schemas.openxmlformats.org/drawingml/2006/main">
            <a:off x="1562100" y="4629150"/>
            <a:ext cx="906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586A73"/>
                </a:solidFill>
                <a:latin typeface="Aptos"/>
                <a:ea typeface="Aptos"/>
                <a:cs typeface="Aptos"/>
              </a:defRPr>
            </a:pPr>
            <a:r>
              <a:rPr sz="1800" b="0" i="0">
                <a:solidFill>
                  <a:srgbClr val="586A73"/>
                </a:solidFill>
                <a:latin typeface="Aptos"/>
                <a:ea typeface="Aptos"/>
                <a:cs typeface="Aptos"/>
              </a:rPr>
              <a:t>It is how to avoid the more costly interference when incompatible activities compete for the same resource.</a:t>
            </a:r>
          </a:p>
        </p:txBody>
      </p:sp>
    </p:spTree>
    <p:extLst>
      <p:ext uri="{BB962C8B-B14F-4D97-AF65-F5344CB8AC3E}">
        <p14:creationId xmlns:p14="http://schemas.microsoft.com/office/powerpoint/2010/main" val="1272919091"/>
      </p:ext>
    </p:extLst>
  </p:cSld>
</p:sld>
</file>

<file path=ppt/slides/slide9.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58F8B54-B06B-46FE-8B4B-1D5FC4201903}"/>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EDD94A-5D87-40EC-9202-A1981F1522FF}"/>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E098A3DB-099F-4032-B785-CB5F676B89A2}"/>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569"/>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Cooperative surplus measures gains from rearrangement</a:t>
            </a:r>
          </a:p>
        </p:txBody>
      </p:sp>
      <p:sp>
        <p:nvSpPr>
          <p:cNvPr id="4" name="">
            <a:extLst xmlns:a="http://schemas.openxmlformats.org/drawingml/2006/main">
              <a:ext uri="{FF2B5EF4-FFF2-40B4-BE49-F238E27FC236}">
                <a16:creationId xmlns:a16="http://schemas.microsoft.com/office/drawing/2014/main" id="{11F4C0A4-299E-4A3D-B53C-99CFB03AF41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72977D0-A9DE-4207-AB7A-C6793147D071}"/>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F5985E17-8E8D-4746-A238-51285C99550B}"/>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9</a:t>
            </a:r>
          </a:p>
        </p:txBody>
      </p:sp>
      <p:sp>
        <p:nvSpPr>
          <p:cNvPr id="7" name="">
            <a:extLst xmlns:a="http://schemas.openxmlformats.org/drawingml/2006/main">
              <a:ext uri="{FF2B5EF4-FFF2-40B4-BE49-F238E27FC236}">
                <a16:creationId xmlns:a16="http://schemas.microsoft.com/office/drawing/2014/main" id="{C1021443-80A3-482B-B9A7-13ECAA1D1517}"/>
              </a:ext>
            </a:extLst>
          </p:cNvPr>
          <p:cNvSpPr>
            <a:spLocks xmlns:a="http://schemas.openxmlformats.org/drawingml/2006/main" noGrp="1"/>
          </p:cNvSpPr>
          <p:nvPr/>
        </p:nvSpPr>
        <p:spPr>
          <a:xfrm xmlns:a="http://schemas.openxmlformats.org/drawingml/2006/main">
            <a:off x="2476500" y="15049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6058"/>
          </a:bodyPr>
          <a:lstStyle xmlns:a="http://schemas.openxmlformats.org/drawingml/2006/main"/>
          <a:p xmlns:a="http://schemas.openxmlformats.org/drawingml/2006/main">
            <a:pPr algn="ctr">
              <a:lnSpc>
                <a:spcPct val="105000"/>
              </a:lnSpc>
              <a:buNone/>
              <a:defRPr sz="3600" b="1" i="0">
                <a:solidFill>
                  <a:srgbClr val="173F38"/>
                </a:solidFill>
                <a:latin typeface="Georgia"/>
                <a:ea typeface="Georgia"/>
                <a:cs typeface="Georgia"/>
              </a:defRPr>
            </a:pPr>
            <a:r>
              <a:rPr sz="3600" b="1" i="0">
                <a:solidFill>
                  <a:srgbClr val="173F38"/>
                </a:solidFill>
                <a:latin typeface="Georgia"/>
                <a:ea typeface="Georgia"/>
                <a:cs typeface="Georgia"/>
              </a:rPr>
              <a:t>Cooperative surplus = gain from change − cost of change</a:t>
            </a:r>
          </a:p>
        </p:txBody>
      </p:sp>
      <p:sp>
        <p:nvSpPr>
          <p:cNvPr id="8" name="">
            <a:extLst xmlns:a="http://schemas.openxmlformats.org/drawingml/2006/main">
              <a:ext uri="{FF2B5EF4-FFF2-40B4-BE49-F238E27FC236}">
                <a16:creationId xmlns:a16="http://schemas.microsoft.com/office/drawing/2014/main" id="{F97CFCC0-6844-4DFB-9D30-266C555D582D}"/>
              </a:ext>
            </a:extLst>
          </p:cNvPr>
          <p:cNvSpPr>
            <a:spLocks xmlns:a="http://schemas.openxmlformats.org/drawingml/2006/main" noGrp="1"/>
          </p:cNvSpPr>
          <p:nvPr/>
        </p:nvSpPr>
        <p:spPr>
          <a:xfrm xmlns:a="http://schemas.openxmlformats.org/drawingml/2006/main">
            <a:off x="1143000" y="2724150"/>
            <a:ext cx="4791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GAIN</a:t>
            </a:r>
          </a:p>
        </p:txBody>
      </p:sp>
      <p:sp>
        <p:nvSpPr>
          <p:cNvPr id="9" name="">
            <a:extLst xmlns:a="http://schemas.openxmlformats.org/drawingml/2006/main">
              <a:ext uri="{FF2B5EF4-FFF2-40B4-BE49-F238E27FC236}">
                <a16:creationId xmlns:a16="http://schemas.microsoft.com/office/drawing/2014/main" id="{29E567F7-CB2C-4C58-AA38-1A1892E67B8A}"/>
              </a:ext>
            </a:extLst>
          </p:cNvPr>
          <p:cNvSpPr>
            <a:spLocks xmlns:a="http://schemas.openxmlformats.org/drawingml/2006/main" noGrp="1"/>
          </p:cNvSpPr>
          <p:nvPr/>
        </p:nvSpPr>
        <p:spPr>
          <a:xfrm xmlns:a="http://schemas.openxmlformats.org/drawingml/2006/main">
            <a:off x="1143000" y="3162300"/>
            <a:ext cx="4791075" cy="12763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10" name="">
            <a:extLst xmlns:a="http://schemas.openxmlformats.org/drawingml/2006/main">
              <a:ext uri="{FF2B5EF4-FFF2-40B4-BE49-F238E27FC236}">
                <a16:creationId xmlns:a16="http://schemas.microsoft.com/office/drawing/2014/main" id="{0F04DD86-4F29-46F1-A897-F4D5EFE90E9A}"/>
              </a:ext>
            </a:extLst>
          </p:cNvPr>
          <p:cNvSpPr>
            <a:spLocks xmlns:a="http://schemas.openxmlformats.org/drawingml/2006/main" noGrp="1"/>
          </p:cNvSpPr>
          <p:nvPr/>
        </p:nvSpPr>
        <p:spPr>
          <a:xfrm xmlns:a="http://schemas.openxmlformats.org/drawingml/2006/main">
            <a:off x="1333500" y="3371850"/>
            <a:ext cx="44100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$800,000 development loss avoided</a:t>
            </a:r>
          </a:p>
        </p:txBody>
      </p:sp>
      <p:sp>
        <p:nvSpPr>
          <p:cNvPr id="11" name="">
            <a:extLst xmlns:a="http://schemas.openxmlformats.org/drawingml/2006/main">
              <a:ext uri="{FF2B5EF4-FFF2-40B4-BE49-F238E27FC236}">
                <a16:creationId xmlns:a16="http://schemas.microsoft.com/office/drawing/2014/main" id="{D6EA58FF-605E-4FC8-B543-D84D9A692FE1}"/>
              </a:ext>
            </a:extLst>
          </p:cNvPr>
          <p:cNvSpPr>
            <a:spLocks xmlns:a="http://schemas.openxmlformats.org/drawingml/2006/main" noGrp="1"/>
          </p:cNvSpPr>
          <p:nvPr/>
        </p:nvSpPr>
        <p:spPr>
          <a:xfrm xmlns:a="http://schemas.openxmlformats.org/drawingml/2006/main">
            <a:off x="6257925" y="2724150"/>
            <a:ext cx="4791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COST</a:t>
            </a:r>
          </a:p>
        </p:txBody>
      </p:sp>
      <p:sp>
        <p:nvSpPr>
          <p:cNvPr id="12" name="">
            <a:extLst xmlns:a="http://schemas.openxmlformats.org/drawingml/2006/main">
              <a:ext uri="{FF2B5EF4-FFF2-40B4-BE49-F238E27FC236}">
                <a16:creationId xmlns:a16="http://schemas.microsoft.com/office/drawing/2014/main" id="{57948934-83E8-4DB4-9C49-A49A5E607F6F}"/>
              </a:ext>
            </a:extLst>
          </p:cNvPr>
          <p:cNvSpPr>
            <a:spLocks xmlns:a="http://schemas.openxmlformats.org/drawingml/2006/main" noGrp="1"/>
          </p:cNvSpPr>
          <p:nvPr/>
        </p:nvSpPr>
        <p:spPr>
          <a:xfrm xmlns:a="http://schemas.openxmlformats.org/drawingml/2006/main">
            <a:off x="6257925" y="3162300"/>
            <a:ext cx="4791075" cy="12763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3" name="">
            <a:extLst xmlns:a="http://schemas.openxmlformats.org/drawingml/2006/main">
              <a:ext uri="{FF2B5EF4-FFF2-40B4-BE49-F238E27FC236}">
                <a16:creationId xmlns:a16="http://schemas.microsoft.com/office/drawing/2014/main" id="{F3065706-9491-4CAA-A714-BE8540EDE2BD}"/>
              </a:ext>
            </a:extLst>
          </p:cNvPr>
          <p:cNvSpPr>
            <a:spLocks xmlns:a="http://schemas.openxmlformats.org/drawingml/2006/main" noGrp="1"/>
          </p:cNvSpPr>
          <p:nvPr/>
        </p:nvSpPr>
        <p:spPr>
          <a:xfrm xmlns:a="http://schemas.openxmlformats.org/drawingml/2006/main">
            <a:off x="6448425" y="3371850"/>
            <a:ext cx="44100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$500,000 factory avoidance</a:t>
            </a:r>
          </a:p>
        </p:txBody>
      </p:sp>
      <p:sp>
        <p:nvSpPr>
          <p:cNvPr id="14" name="">
            <a:extLst xmlns:a="http://schemas.openxmlformats.org/drawingml/2006/main">
              <a:ext uri="{FF2B5EF4-FFF2-40B4-BE49-F238E27FC236}">
                <a16:creationId xmlns:a16="http://schemas.microsoft.com/office/drawing/2014/main" id="{5EEF0D09-06E2-4C8D-ACF9-EEEE05067D1E}"/>
              </a:ext>
            </a:extLst>
          </p:cNvPr>
          <p:cNvSpPr>
            <a:spLocks xmlns:a="http://schemas.openxmlformats.org/drawingml/2006/main" noGrp="1"/>
          </p:cNvSpPr>
          <p:nvPr/>
        </p:nvSpPr>
        <p:spPr>
          <a:xfrm xmlns:a="http://schemas.openxmlformats.org/drawingml/2006/main">
            <a:off x="1619250" y="4724400"/>
            <a:ext cx="895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025" b="1" i="0">
                <a:solidFill>
                  <a:srgbClr val="17242D"/>
                </a:solidFill>
                <a:latin typeface="Georgia"/>
                <a:ea typeface="Georgia"/>
                <a:cs typeface="Georgia"/>
              </a:defRPr>
            </a:pPr>
            <a:r>
              <a:rPr sz="2025" b="1" i="0">
                <a:solidFill>
                  <a:srgbClr val="17242D"/>
                </a:solidFill>
                <a:latin typeface="Georgia"/>
                <a:ea typeface="Georgia"/>
                <a:cs typeface="Georgia"/>
              </a:rPr>
              <a:t>$800,000 − $500,000 = $300,000 cooperative surplus</a:t>
            </a:r>
          </a:p>
        </p:txBody>
      </p:sp>
      <p:sp>
        <p:nvSpPr>
          <p:cNvPr id="15" name="">
            <a:extLst xmlns:a="http://schemas.openxmlformats.org/drawingml/2006/main">
              <a:ext uri="{FF2B5EF4-FFF2-40B4-BE49-F238E27FC236}">
                <a16:creationId xmlns:a16="http://schemas.microsoft.com/office/drawing/2014/main" id="{AFAB0911-E51E-41C0-8950-F1F950D86601}"/>
              </a:ext>
            </a:extLst>
          </p:cNvPr>
          <p:cNvSpPr>
            <a:spLocks xmlns:a="http://schemas.openxmlformats.org/drawingml/2006/main" noGrp="1"/>
          </p:cNvSpPr>
          <p:nvPr/>
        </p:nvSpPr>
        <p:spPr>
          <a:xfrm xmlns:a="http://schemas.openxmlformats.org/drawingml/2006/main">
            <a:off x="1200150" y="56007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There is room for a bargain that makes both parties better off.</a:t>
            </a:r>
          </a:p>
        </p:txBody>
      </p:sp>
    </p:spTree>
    <p:extLst>
      <p:ext uri="{BB962C8B-B14F-4D97-AF65-F5344CB8AC3E}">
        <p14:creationId xmlns:p14="http://schemas.microsoft.com/office/powerpoint/2010/main" val="783560727"/>
      </p:ext>
    </p:extLst>
  </p:cSld>
</p:sld>
</file>

<file path=ppt/slides/slide10.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7A73688-837D-4DA7-99FC-A2CA7F9EAD70}"/>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B0514FF-4962-40B6-8DBF-5906E902761C}"/>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FCAC4100-1E52-4485-B949-7B3921B30D7B}"/>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The bargaining range is bounded by opportunity costs</a:t>
            </a:r>
          </a:p>
        </p:txBody>
      </p:sp>
      <p:sp>
        <p:nvSpPr>
          <p:cNvPr id="4" name="">
            <a:extLst xmlns:a="http://schemas.openxmlformats.org/drawingml/2006/main">
              <a:ext uri="{FF2B5EF4-FFF2-40B4-BE49-F238E27FC236}">
                <a16:creationId xmlns:a16="http://schemas.microsoft.com/office/drawing/2014/main" id="{E5A5967B-FE11-4A12-B4C8-65063A2B0AE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7E45928-3338-4827-8BCF-81BB5BC6DC28}"/>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BC06B921-D132-4068-9720-F198637E76BE}"/>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45B67EE5-E10C-4497-A8A7-4BD2B11C35BB}"/>
              </a:ext>
            </a:extLst>
          </p:cNvPr>
          <p:cNvSpPr>
            <a:spLocks xmlns:a="http://schemas.openxmlformats.org/drawingml/2006/main" noGrp="1"/>
          </p:cNvSpPr>
          <p:nvPr/>
        </p:nvSpPr>
        <p:spPr>
          <a:xfrm xmlns:a="http://schemas.openxmlformats.org/drawingml/2006/main">
            <a:off x="6667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FACTORY MINIMUM</a:t>
            </a:r>
          </a:p>
        </p:txBody>
      </p:sp>
      <p:sp>
        <p:nvSpPr>
          <p:cNvPr id="8" name="">
            <a:extLst xmlns:a="http://schemas.openxmlformats.org/drawingml/2006/main">
              <a:ext uri="{FF2B5EF4-FFF2-40B4-BE49-F238E27FC236}">
                <a16:creationId xmlns:a16="http://schemas.microsoft.com/office/drawing/2014/main" id="{10008A1A-7C7B-4F93-9D3B-767809D2079C}"/>
              </a:ext>
            </a:extLst>
          </p:cNvPr>
          <p:cNvSpPr>
            <a:spLocks xmlns:a="http://schemas.openxmlformats.org/drawingml/2006/main" noGrp="1"/>
          </p:cNvSpPr>
          <p:nvPr/>
        </p:nvSpPr>
        <p:spPr>
          <a:xfrm xmlns:a="http://schemas.openxmlformats.org/drawingml/2006/main">
            <a:off x="666750" y="2228850"/>
            <a:ext cx="3302000" cy="26098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0FD2F9D8-CC20-4016-92D9-A4DB7641984D}"/>
              </a:ext>
            </a:extLst>
          </p:cNvPr>
          <p:cNvSpPr>
            <a:spLocks xmlns:a="http://schemas.openxmlformats.org/drawingml/2006/main" noGrp="1"/>
          </p:cNvSpPr>
          <p:nvPr/>
        </p:nvSpPr>
        <p:spPr>
          <a:xfrm xmlns:a="http://schemas.openxmlformats.org/drawingml/2006/main">
            <a:off x="8572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Needs at least $500,000 to accept avoidance</a:t>
            </a:r>
          </a:p>
        </p:txBody>
      </p:sp>
      <p:sp>
        <p:nvSpPr>
          <p:cNvPr id="10" name="">
            <a:extLst xmlns:a="http://schemas.openxmlformats.org/drawingml/2006/main">
              <a:ext uri="{FF2B5EF4-FFF2-40B4-BE49-F238E27FC236}">
                <a16:creationId xmlns:a16="http://schemas.microsoft.com/office/drawing/2014/main" id="{2E4112EA-E3F3-443D-BC3C-6BB130930809}"/>
              </a:ext>
            </a:extLst>
          </p:cNvPr>
          <p:cNvSpPr>
            <a:spLocks xmlns:a="http://schemas.openxmlformats.org/drawingml/2006/main" noGrp="1"/>
          </p:cNvSpPr>
          <p:nvPr/>
        </p:nvSpPr>
        <p:spPr>
          <a:xfrm xmlns:a="http://schemas.openxmlformats.org/drawingml/2006/main">
            <a:off x="444500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75530D"/>
                </a:solidFill>
                <a:latin typeface="Aptos"/>
                <a:ea typeface="Aptos"/>
                <a:cs typeface="Aptos"/>
              </a:defRPr>
            </a:pPr>
            <a:r>
              <a:rPr sz="1275" b="1" i="0">
                <a:solidFill>
                  <a:srgbClr val="75530D"/>
                </a:solidFill>
                <a:latin typeface="Aptos"/>
                <a:ea typeface="Aptos"/>
                <a:cs typeface="Aptos"/>
              </a:rPr>
              <a:t>POSSIBLE TRANSFER</a:t>
            </a:r>
          </a:p>
        </p:txBody>
      </p:sp>
      <p:sp>
        <p:nvSpPr>
          <p:cNvPr id="11" name="">
            <a:extLst xmlns:a="http://schemas.openxmlformats.org/drawingml/2006/main">
              <a:ext uri="{FF2B5EF4-FFF2-40B4-BE49-F238E27FC236}">
                <a16:creationId xmlns:a16="http://schemas.microsoft.com/office/drawing/2014/main" id="{8D6727F6-A705-4A95-B655-14FDA13D3578}"/>
              </a:ext>
            </a:extLst>
          </p:cNvPr>
          <p:cNvSpPr>
            <a:spLocks xmlns:a="http://schemas.openxmlformats.org/drawingml/2006/main" noGrp="1"/>
          </p:cNvSpPr>
          <p:nvPr/>
        </p:nvSpPr>
        <p:spPr>
          <a:xfrm xmlns:a="http://schemas.openxmlformats.org/drawingml/2006/main">
            <a:off x="4445000" y="2228850"/>
            <a:ext cx="3302000" cy="26098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1C7DF2A0-B467-4291-BEC6-86E867B2DDAC}"/>
              </a:ext>
            </a:extLst>
          </p:cNvPr>
          <p:cNvSpPr>
            <a:spLocks xmlns:a="http://schemas.openxmlformats.org/drawingml/2006/main" noGrp="1"/>
          </p:cNvSpPr>
          <p:nvPr/>
        </p:nvSpPr>
        <p:spPr>
          <a:xfrm xmlns:a="http://schemas.openxmlformats.org/drawingml/2006/main">
            <a:off x="463550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Any payment between $500,000 and $800,000</a:t>
            </a:r>
          </a:p>
        </p:txBody>
      </p:sp>
      <p:sp>
        <p:nvSpPr>
          <p:cNvPr id="13" name="">
            <a:extLst xmlns:a="http://schemas.openxmlformats.org/drawingml/2006/main">
              <a:ext uri="{FF2B5EF4-FFF2-40B4-BE49-F238E27FC236}">
                <a16:creationId xmlns:a16="http://schemas.microsoft.com/office/drawing/2014/main" id="{9F54A901-9C37-4C69-BA04-D2C6599C011C}"/>
              </a:ext>
            </a:extLst>
          </p:cNvPr>
          <p:cNvSpPr>
            <a:spLocks xmlns:a="http://schemas.openxmlformats.org/drawingml/2006/main" noGrp="1"/>
          </p:cNvSpPr>
          <p:nvPr/>
        </p:nvSpPr>
        <p:spPr>
          <a:xfrm xmlns:a="http://schemas.openxmlformats.org/drawingml/2006/main">
            <a:off x="82232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DEVELOPER MAXIMUM</a:t>
            </a:r>
          </a:p>
        </p:txBody>
      </p:sp>
      <p:sp>
        <p:nvSpPr>
          <p:cNvPr id="14" name="">
            <a:extLst xmlns:a="http://schemas.openxmlformats.org/drawingml/2006/main">
              <a:ext uri="{FF2B5EF4-FFF2-40B4-BE49-F238E27FC236}">
                <a16:creationId xmlns:a16="http://schemas.microsoft.com/office/drawing/2014/main" id="{13E93FBB-8597-4C22-9052-4464AB47148F}"/>
              </a:ext>
            </a:extLst>
          </p:cNvPr>
          <p:cNvSpPr>
            <a:spLocks xmlns:a="http://schemas.openxmlformats.org/drawingml/2006/main" noGrp="1"/>
          </p:cNvSpPr>
          <p:nvPr/>
        </p:nvSpPr>
        <p:spPr>
          <a:xfrm xmlns:a="http://schemas.openxmlformats.org/drawingml/2006/main">
            <a:off x="8223250" y="2228850"/>
            <a:ext cx="3302000" cy="26098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15" name="">
            <a:extLst xmlns:a="http://schemas.openxmlformats.org/drawingml/2006/main">
              <a:ext uri="{FF2B5EF4-FFF2-40B4-BE49-F238E27FC236}">
                <a16:creationId xmlns:a16="http://schemas.microsoft.com/office/drawing/2014/main" id="{EA48EA1D-324A-4D5A-B974-4F84AB4605B1}"/>
              </a:ext>
            </a:extLst>
          </p:cNvPr>
          <p:cNvSpPr>
            <a:spLocks xmlns:a="http://schemas.openxmlformats.org/drawingml/2006/main" noGrp="1"/>
          </p:cNvSpPr>
          <p:nvPr/>
        </p:nvSpPr>
        <p:spPr>
          <a:xfrm xmlns:a="http://schemas.openxmlformats.org/drawingml/2006/main">
            <a:off x="84137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Will pay no more than $800,000</a:t>
            </a:r>
          </a:p>
        </p:txBody>
      </p:sp>
      <p:sp>
        <p:nvSpPr>
          <p:cNvPr id="16" name="">
            <a:extLst xmlns:a="http://schemas.openxmlformats.org/drawingml/2006/main">
              <a:ext uri="{FF2B5EF4-FFF2-40B4-BE49-F238E27FC236}">
                <a16:creationId xmlns:a16="http://schemas.microsoft.com/office/drawing/2014/main" id="{89C86F4F-BB82-491F-801D-6A79EB2AF5C9}"/>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547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The legal entitlement affects who pays and receives, even when the efficient use is unchanged.</a:t>
            </a:r>
          </a:p>
        </p:txBody>
      </p:sp>
    </p:spTree>
    <p:extLst>
      <p:ext uri="{BB962C8B-B14F-4D97-AF65-F5344CB8AC3E}">
        <p14:creationId xmlns:p14="http://schemas.microsoft.com/office/powerpoint/2010/main" val="79418051"/>
      </p:ext>
    </p:extLst>
  </p:cSld>
</p:sld>
</file>

<file path=ppt/slides/slide11.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61217B7-285D-4F98-AAA7-D9CFF8C13DF0}"/>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BBB94BF-8AB1-4F59-9256-2BC30AF1F004}"/>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C59639FD-C444-4068-816C-17FDBAC361AA}"/>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Reverse the entitlement, then redo the logic</a:t>
            </a:r>
          </a:p>
        </p:txBody>
      </p:sp>
      <p:sp>
        <p:nvSpPr>
          <p:cNvPr id="4" name="">
            <a:extLst xmlns:a="http://schemas.openxmlformats.org/drawingml/2006/main">
              <a:ext uri="{FF2B5EF4-FFF2-40B4-BE49-F238E27FC236}">
                <a16:creationId xmlns:a16="http://schemas.microsoft.com/office/drawing/2014/main" id="{445B913A-43B6-4493-82F3-AA03D39947E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744EF79-787A-4DE3-9D34-5DDC50BD0B00}"/>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C02FCED2-6020-4744-8D15-DAEB68D6FAA7}"/>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11</a:t>
            </a:r>
          </a:p>
        </p:txBody>
      </p:sp>
      <p:sp>
        <p:nvSpPr>
          <p:cNvPr id="7" name="">
            <a:extLst xmlns:a="http://schemas.openxmlformats.org/drawingml/2006/main">
              <a:ext uri="{FF2B5EF4-FFF2-40B4-BE49-F238E27FC236}">
                <a16:creationId xmlns:a16="http://schemas.microsoft.com/office/drawing/2014/main" id="{41D01725-88BE-45F7-9C13-690BEBA3BC19}"/>
              </a:ext>
            </a:extLst>
          </p:cNvPr>
          <p:cNvSpPr>
            <a:spLocks xmlns:a="http://schemas.openxmlformats.org/drawingml/2006/main" noGrp="1"/>
          </p:cNvSpPr>
          <p:nvPr/>
        </p:nvSpPr>
        <p:spPr>
          <a:xfrm xmlns:a="http://schemas.openxmlformats.org/drawingml/2006/main">
            <a:off x="952500" y="16573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4594E"/>
                </a:solidFill>
                <a:latin typeface="Aptos"/>
                <a:ea typeface="Aptos"/>
                <a:cs typeface="Aptos"/>
              </a:defRPr>
            </a:pPr>
            <a:r>
              <a:rPr sz="1050" b="1" i="0">
                <a:solidFill>
                  <a:srgbClr val="24594E"/>
                </a:solidFill>
                <a:latin typeface="Aptos"/>
                <a:ea typeface="Aptos"/>
                <a:cs typeface="Aptos"/>
              </a:rPr>
              <a:t>DEVELOPER HAS CLEAN-WATER RIGHT</a:t>
            </a:r>
          </a:p>
        </p:txBody>
      </p:sp>
      <p:sp>
        <p:nvSpPr>
          <p:cNvPr id="8" name="">
            <a:extLst xmlns:a="http://schemas.openxmlformats.org/drawingml/2006/main">
              <a:ext uri="{FF2B5EF4-FFF2-40B4-BE49-F238E27FC236}">
                <a16:creationId xmlns:a16="http://schemas.microsoft.com/office/drawing/2014/main" id="{848FD29E-B980-460C-8E9E-15B724F43272}"/>
              </a:ext>
            </a:extLst>
          </p:cNvPr>
          <p:cNvSpPr>
            <a:spLocks xmlns:a="http://schemas.openxmlformats.org/drawingml/2006/main" noGrp="1"/>
          </p:cNvSpPr>
          <p:nvPr/>
        </p:nvSpPr>
        <p:spPr>
          <a:xfrm xmlns:a="http://schemas.openxmlformats.org/drawingml/2006/main">
            <a:off x="952500" y="21050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D0553E65-698A-4457-8033-6455B0BC2513}"/>
              </a:ext>
            </a:extLst>
          </p:cNvPr>
          <p:cNvSpPr>
            <a:spLocks xmlns:a="http://schemas.openxmlformats.org/drawingml/2006/main" noGrp="1"/>
          </p:cNvSpPr>
          <p:nvPr/>
        </p:nvSpPr>
        <p:spPr>
          <a:xfrm xmlns:a="http://schemas.openxmlformats.org/drawingml/2006/main">
            <a:off x="1276350" y="21145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Factory must avoid or buy permission</a:t>
            </a:r>
          </a:p>
        </p:txBody>
      </p:sp>
      <p:sp>
        <p:nvSpPr>
          <p:cNvPr id="10" name="">
            <a:extLst xmlns:a="http://schemas.openxmlformats.org/drawingml/2006/main">
              <a:ext uri="{FF2B5EF4-FFF2-40B4-BE49-F238E27FC236}">
                <a16:creationId xmlns:a16="http://schemas.microsoft.com/office/drawing/2014/main" id="{90C290A2-6FCD-43F0-94B2-7A809BFF7F37}"/>
              </a:ext>
            </a:extLst>
          </p:cNvPr>
          <p:cNvSpPr>
            <a:spLocks xmlns:a="http://schemas.openxmlformats.org/drawingml/2006/main" noGrp="1"/>
          </p:cNvSpPr>
          <p:nvPr/>
        </p:nvSpPr>
        <p:spPr>
          <a:xfrm xmlns:a="http://schemas.openxmlformats.org/drawingml/2006/main">
            <a:off x="952500" y="26384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83E12196-55CB-422E-8D5C-54D6A96486D5}"/>
              </a:ext>
            </a:extLst>
          </p:cNvPr>
          <p:cNvSpPr>
            <a:spLocks xmlns:a="http://schemas.openxmlformats.org/drawingml/2006/main" noGrp="1"/>
          </p:cNvSpPr>
          <p:nvPr/>
        </p:nvSpPr>
        <p:spPr>
          <a:xfrm xmlns:a="http://schemas.openxmlformats.org/drawingml/2006/main">
            <a:off x="1276350" y="26479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Avoidance costs $500,000</a:t>
            </a:r>
          </a:p>
        </p:txBody>
      </p:sp>
      <p:sp>
        <p:nvSpPr>
          <p:cNvPr id="12" name="">
            <a:extLst xmlns:a="http://schemas.openxmlformats.org/drawingml/2006/main">
              <a:ext uri="{FF2B5EF4-FFF2-40B4-BE49-F238E27FC236}">
                <a16:creationId xmlns:a16="http://schemas.microsoft.com/office/drawing/2014/main" id="{6295C3CC-40A6-4CF6-9B31-BEE6E689E515}"/>
              </a:ext>
            </a:extLst>
          </p:cNvPr>
          <p:cNvSpPr>
            <a:spLocks xmlns:a="http://schemas.openxmlformats.org/drawingml/2006/main" noGrp="1"/>
          </p:cNvSpPr>
          <p:nvPr/>
        </p:nvSpPr>
        <p:spPr>
          <a:xfrm xmlns:a="http://schemas.openxmlformats.org/drawingml/2006/main">
            <a:off x="952500" y="31718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73D1813F-6C1F-4BD2-AE9C-AA2C39A816A6}"/>
              </a:ext>
            </a:extLst>
          </p:cNvPr>
          <p:cNvSpPr>
            <a:spLocks xmlns:a="http://schemas.openxmlformats.org/drawingml/2006/main" noGrp="1"/>
          </p:cNvSpPr>
          <p:nvPr/>
        </p:nvSpPr>
        <p:spPr>
          <a:xfrm xmlns:a="http://schemas.openxmlformats.org/drawingml/2006/main">
            <a:off x="1276350" y="31813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Clean development remains</a:t>
            </a:r>
          </a:p>
        </p:txBody>
      </p:sp>
      <p:sp>
        <p:nvSpPr>
          <p:cNvPr id="14" name="">
            <a:extLst xmlns:a="http://schemas.openxmlformats.org/drawingml/2006/main">
              <a:ext uri="{FF2B5EF4-FFF2-40B4-BE49-F238E27FC236}">
                <a16:creationId xmlns:a16="http://schemas.microsoft.com/office/drawing/2014/main" id="{B37D0C0B-DC1B-4CD8-939A-738BF7BA591B}"/>
              </a:ext>
            </a:extLst>
          </p:cNvPr>
          <p:cNvSpPr>
            <a:spLocks xmlns:a="http://schemas.openxmlformats.org/drawingml/2006/main" noGrp="1"/>
          </p:cNvSpPr>
          <p:nvPr/>
        </p:nvSpPr>
        <p:spPr>
          <a:xfrm xmlns:a="http://schemas.openxmlformats.org/drawingml/2006/main">
            <a:off x="6096000" y="1676400"/>
            <a:ext cx="9525" cy="3409950"/>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7FB331B-2495-440F-A9A9-D3C22F0A4675}"/>
              </a:ext>
            </a:extLst>
          </p:cNvPr>
          <p:cNvSpPr>
            <a:spLocks xmlns:a="http://schemas.openxmlformats.org/drawingml/2006/main" noGrp="1"/>
          </p:cNvSpPr>
          <p:nvPr/>
        </p:nvSpPr>
        <p:spPr>
          <a:xfrm xmlns:a="http://schemas.openxmlformats.org/drawingml/2006/main">
            <a:off x="6667500" y="16573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FACTORY HAS DISCHARGE RIGHT</a:t>
            </a:r>
          </a:p>
        </p:txBody>
      </p:sp>
      <p:sp>
        <p:nvSpPr>
          <p:cNvPr id="16" name="">
            <a:extLst xmlns:a="http://schemas.openxmlformats.org/drawingml/2006/main">
              <a:ext uri="{FF2B5EF4-FFF2-40B4-BE49-F238E27FC236}">
                <a16:creationId xmlns:a16="http://schemas.microsoft.com/office/drawing/2014/main" id="{3D5B47BE-5EE2-4415-9509-99CFB680E8D7}"/>
              </a:ext>
            </a:extLst>
          </p:cNvPr>
          <p:cNvSpPr>
            <a:spLocks xmlns:a="http://schemas.openxmlformats.org/drawingml/2006/main" noGrp="1"/>
          </p:cNvSpPr>
          <p:nvPr/>
        </p:nvSpPr>
        <p:spPr>
          <a:xfrm xmlns:a="http://schemas.openxmlformats.org/drawingml/2006/main">
            <a:off x="6667500" y="21050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19D02786-5DCA-45C0-A55E-87F7F902DB1C}"/>
              </a:ext>
            </a:extLst>
          </p:cNvPr>
          <p:cNvSpPr>
            <a:spLocks xmlns:a="http://schemas.openxmlformats.org/drawingml/2006/main" noGrp="1"/>
          </p:cNvSpPr>
          <p:nvPr/>
        </p:nvSpPr>
        <p:spPr>
          <a:xfrm xmlns:a="http://schemas.openxmlformats.org/drawingml/2006/main">
            <a:off x="6991350" y="21145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Developer may buy avoidance</a:t>
            </a:r>
          </a:p>
        </p:txBody>
      </p:sp>
      <p:sp>
        <p:nvSpPr>
          <p:cNvPr id="18" name="">
            <a:extLst xmlns:a="http://schemas.openxmlformats.org/drawingml/2006/main">
              <a:ext uri="{FF2B5EF4-FFF2-40B4-BE49-F238E27FC236}">
                <a16:creationId xmlns:a16="http://schemas.microsoft.com/office/drawing/2014/main" id="{27110C6B-9291-4BCE-B1A8-C526F5023D7C}"/>
              </a:ext>
            </a:extLst>
          </p:cNvPr>
          <p:cNvSpPr>
            <a:spLocks xmlns:a="http://schemas.openxmlformats.org/drawingml/2006/main" noGrp="1"/>
          </p:cNvSpPr>
          <p:nvPr/>
        </p:nvSpPr>
        <p:spPr>
          <a:xfrm xmlns:a="http://schemas.openxmlformats.org/drawingml/2006/main">
            <a:off x="6667500" y="26384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E7599787-32DE-4BAF-9E58-D3C6B504E3CE}"/>
              </a:ext>
            </a:extLst>
          </p:cNvPr>
          <p:cNvSpPr>
            <a:spLocks xmlns:a="http://schemas.openxmlformats.org/drawingml/2006/main" noGrp="1"/>
          </p:cNvSpPr>
          <p:nvPr/>
        </p:nvSpPr>
        <p:spPr>
          <a:xfrm xmlns:a="http://schemas.openxmlformats.org/drawingml/2006/main">
            <a:off x="6991350" y="26479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Will pay up to $800,000</a:t>
            </a:r>
          </a:p>
        </p:txBody>
      </p:sp>
      <p:sp>
        <p:nvSpPr>
          <p:cNvPr id="20" name="">
            <a:extLst xmlns:a="http://schemas.openxmlformats.org/drawingml/2006/main">
              <a:ext uri="{FF2B5EF4-FFF2-40B4-BE49-F238E27FC236}">
                <a16:creationId xmlns:a16="http://schemas.microsoft.com/office/drawing/2014/main" id="{D736CD3C-7E15-4331-ADBE-A948E16FE992}"/>
              </a:ext>
            </a:extLst>
          </p:cNvPr>
          <p:cNvSpPr>
            <a:spLocks xmlns:a="http://schemas.openxmlformats.org/drawingml/2006/main" noGrp="1"/>
          </p:cNvSpPr>
          <p:nvPr/>
        </p:nvSpPr>
        <p:spPr>
          <a:xfrm xmlns:a="http://schemas.openxmlformats.org/drawingml/2006/main">
            <a:off x="6667500" y="31718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7866B29B-0A97-4CD1-8634-9973342CC8C1}"/>
              </a:ext>
            </a:extLst>
          </p:cNvPr>
          <p:cNvSpPr>
            <a:spLocks xmlns:a="http://schemas.openxmlformats.org/drawingml/2006/main" noGrp="1"/>
          </p:cNvSpPr>
          <p:nvPr/>
        </p:nvSpPr>
        <p:spPr>
          <a:xfrm xmlns:a="http://schemas.openxmlformats.org/drawingml/2006/main">
            <a:off x="6991350" y="31813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Factory accepts at $500,000 or more</a:t>
            </a:r>
          </a:p>
        </p:txBody>
      </p:sp>
      <p:sp>
        <p:nvSpPr>
          <p:cNvPr id="22" name="">
            <a:extLst xmlns:a="http://schemas.openxmlformats.org/drawingml/2006/main">
              <a:ext uri="{FF2B5EF4-FFF2-40B4-BE49-F238E27FC236}">
                <a16:creationId xmlns:a16="http://schemas.microsoft.com/office/drawing/2014/main" id="{22045272-D2D1-4E8D-9A46-3A86E3E350FC}"/>
              </a:ext>
            </a:extLst>
          </p:cNvPr>
          <p:cNvSpPr>
            <a:spLocks xmlns:a="http://schemas.openxmlformats.org/drawingml/2006/main" noGrp="1"/>
          </p:cNvSpPr>
          <p:nvPr/>
        </p:nvSpPr>
        <p:spPr>
          <a:xfrm xmlns:a="http://schemas.openxmlformats.org/drawingml/2006/main">
            <a:off x="1200150" y="54102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6883"/>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With costless bargaining, the higher-valued use survives under either initial entitlement.</a:t>
            </a:r>
          </a:p>
        </p:txBody>
      </p:sp>
    </p:spTree>
    <p:extLst>
      <p:ext uri="{BB962C8B-B14F-4D97-AF65-F5344CB8AC3E}">
        <p14:creationId xmlns:p14="http://schemas.microsoft.com/office/powerpoint/2010/main" val="157513030"/>
      </p:ext>
    </p:extLst>
  </p:cSld>
</p:sld>
</file>

<file path=ppt/slides/slide12.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FCB35BB-01BA-417D-8544-756D198B573F}"/>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61D0DA-328A-442D-986F-3E617FC3BB6A}"/>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8691984E-9C80-4EAF-8F09-10AC956ADA90}"/>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A second case can make discharge efficient</a:t>
            </a:r>
          </a:p>
        </p:txBody>
      </p:sp>
      <p:sp>
        <p:nvSpPr>
          <p:cNvPr id="4" name="">
            <a:extLst xmlns:a="http://schemas.openxmlformats.org/drawingml/2006/main">
              <a:ext uri="{FF2B5EF4-FFF2-40B4-BE49-F238E27FC236}">
                <a16:creationId xmlns:a16="http://schemas.microsoft.com/office/drawing/2014/main" id="{012CAC05-9FA8-486D-AEDF-789FA041F2F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C3670C-2A0E-4B19-A3D6-3A838BB867F3}"/>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B08711D4-5EBC-4566-B36C-5336C3ECC6C8}"/>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12</a:t>
            </a:r>
          </a:p>
        </p:txBody>
      </p:sp>
      <p:sp>
        <p:nvSpPr>
          <p:cNvPr id="7" name="">
            <a:extLst xmlns:a="http://schemas.openxmlformats.org/drawingml/2006/main">
              <a:ext uri="{FF2B5EF4-FFF2-40B4-BE49-F238E27FC236}">
                <a16:creationId xmlns:a16="http://schemas.microsoft.com/office/drawing/2014/main" id="{DCA83D2A-E1B6-46F7-A426-2C201A693303}"/>
              </a:ext>
            </a:extLst>
          </p:cNvPr>
          <p:cNvSpPr>
            <a:spLocks xmlns:a="http://schemas.openxmlformats.org/drawingml/2006/main" noGrp="1"/>
          </p:cNvSpPr>
          <p:nvPr/>
        </p:nvSpPr>
        <p:spPr>
          <a:xfrm xmlns:a="http://schemas.openxmlformats.org/drawingml/2006/main">
            <a:off x="809625" y="1676400"/>
            <a:ext cx="1714500" cy="857250"/>
          </a:xfrm>
          <a:prstGeom xmlns:a="http://schemas.openxmlformats.org/drawingml/2006/main" prst="rect">
            <a:avLst/>
          </a:prstGeom>
          <a:solidFill xmlns:a="http://schemas.openxmlformats.org/drawingml/2006/main">
            <a:srgbClr val="173F38"/>
          </a:solidFill>
          <a:ln xmlns:a="http://schemas.openxmlformats.org/drawingml/2006/main" w="9525">
            <a:solidFill>
              <a:srgbClr val="CCD5D2"/>
            </a:solidFill>
            <a:prstDash val="solid"/>
          </a:ln>
        </p:spPr>
      </p:sp>
      <p:sp>
        <p:nvSpPr>
          <p:cNvPr id="8" name="">
            <a:extLst xmlns:a="http://schemas.openxmlformats.org/drawingml/2006/main">
              <a:ext uri="{FF2B5EF4-FFF2-40B4-BE49-F238E27FC236}">
                <a16:creationId xmlns:a16="http://schemas.microsoft.com/office/drawing/2014/main" id="{57A715D1-3ADB-4337-879C-9F95D33C2EF4}"/>
              </a:ext>
            </a:extLst>
          </p:cNvPr>
          <p:cNvSpPr>
            <a:spLocks xmlns:a="http://schemas.openxmlformats.org/drawingml/2006/main" noGrp="1"/>
          </p:cNvSpPr>
          <p:nvPr/>
        </p:nvSpPr>
        <p:spPr>
          <a:xfrm xmlns:a="http://schemas.openxmlformats.org/drawingml/2006/main">
            <a:off x="885825" y="1733550"/>
            <a:ext cx="1562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Case</a:t>
            </a:r>
          </a:p>
        </p:txBody>
      </p:sp>
      <p:sp>
        <p:nvSpPr>
          <p:cNvPr id="9" name="">
            <a:extLst xmlns:a="http://schemas.openxmlformats.org/drawingml/2006/main">
              <a:ext uri="{FF2B5EF4-FFF2-40B4-BE49-F238E27FC236}">
                <a16:creationId xmlns:a16="http://schemas.microsoft.com/office/drawing/2014/main" id="{703EF478-6714-4C0D-9505-F566B486F2B3}"/>
              </a:ext>
            </a:extLst>
          </p:cNvPr>
          <p:cNvSpPr>
            <a:spLocks xmlns:a="http://schemas.openxmlformats.org/drawingml/2006/main" noGrp="1"/>
          </p:cNvSpPr>
          <p:nvPr/>
        </p:nvSpPr>
        <p:spPr>
          <a:xfrm xmlns:a="http://schemas.openxmlformats.org/drawingml/2006/main">
            <a:off x="2524125" y="1676400"/>
            <a:ext cx="2857500" cy="857250"/>
          </a:xfrm>
          <a:prstGeom xmlns:a="http://schemas.openxmlformats.org/drawingml/2006/main" prst="rect">
            <a:avLst/>
          </a:prstGeom>
          <a:solidFill xmlns:a="http://schemas.openxmlformats.org/drawingml/2006/main">
            <a:srgbClr val="173F38"/>
          </a:solidFill>
          <a:ln xmlns:a="http://schemas.openxmlformats.org/drawingml/2006/main" w="9525">
            <a:solidFill>
              <a:srgbClr val="CCD5D2"/>
            </a:solidFill>
            <a:prstDash val="solid"/>
          </a:ln>
        </p:spPr>
      </p:sp>
      <p:sp>
        <p:nvSpPr>
          <p:cNvPr id="10" name="">
            <a:extLst xmlns:a="http://schemas.openxmlformats.org/drawingml/2006/main">
              <a:ext uri="{FF2B5EF4-FFF2-40B4-BE49-F238E27FC236}">
                <a16:creationId xmlns:a16="http://schemas.microsoft.com/office/drawing/2014/main" id="{B9E56A83-BD40-440D-B79C-64419068C3C1}"/>
              </a:ext>
            </a:extLst>
          </p:cNvPr>
          <p:cNvSpPr>
            <a:spLocks xmlns:a="http://schemas.openxmlformats.org/drawingml/2006/main" noGrp="1"/>
          </p:cNvSpPr>
          <p:nvPr/>
        </p:nvSpPr>
        <p:spPr>
          <a:xfrm xmlns:a="http://schemas.openxmlformats.org/drawingml/2006/main">
            <a:off x="2600325" y="1733550"/>
            <a:ext cx="2705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Avoidance cost</a:t>
            </a:r>
          </a:p>
        </p:txBody>
      </p:sp>
      <p:sp>
        <p:nvSpPr>
          <p:cNvPr id="11" name="">
            <a:extLst xmlns:a="http://schemas.openxmlformats.org/drawingml/2006/main">
              <a:ext uri="{FF2B5EF4-FFF2-40B4-BE49-F238E27FC236}">
                <a16:creationId xmlns:a16="http://schemas.microsoft.com/office/drawing/2014/main" id="{195A6227-CCA8-410A-AF21-2D99D00AA80D}"/>
              </a:ext>
            </a:extLst>
          </p:cNvPr>
          <p:cNvSpPr>
            <a:spLocks xmlns:a="http://schemas.openxmlformats.org/drawingml/2006/main" noGrp="1"/>
          </p:cNvSpPr>
          <p:nvPr/>
        </p:nvSpPr>
        <p:spPr>
          <a:xfrm xmlns:a="http://schemas.openxmlformats.org/drawingml/2006/main">
            <a:off x="5381625" y="1676400"/>
            <a:ext cx="2857500" cy="857250"/>
          </a:xfrm>
          <a:prstGeom xmlns:a="http://schemas.openxmlformats.org/drawingml/2006/main" prst="rect">
            <a:avLst/>
          </a:prstGeom>
          <a:solidFill xmlns:a="http://schemas.openxmlformats.org/drawingml/2006/main">
            <a:srgbClr val="173F38"/>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7D6ED78D-B09E-47EE-8293-F4EB43D05F2D}"/>
              </a:ext>
            </a:extLst>
          </p:cNvPr>
          <p:cNvSpPr>
            <a:spLocks xmlns:a="http://schemas.openxmlformats.org/drawingml/2006/main" noGrp="1"/>
          </p:cNvSpPr>
          <p:nvPr/>
        </p:nvSpPr>
        <p:spPr>
          <a:xfrm xmlns:a="http://schemas.openxmlformats.org/drawingml/2006/main">
            <a:off x="5457825" y="1733550"/>
            <a:ext cx="2705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Development loss</a:t>
            </a:r>
          </a:p>
        </p:txBody>
      </p:sp>
      <p:sp>
        <p:nvSpPr>
          <p:cNvPr id="13" name="">
            <a:extLst xmlns:a="http://schemas.openxmlformats.org/drawingml/2006/main">
              <a:ext uri="{FF2B5EF4-FFF2-40B4-BE49-F238E27FC236}">
                <a16:creationId xmlns:a16="http://schemas.microsoft.com/office/drawing/2014/main" id="{2DBDE7F1-3E43-4605-83D5-F394785160C6}"/>
              </a:ext>
            </a:extLst>
          </p:cNvPr>
          <p:cNvSpPr>
            <a:spLocks xmlns:a="http://schemas.openxmlformats.org/drawingml/2006/main" noGrp="1"/>
          </p:cNvSpPr>
          <p:nvPr/>
        </p:nvSpPr>
        <p:spPr>
          <a:xfrm xmlns:a="http://schemas.openxmlformats.org/drawingml/2006/main">
            <a:off x="8239125" y="1676400"/>
            <a:ext cx="3143250" cy="857250"/>
          </a:xfrm>
          <a:prstGeom xmlns:a="http://schemas.openxmlformats.org/drawingml/2006/main" prst="rect">
            <a:avLst/>
          </a:prstGeom>
          <a:solidFill xmlns:a="http://schemas.openxmlformats.org/drawingml/2006/main">
            <a:srgbClr val="173F38"/>
          </a:solidFill>
          <a:ln xmlns:a="http://schemas.openxmlformats.org/drawingml/2006/main" w="9525">
            <a:solidFill>
              <a:srgbClr val="CCD5D2"/>
            </a:solidFill>
            <a:prstDash val="solid"/>
          </a:ln>
        </p:spPr>
      </p:sp>
      <p:sp>
        <p:nvSpPr>
          <p:cNvPr id="14" name="">
            <a:extLst xmlns:a="http://schemas.openxmlformats.org/drawingml/2006/main">
              <a:ext uri="{FF2B5EF4-FFF2-40B4-BE49-F238E27FC236}">
                <a16:creationId xmlns:a16="http://schemas.microsoft.com/office/drawing/2014/main" id="{FF0777EE-ECE0-45D2-9A32-43E700D71E38}"/>
              </a:ext>
            </a:extLst>
          </p:cNvPr>
          <p:cNvSpPr>
            <a:spLocks xmlns:a="http://schemas.openxmlformats.org/drawingml/2006/main" noGrp="1"/>
          </p:cNvSpPr>
          <p:nvPr/>
        </p:nvSpPr>
        <p:spPr>
          <a:xfrm xmlns:a="http://schemas.openxmlformats.org/drawingml/2006/main">
            <a:off x="8315325" y="1733550"/>
            <a:ext cx="2990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Efficient use</a:t>
            </a:r>
          </a:p>
        </p:txBody>
      </p:sp>
      <p:sp>
        <p:nvSpPr>
          <p:cNvPr id="15" name="">
            <a:extLst xmlns:a="http://schemas.openxmlformats.org/drawingml/2006/main">
              <a:ext uri="{FF2B5EF4-FFF2-40B4-BE49-F238E27FC236}">
                <a16:creationId xmlns:a16="http://schemas.microsoft.com/office/drawing/2014/main" id="{26D845BA-680B-4CE1-97D9-2E50561C9C55}"/>
              </a:ext>
            </a:extLst>
          </p:cNvPr>
          <p:cNvSpPr>
            <a:spLocks xmlns:a="http://schemas.openxmlformats.org/drawingml/2006/main" noGrp="1"/>
          </p:cNvSpPr>
          <p:nvPr/>
        </p:nvSpPr>
        <p:spPr>
          <a:xfrm xmlns:a="http://schemas.openxmlformats.org/drawingml/2006/main">
            <a:off x="809625" y="2533650"/>
            <a:ext cx="1714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16" name="">
            <a:extLst xmlns:a="http://schemas.openxmlformats.org/drawingml/2006/main">
              <a:ext uri="{FF2B5EF4-FFF2-40B4-BE49-F238E27FC236}">
                <a16:creationId xmlns:a16="http://schemas.microsoft.com/office/drawing/2014/main" id="{B624CA28-16CF-4AD9-B2D8-6C706DBA954A}"/>
              </a:ext>
            </a:extLst>
          </p:cNvPr>
          <p:cNvSpPr>
            <a:spLocks xmlns:a="http://schemas.openxmlformats.org/drawingml/2006/main" noGrp="1"/>
          </p:cNvSpPr>
          <p:nvPr/>
        </p:nvSpPr>
        <p:spPr>
          <a:xfrm xmlns:a="http://schemas.openxmlformats.org/drawingml/2006/main">
            <a:off x="885825" y="2590800"/>
            <a:ext cx="1562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A</a:t>
            </a:r>
          </a:p>
        </p:txBody>
      </p:sp>
      <p:sp>
        <p:nvSpPr>
          <p:cNvPr id="17" name="">
            <a:extLst xmlns:a="http://schemas.openxmlformats.org/drawingml/2006/main">
              <a:ext uri="{FF2B5EF4-FFF2-40B4-BE49-F238E27FC236}">
                <a16:creationId xmlns:a16="http://schemas.microsoft.com/office/drawing/2014/main" id="{E95575BA-8471-46DE-BFAC-B0F4A6E69FB5}"/>
              </a:ext>
            </a:extLst>
          </p:cNvPr>
          <p:cNvSpPr>
            <a:spLocks xmlns:a="http://schemas.openxmlformats.org/drawingml/2006/main" noGrp="1"/>
          </p:cNvSpPr>
          <p:nvPr/>
        </p:nvSpPr>
        <p:spPr>
          <a:xfrm xmlns:a="http://schemas.openxmlformats.org/drawingml/2006/main">
            <a:off x="2524125" y="2533650"/>
            <a:ext cx="2857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18" name="">
            <a:extLst xmlns:a="http://schemas.openxmlformats.org/drawingml/2006/main">
              <a:ext uri="{FF2B5EF4-FFF2-40B4-BE49-F238E27FC236}">
                <a16:creationId xmlns:a16="http://schemas.microsoft.com/office/drawing/2014/main" id="{E4E65D2A-7791-4038-9410-F8BCCCBE937E}"/>
              </a:ext>
            </a:extLst>
          </p:cNvPr>
          <p:cNvSpPr>
            <a:spLocks xmlns:a="http://schemas.openxmlformats.org/drawingml/2006/main" noGrp="1"/>
          </p:cNvSpPr>
          <p:nvPr/>
        </p:nvSpPr>
        <p:spPr>
          <a:xfrm xmlns:a="http://schemas.openxmlformats.org/drawingml/2006/main">
            <a:off x="2600325" y="2590800"/>
            <a:ext cx="2705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$500,000</a:t>
            </a:r>
          </a:p>
        </p:txBody>
      </p:sp>
      <p:sp>
        <p:nvSpPr>
          <p:cNvPr id="19" name="">
            <a:extLst xmlns:a="http://schemas.openxmlformats.org/drawingml/2006/main">
              <a:ext uri="{FF2B5EF4-FFF2-40B4-BE49-F238E27FC236}">
                <a16:creationId xmlns:a16="http://schemas.microsoft.com/office/drawing/2014/main" id="{5DA4C797-0B63-45E9-91E5-C819A5D4CE75}"/>
              </a:ext>
            </a:extLst>
          </p:cNvPr>
          <p:cNvSpPr>
            <a:spLocks xmlns:a="http://schemas.openxmlformats.org/drawingml/2006/main" noGrp="1"/>
          </p:cNvSpPr>
          <p:nvPr/>
        </p:nvSpPr>
        <p:spPr>
          <a:xfrm xmlns:a="http://schemas.openxmlformats.org/drawingml/2006/main">
            <a:off x="5381625" y="2533650"/>
            <a:ext cx="2857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20" name="">
            <a:extLst xmlns:a="http://schemas.openxmlformats.org/drawingml/2006/main">
              <a:ext uri="{FF2B5EF4-FFF2-40B4-BE49-F238E27FC236}">
                <a16:creationId xmlns:a16="http://schemas.microsoft.com/office/drawing/2014/main" id="{EA43BF74-079F-4385-BACB-51B4B871152E}"/>
              </a:ext>
            </a:extLst>
          </p:cNvPr>
          <p:cNvSpPr>
            <a:spLocks xmlns:a="http://schemas.openxmlformats.org/drawingml/2006/main" noGrp="1"/>
          </p:cNvSpPr>
          <p:nvPr/>
        </p:nvSpPr>
        <p:spPr>
          <a:xfrm xmlns:a="http://schemas.openxmlformats.org/drawingml/2006/main">
            <a:off x="5457825" y="2590800"/>
            <a:ext cx="2705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$800,000</a:t>
            </a:r>
          </a:p>
        </p:txBody>
      </p:sp>
      <p:sp>
        <p:nvSpPr>
          <p:cNvPr id="21" name="">
            <a:extLst xmlns:a="http://schemas.openxmlformats.org/drawingml/2006/main">
              <a:ext uri="{FF2B5EF4-FFF2-40B4-BE49-F238E27FC236}">
                <a16:creationId xmlns:a16="http://schemas.microsoft.com/office/drawing/2014/main" id="{6FBD1A09-8FC6-436E-A768-54734DE136EF}"/>
              </a:ext>
            </a:extLst>
          </p:cNvPr>
          <p:cNvSpPr>
            <a:spLocks xmlns:a="http://schemas.openxmlformats.org/drawingml/2006/main" noGrp="1"/>
          </p:cNvSpPr>
          <p:nvPr/>
        </p:nvSpPr>
        <p:spPr>
          <a:xfrm xmlns:a="http://schemas.openxmlformats.org/drawingml/2006/main">
            <a:off x="8239125" y="2533650"/>
            <a:ext cx="3143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22" name="">
            <a:extLst xmlns:a="http://schemas.openxmlformats.org/drawingml/2006/main">
              <a:ext uri="{FF2B5EF4-FFF2-40B4-BE49-F238E27FC236}">
                <a16:creationId xmlns:a16="http://schemas.microsoft.com/office/drawing/2014/main" id="{12F859BA-8561-4FB0-A298-F26895146FB3}"/>
              </a:ext>
            </a:extLst>
          </p:cNvPr>
          <p:cNvSpPr>
            <a:spLocks xmlns:a="http://schemas.openxmlformats.org/drawingml/2006/main" noGrp="1"/>
          </p:cNvSpPr>
          <p:nvPr/>
        </p:nvSpPr>
        <p:spPr>
          <a:xfrm xmlns:a="http://schemas.openxmlformats.org/drawingml/2006/main">
            <a:off x="8315325" y="2590800"/>
            <a:ext cx="2990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Avoid discharge</a:t>
            </a:r>
          </a:p>
        </p:txBody>
      </p:sp>
      <p:sp>
        <p:nvSpPr>
          <p:cNvPr id="23" name="">
            <a:extLst xmlns:a="http://schemas.openxmlformats.org/drawingml/2006/main">
              <a:ext uri="{FF2B5EF4-FFF2-40B4-BE49-F238E27FC236}">
                <a16:creationId xmlns:a16="http://schemas.microsoft.com/office/drawing/2014/main" id="{1FE3D7D4-23D3-4DE4-814E-FBC14887501C}"/>
              </a:ext>
            </a:extLst>
          </p:cNvPr>
          <p:cNvSpPr>
            <a:spLocks xmlns:a="http://schemas.openxmlformats.org/drawingml/2006/main" noGrp="1"/>
          </p:cNvSpPr>
          <p:nvPr/>
        </p:nvSpPr>
        <p:spPr>
          <a:xfrm xmlns:a="http://schemas.openxmlformats.org/drawingml/2006/main">
            <a:off x="809625" y="3390900"/>
            <a:ext cx="1714500" cy="857250"/>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24" name="">
            <a:extLst xmlns:a="http://schemas.openxmlformats.org/drawingml/2006/main">
              <a:ext uri="{FF2B5EF4-FFF2-40B4-BE49-F238E27FC236}">
                <a16:creationId xmlns:a16="http://schemas.microsoft.com/office/drawing/2014/main" id="{97B95CAC-11FD-49AF-A5EA-7F07D5ACE431}"/>
              </a:ext>
            </a:extLst>
          </p:cNvPr>
          <p:cNvSpPr>
            <a:spLocks xmlns:a="http://schemas.openxmlformats.org/drawingml/2006/main" noGrp="1"/>
          </p:cNvSpPr>
          <p:nvPr/>
        </p:nvSpPr>
        <p:spPr>
          <a:xfrm xmlns:a="http://schemas.openxmlformats.org/drawingml/2006/main">
            <a:off x="885825" y="3448050"/>
            <a:ext cx="1562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B</a:t>
            </a:r>
          </a:p>
        </p:txBody>
      </p:sp>
      <p:sp>
        <p:nvSpPr>
          <p:cNvPr id="25" name="">
            <a:extLst xmlns:a="http://schemas.openxmlformats.org/drawingml/2006/main">
              <a:ext uri="{FF2B5EF4-FFF2-40B4-BE49-F238E27FC236}">
                <a16:creationId xmlns:a16="http://schemas.microsoft.com/office/drawing/2014/main" id="{208A295A-2B77-4432-A933-F91D8E25629F}"/>
              </a:ext>
            </a:extLst>
          </p:cNvPr>
          <p:cNvSpPr>
            <a:spLocks xmlns:a="http://schemas.openxmlformats.org/drawingml/2006/main" noGrp="1"/>
          </p:cNvSpPr>
          <p:nvPr/>
        </p:nvSpPr>
        <p:spPr>
          <a:xfrm xmlns:a="http://schemas.openxmlformats.org/drawingml/2006/main">
            <a:off x="2524125" y="3390900"/>
            <a:ext cx="2857500" cy="857250"/>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26" name="">
            <a:extLst xmlns:a="http://schemas.openxmlformats.org/drawingml/2006/main">
              <a:ext uri="{FF2B5EF4-FFF2-40B4-BE49-F238E27FC236}">
                <a16:creationId xmlns:a16="http://schemas.microsoft.com/office/drawing/2014/main" id="{A9060C57-24E2-465A-A1CC-8E088B77120A}"/>
              </a:ext>
            </a:extLst>
          </p:cNvPr>
          <p:cNvSpPr>
            <a:spLocks xmlns:a="http://schemas.openxmlformats.org/drawingml/2006/main" noGrp="1"/>
          </p:cNvSpPr>
          <p:nvPr/>
        </p:nvSpPr>
        <p:spPr>
          <a:xfrm xmlns:a="http://schemas.openxmlformats.org/drawingml/2006/main">
            <a:off x="2600325" y="3448050"/>
            <a:ext cx="2705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$900,000</a:t>
            </a:r>
          </a:p>
        </p:txBody>
      </p:sp>
      <p:sp>
        <p:nvSpPr>
          <p:cNvPr id="27" name="">
            <a:extLst xmlns:a="http://schemas.openxmlformats.org/drawingml/2006/main">
              <a:ext uri="{FF2B5EF4-FFF2-40B4-BE49-F238E27FC236}">
                <a16:creationId xmlns:a16="http://schemas.microsoft.com/office/drawing/2014/main" id="{26BCA4DE-1156-4D48-B668-2A1796272D97}"/>
              </a:ext>
            </a:extLst>
          </p:cNvPr>
          <p:cNvSpPr>
            <a:spLocks xmlns:a="http://schemas.openxmlformats.org/drawingml/2006/main" noGrp="1"/>
          </p:cNvSpPr>
          <p:nvPr/>
        </p:nvSpPr>
        <p:spPr>
          <a:xfrm xmlns:a="http://schemas.openxmlformats.org/drawingml/2006/main">
            <a:off x="5381625" y="3390900"/>
            <a:ext cx="2857500" cy="857250"/>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28" name="">
            <a:extLst xmlns:a="http://schemas.openxmlformats.org/drawingml/2006/main">
              <a:ext uri="{FF2B5EF4-FFF2-40B4-BE49-F238E27FC236}">
                <a16:creationId xmlns:a16="http://schemas.microsoft.com/office/drawing/2014/main" id="{5FAA29DA-57DA-41AF-AF67-F7CD6045882A}"/>
              </a:ext>
            </a:extLst>
          </p:cNvPr>
          <p:cNvSpPr>
            <a:spLocks xmlns:a="http://schemas.openxmlformats.org/drawingml/2006/main" noGrp="1"/>
          </p:cNvSpPr>
          <p:nvPr/>
        </p:nvSpPr>
        <p:spPr>
          <a:xfrm xmlns:a="http://schemas.openxmlformats.org/drawingml/2006/main">
            <a:off x="5457825" y="3448050"/>
            <a:ext cx="2705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$300,000</a:t>
            </a:r>
          </a:p>
        </p:txBody>
      </p:sp>
      <p:sp>
        <p:nvSpPr>
          <p:cNvPr id="29" name="">
            <a:extLst xmlns:a="http://schemas.openxmlformats.org/drawingml/2006/main">
              <a:ext uri="{FF2B5EF4-FFF2-40B4-BE49-F238E27FC236}">
                <a16:creationId xmlns:a16="http://schemas.microsoft.com/office/drawing/2014/main" id="{4F6DCA1B-CD87-45DA-8AD0-1B0712040478}"/>
              </a:ext>
            </a:extLst>
          </p:cNvPr>
          <p:cNvSpPr>
            <a:spLocks xmlns:a="http://schemas.openxmlformats.org/drawingml/2006/main" noGrp="1"/>
          </p:cNvSpPr>
          <p:nvPr/>
        </p:nvSpPr>
        <p:spPr>
          <a:xfrm xmlns:a="http://schemas.openxmlformats.org/drawingml/2006/main">
            <a:off x="8239125" y="3390900"/>
            <a:ext cx="3143250" cy="857250"/>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30" name="">
            <a:extLst xmlns:a="http://schemas.openxmlformats.org/drawingml/2006/main">
              <a:ext uri="{FF2B5EF4-FFF2-40B4-BE49-F238E27FC236}">
                <a16:creationId xmlns:a16="http://schemas.microsoft.com/office/drawing/2014/main" id="{6BAF4BF2-22D6-455D-84DC-7A90C54ECD08}"/>
              </a:ext>
            </a:extLst>
          </p:cNvPr>
          <p:cNvSpPr>
            <a:spLocks xmlns:a="http://schemas.openxmlformats.org/drawingml/2006/main" noGrp="1"/>
          </p:cNvSpPr>
          <p:nvPr/>
        </p:nvSpPr>
        <p:spPr>
          <a:xfrm xmlns:a="http://schemas.openxmlformats.org/drawingml/2006/main">
            <a:off x="8315325" y="3448050"/>
            <a:ext cx="2990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Allow discharge</a:t>
            </a:r>
          </a:p>
        </p:txBody>
      </p:sp>
      <p:sp>
        <p:nvSpPr>
          <p:cNvPr id="31" name="">
            <a:extLst xmlns:a="http://schemas.openxmlformats.org/drawingml/2006/main">
              <a:ext uri="{FF2B5EF4-FFF2-40B4-BE49-F238E27FC236}">
                <a16:creationId xmlns:a16="http://schemas.microsoft.com/office/drawing/2014/main" id="{71C558EE-57EB-4D71-A744-90CB74385114}"/>
              </a:ext>
            </a:extLst>
          </p:cNvPr>
          <p:cNvSpPr>
            <a:spLocks xmlns:a="http://schemas.openxmlformats.org/drawingml/2006/main" noGrp="1"/>
          </p:cNvSpPr>
          <p:nvPr/>
        </p:nvSpPr>
        <p:spPr>
          <a:xfrm xmlns:a="http://schemas.openxmlformats.org/drawingml/2006/main">
            <a:off x="1200150" y="5715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Internalizing an externality does not imply eliminating the activity.</a:t>
            </a:r>
          </a:p>
        </p:txBody>
      </p:sp>
    </p:spTree>
    <p:extLst>
      <p:ext uri="{BB962C8B-B14F-4D97-AF65-F5344CB8AC3E}">
        <p14:creationId xmlns:p14="http://schemas.microsoft.com/office/powerpoint/2010/main" val="1731064789"/>
      </p:ext>
    </p:extLst>
  </p:cSld>
</p:sld>
</file>

<file path=ppt/slides/slide13.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5A5001-06C1-4C48-A7E8-7108C6E4193E}"/>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0FB7F0-0EEE-44CA-A218-F135BF8FF750}"/>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0390F45A-72AD-4379-B419-6BD7E259C115}"/>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The Coase theorem is a benchmark</a:t>
            </a:r>
          </a:p>
        </p:txBody>
      </p:sp>
      <p:sp>
        <p:nvSpPr>
          <p:cNvPr id="4" name="">
            <a:extLst xmlns:a="http://schemas.openxmlformats.org/drawingml/2006/main">
              <a:ext uri="{FF2B5EF4-FFF2-40B4-BE49-F238E27FC236}">
                <a16:creationId xmlns:a16="http://schemas.microsoft.com/office/drawing/2014/main" id="{10177A97-97A8-47AE-8A00-551B7904E90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DC3FA4-7D6B-412E-B070-32005F42A5E1}"/>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147612F2-5870-4730-A42E-D2EF6903921F}"/>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13</a:t>
            </a:r>
          </a:p>
        </p:txBody>
      </p:sp>
      <p:sp>
        <p:nvSpPr>
          <p:cNvPr id="7" name="">
            <a:extLst xmlns:a="http://schemas.openxmlformats.org/drawingml/2006/main">
              <a:ext uri="{FF2B5EF4-FFF2-40B4-BE49-F238E27FC236}">
                <a16:creationId xmlns:a16="http://schemas.microsoft.com/office/drawing/2014/main" id="{29236441-9B10-4811-83F6-1CB54D9A425D}"/>
              </a:ext>
            </a:extLst>
          </p:cNvPr>
          <p:cNvSpPr>
            <a:spLocks xmlns:a="http://schemas.openxmlformats.org/drawingml/2006/main" noGrp="1"/>
          </p:cNvSpPr>
          <p:nvPr/>
        </p:nvSpPr>
        <p:spPr>
          <a:xfrm xmlns:a="http://schemas.openxmlformats.org/drawingml/2006/main">
            <a:off x="1200150" y="2152650"/>
            <a:ext cx="97917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3150" b="1" i="0">
                <a:solidFill>
                  <a:srgbClr val="173F38"/>
                </a:solidFill>
                <a:latin typeface="Georgia"/>
                <a:ea typeface="Georgia"/>
                <a:cs typeface="Georgia"/>
              </a:defRPr>
            </a:pPr>
            <a:r>
              <a:rPr sz="3150" b="1" i="0">
                <a:solidFill>
                  <a:srgbClr val="173F38"/>
                </a:solidFill>
                <a:latin typeface="Georgia"/>
                <a:ea typeface="Georgia"/>
                <a:cs typeface="Georgia"/>
              </a:rPr>
              <a:t>If rights are clear and bargaining is costless, parties bargain toward the value-maximizing use regardless of the initial entitlement.</a:t>
            </a:r>
          </a:p>
        </p:txBody>
      </p:sp>
      <p:sp>
        <p:nvSpPr>
          <p:cNvPr id="8" name="">
            <a:extLst xmlns:a="http://schemas.openxmlformats.org/drawingml/2006/main">
              <a:ext uri="{FF2B5EF4-FFF2-40B4-BE49-F238E27FC236}">
                <a16:creationId xmlns:a16="http://schemas.microsoft.com/office/drawing/2014/main" id="{9243678E-F6CD-4E05-BA97-EF372F2E8EED}"/>
              </a:ext>
            </a:extLst>
          </p:cNvPr>
          <p:cNvSpPr>
            <a:spLocks xmlns:a="http://schemas.openxmlformats.org/drawingml/2006/main" noGrp="1"/>
          </p:cNvSpPr>
          <p:nvPr/>
        </p:nvSpPr>
        <p:spPr>
          <a:xfrm xmlns:a="http://schemas.openxmlformats.org/drawingml/2006/main">
            <a:off x="1562100" y="4629150"/>
            <a:ext cx="906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586A73"/>
                </a:solidFill>
                <a:latin typeface="Aptos"/>
                <a:ea typeface="Aptos"/>
                <a:cs typeface="Aptos"/>
              </a:defRPr>
            </a:pPr>
            <a:r>
              <a:rPr sz="1800" b="0" i="0">
                <a:solidFill>
                  <a:srgbClr val="586A73"/>
                </a:solidFill>
                <a:latin typeface="Aptos"/>
                <a:ea typeface="Aptos"/>
                <a:cs typeface="Aptos"/>
              </a:rPr>
              <a:t>The initial entitlement still affects the distribution of wealth and the direction of payment.</a:t>
            </a:r>
          </a:p>
        </p:txBody>
      </p:sp>
    </p:spTree>
    <p:extLst>
      <p:ext uri="{BB962C8B-B14F-4D97-AF65-F5344CB8AC3E}">
        <p14:creationId xmlns:p14="http://schemas.microsoft.com/office/powerpoint/2010/main" val="595014810"/>
      </p:ext>
    </p:extLst>
  </p:cSld>
</p:sld>
</file>

<file path=ppt/slides/slide14.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2E58F86-C583-4CA7-8761-70D335B96865}"/>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F175DB-BCA0-436F-959E-F17106A2C8CA}"/>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9D2FAF14-C497-4D85-B19D-7CEF7C05C101}"/>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Separate efficiency from distribution</a:t>
            </a:r>
          </a:p>
        </p:txBody>
      </p:sp>
      <p:sp>
        <p:nvSpPr>
          <p:cNvPr id="4" name="">
            <a:extLst xmlns:a="http://schemas.openxmlformats.org/drawingml/2006/main">
              <a:ext uri="{FF2B5EF4-FFF2-40B4-BE49-F238E27FC236}">
                <a16:creationId xmlns:a16="http://schemas.microsoft.com/office/drawing/2014/main" id="{543C5589-4C66-4FAE-AFB4-BAF423C43E7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1D00327-09D9-4E98-A051-09D605559A15}"/>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DF54E9BC-DE07-4B9E-B1A3-E40AFE8A0370}"/>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14</a:t>
            </a:r>
          </a:p>
        </p:txBody>
      </p:sp>
      <p:sp>
        <p:nvSpPr>
          <p:cNvPr id="7" name="">
            <a:extLst xmlns:a="http://schemas.openxmlformats.org/drawingml/2006/main">
              <a:ext uri="{FF2B5EF4-FFF2-40B4-BE49-F238E27FC236}">
                <a16:creationId xmlns:a16="http://schemas.microsoft.com/office/drawing/2014/main" id="{5EB13A49-48CD-401F-9EC5-3DD626A969EA}"/>
              </a:ext>
            </a:extLst>
          </p:cNvPr>
          <p:cNvSpPr>
            <a:spLocks xmlns:a="http://schemas.openxmlformats.org/drawingml/2006/main" noGrp="1"/>
          </p:cNvSpPr>
          <p:nvPr/>
        </p:nvSpPr>
        <p:spPr>
          <a:xfrm xmlns:a="http://schemas.openxmlformats.org/drawingml/2006/main">
            <a:off x="6667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ALLOCATION</a:t>
            </a:r>
          </a:p>
        </p:txBody>
      </p:sp>
      <p:sp>
        <p:nvSpPr>
          <p:cNvPr id="8" name="">
            <a:extLst xmlns:a="http://schemas.openxmlformats.org/drawingml/2006/main">
              <a:ext uri="{FF2B5EF4-FFF2-40B4-BE49-F238E27FC236}">
                <a16:creationId xmlns:a16="http://schemas.microsoft.com/office/drawing/2014/main" id="{9B7890AF-EBA0-4B9B-A488-9207A3050F41}"/>
              </a:ext>
            </a:extLst>
          </p:cNvPr>
          <p:cNvSpPr>
            <a:spLocks xmlns:a="http://schemas.openxmlformats.org/drawingml/2006/main" noGrp="1"/>
          </p:cNvSpPr>
          <p:nvPr/>
        </p:nvSpPr>
        <p:spPr>
          <a:xfrm xmlns:a="http://schemas.openxmlformats.org/drawingml/2006/main">
            <a:off x="666750" y="2228850"/>
            <a:ext cx="3302000" cy="26098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45EA3A4D-4D06-42BB-8573-A64E50F6C298}"/>
              </a:ext>
            </a:extLst>
          </p:cNvPr>
          <p:cNvSpPr>
            <a:spLocks xmlns:a="http://schemas.openxmlformats.org/drawingml/2006/main" noGrp="1"/>
          </p:cNvSpPr>
          <p:nvPr/>
        </p:nvSpPr>
        <p:spPr>
          <a:xfrm xmlns:a="http://schemas.openxmlformats.org/drawingml/2006/main">
            <a:off x="8572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Which use of the resource survives?</a:t>
            </a:r>
          </a:p>
        </p:txBody>
      </p:sp>
      <p:sp>
        <p:nvSpPr>
          <p:cNvPr id="10" name="">
            <a:extLst xmlns:a="http://schemas.openxmlformats.org/drawingml/2006/main">
              <a:ext uri="{FF2B5EF4-FFF2-40B4-BE49-F238E27FC236}">
                <a16:creationId xmlns:a16="http://schemas.microsoft.com/office/drawing/2014/main" id="{7842F886-2C6A-473D-884F-194E651F96AB}"/>
              </a:ext>
            </a:extLst>
          </p:cNvPr>
          <p:cNvSpPr>
            <a:spLocks xmlns:a="http://schemas.openxmlformats.org/drawingml/2006/main" noGrp="1"/>
          </p:cNvSpPr>
          <p:nvPr/>
        </p:nvSpPr>
        <p:spPr>
          <a:xfrm xmlns:a="http://schemas.openxmlformats.org/drawingml/2006/main">
            <a:off x="444500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75530D"/>
                </a:solidFill>
                <a:latin typeface="Aptos"/>
                <a:ea typeface="Aptos"/>
                <a:cs typeface="Aptos"/>
              </a:defRPr>
            </a:pPr>
            <a:r>
              <a:rPr sz="1275" b="1" i="0">
                <a:solidFill>
                  <a:srgbClr val="75530D"/>
                </a:solidFill>
                <a:latin typeface="Aptos"/>
                <a:ea typeface="Aptos"/>
                <a:cs typeface="Aptos"/>
              </a:rPr>
              <a:t>TRANSFER</a:t>
            </a:r>
          </a:p>
        </p:txBody>
      </p:sp>
      <p:sp>
        <p:nvSpPr>
          <p:cNvPr id="11" name="">
            <a:extLst xmlns:a="http://schemas.openxmlformats.org/drawingml/2006/main">
              <a:ext uri="{FF2B5EF4-FFF2-40B4-BE49-F238E27FC236}">
                <a16:creationId xmlns:a16="http://schemas.microsoft.com/office/drawing/2014/main" id="{9677B441-C904-47A5-9677-ABF9C34E72B6}"/>
              </a:ext>
            </a:extLst>
          </p:cNvPr>
          <p:cNvSpPr>
            <a:spLocks xmlns:a="http://schemas.openxmlformats.org/drawingml/2006/main" noGrp="1"/>
          </p:cNvSpPr>
          <p:nvPr/>
        </p:nvSpPr>
        <p:spPr>
          <a:xfrm xmlns:a="http://schemas.openxmlformats.org/drawingml/2006/main">
            <a:off x="4445000" y="2228850"/>
            <a:ext cx="3302000" cy="26098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F48C3947-0DC2-427A-ACA5-703D64419DD3}"/>
              </a:ext>
            </a:extLst>
          </p:cNvPr>
          <p:cNvSpPr>
            <a:spLocks xmlns:a="http://schemas.openxmlformats.org/drawingml/2006/main" noGrp="1"/>
          </p:cNvSpPr>
          <p:nvPr/>
        </p:nvSpPr>
        <p:spPr>
          <a:xfrm xmlns:a="http://schemas.openxmlformats.org/drawingml/2006/main">
            <a:off x="463550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Who pays whom, and how much?</a:t>
            </a:r>
          </a:p>
        </p:txBody>
      </p:sp>
      <p:sp>
        <p:nvSpPr>
          <p:cNvPr id="13" name="">
            <a:extLst xmlns:a="http://schemas.openxmlformats.org/drawingml/2006/main">
              <a:ext uri="{FF2B5EF4-FFF2-40B4-BE49-F238E27FC236}">
                <a16:creationId xmlns:a16="http://schemas.microsoft.com/office/drawing/2014/main" id="{177516E8-CE68-4251-A1A5-38EC9A8E86A9}"/>
              </a:ext>
            </a:extLst>
          </p:cNvPr>
          <p:cNvSpPr>
            <a:spLocks xmlns:a="http://schemas.openxmlformats.org/drawingml/2006/main" noGrp="1"/>
          </p:cNvSpPr>
          <p:nvPr/>
        </p:nvSpPr>
        <p:spPr>
          <a:xfrm xmlns:a="http://schemas.openxmlformats.org/drawingml/2006/main">
            <a:off x="82232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STARTING WEALTH</a:t>
            </a:r>
          </a:p>
        </p:txBody>
      </p:sp>
      <p:sp>
        <p:nvSpPr>
          <p:cNvPr id="14" name="">
            <a:extLst xmlns:a="http://schemas.openxmlformats.org/drawingml/2006/main">
              <a:ext uri="{FF2B5EF4-FFF2-40B4-BE49-F238E27FC236}">
                <a16:creationId xmlns:a16="http://schemas.microsoft.com/office/drawing/2014/main" id="{184038AB-4EBA-4406-A20F-C8BAD094823D}"/>
              </a:ext>
            </a:extLst>
          </p:cNvPr>
          <p:cNvSpPr>
            <a:spLocks xmlns:a="http://schemas.openxmlformats.org/drawingml/2006/main" noGrp="1"/>
          </p:cNvSpPr>
          <p:nvPr/>
        </p:nvSpPr>
        <p:spPr>
          <a:xfrm xmlns:a="http://schemas.openxmlformats.org/drawingml/2006/main">
            <a:off x="8223250" y="2228850"/>
            <a:ext cx="3302000" cy="26098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5" name="">
            <a:extLst xmlns:a="http://schemas.openxmlformats.org/drawingml/2006/main">
              <a:ext uri="{FF2B5EF4-FFF2-40B4-BE49-F238E27FC236}">
                <a16:creationId xmlns:a16="http://schemas.microsoft.com/office/drawing/2014/main" id="{93811073-6A69-4C4D-A8A2-9AC8974B8D80}"/>
              </a:ext>
            </a:extLst>
          </p:cNvPr>
          <p:cNvSpPr>
            <a:spLocks xmlns:a="http://schemas.openxmlformats.org/drawingml/2006/main" noGrp="1"/>
          </p:cNvSpPr>
          <p:nvPr/>
        </p:nvSpPr>
        <p:spPr>
          <a:xfrm xmlns:a="http://schemas.openxmlformats.org/drawingml/2006/main">
            <a:off x="84137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Who owns the valuable entitlement initially?</a:t>
            </a:r>
          </a:p>
        </p:txBody>
      </p:sp>
      <p:sp>
        <p:nvSpPr>
          <p:cNvPr id="16" name="">
            <a:extLst xmlns:a="http://schemas.openxmlformats.org/drawingml/2006/main">
              <a:ext uri="{FF2B5EF4-FFF2-40B4-BE49-F238E27FC236}">
                <a16:creationId xmlns:a16="http://schemas.microsoft.com/office/drawing/2014/main" id="{CBAC8AB4-9A3A-4A1B-ABC5-58BED81C3B1B}"/>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Same allocation does not mean same people are equally well off.</a:t>
            </a:r>
          </a:p>
        </p:txBody>
      </p:sp>
    </p:spTree>
    <p:extLst>
      <p:ext uri="{BB962C8B-B14F-4D97-AF65-F5344CB8AC3E}">
        <p14:creationId xmlns:p14="http://schemas.microsoft.com/office/powerpoint/2010/main" val="983092989"/>
      </p:ext>
    </p:extLst>
  </p:cSld>
</p:sld>
</file>

<file path=ppt/slides/slide15.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996A9BA-9B42-4D1A-A720-D2294F287D1D}"/>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DDA9C4-ADCF-4C9C-A87E-4EEE07DCAF1D}"/>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BE3CABD1-44EF-44C7-B6B6-64E41E5D5771}"/>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Why bargaining fails</a:t>
            </a:r>
          </a:p>
        </p:txBody>
      </p:sp>
      <p:sp>
        <p:nvSpPr>
          <p:cNvPr id="4" name="">
            <a:extLst xmlns:a="http://schemas.openxmlformats.org/drawingml/2006/main">
              <a:ext uri="{FF2B5EF4-FFF2-40B4-BE49-F238E27FC236}">
                <a16:creationId xmlns:a16="http://schemas.microsoft.com/office/drawing/2014/main" id="{43F9F2C6-A9E5-48DC-8E34-0095F639C8B4}"/>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7F4E8A5-9533-4121-B802-D193C8D65AA0}"/>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CCFF6176-A46E-43A0-B6C4-464499204A85}"/>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15</a:t>
            </a:r>
          </a:p>
        </p:txBody>
      </p:sp>
      <p:sp>
        <p:nvSpPr>
          <p:cNvPr id="7" name="">
            <a:extLst xmlns:a="http://schemas.openxmlformats.org/drawingml/2006/main">
              <a:ext uri="{FF2B5EF4-FFF2-40B4-BE49-F238E27FC236}">
                <a16:creationId xmlns:a16="http://schemas.microsoft.com/office/drawing/2014/main" id="{E339D215-7E69-4161-8908-C16F09377B92}"/>
              </a:ext>
            </a:extLst>
          </p:cNvPr>
          <p:cNvSpPr>
            <a:spLocks xmlns:a="http://schemas.openxmlformats.org/drawingml/2006/main" noGrp="1"/>
          </p:cNvSpPr>
          <p:nvPr/>
        </p:nvSpPr>
        <p:spPr>
          <a:xfrm xmlns:a="http://schemas.openxmlformats.org/drawingml/2006/main">
            <a:off x="6667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315F75"/>
                </a:solidFill>
                <a:latin typeface="Aptos"/>
                <a:ea typeface="Aptos"/>
                <a:cs typeface="Aptos"/>
              </a:defRPr>
            </a:pPr>
            <a:r>
              <a:rPr sz="1275" b="1" i="0">
                <a:solidFill>
                  <a:srgbClr val="315F75"/>
                </a:solidFill>
                <a:latin typeface="Aptos"/>
                <a:ea typeface="Aptos"/>
                <a:cs typeface="Aptos"/>
              </a:rPr>
              <a:t>SEARCH AND INFORMATION</a:t>
            </a:r>
          </a:p>
        </p:txBody>
      </p:sp>
      <p:sp>
        <p:nvSpPr>
          <p:cNvPr id="8" name="">
            <a:extLst xmlns:a="http://schemas.openxmlformats.org/drawingml/2006/main">
              <a:ext uri="{FF2B5EF4-FFF2-40B4-BE49-F238E27FC236}">
                <a16:creationId xmlns:a16="http://schemas.microsoft.com/office/drawing/2014/main" id="{7E967B3B-F969-47E5-8690-E2F0D1B1D102}"/>
              </a:ext>
            </a:extLst>
          </p:cNvPr>
          <p:cNvSpPr>
            <a:spLocks xmlns:a="http://schemas.openxmlformats.org/drawingml/2006/main" noGrp="1"/>
          </p:cNvSpPr>
          <p:nvPr/>
        </p:nvSpPr>
        <p:spPr>
          <a:xfrm xmlns:a="http://schemas.openxmlformats.org/drawingml/2006/main">
            <a:off x="666750" y="2228850"/>
            <a:ext cx="3302000" cy="2609850"/>
          </a:xfrm>
          <a:prstGeom xmlns:a="http://schemas.openxmlformats.org/drawingml/2006/main" prst="rect">
            <a:avLst/>
          </a:prstGeom>
          <a:solidFill xmlns:a="http://schemas.openxmlformats.org/drawingml/2006/main">
            <a:srgbClr val="E9F1F5"/>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252083CA-88DB-48E9-9A5E-08FE8FCE1FC6}"/>
              </a:ext>
            </a:extLst>
          </p:cNvPr>
          <p:cNvSpPr>
            <a:spLocks xmlns:a="http://schemas.openxmlformats.org/drawingml/2006/main" noGrp="1"/>
          </p:cNvSpPr>
          <p:nvPr/>
        </p:nvSpPr>
        <p:spPr>
          <a:xfrm xmlns:a="http://schemas.openxmlformats.org/drawingml/2006/main">
            <a:off x="8572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Find parties, values, risks, and authority</a:t>
            </a:r>
          </a:p>
        </p:txBody>
      </p:sp>
      <p:sp>
        <p:nvSpPr>
          <p:cNvPr id="10" name="">
            <a:extLst xmlns:a="http://schemas.openxmlformats.org/drawingml/2006/main">
              <a:ext uri="{FF2B5EF4-FFF2-40B4-BE49-F238E27FC236}">
                <a16:creationId xmlns:a16="http://schemas.microsoft.com/office/drawing/2014/main" id="{961DB8CC-DA1A-42B5-9D30-9191357410BE}"/>
              </a:ext>
            </a:extLst>
          </p:cNvPr>
          <p:cNvSpPr>
            <a:spLocks xmlns:a="http://schemas.openxmlformats.org/drawingml/2006/main" noGrp="1"/>
          </p:cNvSpPr>
          <p:nvPr/>
        </p:nvSpPr>
        <p:spPr>
          <a:xfrm xmlns:a="http://schemas.openxmlformats.org/drawingml/2006/main">
            <a:off x="444500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STRATEGY</a:t>
            </a:r>
          </a:p>
        </p:txBody>
      </p:sp>
      <p:sp>
        <p:nvSpPr>
          <p:cNvPr id="11" name="">
            <a:extLst xmlns:a="http://schemas.openxmlformats.org/drawingml/2006/main">
              <a:ext uri="{FF2B5EF4-FFF2-40B4-BE49-F238E27FC236}">
                <a16:creationId xmlns:a16="http://schemas.microsoft.com/office/drawing/2014/main" id="{B212A99A-6C08-4D46-A3A2-175513162233}"/>
              </a:ext>
            </a:extLst>
          </p:cNvPr>
          <p:cNvSpPr>
            <a:spLocks xmlns:a="http://schemas.openxmlformats.org/drawingml/2006/main" noGrp="1"/>
          </p:cNvSpPr>
          <p:nvPr/>
        </p:nvSpPr>
        <p:spPr>
          <a:xfrm xmlns:a="http://schemas.openxmlformats.org/drawingml/2006/main">
            <a:off x="4445000" y="2228850"/>
            <a:ext cx="3302000" cy="26098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6EC07773-76B8-441E-AAA3-D1A4C6AB3C67}"/>
              </a:ext>
            </a:extLst>
          </p:cNvPr>
          <p:cNvSpPr>
            <a:spLocks xmlns:a="http://schemas.openxmlformats.org/drawingml/2006/main" noGrp="1"/>
          </p:cNvSpPr>
          <p:nvPr/>
        </p:nvSpPr>
        <p:spPr>
          <a:xfrm xmlns:a="http://schemas.openxmlformats.org/drawingml/2006/main">
            <a:off x="463550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Holdouts, bluffing, delay, and free riding</a:t>
            </a:r>
          </a:p>
        </p:txBody>
      </p:sp>
      <p:sp>
        <p:nvSpPr>
          <p:cNvPr id="13" name="">
            <a:extLst xmlns:a="http://schemas.openxmlformats.org/drawingml/2006/main">
              <a:ext uri="{FF2B5EF4-FFF2-40B4-BE49-F238E27FC236}">
                <a16:creationId xmlns:a16="http://schemas.microsoft.com/office/drawing/2014/main" id="{CF5F92F1-A7A4-4E3D-ACF3-101025E09F4A}"/>
              </a:ext>
            </a:extLst>
          </p:cNvPr>
          <p:cNvSpPr>
            <a:spLocks xmlns:a="http://schemas.openxmlformats.org/drawingml/2006/main" noGrp="1"/>
          </p:cNvSpPr>
          <p:nvPr/>
        </p:nvSpPr>
        <p:spPr>
          <a:xfrm xmlns:a="http://schemas.openxmlformats.org/drawingml/2006/main">
            <a:off x="82232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75530D"/>
                </a:solidFill>
                <a:latin typeface="Aptos"/>
                <a:ea typeface="Aptos"/>
                <a:cs typeface="Aptos"/>
              </a:defRPr>
            </a:pPr>
            <a:r>
              <a:rPr sz="1275" b="1" i="0">
                <a:solidFill>
                  <a:srgbClr val="75530D"/>
                </a:solidFill>
                <a:latin typeface="Aptos"/>
                <a:ea typeface="Aptos"/>
                <a:cs typeface="Aptos"/>
              </a:rPr>
              <a:t>ENFORCEMENT</a:t>
            </a:r>
          </a:p>
        </p:txBody>
      </p:sp>
      <p:sp>
        <p:nvSpPr>
          <p:cNvPr id="14" name="">
            <a:extLst xmlns:a="http://schemas.openxmlformats.org/drawingml/2006/main">
              <a:ext uri="{FF2B5EF4-FFF2-40B4-BE49-F238E27FC236}">
                <a16:creationId xmlns:a16="http://schemas.microsoft.com/office/drawing/2014/main" id="{CD8F311C-1C6A-46D5-9841-E40608228A6F}"/>
              </a:ext>
            </a:extLst>
          </p:cNvPr>
          <p:cNvSpPr>
            <a:spLocks xmlns:a="http://schemas.openxmlformats.org/drawingml/2006/main" noGrp="1"/>
          </p:cNvSpPr>
          <p:nvPr/>
        </p:nvSpPr>
        <p:spPr>
          <a:xfrm xmlns:a="http://schemas.openxmlformats.org/drawingml/2006/main">
            <a:off x="8223250" y="2228850"/>
            <a:ext cx="3302000" cy="26098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5" name="">
            <a:extLst xmlns:a="http://schemas.openxmlformats.org/drawingml/2006/main">
              <a:ext uri="{FF2B5EF4-FFF2-40B4-BE49-F238E27FC236}">
                <a16:creationId xmlns:a16="http://schemas.microsoft.com/office/drawing/2014/main" id="{C5C3C4BB-5D0E-42FD-A192-E58ABCCE8E15}"/>
              </a:ext>
            </a:extLst>
          </p:cNvPr>
          <p:cNvSpPr>
            <a:spLocks xmlns:a="http://schemas.openxmlformats.org/drawingml/2006/main" noGrp="1"/>
          </p:cNvSpPr>
          <p:nvPr/>
        </p:nvSpPr>
        <p:spPr>
          <a:xfrm xmlns:a="http://schemas.openxmlformats.org/drawingml/2006/main">
            <a:off x="84137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Verify performance and police future conduct</a:t>
            </a:r>
          </a:p>
        </p:txBody>
      </p:sp>
      <p:sp>
        <p:nvSpPr>
          <p:cNvPr id="16" name="">
            <a:extLst xmlns:a="http://schemas.openxmlformats.org/drawingml/2006/main">
              <a:ext uri="{FF2B5EF4-FFF2-40B4-BE49-F238E27FC236}">
                <a16:creationId xmlns:a16="http://schemas.microsoft.com/office/drawing/2014/main" id="{8E9D2E5D-8BAD-42FD-AFC4-2297FA608E3A}"/>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0213"/>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Transaction costs are the costs of arranging, carrying out, and enforcing cooperation.</a:t>
            </a:r>
          </a:p>
        </p:txBody>
      </p:sp>
    </p:spTree>
    <p:extLst>
      <p:ext uri="{BB962C8B-B14F-4D97-AF65-F5344CB8AC3E}">
        <p14:creationId xmlns:p14="http://schemas.microsoft.com/office/powerpoint/2010/main" val="1008092747"/>
      </p:ext>
    </p:extLst>
  </p:cSld>
</p:sld>
</file>

<file path=ppt/slides/slide16.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0D1A044-4ADA-4C3A-9110-456A8C7DE0C5}"/>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6F2A9C6-5949-4815-B8DE-E17D518A6C18}"/>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1BEF637A-CC4A-4BBE-B42C-E66DB6369D5B}"/>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Many parties transform the bargaining problem</a:t>
            </a:r>
          </a:p>
        </p:txBody>
      </p:sp>
      <p:sp>
        <p:nvSpPr>
          <p:cNvPr id="4" name="">
            <a:extLst xmlns:a="http://schemas.openxmlformats.org/drawingml/2006/main">
              <a:ext uri="{FF2B5EF4-FFF2-40B4-BE49-F238E27FC236}">
                <a16:creationId xmlns:a16="http://schemas.microsoft.com/office/drawing/2014/main" id="{BCDD9D8E-799C-4AB2-97C4-D70381645B1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901E532-6948-49C6-8EF5-4348C5B02684}"/>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7BB5C28F-A23B-48DF-845C-21130BFBAF87}"/>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16</a:t>
            </a:r>
          </a:p>
        </p:txBody>
      </p:sp>
      <p:sp>
        <p:nvSpPr>
          <p:cNvPr id="7" name="">
            <a:extLst xmlns:a="http://schemas.openxmlformats.org/drawingml/2006/main">
              <a:ext uri="{FF2B5EF4-FFF2-40B4-BE49-F238E27FC236}">
                <a16:creationId xmlns:a16="http://schemas.microsoft.com/office/drawing/2014/main" id="{AC691858-AAD0-453C-983B-C5254A847602}"/>
              </a:ext>
            </a:extLst>
          </p:cNvPr>
          <p:cNvSpPr>
            <a:spLocks xmlns:a="http://schemas.openxmlformats.org/drawingml/2006/main" noGrp="1"/>
          </p:cNvSpPr>
          <p:nvPr/>
        </p:nvSpPr>
        <p:spPr>
          <a:xfrm xmlns:a="http://schemas.openxmlformats.org/drawingml/2006/main">
            <a:off x="1143000" y="15811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4594E"/>
                </a:solidFill>
                <a:latin typeface="Aptos"/>
                <a:ea typeface="Aptos"/>
                <a:cs typeface="Aptos"/>
              </a:defRPr>
            </a:pPr>
            <a:r>
              <a:rPr sz="1050" b="1" i="0">
                <a:solidFill>
                  <a:srgbClr val="24594E"/>
                </a:solidFill>
                <a:latin typeface="Aptos"/>
                <a:ea typeface="Aptos"/>
                <a:cs typeface="Aptos"/>
              </a:rPr>
              <a:t>COLLECTIVE ACTION</a:t>
            </a:r>
          </a:p>
        </p:txBody>
      </p:sp>
      <p:sp>
        <p:nvSpPr>
          <p:cNvPr id="8" name="">
            <a:extLst xmlns:a="http://schemas.openxmlformats.org/drawingml/2006/main">
              <a:ext uri="{FF2B5EF4-FFF2-40B4-BE49-F238E27FC236}">
                <a16:creationId xmlns:a16="http://schemas.microsoft.com/office/drawing/2014/main" id="{56F06BEE-314C-41BE-971A-ABDC2EA6D9DE}"/>
              </a:ext>
            </a:extLst>
          </p:cNvPr>
          <p:cNvSpPr>
            <a:spLocks xmlns:a="http://schemas.openxmlformats.org/drawingml/2006/main" noGrp="1"/>
          </p:cNvSpPr>
          <p:nvPr/>
        </p:nvSpPr>
        <p:spPr>
          <a:xfrm xmlns:a="http://schemas.openxmlformats.org/drawingml/2006/main">
            <a:off x="1257300" y="19907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C69E2F1C-82CB-4B0B-A7E1-18808B4C001F}"/>
              </a:ext>
            </a:extLst>
          </p:cNvPr>
          <p:cNvSpPr>
            <a:spLocks xmlns:a="http://schemas.openxmlformats.org/drawingml/2006/main" noGrp="1"/>
          </p:cNvSpPr>
          <p:nvPr/>
        </p:nvSpPr>
        <p:spPr>
          <a:xfrm xmlns:a="http://schemas.openxmlformats.org/drawingml/2006/main">
            <a:off x="1581150" y="20002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Each resident may hope others pay for cleanup.</a:t>
            </a:r>
          </a:p>
        </p:txBody>
      </p:sp>
      <p:sp>
        <p:nvSpPr>
          <p:cNvPr id="10" name="">
            <a:extLst xmlns:a="http://schemas.openxmlformats.org/drawingml/2006/main">
              <a:ext uri="{FF2B5EF4-FFF2-40B4-BE49-F238E27FC236}">
                <a16:creationId xmlns:a16="http://schemas.microsoft.com/office/drawing/2014/main" id="{F51DFC75-FC51-49B8-9F0E-F253AF036DC9}"/>
              </a:ext>
            </a:extLst>
          </p:cNvPr>
          <p:cNvSpPr>
            <a:spLocks xmlns:a="http://schemas.openxmlformats.org/drawingml/2006/main" noGrp="1"/>
          </p:cNvSpPr>
          <p:nvPr/>
        </p:nvSpPr>
        <p:spPr>
          <a:xfrm xmlns:a="http://schemas.openxmlformats.org/drawingml/2006/main">
            <a:off x="1257300" y="25622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9492BCEB-C413-453F-A598-571E974052E0}"/>
              </a:ext>
            </a:extLst>
          </p:cNvPr>
          <p:cNvSpPr>
            <a:spLocks xmlns:a="http://schemas.openxmlformats.org/drawingml/2006/main" noGrp="1"/>
          </p:cNvSpPr>
          <p:nvPr/>
        </p:nvSpPr>
        <p:spPr>
          <a:xfrm xmlns:a="http://schemas.openxmlformats.org/drawingml/2006/main">
            <a:off x="1581150" y="25717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One holdout may demand most of the cooperative surplus.</a:t>
            </a:r>
          </a:p>
        </p:txBody>
      </p:sp>
      <p:sp>
        <p:nvSpPr>
          <p:cNvPr id="12" name="">
            <a:extLst xmlns:a="http://schemas.openxmlformats.org/drawingml/2006/main">
              <a:ext uri="{FF2B5EF4-FFF2-40B4-BE49-F238E27FC236}">
                <a16:creationId xmlns:a16="http://schemas.microsoft.com/office/drawing/2014/main" id="{DBBDDC2F-6F3A-4681-937F-A254BCF8F119}"/>
              </a:ext>
            </a:extLst>
          </p:cNvPr>
          <p:cNvSpPr>
            <a:spLocks xmlns:a="http://schemas.openxmlformats.org/drawingml/2006/main" noGrp="1"/>
          </p:cNvSpPr>
          <p:nvPr/>
        </p:nvSpPr>
        <p:spPr>
          <a:xfrm xmlns:a="http://schemas.openxmlformats.org/drawingml/2006/main">
            <a:off x="1257300" y="31337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9A455E4C-DA9C-4110-8FC0-C67725299FCD}"/>
              </a:ext>
            </a:extLst>
          </p:cNvPr>
          <p:cNvSpPr>
            <a:spLocks xmlns:a="http://schemas.openxmlformats.org/drawingml/2006/main" noGrp="1"/>
          </p:cNvSpPr>
          <p:nvPr/>
        </p:nvSpPr>
        <p:spPr>
          <a:xfrm xmlns:a="http://schemas.openxmlformats.org/drawingml/2006/main">
            <a:off x="1581150" y="31432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Parties may disagree about exposure, valuation, and future risk.</a:t>
            </a:r>
          </a:p>
        </p:txBody>
      </p:sp>
      <p:sp>
        <p:nvSpPr>
          <p:cNvPr id="14" name="">
            <a:extLst xmlns:a="http://schemas.openxmlformats.org/drawingml/2006/main">
              <a:ext uri="{FF2B5EF4-FFF2-40B4-BE49-F238E27FC236}">
                <a16:creationId xmlns:a16="http://schemas.microsoft.com/office/drawing/2014/main" id="{7826DFB0-2788-450D-A1A9-0AF249D0FB4B}"/>
              </a:ext>
            </a:extLst>
          </p:cNvPr>
          <p:cNvSpPr>
            <a:spLocks xmlns:a="http://schemas.openxmlformats.org/drawingml/2006/main" noGrp="1"/>
          </p:cNvSpPr>
          <p:nvPr/>
        </p:nvSpPr>
        <p:spPr>
          <a:xfrm xmlns:a="http://schemas.openxmlformats.org/drawingml/2006/main">
            <a:off x="1257300" y="37052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B0C5C9BF-42CF-4EE1-9B6B-45BFE3AB6F77}"/>
              </a:ext>
            </a:extLst>
          </p:cNvPr>
          <p:cNvSpPr>
            <a:spLocks xmlns:a="http://schemas.openxmlformats.org/drawingml/2006/main" noGrp="1"/>
          </p:cNvSpPr>
          <p:nvPr/>
        </p:nvSpPr>
        <p:spPr>
          <a:xfrm xmlns:a="http://schemas.openxmlformats.org/drawingml/2006/main">
            <a:off x="1581150" y="37147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Organizing representation and authority becomes costly.</a:t>
            </a:r>
          </a:p>
        </p:txBody>
      </p:sp>
      <p:sp>
        <p:nvSpPr>
          <p:cNvPr id="16" name="">
            <a:extLst xmlns:a="http://schemas.openxmlformats.org/drawingml/2006/main">
              <a:ext uri="{FF2B5EF4-FFF2-40B4-BE49-F238E27FC236}">
                <a16:creationId xmlns:a16="http://schemas.microsoft.com/office/drawing/2014/main" id="{FC216DD4-2574-44E3-BE5E-74EB28872AE6}"/>
              </a:ext>
            </a:extLst>
          </p:cNvPr>
          <p:cNvSpPr>
            <a:spLocks xmlns:a="http://schemas.openxmlformats.org/drawingml/2006/main" noGrp="1"/>
          </p:cNvSpPr>
          <p:nvPr/>
        </p:nvSpPr>
        <p:spPr>
          <a:xfrm xmlns:a="http://schemas.openxmlformats.org/drawingml/2006/main">
            <a:off x="1200150" y="55626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3602"/>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The number and heterogeneity of parties can matter more than the physical harm.</a:t>
            </a:r>
          </a:p>
        </p:txBody>
      </p:sp>
    </p:spTree>
    <p:extLst>
      <p:ext uri="{BB962C8B-B14F-4D97-AF65-F5344CB8AC3E}">
        <p14:creationId xmlns:p14="http://schemas.microsoft.com/office/powerpoint/2010/main" val="66445166"/>
      </p:ext>
    </p:extLst>
  </p:cSld>
</p:sld>
</file>

<file path=ppt/slides/slide17.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8287839-5222-4963-A2F0-AFF018C220C2}"/>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0F667EE-0E18-4662-892C-0FF91F338C96}"/>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52C0D886-C96C-40FC-BDDB-D2E495DF918F}"/>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806"/>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Future performance creates monitoring and enforcement costs</a:t>
            </a:r>
          </a:p>
        </p:txBody>
      </p:sp>
      <p:sp>
        <p:nvSpPr>
          <p:cNvPr id="4" name="">
            <a:extLst xmlns:a="http://schemas.openxmlformats.org/drawingml/2006/main">
              <a:ext uri="{FF2B5EF4-FFF2-40B4-BE49-F238E27FC236}">
                <a16:creationId xmlns:a16="http://schemas.microsoft.com/office/drawing/2014/main" id="{95734AC8-25B7-498E-A75E-5CA7FABB1D1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A472F4B-F8A7-4873-8178-4058ECCDFE76}"/>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D3CAC981-3B1F-4673-935D-2DF11A2A3E91}"/>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17</a:t>
            </a:r>
          </a:p>
        </p:txBody>
      </p:sp>
      <p:sp>
        <p:nvSpPr>
          <p:cNvPr id="7" name="">
            <a:extLst xmlns:a="http://schemas.openxmlformats.org/drawingml/2006/main">
              <a:ext uri="{FF2B5EF4-FFF2-40B4-BE49-F238E27FC236}">
                <a16:creationId xmlns:a16="http://schemas.microsoft.com/office/drawing/2014/main" id="{753C0AA0-7DB0-4FAF-AF2E-5234A8CF1844}"/>
              </a:ext>
            </a:extLst>
          </p:cNvPr>
          <p:cNvSpPr>
            <a:spLocks xmlns:a="http://schemas.openxmlformats.org/drawingml/2006/main" noGrp="1"/>
          </p:cNvSpPr>
          <p:nvPr/>
        </p:nvSpPr>
        <p:spPr>
          <a:xfrm xmlns:a="http://schemas.openxmlformats.org/drawingml/2006/main">
            <a:off x="1257300" y="19907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EA40692F-67D1-470E-9832-C8603B8F8E53}"/>
              </a:ext>
            </a:extLst>
          </p:cNvPr>
          <p:cNvSpPr>
            <a:spLocks xmlns:a="http://schemas.openxmlformats.org/drawingml/2006/main" noGrp="1"/>
          </p:cNvSpPr>
          <p:nvPr/>
        </p:nvSpPr>
        <p:spPr>
          <a:xfrm xmlns:a="http://schemas.openxmlformats.org/drawingml/2006/main">
            <a:off x="1581150" y="20002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What counts as adequate pollution control?</a:t>
            </a:r>
          </a:p>
        </p:txBody>
      </p:sp>
      <p:sp>
        <p:nvSpPr>
          <p:cNvPr id="9" name="">
            <a:extLst xmlns:a="http://schemas.openxmlformats.org/drawingml/2006/main">
              <a:ext uri="{FF2B5EF4-FFF2-40B4-BE49-F238E27FC236}">
                <a16:creationId xmlns:a16="http://schemas.microsoft.com/office/drawing/2014/main" id="{81F7FA69-6138-4044-AEFC-97097C854A4F}"/>
              </a:ext>
            </a:extLst>
          </p:cNvPr>
          <p:cNvSpPr>
            <a:spLocks xmlns:a="http://schemas.openxmlformats.org/drawingml/2006/main" noGrp="1"/>
          </p:cNvSpPr>
          <p:nvPr/>
        </p:nvSpPr>
        <p:spPr>
          <a:xfrm xmlns:a="http://schemas.openxmlformats.org/drawingml/2006/main">
            <a:off x="1257300" y="25622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56DBF7FB-9F94-4403-A4FE-40124E09F4AB}"/>
              </a:ext>
            </a:extLst>
          </p:cNvPr>
          <p:cNvSpPr>
            <a:spLocks xmlns:a="http://schemas.openxmlformats.org/drawingml/2006/main" noGrp="1"/>
          </p:cNvSpPr>
          <p:nvPr/>
        </p:nvSpPr>
        <p:spPr>
          <a:xfrm xmlns:a="http://schemas.openxmlformats.org/drawingml/2006/main">
            <a:off x="1581150" y="25717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Who measures emissions and with what technology?</a:t>
            </a:r>
          </a:p>
        </p:txBody>
      </p:sp>
      <p:sp>
        <p:nvSpPr>
          <p:cNvPr id="11" name="">
            <a:extLst xmlns:a="http://schemas.openxmlformats.org/drawingml/2006/main">
              <a:ext uri="{FF2B5EF4-FFF2-40B4-BE49-F238E27FC236}">
                <a16:creationId xmlns:a16="http://schemas.microsoft.com/office/drawing/2014/main" id="{44AAAC52-7C64-450B-B368-F0E335BC80C4}"/>
              </a:ext>
            </a:extLst>
          </p:cNvPr>
          <p:cNvSpPr>
            <a:spLocks xmlns:a="http://schemas.openxmlformats.org/drawingml/2006/main" noGrp="1"/>
          </p:cNvSpPr>
          <p:nvPr/>
        </p:nvSpPr>
        <p:spPr>
          <a:xfrm xmlns:a="http://schemas.openxmlformats.org/drawingml/2006/main">
            <a:off x="1257300" y="31337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EF864B5D-6EFD-41ED-BCCC-BB62AEEF0F1A}"/>
              </a:ext>
            </a:extLst>
          </p:cNvPr>
          <p:cNvSpPr>
            <a:spLocks xmlns:a="http://schemas.openxmlformats.org/drawingml/2006/main" noGrp="1"/>
          </p:cNvSpPr>
          <p:nvPr/>
        </p:nvSpPr>
        <p:spPr>
          <a:xfrm xmlns:a="http://schemas.openxmlformats.org/drawingml/2006/main">
            <a:off x="1581150" y="31432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Can the factory alter output or inputs after agreement?</a:t>
            </a:r>
          </a:p>
        </p:txBody>
      </p:sp>
      <p:sp>
        <p:nvSpPr>
          <p:cNvPr id="13" name="">
            <a:extLst xmlns:a="http://schemas.openxmlformats.org/drawingml/2006/main">
              <a:ext uri="{FF2B5EF4-FFF2-40B4-BE49-F238E27FC236}">
                <a16:creationId xmlns:a16="http://schemas.microsoft.com/office/drawing/2014/main" id="{4DCAE97C-938C-4BBF-8050-C9B7377520F0}"/>
              </a:ext>
            </a:extLst>
          </p:cNvPr>
          <p:cNvSpPr>
            <a:spLocks xmlns:a="http://schemas.openxmlformats.org/drawingml/2006/main" noGrp="1"/>
          </p:cNvSpPr>
          <p:nvPr/>
        </p:nvSpPr>
        <p:spPr>
          <a:xfrm xmlns:a="http://schemas.openxmlformats.org/drawingml/2006/main">
            <a:off x="1257300" y="37052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8903BA82-9B17-4DD4-B2F2-D2825E345E4C}"/>
              </a:ext>
            </a:extLst>
          </p:cNvPr>
          <p:cNvSpPr>
            <a:spLocks xmlns:a="http://schemas.openxmlformats.org/drawingml/2006/main" noGrp="1"/>
          </p:cNvSpPr>
          <p:nvPr/>
        </p:nvSpPr>
        <p:spPr>
          <a:xfrm xmlns:a="http://schemas.openxmlformats.org/drawingml/2006/main">
            <a:off x="1581150" y="37147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What remedy applies when performance is disputed?</a:t>
            </a:r>
          </a:p>
        </p:txBody>
      </p:sp>
      <p:sp>
        <p:nvSpPr>
          <p:cNvPr id="15" name="">
            <a:extLst xmlns:a="http://schemas.openxmlformats.org/drawingml/2006/main">
              <a:ext uri="{FF2B5EF4-FFF2-40B4-BE49-F238E27FC236}">
                <a16:creationId xmlns:a16="http://schemas.microsoft.com/office/drawing/2014/main" id="{2C09CBE4-6E85-43D3-8D0D-38B5FDE4970A}"/>
              </a:ext>
            </a:extLst>
          </p:cNvPr>
          <p:cNvSpPr>
            <a:spLocks xmlns:a="http://schemas.openxmlformats.org/drawingml/2006/main" noGrp="1"/>
          </p:cNvSpPr>
          <p:nvPr/>
        </p:nvSpPr>
        <p:spPr>
          <a:xfrm xmlns:a="http://schemas.openxmlformats.org/drawingml/2006/main">
            <a:off x="1200150" y="55626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A signed agreement does not eliminate the need for governance.</a:t>
            </a:r>
          </a:p>
        </p:txBody>
      </p:sp>
    </p:spTree>
    <p:extLst>
      <p:ext uri="{BB962C8B-B14F-4D97-AF65-F5344CB8AC3E}">
        <p14:creationId xmlns:p14="http://schemas.microsoft.com/office/powerpoint/2010/main" val="1119424462"/>
      </p:ext>
    </p:extLst>
  </p:cSld>
</p:sld>
</file>

<file path=ppt/slides/slide18.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913DECF-00EF-42F9-8455-9EF7CD435C3B}"/>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39A6850-3210-4D65-B8BE-A049789B7F13}"/>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DFA0FFD3-A77B-4290-A672-232D8144EC0D}"/>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Move from theorem to institutional design</a:t>
            </a:r>
          </a:p>
        </p:txBody>
      </p:sp>
      <p:sp>
        <p:nvSpPr>
          <p:cNvPr id="4" name="">
            <a:extLst xmlns:a="http://schemas.openxmlformats.org/drawingml/2006/main">
              <a:ext uri="{FF2B5EF4-FFF2-40B4-BE49-F238E27FC236}">
                <a16:creationId xmlns:a16="http://schemas.microsoft.com/office/drawing/2014/main" id="{7755B152-91B8-4C75-94BA-698E3C5BE7A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7BC58BD-3453-42A6-9F68-44BD103403DE}"/>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36F772F3-36C2-461E-A2E4-37D09B3FEDAF}"/>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18</a:t>
            </a:r>
          </a:p>
        </p:txBody>
      </p:sp>
      <p:sp>
        <p:nvSpPr>
          <p:cNvPr id="7" name="">
            <a:extLst xmlns:a="http://schemas.openxmlformats.org/drawingml/2006/main">
              <a:ext uri="{FF2B5EF4-FFF2-40B4-BE49-F238E27FC236}">
                <a16:creationId xmlns:a16="http://schemas.microsoft.com/office/drawing/2014/main" id="{0BCD5772-ADC2-4DCF-BB38-9F1F69DD2F42}"/>
              </a:ext>
            </a:extLst>
          </p:cNvPr>
          <p:cNvSpPr>
            <a:spLocks xmlns:a="http://schemas.openxmlformats.org/drawingml/2006/main" noGrp="1"/>
          </p:cNvSpPr>
          <p:nvPr/>
        </p:nvSpPr>
        <p:spPr>
          <a:xfrm xmlns:a="http://schemas.openxmlformats.org/drawingml/2006/main">
            <a:off x="762000" y="2171700"/>
            <a:ext cx="2352675" cy="18097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8" name="">
            <a:extLst xmlns:a="http://schemas.openxmlformats.org/drawingml/2006/main">
              <a:ext uri="{FF2B5EF4-FFF2-40B4-BE49-F238E27FC236}">
                <a16:creationId xmlns:a16="http://schemas.microsoft.com/office/drawing/2014/main" id="{BF6EABE8-B7B5-4091-82C2-2C5EB5357E25}"/>
              </a:ext>
            </a:extLst>
          </p:cNvPr>
          <p:cNvSpPr>
            <a:spLocks xmlns:a="http://schemas.openxmlformats.org/drawingml/2006/main" noGrp="1"/>
          </p:cNvSpPr>
          <p:nvPr/>
        </p:nvSpPr>
        <p:spPr>
          <a:xfrm xmlns:a="http://schemas.openxmlformats.org/drawingml/2006/main">
            <a:off x="876300" y="240030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24594E"/>
                </a:solidFill>
                <a:latin typeface="Aptos"/>
                <a:ea typeface="Aptos"/>
                <a:cs typeface="Aptos"/>
              </a:defRPr>
            </a:pPr>
            <a:r>
              <a:rPr sz="1200" b="1" i="0">
                <a:solidFill>
                  <a:srgbClr val="24594E"/>
                </a:solidFill>
                <a:latin typeface="Aptos"/>
                <a:ea typeface="Aptos"/>
                <a:cs typeface="Aptos"/>
              </a:rPr>
              <a:t>DEFINE</a:t>
            </a:r>
          </a:p>
        </p:txBody>
      </p:sp>
      <p:sp>
        <p:nvSpPr>
          <p:cNvPr id="9" name="">
            <a:extLst xmlns:a="http://schemas.openxmlformats.org/drawingml/2006/main">
              <a:ext uri="{FF2B5EF4-FFF2-40B4-BE49-F238E27FC236}">
                <a16:creationId xmlns:a16="http://schemas.microsoft.com/office/drawing/2014/main" id="{A6C963C7-B86E-420F-BCAF-959A8EA61E6F}"/>
              </a:ext>
            </a:extLst>
          </p:cNvPr>
          <p:cNvSpPr>
            <a:spLocks xmlns:a="http://schemas.openxmlformats.org/drawingml/2006/main" noGrp="1"/>
          </p:cNvSpPr>
          <p:nvPr/>
        </p:nvSpPr>
        <p:spPr>
          <a:xfrm xmlns:a="http://schemas.openxmlformats.org/drawingml/2006/main">
            <a:off x="914400" y="2857500"/>
            <a:ext cx="2047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Specify the entitlement</a:t>
            </a:r>
          </a:p>
        </p:txBody>
      </p:sp>
      <p:sp>
        <p:nvSpPr>
          <p:cNvPr id="10" name="">
            <a:extLst xmlns:a="http://schemas.openxmlformats.org/drawingml/2006/main">
              <a:ext uri="{FF2B5EF4-FFF2-40B4-BE49-F238E27FC236}">
                <a16:creationId xmlns:a16="http://schemas.microsoft.com/office/drawing/2014/main" id="{D9DE1F38-CFA7-4129-89FF-8AC28C5EC686}"/>
              </a:ext>
            </a:extLst>
          </p:cNvPr>
          <p:cNvSpPr>
            <a:spLocks xmlns:a="http://schemas.openxmlformats.org/drawingml/2006/main" noGrp="1"/>
          </p:cNvSpPr>
          <p:nvPr/>
        </p:nvSpPr>
        <p:spPr>
          <a:xfrm xmlns:a="http://schemas.openxmlformats.org/drawingml/2006/main">
            <a:off x="3114675" y="285750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550" b="1" i="0">
                <a:solidFill>
                  <a:srgbClr val="B88424"/>
                </a:solidFill>
                <a:latin typeface="Aptos"/>
                <a:ea typeface="Aptos"/>
                <a:cs typeface="Aptos"/>
              </a:defRPr>
            </a:pPr>
            <a:r>
              <a:rPr sz="2550" b="1" i="0">
                <a:solidFill>
                  <a:srgbClr val="B88424"/>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CDC109D9-EB23-45EA-AA32-A5757ACCE017}"/>
              </a:ext>
            </a:extLst>
          </p:cNvPr>
          <p:cNvSpPr>
            <a:spLocks xmlns:a="http://schemas.openxmlformats.org/drawingml/2006/main" noGrp="1"/>
          </p:cNvSpPr>
          <p:nvPr/>
        </p:nvSpPr>
        <p:spPr>
          <a:xfrm xmlns:a="http://schemas.openxmlformats.org/drawingml/2006/main">
            <a:off x="3533775" y="2171700"/>
            <a:ext cx="2352675" cy="18097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117E7D7F-AD6A-4811-B0A0-7A0EEB6A388C}"/>
              </a:ext>
            </a:extLst>
          </p:cNvPr>
          <p:cNvSpPr>
            <a:spLocks xmlns:a="http://schemas.openxmlformats.org/drawingml/2006/main" noGrp="1"/>
          </p:cNvSpPr>
          <p:nvPr/>
        </p:nvSpPr>
        <p:spPr>
          <a:xfrm xmlns:a="http://schemas.openxmlformats.org/drawingml/2006/main">
            <a:off x="3648075" y="240030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75530D"/>
                </a:solidFill>
                <a:latin typeface="Aptos"/>
                <a:ea typeface="Aptos"/>
                <a:cs typeface="Aptos"/>
              </a:defRPr>
            </a:pPr>
            <a:r>
              <a:rPr sz="1200" b="1" i="0">
                <a:solidFill>
                  <a:srgbClr val="75530D"/>
                </a:solidFill>
                <a:latin typeface="Aptos"/>
                <a:ea typeface="Aptos"/>
                <a:cs typeface="Aptos"/>
              </a:rPr>
              <a:t>DIAGNOSE</a:t>
            </a:r>
          </a:p>
        </p:txBody>
      </p:sp>
      <p:sp>
        <p:nvSpPr>
          <p:cNvPr id="13" name="">
            <a:extLst xmlns:a="http://schemas.openxmlformats.org/drawingml/2006/main">
              <a:ext uri="{FF2B5EF4-FFF2-40B4-BE49-F238E27FC236}">
                <a16:creationId xmlns:a16="http://schemas.microsoft.com/office/drawing/2014/main" id="{6E06A440-7150-4601-81E8-3BC4BCE2AC96}"/>
              </a:ext>
            </a:extLst>
          </p:cNvPr>
          <p:cNvSpPr>
            <a:spLocks xmlns:a="http://schemas.openxmlformats.org/drawingml/2006/main" noGrp="1"/>
          </p:cNvSpPr>
          <p:nvPr/>
        </p:nvSpPr>
        <p:spPr>
          <a:xfrm xmlns:a="http://schemas.openxmlformats.org/drawingml/2006/main">
            <a:off x="3686175" y="2857500"/>
            <a:ext cx="2047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Locate the bargaining obstacle</a:t>
            </a:r>
          </a:p>
        </p:txBody>
      </p:sp>
      <p:sp>
        <p:nvSpPr>
          <p:cNvPr id="14" name="">
            <a:extLst xmlns:a="http://schemas.openxmlformats.org/drawingml/2006/main">
              <a:ext uri="{FF2B5EF4-FFF2-40B4-BE49-F238E27FC236}">
                <a16:creationId xmlns:a16="http://schemas.microsoft.com/office/drawing/2014/main" id="{42AA15B2-998B-49D0-A113-2B79B3D5C740}"/>
              </a:ext>
            </a:extLst>
          </p:cNvPr>
          <p:cNvSpPr>
            <a:spLocks xmlns:a="http://schemas.openxmlformats.org/drawingml/2006/main" noGrp="1"/>
          </p:cNvSpPr>
          <p:nvPr/>
        </p:nvSpPr>
        <p:spPr>
          <a:xfrm xmlns:a="http://schemas.openxmlformats.org/drawingml/2006/main">
            <a:off x="5886450" y="285750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550" b="1" i="0">
                <a:solidFill>
                  <a:srgbClr val="B88424"/>
                </a:solidFill>
                <a:latin typeface="Aptos"/>
                <a:ea typeface="Aptos"/>
                <a:cs typeface="Aptos"/>
              </a:defRPr>
            </a:pPr>
            <a:r>
              <a:rPr sz="2550" b="1" i="0">
                <a:solidFill>
                  <a:srgbClr val="B88424"/>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D2940E8A-E82B-4A4F-A0F9-E3D751FACA46}"/>
              </a:ext>
            </a:extLst>
          </p:cNvPr>
          <p:cNvSpPr>
            <a:spLocks xmlns:a="http://schemas.openxmlformats.org/drawingml/2006/main" noGrp="1"/>
          </p:cNvSpPr>
          <p:nvPr/>
        </p:nvSpPr>
        <p:spPr>
          <a:xfrm xmlns:a="http://schemas.openxmlformats.org/drawingml/2006/main">
            <a:off x="6305550" y="2171700"/>
            <a:ext cx="2352675" cy="18097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6" name="">
            <a:extLst xmlns:a="http://schemas.openxmlformats.org/drawingml/2006/main">
              <a:ext uri="{FF2B5EF4-FFF2-40B4-BE49-F238E27FC236}">
                <a16:creationId xmlns:a16="http://schemas.microsoft.com/office/drawing/2014/main" id="{C53CE8F0-2CB1-4D2B-8BA1-2EE716FB499B}"/>
              </a:ext>
            </a:extLst>
          </p:cNvPr>
          <p:cNvSpPr>
            <a:spLocks xmlns:a="http://schemas.openxmlformats.org/drawingml/2006/main" noGrp="1"/>
          </p:cNvSpPr>
          <p:nvPr/>
        </p:nvSpPr>
        <p:spPr>
          <a:xfrm xmlns:a="http://schemas.openxmlformats.org/drawingml/2006/main">
            <a:off x="6419850" y="240030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9A462F"/>
                </a:solidFill>
                <a:latin typeface="Aptos"/>
                <a:ea typeface="Aptos"/>
                <a:cs typeface="Aptos"/>
              </a:defRPr>
            </a:pPr>
            <a:r>
              <a:rPr sz="1200" b="1" i="0">
                <a:solidFill>
                  <a:srgbClr val="9A462F"/>
                </a:solidFill>
                <a:latin typeface="Aptos"/>
                <a:ea typeface="Aptos"/>
                <a:cs typeface="Aptos"/>
              </a:rPr>
              <a:t>COMPARE</a:t>
            </a:r>
          </a:p>
        </p:txBody>
      </p:sp>
      <p:sp>
        <p:nvSpPr>
          <p:cNvPr id="17" name="">
            <a:extLst xmlns:a="http://schemas.openxmlformats.org/drawingml/2006/main">
              <a:ext uri="{FF2B5EF4-FFF2-40B4-BE49-F238E27FC236}">
                <a16:creationId xmlns:a16="http://schemas.microsoft.com/office/drawing/2014/main" id="{2F297311-7D72-4054-B650-80DFB203438A}"/>
              </a:ext>
            </a:extLst>
          </p:cNvPr>
          <p:cNvSpPr>
            <a:spLocks xmlns:a="http://schemas.openxmlformats.org/drawingml/2006/main" noGrp="1"/>
          </p:cNvSpPr>
          <p:nvPr/>
        </p:nvSpPr>
        <p:spPr>
          <a:xfrm xmlns:a="http://schemas.openxmlformats.org/drawingml/2006/main">
            <a:off x="6457950" y="2857500"/>
            <a:ext cx="2047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Identify feasible institutions</a:t>
            </a:r>
          </a:p>
        </p:txBody>
      </p:sp>
      <p:sp>
        <p:nvSpPr>
          <p:cNvPr id="18" name="">
            <a:extLst xmlns:a="http://schemas.openxmlformats.org/drawingml/2006/main">
              <a:ext uri="{FF2B5EF4-FFF2-40B4-BE49-F238E27FC236}">
                <a16:creationId xmlns:a16="http://schemas.microsoft.com/office/drawing/2014/main" id="{256E5EC2-6319-4AD8-B513-9B0E1594E993}"/>
              </a:ext>
            </a:extLst>
          </p:cNvPr>
          <p:cNvSpPr>
            <a:spLocks xmlns:a="http://schemas.openxmlformats.org/drawingml/2006/main" noGrp="1"/>
          </p:cNvSpPr>
          <p:nvPr/>
        </p:nvSpPr>
        <p:spPr>
          <a:xfrm xmlns:a="http://schemas.openxmlformats.org/drawingml/2006/main">
            <a:off x="8658225" y="285750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550" b="1" i="0">
                <a:solidFill>
                  <a:srgbClr val="B88424"/>
                </a:solidFill>
                <a:latin typeface="Aptos"/>
                <a:ea typeface="Aptos"/>
                <a:cs typeface="Aptos"/>
              </a:defRPr>
            </a:pPr>
            <a:r>
              <a:rPr sz="2550" b="1" i="0">
                <a:solidFill>
                  <a:srgbClr val="B88424"/>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23C9E76F-96D9-4FAD-B943-538533B34F79}"/>
              </a:ext>
            </a:extLst>
          </p:cNvPr>
          <p:cNvSpPr>
            <a:spLocks xmlns:a="http://schemas.openxmlformats.org/drawingml/2006/main" noGrp="1"/>
          </p:cNvSpPr>
          <p:nvPr/>
        </p:nvSpPr>
        <p:spPr>
          <a:xfrm xmlns:a="http://schemas.openxmlformats.org/drawingml/2006/main">
            <a:off x="9077325" y="2171700"/>
            <a:ext cx="2352675" cy="1809750"/>
          </a:xfrm>
          <a:prstGeom xmlns:a="http://schemas.openxmlformats.org/drawingml/2006/main" prst="rect">
            <a:avLst/>
          </a:prstGeom>
          <a:solidFill xmlns:a="http://schemas.openxmlformats.org/drawingml/2006/main">
            <a:srgbClr val="E9F1F5"/>
          </a:solidFill>
          <a:ln xmlns:a="http://schemas.openxmlformats.org/drawingml/2006/main" w="9525">
            <a:solidFill>
              <a:srgbClr val="CCD5D2"/>
            </a:solidFill>
            <a:prstDash val="solid"/>
          </a:ln>
        </p:spPr>
      </p:sp>
      <p:sp>
        <p:nvSpPr>
          <p:cNvPr id="20" name="">
            <a:extLst xmlns:a="http://schemas.openxmlformats.org/drawingml/2006/main">
              <a:ext uri="{FF2B5EF4-FFF2-40B4-BE49-F238E27FC236}">
                <a16:creationId xmlns:a16="http://schemas.microsoft.com/office/drawing/2014/main" id="{CDFE5FC2-B127-4EE5-A976-DE8F4A425739}"/>
              </a:ext>
            </a:extLst>
          </p:cNvPr>
          <p:cNvSpPr>
            <a:spLocks xmlns:a="http://schemas.openxmlformats.org/drawingml/2006/main" noGrp="1"/>
          </p:cNvSpPr>
          <p:nvPr/>
        </p:nvSpPr>
        <p:spPr>
          <a:xfrm xmlns:a="http://schemas.openxmlformats.org/drawingml/2006/main">
            <a:off x="9191625" y="240030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315F75"/>
                </a:solidFill>
                <a:latin typeface="Aptos"/>
                <a:ea typeface="Aptos"/>
                <a:cs typeface="Aptos"/>
              </a:defRPr>
            </a:pPr>
            <a:r>
              <a:rPr sz="1200" b="1" i="0">
                <a:solidFill>
                  <a:srgbClr val="315F75"/>
                </a:solidFill>
                <a:latin typeface="Aptos"/>
                <a:ea typeface="Aptos"/>
                <a:cs typeface="Aptos"/>
              </a:rPr>
              <a:t>SELECT</a:t>
            </a:r>
          </a:p>
        </p:txBody>
      </p:sp>
      <p:sp>
        <p:nvSpPr>
          <p:cNvPr id="21" name="">
            <a:extLst xmlns:a="http://schemas.openxmlformats.org/drawingml/2006/main">
              <a:ext uri="{FF2B5EF4-FFF2-40B4-BE49-F238E27FC236}">
                <a16:creationId xmlns:a16="http://schemas.microsoft.com/office/drawing/2014/main" id="{805CB437-53ED-4185-B30E-6FB45DAC20D1}"/>
              </a:ext>
            </a:extLst>
          </p:cNvPr>
          <p:cNvSpPr>
            <a:spLocks xmlns:a="http://schemas.openxmlformats.org/drawingml/2006/main" noGrp="1"/>
          </p:cNvSpPr>
          <p:nvPr/>
        </p:nvSpPr>
        <p:spPr>
          <a:xfrm xmlns:a="http://schemas.openxmlformats.org/drawingml/2006/main">
            <a:off x="9229725" y="2857500"/>
            <a:ext cx="2047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Choose the least costly bundle</a:t>
            </a:r>
          </a:p>
        </p:txBody>
      </p:sp>
      <p:sp>
        <p:nvSpPr>
          <p:cNvPr id="22" name="">
            <a:extLst xmlns:a="http://schemas.openxmlformats.org/drawingml/2006/main">
              <a:ext uri="{FF2B5EF4-FFF2-40B4-BE49-F238E27FC236}">
                <a16:creationId xmlns:a16="http://schemas.microsoft.com/office/drawing/2014/main" id="{B72CB0E9-FDED-4491-AFBE-C4D527E63BC2}"/>
              </a:ext>
            </a:extLst>
          </p:cNvPr>
          <p:cNvSpPr>
            <a:spLocks xmlns:a="http://schemas.openxmlformats.org/drawingml/2006/main" noGrp="1"/>
          </p:cNvSpPr>
          <p:nvPr/>
        </p:nvSpPr>
        <p:spPr>
          <a:xfrm xmlns:a="http://schemas.openxmlformats.org/drawingml/2006/main">
            <a:off x="1200150" y="497205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3267"/>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Do not invoke Coase as ‘let the parties bargain’ without checking whether they can.</a:t>
            </a:r>
          </a:p>
        </p:txBody>
      </p:sp>
    </p:spTree>
    <p:extLst>
      <p:ext uri="{BB962C8B-B14F-4D97-AF65-F5344CB8AC3E}">
        <p14:creationId xmlns:p14="http://schemas.microsoft.com/office/powerpoint/2010/main" val="177432727"/>
      </p:ext>
    </p:extLst>
  </p:cSld>
</p:sld>
</file>

<file path=ppt/slides/slide19.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7B0F5BD-F063-4A01-8ACE-8BC9197E9FEF}"/>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EB84DF-7357-4448-90F6-775808FFFAE1}"/>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923E18BA-0123-498B-95CF-215352AA36BA}"/>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246"/>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The normative Hobbes and Coase principles complement each other</a:t>
            </a:r>
          </a:p>
        </p:txBody>
      </p:sp>
      <p:sp>
        <p:nvSpPr>
          <p:cNvPr id="4" name="">
            <a:extLst xmlns:a="http://schemas.openxmlformats.org/drawingml/2006/main">
              <a:ext uri="{FF2B5EF4-FFF2-40B4-BE49-F238E27FC236}">
                <a16:creationId xmlns:a16="http://schemas.microsoft.com/office/drawing/2014/main" id="{C0172B05-1917-45EA-A316-50A5EB47578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9F0CA35-9E26-4A21-9174-5AC36689EC16}"/>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D6F5BCC8-0ECD-441E-9647-8F47DC21BA31}"/>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19</a:t>
            </a:r>
          </a:p>
        </p:txBody>
      </p:sp>
      <p:sp>
        <p:nvSpPr>
          <p:cNvPr id="7" name="">
            <a:extLst xmlns:a="http://schemas.openxmlformats.org/drawingml/2006/main">
              <a:ext uri="{FF2B5EF4-FFF2-40B4-BE49-F238E27FC236}">
                <a16:creationId xmlns:a16="http://schemas.microsoft.com/office/drawing/2014/main" id="{93BC0DAC-E55A-4F98-9F96-C7E0CFE2DDBD}"/>
              </a:ext>
            </a:extLst>
          </p:cNvPr>
          <p:cNvSpPr>
            <a:spLocks xmlns:a="http://schemas.openxmlformats.org/drawingml/2006/main" noGrp="1"/>
          </p:cNvSpPr>
          <p:nvPr/>
        </p:nvSpPr>
        <p:spPr>
          <a:xfrm xmlns:a="http://schemas.openxmlformats.org/drawingml/2006/main">
            <a:off x="666750" y="1790700"/>
            <a:ext cx="519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NORMATIVE HOBBES</a:t>
            </a:r>
          </a:p>
        </p:txBody>
      </p:sp>
      <p:sp>
        <p:nvSpPr>
          <p:cNvPr id="8" name="">
            <a:extLst xmlns:a="http://schemas.openxmlformats.org/drawingml/2006/main">
              <a:ext uri="{FF2B5EF4-FFF2-40B4-BE49-F238E27FC236}">
                <a16:creationId xmlns:a16="http://schemas.microsoft.com/office/drawing/2014/main" id="{430252BB-FC88-4DB3-84D7-FDFAE6BD90A8}"/>
              </a:ext>
            </a:extLst>
          </p:cNvPr>
          <p:cNvSpPr>
            <a:spLocks xmlns:a="http://schemas.openxmlformats.org/drawingml/2006/main" noGrp="1"/>
          </p:cNvSpPr>
          <p:nvPr/>
        </p:nvSpPr>
        <p:spPr>
          <a:xfrm xmlns:a="http://schemas.openxmlformats.org/drawingml/2006/main">
            <a:off x="666750" y="2228850"/>
            <a:ext cx="5191125" cy="26098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5844A04F-CDB0-45F4-8ACE-93F0D0E6CF68}"/>
              </a:ext>
            </a:extLst>
          </p:cNvPr>
          <p:cNvSpPr>
            <a:spLocks xmlns:a="http://schemas.openxmlformats.org/drawingml/2006/main" noGrp="1"/>
          </p:cNvSpPr>
          <p:nvPr/>
        </p:nvSpPr>
        <p:spPr>
          <a:xfrm xmlns:a="http://schemas.openxmlformats.org/drawingml/2006/main">
            <a:off x="857250" y="2438400"/>
            <a:ext cx="48101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Structure law to minimize destructive disagreement and noncooperation</a:t>
            </a:r>
          </a:p>
        </p:txBody>
      </p:sp>
      <p:sp>
        <p:nvSpPr>
          <p:cNvPr id="10" name="">
            <a:extLst xmlns:a="http://schemas.openxmlformats.org/drawingml/2006/main">
              <a:ext uri="{FF2B5EF4-FFF2-40B4-BE49-F238E27FC236}">
                <a16:creationId xmlns:a16="http://schemas.microsoft.com/office/drawing/2014/main" id="{8316B63C-CD9F-4723-B047-55FC89F5839C}"/>
              </a:ext>
            </a:extLst>
          </p:cNvPr>
          <p:cNvSpPr>
            <a:spLocks xmlns:a="http://schemas.openxmlformats.org/drawingml/2006/main" noGrp="1"/>
          </p:cNvSpPr>
          <p:nvPr/>
        </p:nvSpPr>
        <p:spPr>
          <a:xfrm xmlns:a="http://schemas.openxmlformats.org/drawingml/2006/main">
            <a:off x="6334125" y="1790700"/>
            <a:ext cx="519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NORMATIVE COASE</a:t>
            </a:r>
          </a:p>
        </p:txBody>
      </p:sp>
      <p:sp>
        <p:nvSpPr>
          <p:cNvPr id="11" name="">
            <a:extLst xmlns:a="http://schemas.openxmlformats.org/drawingml/2006/main">
              <a:ext uri="{FF2B5EF4-FFF2-40B4-BE49-F238E27FC236}">
                <a16:creationId xmlns:a16="http://schemas.microsoft.com/office/drawing/2014/main" id="{624F4A59-4CEF-4F8B-A619-55C07BC37344}"/>
              </a:ext>
            </a:extLst>
          </p:cNvPr>
          <p:cNvSpPr>
            <a:spLocks xmlns:a="http://schemas.openxmlformats.org/drawingml/2006/main" noGrp="1"/>
          </p:cNvSpPr>
          <p:nvPr/>
        </p:nvSpPr>
        <p:spPr>
          <a:xfrm xmlns:a="http://schemas.openxmlformats.org/drawingml/2006/main">
            <a:off x="6334125" y="2228850"/>
            <a:ext cx="5191125" cy="26098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3457907F-9DB0-46EE-B0C5-7FEB55841F14}"/>
              </a:ext>
            </a:extLst>
          </p:cNvPr>
          <p:cNvSpPr>
            <a:spLocks xmlns:a="http://schemas.openxmlformats.org/drawingml/2006/main" noGrp="1"/>
          </p:cNvSpPr>
          <p:nvPr/>
        </p:nvSpPr>
        <p:spPr>
          <a:xfrm xmlns:a="http://schemas.openxmlformats.org/drawingml/2006/main">
            <a:off x="6524625" y="2438400"/>
            <a:ext cx="48101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Structure law to remove obstacles to private agreement</a:t>
            </a:r>
          </a:p>
        </p:txBody>
      </p:sp>
      <p:sp>
        <p:nvSpPr>
          <p:cNvPr id="13" name="">
            <a:extLst xmlns:a="http://schemas.openxmlformats.org/drawingml/2006/main">
              <a:ext uri="{FF2B5EF4-FFF2-40B4-BE49-F238E27FC236}">
                <a16:creationId xmlns:a16="http://schemas.microsoft.com/office/drawing/2014/main" id="{D81B3135-CD70-48BA-BB80-D2DD9AF8D4A7}"/>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6898"/>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Reduce the cost of failed cooperation; enable bargains when bargains can work.</a:t>
            </a:r>
          </a:p>
        </p:txBody>
      </p:sp>
    </p:spTree>
    <p:extLst>
      <p:ext uri="{BB962C8B-B14F-4D97-AF65-F5344CB8AC3E}">
        <p14:creationId xmlns:p14="http://schemas.microsoft.com/office/powerpoint/2010/main" val="1895719536"/>
      </p:ext>
    </p:extLst>
  </p:cSld>
</p:sld>
</file>

<file path=ppt/slides/slide20.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0143349-0BDD-4038-B7C4-601E1D433ECA}"/>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94E1A23-F75F-4AE6-A1D3-33631B3DA37F}"/>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35FC50F3-8279-443C-9EF8-D9AB45DA388D}"/>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Choose among imperfect responses</a:t>
            </a:r>
          </a:p>
        </p:txBody>
      </p:sp>
      <p:sp>
        <p:nvSpPr>
          <p:cNvPr id="4" name="">
            <a:extLst xmlns:a="http://schemas.openxmlformats.org/drawingml/2006/main">
              <a:ext uri="{FF2B5EF4-FFF2-40B4-BE49-F238E27FC236}">
                <a16:creationId xmlns:a16="http://schemas.microsoft.com/office/drawing/2014/main" id="{35EF1351-AEB9-44A2-94BE-B14C1E929AB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66E2062-BF8A-422E-B7C1-9A63FD361E55}"/>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69532B14-7EF0-4703-943B-B40B723ED2BB}"/>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20</a:t>
            </a:r>
          </a:p>
        </p:txBody>
      </p:sp>
      <p:sp>
        <p:nvSpPr>
          <p:cNvPr id="7" name="">
            <a:extLst xmlns:a="http://schemas.openxmlformats.org/drawingml/2006/main">
              <a:ext uri="{FF2B5EF4-FFF2-40B4-BE49-F238E27FC236}">
                <a16:creationId xmlns:a16="http://schemas.microsoft.com/office/drawing/2014/main" id="{71264CE1-3661-4C71-96C3-B84E1FAFC6BB}"/>
              </a:ext>
            </a:extLst>
          </p:cNvPr>
          <p:cNvSpPr>
            <a:spLocks xmlns:a="http://schemas.openxmlformats.org/drawingml/2006/main" noGrp="1"/>
          </p:cNvSpPr>
          <p:nvPr/>
        </p:nvSpPr>
        <p:spPr>
          <a:xfrm xmlns:a="http://schemas.openxmlformats.org/drawingml/2006/main">
            <a:off x="809625" y="1676400"/>
            <a:ext cx="2381250" cy="642938"/>
          </a:xfrm>
          <a:prstGeom xmlns:a="http://schemas.openxmlformats.org/drawingml/2006/main" prst="rect">
            <a:avLst/>
          </a:prstGeom>
          <a:solidFill xmlns:a="http://schemas.openxmlformats.org/drawingml/2006/main">
            <a:srgbClr val="173F38"/>
          </a:solidFill>
          <a:ln xmlns:a="http://schemas.openxmlformats.org/drawingml/2006/main" w="9525">
            <a:solidFill>
              <a:srgbClr val="CCD5D2"/>
            </a:solidFill>
            <a:prstDash val="solid"/>
          </a:ln>
        </p:spPr>
      </p:sp>
      <p:sp>
        <p:nvSpPr>
          <p:cNvPr id="8" name="">
            <a:extLst xmlns:a="http://schemas.openxmlformats.org/drawingml/2006/main">
              <a:ext uri="{FF2B5EF4-FFF2-40B4-BE49-F238E27FC236}">
                <a16:creationId xmlns:a16="http://schemas.microsoft.com/office/drawing/2014/main" id="{E956BCDA-37D9-4A3A-AA41-C4500C0C1150}"/>
              </a:ext>
            </a:extLst>
          </p:cNvPr>
          <p:cNvSpPr>
            <a:spLocks xmlns:a="http://schemas.openxmlformats.org/drawingml/2006/main" noGrp="1"/>
          </p:cNvSpPr>
          <p:nvPr/>
        </p:nvSpPr>
        <p:spPr>
          <a:xfrm xmlns:a="http://schemas.openxmlformats.org/drawingml/2006/main">
            <a:off x="885825" y="1733550"/>
            <a:ext cx="22288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Institution</a:t>
            </a:r>
          </a:p>
        </p:txBody>
      </p:sp>
      <p:sp>
        <p:nvSpPr>
          <p:cNvPr id="9" name="">
            <a:extLst xmlns:a="http://schemas.openxmlformats.org/drawingml/2006/main">
              <a:ext uri="{FF2B5EF4-FFF2-40B4-BE49-F238E27FC236}">
                <a16:creationId xmlns:a16="http://schemas.microsoft.com/office/drawing/2014/main" id="{8DCB519D-8FE4-4AB4-A589-C3CA49EC2888}"/>
              </a:ext>
            </a:extLst>
          </p:cNvPr>
          <p:cNvSpPr>
            <a:spLocks xmlns:a="http://schemas.openxmlformats.org/drawingml/2006/main" noGrp="1"/>
          </p:cNvSpPr>
          <p:nvPr/>
        </p:nvSpPr>
        <p:spPr>
          <a:xfrm xmlns:a="http://schemas.openxmlformats.org/drawingml/2006/main">
            <a:off x="3190875" y="1676400"/>
            <a:ext cx="4095750" cy="642938"/>
          </a:xfrm>
          <a:prstGeom xmlns:a="http://schemas.openxmlformats.org/drawingml/2006/main" prst="rect">
            <a:avLst/>
          </a:prstGeom>
          <a:solidFill xmlns:a="http://schemas.openxmlformats.org/drawingml/2006/main">
            <a:srgbClr val="173F38"/>
          </a:solidFill>
          <a:ln xmlns:a="http://schemas.openxmlformats.org/drawingml/2006/main" w="9525">
            <a:solidFill>
              <a:srgbClr val="CCD5D2"/>
            </a:solidFill>
            <a:prstDash val="solid"/>
          </a:ln>
        </p:spPr>
      </p:sp>
      <p:sp>
        <p:nvSpPr>
          <p:cNvPr id="10" name="">
            <a:extLst xmlns:a="http://schemas.openxmlformats.org/drawingml/2006/main">
              <a:ext uri="{FF2B5EF4-FFF2-40B4-BE49-F238E27FC236}">
                <a16:creationId xmlns:a16="http://schemas.microsoft.com/office/drawing/2014/main" id="{3A63A142-A134-40DE-8D01-CF2698537950}"/>
              </a:ext>
            </a:extLst>
          </p:cNvPr>
          <p:cNvSpPr>
            <a:spLocks xmlns:a="http://schemas.openxmlformats.org/drawingml/2006/main" noGrp="1"/>
          </p:cNvSpPr>
          <p:nvPr/>
        </p:nvSpPr>
        <p:spPr>
          <a:xfrm xmlns:a="http://schemas.openxmlformats.org/drawingml/2006/main">
            <a:off x="3267075" y="1733550"/>
            <a:ext cx="39433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Uses well</a:t>
            </a:r>
          </a:p>
        </p:txBody>
      </p:sp>
      <p:sp>
        <p:nvSpPr>
          <p:cNvPr id="11" name="">
            <a:extLst xmlns:a="http://schemas.openxmlformats.org/drawingml/2006/main">
              <a:ext uri="{FF2B5EF4-FFF2-40B4-BE49-F238E27FC236}">
                <a16:creationId xmlns:a16="http://schemas.microsoft.com/office/drawing/2014/main" id="{998AA9BC-6696-4991-8A74-EB38932C5F59}"/>
              </a:ext>
            </a:extLst>
          </p:cNvPr>
          <p:cNvSpPr>
            <a:spLocks xmlns:a="http://schemas.openxmlformats.org/drawingml/2006/main" noGrp="1"/>
          </p:cNvSpPr>
          <p:nvPr/>
        </p:nvSpPr>
        <p:spPr>
          <a:xfrm xmlns:a="http://schemas.openxmlformats.org/drawingml/2006/main">
            <a:off x="7286625" y="1676400"/>
            <a:ext cx="4095750" cy="642938"/>
          </a:xfrm>
          <a:prstGeom xmlns:a="http://schemas.openxmlformats.org/drawingml/2006/main" prst="rect">
            <a:avLst/>
          </a:prstGeom>
          <a:solidFill xmlns:a="http://schemas.openxmlformats.org/drawingml/2006/main">
            <a:srgbClr val="173F38"/>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5CBCE5DF-5F4E-46AB-9A2E-CD304466267A}"/>
              </a:ext>
            </a:extLst>
          </p:cNvPr>
          <p:cNvSpPr>
            <a:spLocks xmlns:a="http://schemas.openxmlformats.org/drawingml/2006/main" noGrp="1"/>
          </p:cNvSpPr>
          <p:nvPr/>
        </p:nvSpPr>
        <p:spPr>
          <a:xfrm xmlns:a="http://schemas.openxmlformats.org/drawingml/2006/main">
            <a:off x="7362825" y="1733550"/>
            <a:ext cx="39433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Characteristic limit</a:t>
            </a:r>
          </a:p>
        </p:txBody>
      </p:sp>
      <p:sp>
        <p:nvSpPr>
          <p:cNvPr id="13" name="">
            <a:extLst xmlns:a="http://schemas.openxmlformats.org/drawingml/2006/main">
              <a:ext uri="{FF2B5EF4-FFF2-40B4-BE49-F238E27FC236}">
                <a16:creationId xmlns:a16="http://schemas.microsoft.com/office/drawing/2014/main" id="{FEC4FB4F-BA67-4FAB-96E7-4AB6F9814BB3}"/>
              </a:ext>
            </a:extLst>
          </p:cNvPr>
          <p:cNvSpPr>
            <a:spLocks xmlns:a="http://schemas.openxmlformats.org/drawingml/2006/main" noGrp="1"/>
          </p:cNvSpPr>
          <p:nvPr/>
        </p:nvSpPr>
        <p:spPr>
          <a:xfrm xmlns:a="http://schemas.openxmlformats.org/drawingml/2006/main">
            <a:off x="809625" y="2319338"/>
            <a:ext cx="2381250" cy="642938"/>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14" name="">
            <a:extLst xmlns:a="http://schemas.openxmlformats.org/drawingml/2006/main">
              <a:ext uri="{FF2B5EF4-FFF2-40B4-BE49-F238E27FC236}">
                <a16:creationId xmlns:a16="http://schemas.microsoft.com/office/drawing/2014/main" id="{7A527567-A04A-4106-8CBC-E82DAE0036F8}"/>
              </a:ext>
            </a:extLst>
          </p:cNvPr>
          <p:cNvSpPr>
            <a:spLocks xmlns:a="http://schemas.openxmlformats.org/drawingml/2006/main" noGrp="1"/>
          </p:cNvSpPr>
          <p:nvPr/>
        </p:nvSpPr>
        <p:spPr>
          <a:xfrm xmlns:a="http://schemas.openxmlformats.org/drawingml/2006/main">
            <a:off x="885825" y="2376488"/>
            <a:ext cx="22288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Property rule</a:t>
            </a:r>
          </a:p>
        </p:txBody>
      </p:sp>
      <p:sp>
        <p:nvSpPr>
          <p:cNvPr id="15" name="">
            <a:extLst xmlns:a="http://schemas.openxmlformats.org/drawingml/2006/main">
              <a:ext uri="{FF2B5EF4-FFF2-40B4-BE49-F238E27FC236}">
                <a16:creationId xmlns:a16="http://schemas.microsoft.com/office/drawing/2014/main" id="{85E754CB-EECA-4D37-B4E7-6D3CBD8927A3}"/>
              </a:ext>
            </a:extLst>
          </p:cNvPr>
          <p:cNvSpPr>
            <a:spLocks xmlns:a="http://schemas.openxmlformats.org/drawingml/2006/main" noGrp="1"/>
          </p:cNvSpPr>
          <p:nvPr/>
        </p:nvSpPr>
        <p:spPr>
          <a:xfrm xmlns:a="http://schemas.openxmlformats.org/drawingml/2006/main">
            <a:off x="3190875" y="2319338"/>
            <a:ext cx="4095750" cy="642938"/>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16" name="">
            <a:extLst xmlns:a="http://schemas.openxmlformats.org/drawingml/2006/main">
              <a:ext uri="{FF2B5EF4-FFF2-40B4-BE49-F238E27FC236}">
                <a16:creationId xmlns:a16="http://schemas.microsoft.com/office/drawing/2014/main" id="{61809F36-2FFD-49F4-9842-1DF840AFB2F1}"/>
              </a:ext>
            </a:extLst>
          </p:cNvPr>
          <p:cNvSpPr>
            <a:spLocks xmlns:a="http://schemas.openxmlformats.org/drawingml/2006/main" noGrp="1"/>
          </p:cNvSpPr>
          <p:nvPr/>
        </p:nvSpPr>
        <p:spPr>
          <a:xfrm xmlns:a="http://schemas.openxmlformats.org/drawingml/2006/main">
            <a:off x="3267075" y="2376488"/>
            <a:ext cx="39433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Decentralized valuation and consent</a:t>
            </a:r>
          </a:p>
        </p:txBody>
      </p:sp>
      <p:sp>
        <p:nvSpPr>
          <p:cNvPr id="17" name="">
            <a:extLst xmlns:a="http://schemas.openxmlformats.org/drawingml/2006/main">
              <a:ext uri="{FF2B5EF4-FFF2-40B4-BE49-F238E27FC236}">
                <a16:creationId xmlns:a16="http://schemas.microsoft.com/office/drawing/2014/main" id="{F55C6C10-6329-4A41-9125-5061A2457CA4}"/>
              </a:ext>
            </a:extLst>
          </p:cNvPr>
          <p:cNvSpPr>
            <a:spLocks xmlns:a="http://schemas.openxmlformats.org/drawingml/2006/main" noGrp="1"/>
          </p:cNvSpPr>
          <p:nvPr/>
        </p:nvSpPr>
        <p:spPr>
          <a:xfrm xmlns:a="http://schemas.openxmlformats.org/drawingml/2006/main">
            <a:off x="7286625" y="2319338"/>
            <a:ext cx="4095750" cy="642938"/>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18" name="">
            <a:extLst xmlns:a="http://schemas.openxmlformats.org/drawingml/2006/main">
              <a:ext uri="{FF2B5EF4-FFF2-40B4-BE49-F238E27FC236}">
                <a16:creationId xmlns:a16="http://schemas.microsoft.com/office/drawing/2014/main" id="{02C20C8E-5F2B-4FD1-A4FE-B5E059369F63}"/>
              </a:ext>
            </a:extLst>
          </p:cNvPr>
          <p:cNvSpPr>
            <a:spLocks xmlns:a="http://schemas.openxmlformats.org/drawingml/2006/main" noGrp="1"/>
          </p:cNvSpPr>
          <p:nvPr/>
        </p:nvSpPr>
        <p:spPr>
          <a:xfrm xmlns:a="http://schemas.openxmlformats.org/drawingml/2006/main">
            <a:off x="7362825" y="2376488"/>
            <a:ext cx="39433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Holdout and diffuse parties</a:t>
            </a:r>
          </a:p>
        </p:txBody>
      </p:sp>
      <p:sp>
        <p:nvSpPr>
          <p:cNvPr id="19" name="">
            <a:extLst xmlns:a="http://schemas.openxmlformats.org/drawingml/2006/main">
              <a:ext uri="{FF2B5EF4-FFF2-40B4-BE49-F238E27FC236}">
                <a16:creationId xmlns:a16="http://schemas.microsoft.com/office/drawing/2014/main" id="{94DC97D5-FC6A-4325-B51D-E5531594E22D}"/>
              </a:ext>
            </a:extLst>
          </p:cNvPr>
          <p:cNvSpPr>
            <a:spLocks xmlns:a="http://schemas.openxmlformats.org/drawingml/2006/main" noGrp="1"/>
          </p:cNvSpPr>
          <p:nvPr/>
        </p:nvSpPr>
        <p:spPr>
          <a:xfrm xmlns:a="http://schemas.openxmlformats.org/drawingml/2006/main">
            <a:off x="809625" y="2962275"/>
            <a:ext cx="2381250" cy="642938"/>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20" name="">
            <a:extLst xmlns:a="http://schemas.openxmlformats.org/drawingml/2006/main">
              <a:ext uri="{FF2B5EF4-FFF2-40B4-BE49-F238E27FC236}">
                <a16:creationId xmlns:a16="http://schemas.microsoft.com/office/drawing/2014/main" id="{74AD5663-F144-4F2F-862E-B223F6856C2B}"/>
              </a:ext>
            </a:extLst>
          </p:cNvPr>
          <p:cNvSpPr>
            <a:spLocks xmlns:a="http://schemas.openxmlformats.org/drawingml/2006/main" noGrp="1"/>
          </p:cNvSpPr>
          <p:nvPr/>
        </p:nvSpPr>
        <p:spPr>
          <a:xfrm xmlns:a="http://schemas.openxmlformats.org/drawingml/2006/main">
            <a:off x="885825" y="3019425"/>
            <a:ext cx="22288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Liability rule</a:t>
            </a:r>
          </a:p>
        </p:txBody>
      </p:sp>
      <p:sp>
        <p:nvSpPr>
          <p:cNvPr id="21" name="">
            <a:extLst xmlns:a="http://schemas.openxmlformats.org/drawingml/2006/main">
              <a:ext uri="{FF2B5EF4-FFF2-40B4-BE49-F238E27FC236}">
                <a16:creationId xmlns:a16="http://schemas.microsoft.com/office/drawing/2014/main" id="{CAC50083-2608-484D-91C1-35C2A0D4ABF8}"/>
              </a:ext>
            </a:extLst>
          </p:cNvPr>
          <p:cNvSpPr>
            <a:spLocks xmlns:a="http://schemas.openxmlformats.org/drawingml/2006/main" noGrp="1"/>
          </p:cNvSpPr>
          <p:nvPr/>
        </p:nvSpPr>
        <p:spPr>
          <a:xfrm xmlns:a="http://schemas.openxmlformats.org/drawingml/2006/main">
            <a:off x="3190875" y="2962275"/>
            <a:ext cx="4095750" cy="642938"/>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22" name="">
            <a:extLst xmlns:a="http://schemas.openxmlformats.org/drawingml/2006/main">
              <a:ext uri="{FF2B5EF4-FFF2-40B4-BE49-F238E27FC236}">
                <a16:creationId xmlns:a16="http://schemas.microsoft.com/office/drawing/2014/main" id="{C9BBFA24-C4C0-4763-8893-C9D24EF12E65}"/>
              </a:ext>
            </a:extLst>
          </p:cNvPr>
          <p:cNvSpPr>
            <a:spLocks xmlns:a="http://schemas.openxmlformats.org/drawingml/2006/main" noGrp="1"/>
          </p:cNvSpPr>
          <p:nvPr/>
        </p:nvSpPr>
        <p:spPr>
          <a:xfrm xmlns:a="http://schemas.openxmlformats.org/drawingml/2006/main">
            <a:off x="3267075" y="3019425"/>
            <a:ext cx="39433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Court-set transfer without consent</a:t>
            </a:r>
          </a:p>
        </p:txBody>
      </p:sp>
      <p:sp>
        <p:nvSpPr>
          <p:cNvPr id="23" name="">
            <a:extLst xmlns:a="http://schemas.openxmlformats.org/drawingml/2006/main">
              <a:ext uri="{FF2B5EF4-FFF2-40B4-BE49-F238E27FC236}">
                <a16:creationId xmlns:a16="http://schemas.microsoft.com/office/drawing/2014/main" id="{BF81FBFB-289B-4320-B17E-DE332995260B}"/>
              </a:ext>
            </a:extLst>
          </p:cNvPr>
          <p:cNvSpPr>
            <a:spLocks xmlns:a="http://schemas.openxmlformats.org/drawingml/2006/main" noGrp="1"/>
          </p:cNvSpPr>
          <p:nvPr/>
        </p:nvSpPr>
        <p:spPr>
          <a:xfrm xmlns:a="http://schemas.openxmlformats.org/drawingml/2006/main">
            <a:off x="7286625" y="2962275"/>
            <a:ext cx="4095750" cy="642938"/>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24" name="">
            <a:extLst xmlns:a="http://schemas.openxmlformats.org/drawingml/2006/main">
              <a:ext uri="{FF2B5EF4-FFF2-40B4-BE49-F238E27FC236}">
                <a16:creationId xmlns:a16="http://schemas.microsoft.com/office/drawing/2014/main" id="{55F0A380-BBC4-45B6-8DEF-DB85BA3210A2}"/>
              </a:ext>
            </a:extLst>
          </p:cNvPr>
          <p:cNvSpPr>
            <a:spLocks xmlns:a="http://schemas.openxmlformats.org/drawingml/2006/main" noGrp="1"/>
          </p:cNvSpPr>
          <p:nvPr/>
        </p:nvSpPr>
        <p:spPr>
          <a:xfrm xmlns:a="http://schemas.openxmlformats.org/drawingml/2006/main">
            <a:off x="7362825" y="3019425"/>
            <a:ext cx="39433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Valuation and adjudication error</a:t>
            </a:r>
          </a:p>
        </p:txBody>
      </p:sp>
      <p:sp>
        <p:nvSpPr>
          <p:cNvPr id="25" name="">
            <a:extLst xmlns:a="http://schemas.openxmlformats.org/drawingml/2006/main">
              <a:ext uri="{FF2B5EF4-FFF2-40B4-BE49-F238E27FC236}">
                <a16:creationId xmlns:a16="http://schemas.microsoft.com/office/drawing/2014/main" id="{F1B21FBC-72E5-4499-A1E4-7D716BD2D11F}"/>
              </a:ext>
            </a:extLst>
          </p:cNvPr>
          <p:cNvSpPr>
            <a:spLocks xmlns:a="http://schemas.openxmlformats.org/drawingml/2006/main" noGrp="1"/>
          </p:cNvSpPr>
          <p:nvPr/>
        </p:nvSpPr>
        <p:spPr>
          <a:xfrm xmlns:a="http://schemas.openxmlformats.org/drawingml/2006/main">
            <a:off x="809625" y="3605213"/>
            <a:ext cx="2381250" cy="642938"/>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26" name="">
            <a:extLst xmlns:a="http://schemas.openxmlformats.org/drawingml/2006/main">
              <a:ext uri="{FF2B5EF4-FFF2-40B4-BE49-F238E27FC236}">
                <a16:creationId xmlns:a16="http://schemas.microsoft.com/office/drawing/2014/main" id="{55DFAFA7-189B-4278-9303-E055AF2068E3}"/>
              </a:ext>
            </a:extLst>
          </p:cNvPr>
          <p:cNvSpPr>
            <a:spLocks xmlns:a="http://schemas.openxmlformats.org/drawingml/2006/main" noGrp="1"/>
          </p:cNvSpPr>
          <p:nvPr/>
        </p:nvSpPr>
        <p:spPr>
          <a:xfrm xmlns:a="http://schemas.openxmlformats.org/drawingml/2006/main">
            <a:off x="885825" y="3662363"/>
            <a:ext cx="22288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Tax or permit</a:t>
            </a:r>
          </a:p>
        </p:txBody>
      </p:sp>
      <p:sp>
        <p:nvSpPr>
          <p:cNvPr id="27" name="">
            <a:extLst xmlns:a="http://schemas.openxmlformats.org/drawingml/2006/main">
              <a:ext uri="{FF2B5EF4-FFF2-40B4-BE49-F238E27FC236}">
                <a16:creationId xmlns:a16="http://schemas.microsoft.com/office/drawing/2014/main" id="{193E49ED-D89A-4D9E-89AE-AE22234DA52D}"/>
              </a:ext>
            </a:extLst>
          </p:cNvPr>
          <p:cNvSpPr>
            <a:spLocks xmlns:a="http://schemas.openxmlformats.org/drawingml/2006/main" noGrp="1"/>
          </p:cNvSpPr>
          <p:nvPr/>
        </p:nvSpPr>
        <p:spPr>
          <a:xfrm xmlns:a="http://schemas.openxmlformats.org/drawingml/2006/main">
            <a:off x="3190875" y="3605213"/>
            <a:ext cx="4095750" cy="642938"/>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28" name="">
            <a:extLst xmlns:a="http://schemas.openxmlformats.org/drawingml/2006/main">
              <a:ext uri="{FF2B5EF4-FFF2-40B4-BE49-F238E27FC236}">
                <a16:creationId xmlns:a16="http://schemas.microsoft.com/office/drawing/2014/main" id="{DBFCA8D7-90BE-49DC-B273-6939B7984106}"/>
              </a:ext>
            </a:extLst>
          </p:cNvPr>
          <p:cNvSpPr>
            <a:spLocks xmlns:a="http://schemas.openxmlformats.org/drawingml/2006/main" noGrp="1"/>
          </p:cNvSpPr>
          <p:nvPr/>
        </p:nvSpPr>
        <p:spPr>
          <a:xfrm xmlns:a="http://schemas.openxmlformats.org/drawingml/2006/main">
            <a:off x="3267075" y="3662363"/>
            <a:ext cx="39433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Repeated measurable externalities</a:t>
            </a:r>
          </a:p>
        </p:txBody>
      </p:sp>
      <p:sp>
        <p:nvSpPr>
          <p:cNvPr id="29" name="">
            <a:extLst xmlns:a="http://schemas.openxmlformats.org/drawingml/2006/main">
              <a:ext uri="{FF2B5EF4-FFF2-40B4-BE49-F238E27FC236}">
                <a16:creationId xmlns:a16="http://schemas.microsoft.com/office/drawing/2014/main" id="{32E503CE-86B7-4C19-B8D4-F044D75B2017}"/>
              </a:ext>
            </a:extLst>
          </p:cNvPr>
          <p:cNvSpPr>
            <a:spLocks xmlns:a="http://schemas.openxmlformats.org/drawingml/2006/main" noGrp="1"/>
          </p:cNvSpPr>
          <p:nvPr/>
        </p:nvSpPr>
        <p:spPr>
          <a:xfrm xmlns:a="http://schemas.openxmlformats.org/drawingml/2006/main">
            <a:off x="7286625" y="3605213"/>
            <a:ext cx="4095750" cy="642938"/>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30" name="">
            <a:extLst xmlns:a="http://schemas.openxmlformats.org/drawingml/2006/main">
              <a:ext uri="{FF2B5EF4-FFF2-40B4-BE49-F238E27FC236}">
                <a16:creationId xmlns:a16="http://schemas.microsoft.com/office/drawing/2014/main" id="{922516BC-4906-4250-9D27-1DA9C2C5D954}"/>
              </a:ext>
            </a:extLst>
          </p:cNvPr>
          <p:cNvSpPr>
            <a:spLocks xmlns:a="http://schemas.openxmlformats.org/drawingml/2006/main" noGrp="1"/>
          </p:cNvSpPr>
          <p:nvPr/>
        </p:nvSpPr>
        <p:spPr>
          <a:xfrm xmlns:a="http://schemas.openxmlformats.org/drawingml/2006/main">
            <a:off x="7362825" y="3662363"/>
            <a:ext cx="39433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Administrative information and politics</a:t>
            </a:r>
          </a:p>
        </p:txBody>
      </p:sp>
      <p:sp>
        <p:nvSpPr>
          <p:cNvPr id="31" name="">
            <a:extLst xmlns:a="http://schemas.openxmlformats.org/drawingml/2006/main">
              <a:ext uri="{FF2B5EF4-FFF2-40B4-BE49-F238E27FC236}">
                <a16:creationId xmlns:a16="http://schemas.microsoft.com/office/drawing/2014/main" id="{698ABA7F-AC57-47A0-AA57-EE9AFA85D567}"/>
              </a:ext>
            </a:extLst>
          </p:cNvPr>
          <p:cNvSpPr>
            <a:spLocks xmlns:a="http://schemas.openxmlformats.org/drawingml/2006/main" noGrp="1"/>
          </p:cNvSpPr>
          <p:nvPr/>
        </p:nvSpPr>
        <p:spPr>
          <a:xfrm xmlns:a="http://schemas.openxmlformats.org/drawingml/2006/main">
            <a:off x="809625" y="4248150"/>
            <a:ext cx="2381250" cy="642938"/>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32" name="">
            <a:extLst xmlns:a="http://schemas.openxmlformats.org/drawingml/2006/main">
              <a:ext uri="{FF2B5EF4-FFF2-40B4-BE49-F238E27FC236}">
                <a16:creationId xmlns:a16="http://schemas.microsoft.com/office/drawing/2014/main" id="{B1E44537-5EB5-4928-8173-BC3E039F46F8}"/>
              </a:ext>
            </a:extLst>
          </p:cNvPr>
          <p:cNvSpPr>
            <a:spLocks xmlns:a="http://schemas.openxmlformats.org/drawingml/2006/main" noGrp="1"/>
          </p:cNvSpPr>
          <p:nvPr/>
        </p:nvSpPr>
        <p:spPr>
          <a:xfrm xmlns:a="http://schemas.openxmlformats.org/drawingml/2006/main">
            <a:off x="885825" y="4305300"/>
            <a:ext cx="22288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Organization</a:t>
            </a:r>
          </a:p>
        </p:txBody>
      </p:sp>
      <p:sp>
        <p:nvSpPr>
          <p:cNvPr id="33" name="">
            <a:extLst xmlns:a="http://schemas.openxmlformats.org/drawingml/2006/main">
              <a:ext uri="{FF2B5EF4-FFF2-40B4-BE49-F238E27FC236}">
                <a16:creationId xmlns:a16="http://schemas.microsoft.com/office/drawing/2014/main" id="{F6CF5883-4403-4F22-BAB3-CCB581FE8C74}"/>
              </a:ext>
            </a:extLst>
          </p:cNvPr>
          <p:cNvSpPr>
            <a:spLocks xmlns:a="http://schemas.openxmlformats.org/drawingml/2006/main" noGrp="1"/>
          </p:cNvSpPr>
          <p:nvPr/>
        </p:nvSpPr>
        <p:spPr>
          <a:xfrm xmlns:a="http://schemas.openxmlformats.org/drawingml/2006/main">
            <a:off x="3190875" y="4248150"/>
            <a:ext cx="4095750" cy="642938"/>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34" name="">
            <a:extLst xmlns:a="http://schemas.openxmlformats.org/drawingml/2006/main">
              <a:ext uri="{FF2B5EF4-FFF2-40B4-BE49-F238E27FC236}">
                <a16:creationId xmlns:a16="http://schemas.microsoft.com/office/drawing/2014/main" id="{C53DF59A-29F4-42F3-9159-3D54D5C0D2C9}"/>
              </a:ext>
            </a:extLst>
          </p:cNvPr>
          <p:cNvSpPr>
            <a:spLocks xmlns:a="http://schemas.openxmlformats.org/drawingml/2006/main" noGrp="1"/>
          </p:cNvSpPr>
          <p:nvPr/>
        </p:nvSpPr>
        <p:spPr>
          <a:xfrm xmlns:a="http://schemas.openxmlformats.org/drawingml/2006/main">
            <a:off x="3267075" y="4305300"/>
            <a:ext cx="39433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Coordinated adaptation</a:t>
            </a:r>
          </a:p>
        </p:txBody>
      </p:sp>
      <p:sp>
        <p:nvSpPr>
          <p:cNvPr id="35" name="">
            <a:extLst xmlns:a="http://schemas.openxmlformats.org/drawingml/2006/main">
              <a:ext uri="{FF2B5EF4-FFF2-40B4-BE49-F238E27FC236}">
                <a16:creationId xmlns:a16="http://schemas.microsoft.com/office/drawing/2014/main" id="{52D3750B-A42F-4E0F-9DC2-E9A29ADBF59B}"/>
              </a:ext>
            </a:extLst>
          </p:cNvPr>
          <p:cNvSpPr>
            <a:spLocks xmlns:a="http://schemas.openxmlformats.org/drawingml/2006/main" noGrp="1"/>
          </p:cNvSpPr>
          <p:nvPr/>
        </p:nvSpPr>
        <p:spPr>
          <a:xfrm xmlns:a="http://schemas.openxmlformats.org/drawingml/2006/main">
            <a:off x="7286625" y="4248150"/>
            <a:ext cx="4095750" cy="642938"/>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36" name="">
            <a:extLst xmlns:a="http://schemas.openxmlformats.org/drawingml/2006/main">
              <a:ext uri="{FF2B5EF4-FFF2-40B4-BE49-F238E27FC236}">
                <a16:creationId xmlns:a16="http://schemas.microsoft.com/office/drawing/2014/main" id="{56B64C9C-0DC3-4DDF-B522-9C24BF1773F5}"/>
              </a:ext>
            </a:extLst>
          </p:cNvPr>
          <p:cNvSpPr>
            <a:spLocks xmlns:a="http://schemas.openxmlformats.org/drawingml/2006/main" noGrp="1"/>
          </p:cNvSpPr>
          <p:nvPr/>
        </p:nvSpPr>
        <p:spPr>
          <a:xfrm xmlns:a="http://schemas.openxmlformats.org/drawingml/2006/main">
            <a:off x="7362825" y="4305300"/>
            <a:ext cx="39433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Agency and governance costs</a:t>
            </a:r>
          </a:p>
        </p:txBody>
      </p:sp>
      <p:sp>
        <p:nvSpPr>
          <p:cNvPr id="37" name="">
            <a:extLst xmlns:a="http://schemas.openxmlformats.org/drawingml/2006/main">
              <a:ext uri="{FF2B5EF4-FFF2-40B4-BE49-F238E27FC236}">
                <a16:creationId xmlns:a16="http://schemas.microsoft.com/office/drawing/2014/main" id="{0FA9DDE0-9D33-46A2-BE8C-23F2AD1C7481}"/>
              </a:ext>
            </a:extLst>
          </p:cNvPr>
          <p:cNvSpPr>
            <a:spLocks xmlns:a="http://schemas.openxmlformats.org/drawingml/2006/main" noGrp="1"/>
          </p:cNvSpPr>
          <p:nvPr/>
        </p:nvSpPr>
        <p:spPr>
          <a:xfrm xmlns:a="http://schemas.openxmlformats.org/drawingml/2006/main">
            <a:off x="809625" y="4891088"/>
            <a:ext cx="2381250" cy="642938"/>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38" name="">
            <a:extLst xmlns:a="http://schemas.openxmlformats.org/drawingml/2006/main">
              <a:ext uri="{FF2B5EF4-FFF2-40B4-BE49-F238E27FC236}">
                <a16:creationId xmlns:a16="http://schemas.microsoft.com/office/drawing/2014/main" id="{2CEC9776-9C00-4B31-A32A-BE967EC54B28}"/>
              </a:ext>
            </a:extLst>
          </p:cNvPr>
          <p:cNvSpPr>
            <a:spLocks xmlns:a="http://schemas.openxmlformats.org/drawingml/2006/main" noGrp="1"/>
          </p:cNvSpPr>
          <p:nvPr/>
        </p:nvSpPr>
        <p:spPr>
          <a:xfrm xmlns:a="http://schemas.openxmlformats.org/drawingml/2006/main">
            <a:off x="885825" y="4948238"/>
            <a:ext cx="22288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Norm</a:t>
            </a:r>
          </a:p>
        </p:txBody>
      </p:sp>
      <p:sp>
        <p:nvSpPr>
          <p:cNvPr id="39" name="">
            <a:extLst xmlns:a="http://schemas.openxmlformats.org/drawingml/2006/main">
              <a:ext uri="{FF2B5EF4-FFF2-40B4-BE49-F238E27FC236}">
                <a16:creationId xmlns:a16="http://schemas.microsoft.com/office/drawing/2014/main" id="{0F7BFFB7-5A5A-4C62-BD7E-9DF36E050665}"/>
              </a:ext>
            </a:extLst>
          </p:cNvPr>
          <p:cNvSpPr>
            <a:spLocks xmlns:a="http://schemas.openxmlformats.org/drawingml/2006/main" noGrp="1"/>
          </p:cNvSpPr>
          <p:nvPr/>
        </p:nvSpPr>
        <p:spPr>
          <a:xfrm xmlns:a="http://schemas.openxmlformats.org/drawingml/2006/main">
            <a:off x="3190875" y="4891088"/>
            <a:ext cx="4095750" cy="642938"/>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40" name="">
            <a:extLst xmlns:a="http://schemas.openxmlformats.org/drawingml/2006/main">
              <a:ext uri="{FF2B5EF4-FFF2-40B4-BE49-F238E27FC236}">
                <a16:creationId xmlns:a16="http://schemas.microsoft.com/office/drawing/2014/main" id="{CE2A7933-A6EF-4050-9189-4E173BA65030}"/>
              </a:ext>
            </a:extLst>
          </p:cNvPr>
          <p:cNvSpPr>
            <a:spLocks xmlns:a="http://schemas.openxmlformats.org/drawingml/2006/main" noGrp="1"/>
          </p:cNvSpPr>
          <p:nvPr/>
        </p:nvSpPr>
        <p:spPr>
          <a:xfrm xmlns:a="http://schemas.openxmlformats.org/drawingml/2006/main">
            <a:off x="3267075" y="4948238"/>
            <a:ext cx="39433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Repeated observable relationships</a:t>
            </a:r>
          </a:p>
        </p:txBody>
      </p:sp>
      <p:sp>
        <p:nvSpPr>
          <p:cNvPr id="41" name="">
            <a:extLst xmlns:a="http://schemas.openxmlformats.org/drawingml/2006/main">
              <a:ext uri="{FF2B5EF4-FFF2-40B4-BE49-F238E27FC236}">
                <a16:creationId xmlns:a16="http://schemas.microsoft.com/office/drawing/2014/main" id="{7ADB2B07-94C1-4E0A-8AB6-794CF3D7D2F3}"/>
              </a:ext>
            </a:extLst>
          </p:cNvPr>
          <p:cNvSpPr>
            <a:spLocks xmlns:a="http://schemas.openxmlformats.org/drawingml/2006/main" noGrp="1"/>
          </p:cNvSpPr>
          <p:nvPr/>
        </p:nvSpPr>
        <p:spPr>
          <a:xfrm xmlns:a="http://schemas.openxmlformats.org/drawingml/2006/main">
            <a:off x="7286625" y="4891088"/>
            <a:ext cx="4095750" cy="642938"/>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42" name="">
            <a:extLst xmlns:a="http://schemas.openxmlformats.org/drawingml/2006/main">
              <a:ext uri="{FF2B5EF4-FFF2-40B4-BE49-F238E27FC236}">
                <a16:creationId xmlns:a16="http://schemas.microsoft.com/office/drawing/2014/main" id="{EE5FFCA8-9916-4776-8A53-443603C9F3CB}"/>
              </a:ext>
            </a:extLst>
          </p:cNvPr>
          <p:cNvSpPr>
            <a:spLocks xmlns:a="http://schemas.openxmlformats.org/drawingml/2006/main" noGrp="1"/>
          </p:cNvSpPr>
          <p:nvPr/>
        </p:nvSpPr>
        <p:spPr>
          <a:xfrm xmlns:a="http://schemas.openxmlformats.org/drawingml/2006/main">
            <a:off x="7362825" y="4948238"/>
            <a:ext cx="3943350" cy="5286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i="0">
                <a:solidFill>
                  <a:srgbClr val="17242D"/>
                </a:solidFill>
                <a:latin typeface="Aptos"/>
                <a:ea typeface="Aptos"/>
                <a:cs typeface="Aptos"/>
              </a:defRPr>
            </a:pPr>
            <a:r>
              <a:rPr sz="1275" b="0" i="0">
                <a:solidFill>
                  <a:srgbClr val="17242D"/>
                </a:solidFill>
                <a:latin typeface="Aptos"/>
                <a:ea typeface="Aptos"/>
                <a:cs typeface="Aptos"/>
              </a:rPr>
              <a:t>Limited reach and exclusion</a:t>
            </a:r>
          </a:p>
        </p:txBody>
      </p:sp>
      <p:sp>
        <p:nvSpPr>
          <p:cNvPr id="43" name="">
            <a:extLst xmlns:a="http://schemas.openxmlformats.org/drawingml/2006/main">
              <a:ext uri="{FF2B5EF4-FFF2-40B4-BE49-F238E27FC236}">
                <a16:creationId xmlns:a16="http://schemas.microsoft.com/office/drawing/2014/main" id="{AA64210D-4BF2-4CCA-B644-DDF307299B10}"/>
              </a:ext>
            </a:extLst>
          </p:cNvPr>
          <p:cNvSpPr>
            <a:spLocks xmlns:a="http://schemas.openxmlformats.org/drawingml/2006/main" noGrp="1"/>
          </p:cNvSpPr>
          <p:nvPr/>
        </p:nvSpPr>
        <p:spPr>
          <a:xfrm xmlns:a="http://schemas.openxmlformats.org/drawingml/2006/main">
            <a:off x="1200150" y="5715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2263"/>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The best response depends on the transaction cost that actually blocks cooperation.</a:t>
            </a:r>
          </a:p>
        </p:txBody>
      </p:sp>
    </p:spTree>
    <p:extLst>
      <p:ext uri="{BB962C8B-B14F-4D97-AF65-F5344CB8AC3E}">
        <p14:creationId xmlns:p14="http://schemas.microsoft.com/office/powerpoint/2010/main" val="1917227279"/>
      </p:ext>
    </p:extLst>
  </p:cSld>
</p:sld>
</file>

<file path=ppt/slides/slide21.xml><?xml version="1.0" encoding="utf-8"?>
<p:sld xmlns:p="http://schemas.openxmlformats.org/presentationml/2006/main">
  <p:cSld>
    <p:bg>
      <p:bgPr>
        <a:solidFill xmlns:a="http://schemas.openxmlformats.org/drawingml/2006/main">
          <a:srgbClr val="173F3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CB61D81-61C4-43BC-AB0D-34CF43666B00}"/>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B884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32D79B-0B04-4B2F-AD3C-694C39A67798}"/>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D5CD3EE4-E24A-4417-A36B-7202AF9C9070}"/>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FFFF"/>
                </a:solidFill>
                <a:latin typeface="Georgia"/>
                <a:ea typeface="Georgia"/>
                <a:cs typeface="Georgia"/>
              </a:defRPr>
            </a:pPr>
            <a:r>
              <a:rPr sz="3000" b="1" i="0">
                <a:solidFill>
                  <a:srgbClr val="FFFFFF"/>
                </a:solidFill>
                <a:latin typeface="Georgia"/>
                <a:ea typeface="Georgia"/>
                <a:cs typeface="Georgia"/>
              </a:rPr>
              <a:t>Railroad sparks reveal least-cost avoidance</a:t>
            </a:r>
          </a:p>
        </p:txBody>
      </p:sp>
      <p:sp>
        <p:nvSpPr>
          <p:cNvPr id="4" name="">
            <a:extLst xmlns:a="http://schemas.openxmlformats.org/drawingml/2006/main">
              <a:ext uri="{FF2B5EF4-FFF2-40B4-BE49-F238E27FC236}">
                <a16:creationId xmlns:a16="http://schemas.microsoft.com/office/drawing/2014/main" id="{414819FB-AED6-4E40-AD66-E74BF992C28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F776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FB9A23-2488-4CCC-9D2A-475994930AE5}"/>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C8D9D5"/>
                </a:solidFill>
                <a:latin typeface="Aptos"/>
                <a:ea typeface="Aptos"/>
                <a:cs typeface="Aptos"/>
              </a:defRPr>
            </a:pPr>
            <a:r>
              <a:rPr sz="825" b="1" i="0">
                <a:solidFill>
                  <a:srgbClr val="C8D9D5"/>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E07A3F78-2E41-4B99-9A3D-6F192DE811C5}"/>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C8D9D5"/>
                </a:solidFill>
                <a:latin typeface="Aptos"/>
                <a:ea typeface="Aptos"/>
                <a:cs typeface="Aptos"/>
              </a:defRPr>
            </a:pPr>
            <a:r>
              <a:rPr sz="825" b="0" i="0">
                <a:solidFill>
                  <a:srgbClr val="C8D9D5"/>
                </a:solidFill>
                <a:latin typeface="Aptos"/>
                <a:ea typeface="Aptos"/>
                <a:cs typeface="Aptos"/>
              </a:rPr>
              <a:t>21</a:t>
            </a:r>
          </a:p>
        </p:txBody>
      </p:sp>
      <p:sp>
        <p:nvSpPr>
          <p:cNvPr id="7" name="">
            <a:extLst xmlns:a="http://schemas.openxmlformats.org/drawingml/2006/main">
              <a:ext uri="{FF2B5EF4-FFF2-40B4-BE49-F238E27FC236}">
                <a16:creationId xmlns:a16="http://schemas.microsoft.com/office/drawing/2014/main" id="{E2A23A05-5604-4970-9397-0A346F9F4E82}"/>
              </a:ext>
            </a:extLst>
          </p:cNvPr>
          <p:cNvSpPr>
            <a:spLocks xmlns:a="http://schemas.openxmlformats.org/drawingml/2006/main" noGrp="1"/>
          </p:cNvSpPr>
          <p:nvPr/>
        </p:nvSpPr>
        <p:spPr>
          <a:xfrm xmlns:a="http://schemas.openxmlformats.org/drawingml/2006/main">
            <a:off x="1066800" y="150495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550" b="1" i="0">
                <a:solidFill>
                  <a:srgbClr val="FFFFFF"/>
                </a:solidFill>
                <a:latin typeface="Georgia"/>
                <a:ea typeface="Georgia"/>
                <a:cs typeface="Georgia"/>
              </a:defRPr>
            </a:pPr>
            <a:r>
              <a:rPr sz="2550" b="1" i="0">
                <a:solidFill>
                  <a:srgbClr val="FFFFFF"/>
                </a:solidFill>
                <a:latin typeface="Georgia"/>
                <a:ea typeface="Georgia"/>
                <a:cs typeface="Georgia"/>
              </a:rPr>
              <a:t>Trains create value and also ignite crops beside the track.</a:t>
            </a:r>
          </a:p>
        </p:txBody>
      </p:sp>
      <p:sp>
        <p:nvSpPr>
          <p:cNvPr id="8" name="">
            <a:extLst xmlns:a="http://schemas.openxmlformats.org/drawingml/2006/main">
              <a:ext uri="{FF2B5EF4-FFF2-40B4-BE49-F238E27FC236}">
                <a16:creationId xmlns:a16="http://schemas.microsoft.com/office/drawing/2014/main" id="{D729F845-30CC-48D5-A982-74DB8C6B647A}"/>
              </a:ext>
            </a:extLst>
          </p:cNvPr>
          <p:cNvSpPr>
            <a:spLocks xmlns:a="http://schemas.openxmlformats.org/drawingml/2006/main" noGrp="1"/>
          </p:cNvSpPr>
          <p:nvPr/>
        </p:nvSpPr>
        <p:spPr>
          <a:xfrm xmlns:a="http://schemas.openxmlformats.org/drawingml/2006/main">
            <a:off x="1066800" y="2724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RAILROAD MARGINS</a:t>
            </a:r>
          </a:p>
        </p:txBody>
      </p:sp>
      <p:sp>
        <p:nvSpPr>
          <p:cNvPr id="9" name="">
            <a:extLst xmlns:a="http://schemas.openxmlformats.org/drawingml/2006/main">
              <a:ext uri="{FF2B5EF4-FFF2-40B4-BE49-F238E27FC236}">
                <a16:creationId xmlns:a16="http://schemas.microsoft.com/office/drawing/2014/main" id="{D22B9E2E-B500-4BF1-9BA5-68F33E7C18E3}"/>
              </a:ext>
            </a:extLst>
          </p:cNvPr>
          <p:cNvSpPr>
            <a:spLocks xmlns:a="http://schemas.openxmlformats.org/drawingml/2006/main" noGrp="1"/>
          </p:cNvSpPr>
          <p:nvPr/>
        </p:nvSpPr>
        <p:spPr>
          <a:xfrm xmlns:a="http://schemas.openxmlformats.org/drawingml/2006/main">
            <a:off x="1104900" y="311467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4FB26666-0AFF-49D3-BCDC-214CB23C6584}"/>
              </a:ext>
            </a:extLst>
          </p:cNvPr>
          <p:cNvSpPr>
            <a:spLocks xmlns:a="http://schemas.openxmlformats.org/drawingml/2006/main" noGrp="1"/>
          </p:cNvSpPr>
          <p:nvPr/>
        </p:nvSpPr>
        <p:spPr>
          <a:xfrm xmlns:a="http://schemas.openxmlformats.org/drawingml/2006/main">
            <a:off x="1428750" y="312420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Spark arresters</a:t>
            </a:r>
          </a:p>
        </p:txBody>
      </p:sp>
      <p:sp>
        <p:nvSpPr>
          <p:cNvPr id="11" name="">
            <a:extLst xmlns:a="http://schemas.openxmlformats.org/drawingml/2006/main">
              <a:ext uri="{FF2B5EF4-FFF2-40B4-BE49-F238E27FC236}">
                <a16:creationId xmlns:a16="http://schemas.microsoft.com/office/drawing/2014/main" id="{78D979B7-D0E3-4BA1-9765-DD89A4EA3D18}"/>
              </a:ext>
            </a:extLst>
          </p:cNvPr>
          <p:cNvSpPr>
            <a:spLocks xmlns:a="http://schemas.openxmlformats.org/drawingml/2006/main" noGrp="1"/>
          </p:cNvSpPr>
          <p:nvPr/>
        </p:nvSpPr>
        <p:spPr>
          <a:xfrm xmlns:a="http://schemas.openxmlformats.org/drawingml/2006/main">
            <a:off x="1104900" y="360045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872AA4F4-5143-4F72-9F43-D9594890B4DF}"/>
              </a:ext>
            </a:extLst>
          </p:cNvPr>
          <p:cNvSpPr>
            <a:spLocks xmlns:a="http://schemas.openxmlformats.org/drawingml/2006/main" noGrp="1"/>
          </p:cNvSpPr>
          <p:nvPr/>
        </p:nvSpPr>
        <p:spPr>
          <a:xfrm xmlns:a="http://schemas.openxmlformats.org/drawingml/2006/main">
            <a:off x="1428750" y="3609975"/>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Speed and scheduling</a:t>
            </a:r>
          </a:p>
        </p:txBody>
      </p:sp>
      <p:sp>
        <p:nvSpPr>
          <p:cNvPr id="13" name="">
            <a:extLst xmlns:a="http://schemas.openxmlformats.org/drawingml/2006/main">
              <a:ext uri="{FF2B5EF4-FFF2-40B4-BE49-F238E27FC236}">
                <a16:creationId xmlns:a16="http://schemas.microsoft.com/office/drawing/2014/main" id="{320A882A-848C-48B6-A4D9-355DD6A4105F}"/>
              </a:ext>
            </a:extLst>
          </p:cNvPr>
          <p:cNvSpPr>
            <a:spLocks xmlns:a="http://schemas.openxmlformats.org/drawingml/2006/main" noGrp="1"/>
          </p:cNvSpPr>
          <p:nvPr/>
        </p:nvSpPr>
        <p:spPr>
          <a:xfrm xmlns:a="http://schemas.openxmlformats.org/drawingml/2006/main">
            <a:off x="1104900" y="408622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D4550A58-3928-4EB0-89D2-03D10F08F1C4}"/>
              </a:ext>
            </a:extLst>
          </p:cNvPr>
          <p:cNvSpPr>
            <a:spLocks xmlns:a="http://schemas.openxmlformats.org/drawingml/2006/main" noGrp="1"/>
          </p:cNvSpPr>
          <p:nvPr/>
        </p:nvSpPr>
        <p:spPr>
          <a:xfrm xmlns:a="http://schemas.openxmlformats.org/drawingml/2006/main">
            <a:off x="1428750" y="409575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Route and maintenance</a:t>
            </a:r>
          </a:p>
        </p:txBody>
      </p:sp>
      <p:sp>
        <p:nvSpPr>
          <p:cNvPr id="15" name="">
            <a:extLst xmlns:a="http://schemas.openxmlformats.org/drawingml/2006/main">
              <a:ext uri="{FF2B5EF4-FFF2-40B4-BE49-F238E27FC236}">
                <a16:creationId xmlns:a16="http://schemas.microsoft.com/office/drawing/2014/main" id="{6BE0A9E4-C1E1-49E3-B1E1-EF906ECFA891}"/>
              </a:ext>
            </a:extLst>
          </p:cNvPr>
          <p:cNvSpPr>
            <a:spLocks xmlns:a="http://schemas.openxmlformats.org/drawingml/2006/main" noGrp="1"/>
          </p:cNvSpPr>
          <p:nvPr/>
        </p:nvSpPr>
        <p:spPr>
          <a:xfrm xmlns:a="http://schemas.openxmlformats.org/drawingml/2006/main">
            <a:off x="6096000" y="2686050"/>
            <a:ext cx="9525" cy="2381250"/>
          </a:xfrm>
          <a:prstGeom xmlns:a="http://schemas.openxmlformats.org/drawingml/2006/main" prst="rect">
            <a:avLst/>
          </a:prstGeom>
          <a:solidFill xmlns:a="http://schemas.openxmlformats.org/drawingml/2006/main">
            <a:srgbClr val="4F776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5B1B462-DE08-4201-9A7C-F592103F1D83}"/>
              </a:ext>
            </a:extLst>
          </p:cNvPr>
          <p:cNvSpPr>
            <a:spLocks xmlns:a="http://schemas.openxmlformats.org/drawingml/2006/main" noGrp="1"/>
          </p:cNvSpPr>
          <p:nvPr/>
        </p:nvSpPr>
        <p:spPr>
          <a:xfrm xmlns:a="http://schemas.openxmlformats.org/drawingml/2006/main">
            <a:off x="6705600" y="2724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FARMER MARGINS</a:t>
            </a:r>
          </a:p>
        </p:txBody>
      </p:sp>
      <p:sp>
        <p:nvSpPr>
          <p:cNvPr id="17" name="">
            <a:extLst xmlns:a="http://schemas.openxmlformats.org/drawingml/2006/main">
              <a:ext uri="{FF2B5EF4-FFF2-40B4-BE49-F238E27FC236}">
                <a16:creationId xmlns:a16="http://schemas.microsoft.com/office/drawing/2014/main" id="{8ACEBD5A-1F95-4537-83CD-0BF4D95ECFC4}"/>
              </a:ext>
            </a:extLst>
          </p:cNvPr>
          <p:cNvSpPr>
            <a:spLocks xmlns:a="http://schemas.openxmlformats.org/drawingml/2006/main" noGrp="1"/>
          </p:cNvSpPr>
          <p:nvPr/>
        </p:nvSpPr>
        <p:spPr>
          <a:xfrm xmlns:a="http://schemas.openxmlformats.org/drawingml/2006/main">
            <a:off x="6743700" y="311467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0BD22ED8-DBB1-45F1-9280-6666335253D7}"/>
              </a:ext>
            </a:extLst>
          </p:cNvPr>
          <p:cNvSpPr>
            <a:spLocks xmlns:a="http://schemas.openxmlformats.org/drawingml/2006/main" noGrp="1"/>
          </p:cNvSpPr>
          <p:nvPr/>
        </p:nvSpPr>
        <p:spPr>
          <a:xfrm xmlns:a="http://schemas.openxmlformats.org/drawingml/2006/main">
            <a:off x="7067550" y="312420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Crop location</a:t>
            </a:r>
          </a:p>
        </p:txBody>
      </p:sp>
      <p:sp>
        <p:nvSpPr>
          <p:cNvPr id="19" name="">
            <a:extLst xmlns:a="http://schemas.openxmlformats.org/drawingml/2006/main">
              <a:ext uri="{FF2B5EF4-FFF2-40B4-BE49-F238E27FC236}">
                <a16:creationId xmlns:a16="http://schemas.microsoft.com/office/drawing/2014/main" id="{3BC0E0FB-4D0F-43E0-A2B6-F106D3FDA314}"/>
              </a:ext>
            </a:extLst>
          </p:cNvPr>
          <p:cNvSpPr>
            <a:spLocks xmlns:a="http://schemas.openxmlformats.org/drawingml/2006/main" noGrp="1"/>
          </p:cNvSpPr>
          <p:nvPr/>
        </p:nvSpPr>
        <p:spPr>
          <a:xfrm xmlns:a="http://schemas.openxmlformats.org/drawingml/2006/main">
            <a:off x="6743700" y="360045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A38A7A21-4FA9-42FF-86DA-9EE74E07900D}"/>
              </a:ext>
            </a:extLst>
          </p:cNvPr>
          <p:cNvSpPr>
            <a:spLocks xmlns:a="http://schemas.openxmlformats.org/drawingml/2006/main" noGrp="1"/>
          </p:cNvSpPr>
          <p:nvPr/>
        </p:nvSpPr>
        <p:spPr>
          <a:xfrm xmlns:a="http://schemas.openxmlformats.org/drawingml/2006/main">
            <a:off x="7067550" y="3609975"/>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Firebreaks</a:t>
            </a:r>
          </a:p>
        </p:txBody>
      </p:sp>
      <p:sp>
        <p:nvSpPr>
          <p:cNvPr id="21" name="">
            <a:extLst xmlns:a="http://schemas.openxmlformats.org/drawingml/2006/main">
              <a:ext uri="{FF2B5EF4-FFF2-40B4-BE49-F238E27FC236}">
                <a16:creationId xmlns:a16="http://schemas.microsoft.com/office/drawing/2014/main" id="{94443C99-A4F0-4709-8D5A-4ECED461796C}"/>
              </a:ext>
            </a:extLst>
          </p:cNvPr>
          <p:cNvSpPr>
            <a:spLocks xmlns:a="http://schemas.openxmlformats.org/drawingml/2006/main" noGrp="1"/>
          </p:cNvSpPr>
          <p:nvPr/>
        </p:nvSpPr>
        <p:spPr>
          <a:xfrm xmlns:a="http://schemas.openxmlformats.org/drawingml/2006/main">
            <a:off x="6743700" y="408622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B10A33A3-F1C2-4DAA-8F0A-C1D20483F544}"/>
              </a:ext>
            </a:extLst>
          </p:cNvPr>
          <p:cNvSpPr>
            <a:spLocks xmlns:a="http://schemas.openxmlformats.org/drawingml/2006/main" noGrp="1"/>
          </p:cNvSpPr>
          <p:nvPr/>
        </p:nvSpPr>
        <p:spPr>
          <a:xfrm xmlns:a="http://schemas.openxmlformats.org/drawingml/2006/main">
            <a:off x="7067550" y="409575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Insurance</a:t>
            </a:r>
          </a:p>
        </p:txBody>
      </p:sp>
      <p:sp>
        <p:nvSpPr>
          <p:cNvPr id="23" name="">
            <a:extLst xmlns:a="http://schemas.openxmlformats.org/drawingml/2006/main">
              <a:ext uri="{FF2B5EF4-FFF2-40B4-BE49-F238E27FC236}">
                <a16:creationId xmlns:a16="http://schemas.microsoft.com/office/drawing/2014/main" id="{91294C1F-9825-410B-8A89-46D214050AE8}"/>
              </a:ext>
            </a:extLst>
          </p:cNvPr>
          <p:cNvSpPr>
            <a:spLocks xmlns:a="http://schemas.openxmlformats.org/drawingml/2006/main" noGrp="1"/>
          </p:cNvSpPr>
          <p:nvPr/>
        </p:nvSpPr>
        <p:spPr>
          <a:xfrm xmlns:a="http://schemas.openxmlformats.org/drawingml/2006/main">
            <a:off x="1200150" y="550545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B88424"/>
                </a:solidFill>
                <a:latin typeface="Georgia"/>
                <a:ea typeface="Georgia"/>
                <a:cs typeface="Georgia"/>
              </a:defRPr>
            </a:pPr>
            <a:r>
              <a:rPr sz="1950" b="1" i="0">
                <a:solidFill>
                  <a:srgbClr val="B88424"/>
                </a:solidFill>
                <a:latin typeface="Georgia"/>
                <a:ea typeface="Georgia"/>
                <a:cs typeface="Georgia"/>
              </a:rPr>
              <a:t>Which rule induces the cheapest mix of precautions and activity?</a:t>
            </a:r>
          </a:p>
        </p:txBody>
      </p:sp>
    </p:spTree>
    <p:extLst>
      <p:ext uri="{BB962C8B-B14F-4D97-AF65-F5344CB8AC3E}">
        <p14:creationId xmlns:p14="http://schemas.microsoft.com/office/powerpoint/2010/main" val="1354379171"/>
      </p:ext>
    </p:extLst>
  </p:cSld>
</p:sld>
</file>

<file path=ppt/slides/slide22.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FA2746C-A04C-458E-9D64-EF1CACEF9F41}"/>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71F996-43DD-4A52-A227-6C9207B1C679}"/>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8C83EC96-240E-407F-9F89-6B41D812BE00}"/>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Spectrum turns Coase into institutional engineering</a:t>
            </a:r>
          </a:p>
        </p:txBody>
      </p:sp>
      <p:sp>
        <p:nvSpPr>
          <p:cNvPr id="4" name="">
            <a:extLst xmlns:a="http://schemas.openxmlformats.org/drawingml/2006/main">
              <a:ext uri="{FF2B5EF4-FFF2-40B4-BE49-F238E27FC236}">
                <a16:creationId xmlns:a16="http://schemas.microsoft.com/office/drawing/2014/main" id="{96F29B6E-683C-4D4B-AFAB-4C28266D67F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42BD7BB-1F55-405F-80ED-ECC085B3BF39}"/>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43400FB5-61EB-4ABA-8045-930C97EAFFC0}"/>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22</a:t>
            </a:r>
          </a:p>
        </p:txBody>
      </p:sp>
      <p:sp>
        <p:nvSpPr>
          <p:cNvPr id="7" name="">
            <a:extLst xmlns:a="http://schemas.openxmlformats.org/drawingml/2006/main">
              <a:ext uri="{FF2B5EF4-FFF2-40B4-BE49-F238E27FC236}">
                <a16:creationId xmlns:a16="http://schemas.microsoft.com/office/drawing/2014/main" id="{160A4988-9A9D-4022-81B9-B16C8C681041}"/>
              </a:ext>
            </a:extLst>
          </p:cNvPr>
          <p:cNvSpPr>
            <a:spLocks xmlns:a="http://schemas.openxmlformats.org/drawingml/2006/main" noGrp="1"/>
          </p:cNvSpPr>
          <p:nvPr/>
        </p:nvSpPr>
        <p:spPr>
          <a:xfrm xmlns:a="http://schemas.openxmlformats.org/drawingml/2006/main">
            <a:off x="6667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PUBLIC DEFINITION</a:t>
            </a:r>
          </a:p>
        </p:txBody>
      </p:sp>
      <p:sp>
        <p:nvSpPr>
          <p:cNvPr id="8" name="">
            <a:extLst xmlns:a="http://schemas.openxmlformats.org/drawingml/2006/main">
              <a:ext uri="{FF2B5EF4-FFF2-40B4-BE49-F238E27FC236}">
                <a16:creationId xmlns:a16="http://schemas.microsoft.com/office/drawing/2014/main" id="{AB123599-9486-41AB-B94E-7743D1F560E5}"/>
              </a:ext>
            </a:extLst>
          </p:cNvPr>
          <p:cNvSpPr>
            <a:spLocks xmlns:a="http://schemas.openxmlformats.org/drawingml/2006/main" noGrp="1"/>
          </p:cNvSpPr>
          <p:nvPr/>
        </p:nvSpPr>
        <p:spPr>
          <a:xfrm xmlns:a="http://schemas.openxmlformats.org/drawingml/2006/main">
            <a:off x="666750" y="2228850"/>
            <a:ext cx="3302000" cy="26098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12A9DED7-D10E-40AD-984B-9603A70AEE00}"/>
              </a:ext>
            </a:extLst>
          </p:cNvPr>
          <p:cNvSpPr>
            <a:spLocks xmlns:a="http://schemas.openxmlformats.org/drawingml/2006/main" noGrp="1"/>
          </p:cNvSpPr>
          <p:nvPr/>
        </p:nvSpPr>
        <p:spPr>
          <a:xfrm xmlns:a="http://schemas.openxmlformats.org/drawingml/2006/main">
            <a:off x="8572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Specify interference rights and license boundaries</a:t>
            </a:r>
          </a:p>
        </p:txBody>
      </p:sp>
      <p:sp>
        <p:nvSpPr>
          <p:cNvPr id="10" name="">
            <a:extLst xmlns:a="http://schemas.openxmlformats.org/drawingml/2006/main">
              <a:ext uri="{FF2B5EF4-FFF2-40B4-BE49-F238E27FC236}">
                <a16:creationId xmlns:a16="http://schemas.microsoft.com/office/drawing/2014/main" id="{DE66C21F-CF97-4C9F-A090-756B2C07E60A}"/>
              </a:ext>
            </a:extLst>
          </p:cNvPr>
          <p:cNvSpPr>
            <a:spLocks xmlns:a="http://schemas.openxmlformats.org/drawingml/2006/main" noGrp="1"/>
          </p:cNvSpPr>
          <p:nvPr/>
        </p:nvSpPr>
        <p:spPr>
          <a:xfrm xmlns:a="http://schemas.openxmlformats.org/drawingml/2006/main">
            <a:off x="444500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AUCTION</a:t>
            </a:r>
          </a:p>
        </p:txBody>
      </p:sp>
      <p:sp>
        <p:nvSpPr>
          <p:cNvPr id="11" name="">
            <a:extLst xmlns:a="http://schemas.openxmlformats.org/drawingml/2006/main">
              <a:ext uri="{FF2B5EF4-FFF2-40B4-BE49-F238E27FC236}">
                <a16:creationId xmlns:a16="http://schemas.microsoft.com/office/drawing/2014/main" id="{8EEFBCD7-06A0-4BF2-8F7B-BAC0FC0EC09D}"/>
              </a:ext>
            </a:extLst>
          </p:cNvPr>
          <p:cNvSpPr>
            <a:spLocks xmlns:a="http://schemas.openxmlformats.org/drawingml/2006/main" noGrp="1"/>
          </p:cNvSpPr>
          <p:nvPr/>
        </p:nvSpPr>
        <p:spPr>
          <a:xfrm xmlns:a="http://schemas.openxmlformats.org/drawingml/2006/main">
            <a:off x="4445000" y="2228850"/>
            <a:ext cx="3302000" cy="26098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8B092952-7946-409E-9263-957683AC20DD}"/>
              </a:ext>
            </a:extLst>
          </p:cNvPr>
          <p:cNvSpPr>
            <a:spLocks xmlns:a="http://schemas.openxmlformats.org/drawingml/2006/main" noGrp="1"/>
          </p:cNvSpPr>
          <p:nvPr/>
        </p:nvSpPr>
        <p:spPr>
          <a:xfrm xmlns:a="http://schemas.openxmlformats.org/drawingml/2006/main">
            <a:off x="463550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Use decentralized bids to reveal relative value</a:t>
            </a:r>
          </a:p>
        </p:txBody>
      </p:sp>
      <p:sp>
        <p:nvSpPr>
          <p:cNvPr id="13" name="">
            <a:extLst xmlns:a="http://schemas.openxmlformats.org/drawingml/2006/main">
              <a:ext uri="{FF2B5EF4-FFF2-40B4-BE49-F238E27FC236}">
                <a16:creationId xmlns:a16="http://schemas.microsoft.com/office/drawing/2014/main" id="{E10EC208-C181-4F01-AD8B-FD5DEC4DF5F1}"/>
              </a:ext>
            </a:extLst>
          </p:cNvPr>
          <p:cNvSpPr>
            <a:spLocks xmlns:a="http://schemas.openxmlformats.org/drawingml/2006/main" noGrp="1"/>
          </p:cNvSpPr>
          <p:nvPr/>
        </p:nvSpPr>
        <p:spPr>
          <a:xfrm xmlns:a="http://schemas.openxmlformats.org/drawingml/2006/main">
            <a:off x="82232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75530D"/>
                </a:solidFill>
                <a:latin typeface="Aptos"/>
                <a:ea typeface="Aptos"/>
                <a:cs typeface="Aptos"/>
              </a:defRPr>
            </a:pPr>
            <a:r>
              <a:rPr sz="1275" b="1" i="0">
                <a:solidFill>
                  <a:srgbClr val="75530D"/>
                </a:solidFill>
                <a:latin typeface="Aptos"/>
                <a:ea typeface="Aptos"/>
                <a:cs typeface="Aptos"/>
              </a:rPr>
              <a:t>AFTERMARKET</a:t>
            </a:r>
          </a:p>
        </p:txBody>
      </p:sp>
      <p:sp>
        <p:nvSpPr>
          <p:cNvPr id="14" name="">
            <a:extLst xmlns:a="http://schemas.openxmlformats.org/drawingml/2006/main">
              <a:ext uri="{FF2B5EF4-FFF2-40B4-BE49-F238E27FC236}">
                <a16:creationId xmlns:a16="http://schemas.microsoft.com/office/drawing/2014/main" id="{20659348-A7DA-470C-BC61-E3C59F7E0165}"/>
              </a:ext>
            </a:extLst>
          </p:cNvPr>
          <p:cNvSpPr>
            <a:spLocks xmlns:a="http://schemas.openxmlformats.org/drawingml/2006/main" noGrp="1"/>
          </p:cNvSpPr>
          <p:nvPr/>
        </p:nvSpPr>
        <p:spPr>
          <a:xfrm xmlns:a="http://schemas.openxmlformats.org/drawingml/2006/main">
            <a:off x="8223250" y="2228850"/>
            <a:ext cx="3302000" cy="26098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5" name="">
            <a:extLst xmlns:a="http://schemas.openxmlformats.org/drawingml/2006/main">
              <a:ext uri="{FF2B5EF4-FFF2-40B4-BE49-F238E27FC236}">
                <a16:creationId xmlns:a16="http://schemas.microsoft.com/office/drawing/2014/main" id="{1FB255B7-F715-44F2-86BC-827DE2461B67}"/>
              </a:ext>
            </a:extLst>
          </p:cNvPr>
          <p:cNvSpPr>
            <a:spLocks xmlns:a="http://schemas.openxmlformats.org/drawingml/2006/main" noGrp="1"/>
          </p:cNvSpPr>
          <p:nvPr/>
        </p:nvSpPr>
        <p:spPr>
          <a:xfrm xmlns:a="http://schemas.openxmlformats.org/drawingml/2006/main">
            <a:off x="84137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Permit transfer and reconfiguration where feasible</a:t>
            </a:r>
          </a:p>
        </p:txBody>
      </p:sp>
      <p:sp>
        <p:nvSpPr>
          <p:cNvPr id="16" name="">
            <a:extLst xmlns:a="http://schemas.openxmlformats.org/drawingml/2006/main">
              <a:ext uri="{FF2B5EF4-FFF2-40B4-BE49-F238E27FC236}">
                <a16:creationId xmlns:a16="http://schemas.microsoft.com/office/drawing/2014/main" id="{35F256CD-57AD-45B3-B42C-7208275B1A8C}"/>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Markets require legally designed objects of exchange.</a:t>
            </a:r>
          </a:p>
        </p:txBody>
      </p:sp>
    </p:spTree>
    <p:extLst>
      <p:ext uri="{BB962C8B-B14F-4D97-AF65-F5344CB8AC3E}">
        <p14:creationId xmlns:p14="http://schemas.microsoft.com/office/powerpoint/2010/main" val="1579173624"/>
      </p:ext>
    </p:extLst>
  </p:cSld>
</p:sld>
</file>

<file path=ppt/slides/slide23.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DC393B8-41BC-4B31-954B-553442C2FF15}"/>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E7AEAB-C70E-4C6F-9F18-7832879FFD57}"/>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D9660366-5DBB-4524-A40D-14A3A9E123F4}"/>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Platforms also design entitlements</a:t>
            </a:r>
          </a:p>
        </p:txBody>
      </p:sp>
      <p:sp>
        <p:nvSpPr>
          <p:cNvPr id="4" name="">
            <a:extLst xmlns:a="http://schemas.openxmlformats.org/drawingml/2006/main">
              <a:ext uri="{FF2B5EF4-FFF2-40B4-BE49-F238E27FC236}">
                <a16:creationId xmlns:a16="http://schemas.microsoft.com/office/drawing/2014/main" id="{6AE8E2FC-6560-4F4D-830A-C3C931C734B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E035550-1E68-4212-8FF5-2842F6E74C96}"/>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B507DDE4-4401-4F83-9AEC-BFD3C7018676}"/>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23</a:t>
            </a:r>
          </a:p>
        </p:txBody>
      </p:sp>
      <p:sp>
        <p:nvSpPr>
          <p:cNvPr id="7" name="">
            <a:extLst xmlns:a="http://schemas.openxmlformats.org/drawingml/2006/main">
              <a:ext uri="{FF2B5EF4-FFF2-40B4-BE49-F238E27FC236}">
                <a16:creationId xmlns:a16="http://schemas.microsoft.com/office/drawing/2014/main" id="{E51D6DA9-8AAA-4113-A1E9-7BC48890D29A}"/>
              </a:ext>
            </a:extLst>
          </p:cNvPr>
          <p:cNvSpPr>
            <a:spLocks xmlns:a="http://schemas.openxmlformats.org/drawingml/2006/main" noGrp="1"/>
          </p:cNvSpPr>
          <p:nvPr/>
        </p:nvSpPr>
        <p:spPr>
          <a:xfrm xmlns:a="http://schemas.openxmlformats.org/drawingml/2006/main">
            <a:off x="6667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ACCESS</a:t>
            </a:r>
          </a:p>
        </p:txBody>
      </p:sp>
      <p:sp>
        <p:nvSpPr>
          <p:cNvPr id="8" name="">
            <a:extLst xmlns:a="http://schemas.openxmlformats.org/drawingml/2006/main">
              <a:ext uri="{FF2B5EF4-FFF2-40B4-BE49-F238E27FC236}">
                <a16:creationId xmlns:a16="http://schemas.microsoft.com/office/drawing/2014/main" id="{F636E110-E31E-4349-8FEB-B12A9F337E54}"/>
              </a:ext>
            </a:extLst>
          </p:cNvPr>
          <p:cNvSpPr>
            <a:spLocks xmlns:a="http://schemas.openxmlformats.org/drawingml/2006/main" noGrp="1"/>
          </p:cNvSpPr>
          <p:nvPr/>
        </p:nvSpPr>
        <p:spPr>
          <a:xfrm xmlns:a="http://schemas.openxmlformats.org/drawingml/2006/main">
            <a:off x="666750" y="2228850"/>
            <a:ext cx="3302000" cy="26098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9513C254-A521-4B10-BB74-B664F54960EB}"/>
              </a:ext>
            </a:extLst>
          </p:cNvPr>
          <p:cNvSpPr>
            <a:spLocks xmlns:a="http://schemas.openxmlformats.org/drawingml/2006/main" noGrp="1"/>
          </p:cNvSpPr>
          <p:nvPr/>
        </p:nvSpPr>
        <p:spPr>
          <a:xfrm xmlns:a="http://schemas.openxmlformats.org/drawingml/2006/main">
            <a:off x="8572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Who may participate and on what terms?</a:t>
            </a:r>
          </a:p>
        </p:txBody>
      </p:sp>
      <p:sp>
        <p:nvSpPr>
          <p:cNvPr id="10" name="">
            <a:extLst xmlns:a="http://schemas.openxmlformats.org/drawingml/2006/main">
              <a:ext uri="{FF2B5EF4-FFF2-40B4-BE49-F238E27FC236}">
                <a16:creationId xmlns:a16="http://schemas.microsoft.com/office/drawing/2014/main" id="{BD1447E2-DEEA-43A1-A417-8A0BE92ABC49}"/>
              </a:ext>
            </a:extLst>
          </p:cNvPr>
          <p:cNvSpPr>
            <a:spLocks xmlns:a="http://schemas.openxmlformats.org/drawingml/2006/main" noGrp="1"/>
          </p:cNvSpPr>
          <p:nvPr/>
        </p:nvSpPr>
        <p:spPr>
          <a:xfrm xmlns:a="http://schemas.openxmlformats.org/drawingml/2006/main">
            <a:off x="444500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75530D"/>
                </a:solidFill>
                <a:latin typeface="Aptos"/>
                <a:ea typeface="Aptos"/>
                <a:cs typeface="Aptos"/>
              </a:defRPr>
            </a:pPr>
            <a:r>
              <a:rPr sz="1275" b="1" i="0">
                <a:solidFill>
                  <a:srgbClr val="75530D"/>
                </a:solidFill>
                <a:latin typeface="Aptos"/>
                <a:ea typeface="Aptos"/>
                <a:cs typeface="Aptos"/>
              </a:rPr>
              <a:t>PRIORITY</a:t>
            </a:r>
          </a:p>
        </p:txBody>
      </p:sp>
      <p:sp>
        <p:nvSpPr>
          <p:cNvPr id="11" name="">
            <a:extLst xmlns:a="http://schemas.openxmlformats.org/drawingml/2006/main">
              <a:ext uri="{FF2B5EF4-FFF2-40B4-BE49-F238E27FC236}">
                <a16:creationId xmlns:a16="http://schemas.microsoft.com/office/drawing/2014/main" id="{0B6468DF-2C34-4F63-B979-2AB83896AB39}"/>
              </a:ext>
            </a:extLst>
          </p:cNvPr>
          <p:cNvSpPr>
            <a:spLocks xmlns:a="http://schemas.openxmlformats.org/drawingml/2006/main" noGrp="1"/>
          </p:cNvSpPr>
          <p:nvPr/>
        </p:nvSpPr>
        <p:spPr>
          <a:xfrm xmlns:a="http://schemas.openxmlformats.org/drawingml/2006/main">
            <a:off x="4445000" y="2228850"/>
            <a:ext cx="3302000" cy="26098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49209B6C-4D6B-4DDE-BA54-9E322D567F6D}"/>
              </a:ext>
            </a:extLst>
          </p:cNvPr>
          <p:cNvSpPr>
            <a:spLocks xmlns:a="http://schemas.openxmlformats.org/drawingml/2006/main" noGrp="1"/>
          </p:cNvSpPr>
          <p:nvPr/>
        </p:nvSpPr>
        <p:spPr>
          <a:xfrm xmlns:a="http://schemas.openxmlformats.org/drawingml/2006/main">
            <a:off x="463550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How are listings, attention, or capacity allocated?</a:t>
            </a:r>
          </a:p>
        </p:txBody>
      </p:sp>
      <p:sp>
        <p:nvSpPr>
          <p:cNvPr id="13" name="">
            <a:extLst xmlns:a="http://schemas.openxmlformats.org/drawingml/2006/main">
              <a:ext uri="{FF2B5EF4-FFF2-40B4-BE49-F238E27FC236}">
                <a16:creationId xmlns:a16="http://schemas.microsoft.com/office/drawing/2014/main" id="{3DCD185E-700A-4AD3-8F61-D373F7BC6B82}"/>
              </a:ext>
            </a:extLst>
          </p:cNvPr>
          <p:cNvSpPr>
            <a:spLocks xmlns:a="http://schemas.openxmlformats.org/drawingml/2006/main" noGrp="1"/>
          </p:cNvSpPr>
          <p:nvPr/>
        </p:nvSpPr>
        <p:spPr>
          <a:xfrm xmlns:a="http://schemas.openxmlformats.org/drawingml/2006/main">
            <a:off x="82232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REMEDY</a:t>
            </a:r>
          </a:p>
        </p:txBody>
      </p:sp>
      <p:sp>
        <p:nvSpPr>
          <p:cNvPr id="14" name="">
            <a:extLst xmlns:a="http://schemas.openxmlformats.org/drawingml/2006/main">
              <a:ext uri="{FF2B5EF4-FFF2-40B4-BE49-F238E27FC236}">
                <a16:creationId xmlns:a16="http://schemas.microsoft.com/office/drawing/2014/main" id="{A8C706C0-E0E0-4F21-BBF6-93083375A53A}"/>
              </a:ext>
            </a:extLst>
          </p:cNvPr>
          <p:cNvSpPr>
            <a:spLocks xmlns:a="http://schemas.openxmlformats.org/drawingml/2006/main" noGrp="1"/>
          </p:cNvSpPr>
          <p:nvPr/>
        </p:nvSpPr>
        <p:spPr>
          <a:xfrm xmlns:a="http://schemas.openxmlformats.org/drawingml/2006/main">
            <a:off x="8223250" y="2228850"/>
            <a:ext cx="3302000" cy="26098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5" name="">
            <a:extLst xmlns:a="http://schemas.openxmlformats.org/drawingml/2006/main">
              <a:ext uri="{FF2B5EF4-FFF2-40B4-BE49-F238E27FC236}">
                <a16:creationId xmlns:a16="http://schemas.microsoft.com/office/drawing/2014/main" id="{FCF5FB17-70EB-4CB8-A350-080AE12F9844}"/>
              </a:ext>
            </a:extLst>
          </p:cNvPr>
          <p:cNvSpPr>
            <a:spLocks xmlns:a="http://schemas.openxmlformats.org/drawingml/2006/main" noGrp="1"/>
          </p:cNvSpPr>
          <p:nvPr/>
        </p:nvSpPr>
        <p:spPr>
          <a:xfrm xmlns:a="http://schemas.openxmlformats.org/drawingml/2006/main">
            <a:off x="84137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Refund, removal, suspension, appeal, or exit?</a:t>
            </a:r>
          </a:p>
        </p:txBody>
      </p:sp>
      <p:sp>
        <p:nvSpPr>
          <p:cNvPr id="16" name="">
            <a:extLst xmlns:a="http://schemas.openxmlformats.org/drawingml/2006/main">
              <a:ext uri="{FF2B5EF4-FFF2-40B4-BE49-F238E27FC236}">
                <a16:creationId xmlns:a16="http://schemas.microsoft.com/office/drawing/2014/main" id="{5EB2B3CC-17C5-4968-B981-DFA7F8CA40B1}"/>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7025"/>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Private code can lower bargaining costs while creating concentrated rule-making power.</a:t>
            </a:r>
          </a:p>
        </p:txBody>
      </p:sp>
    </p:spTree>
    <p:extLst>
      <p:ext uri="{BB962C8B-B14F-4D97-AF65-F5344CB8AC3E}">
        <p14:creationId xmlns:p14="http://schemas.microsoft.com/office/powerpoint/2010/main" val="1403982777"/>
      </p:ext>
    </p:extLst>
  </p:cSld>
</p:sld>
</file>

<file path=ppt/slides/slide24.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FADA45F-372A-4928-B77A-6D00F8AD4BBA}"/>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370064-5866-4F7E-A8E5-C7E79E3019A1}"/>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9F99459B-ECB0-457A-B432-D6098F59B867}"/>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A Coasean audit asks concrete questions</a:t>
            </a:r>
          </a:p>
        </p:txBody>
      </p:sp>
      <p:sp>
        <p:nvSpPr>
          <p:cNvPr id="4" name="">
            <a:extLst xmlns:a="http://schemas.openxmlformats.org/drawingml/2006/main">
              <a:ext uri="{FF2B5EF4-FFF2-40B4-BE49-F238E27FC236}">
                <a16:creationId xmlns:a16="http://schemas.microsoft.com/office/drawing/2014/main" id="{2AAA19E2-0E2D-4FFD-B38B-43BF005F9F2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EB22D0-575A-49E3-8606-45E009855FCB}"/>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01A2C1F4-96E0-4F7F-8A30-43E7A41DCBFA}"/>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24</a:t>
            </a:r>
          </a:p>
        </p:txBody>
      </p:sp>
      <p:sp>
        <p:nvSpPr>
          <p:cNvPr id="7" name="">
            <a:extLst xmlns:a="http://schemas.openxmlformats.org/drawingml/2006/main">
              <a:ext uri="{FF2B5EF4-FFF2-40B4-BE49-F238E27FC236}">
                <a16:creationId xmlns:a16="http://schemas.microsoft.com/office/drawing/2014/main" id="{C40C2230-8E20-46C6-B112-F84DFD7D6400}"/>
              </a:ext>
            </a:extLst>
          </p:cNvPr>
          <p:cNvSpPr>
            <a:spLocks xmlns:a="http://schemas.openxmlformats.org/drawingml/2006/main" noGrp="1"/>
          </p:cNvSpPr>
          <p:nvPr/>
        </p:nvSpPr>
        <p:spPr>
          <a:xfrm xmlns:a="http://schemas.openxmlformats.org/drawingml/2006/main">
            <a:off x="1257300" y="199072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01C5F570-84D4-4D82-8D08-2DCECAC933F5}"/>
              </a:ext>
            </a:extLst>
          </p:cNvPr>
          <p:cNvSpPr>
            <a:spLocks xmlns:a="http://schemas.openxmlformats.org/drawingml/2006/main" noGrp="1"/>
          </p:cNvSpPr>
          <p:nvPr/>
        </p:nvSpPr>
        <p:spPr>
          <a:xfrm xmlns:a="http://schemas.openxmlformats.org/drawingml/2006/main">
            <a:off x="1581150" y="2000250"/>
            <a:ext cx="9353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What incompatible uses create the conflict?</a:t>
            </a:r>
          </a:p>
        </p:txBody>
      </p:sp>
      <p:sp>
        <p:nvSpPr>
          <p:cNvPr id="9" name="">
            <a:extLst xmlns:a="http://schemas.openxmlformats.org/drawingml/2006/main">
              <a:ext uri="{FF2B5EF4-FFF2-40B4-BE49-F238E27FC236}">
                <a16:creationId xmlns:a16="http://schemas.microsoft.com/office/drawing/2014/main" id="{2C0FD9C0-163C-4613-B3A2-1D1E7FBCA25D}"/>
              </a:ext>
            </a:extLst>
          </p:cNvPr>
          <p:cNvSpPr>
            <a:spLocks xmlns:a="http://schemas.openxmlformats.org/drawingml/2006/main" noGrp="1"/>
          </p:cNvSpPr>
          <p:nvPr/>
        </p:nvSpPr>
        <p:spPr>
          <a:xfrm xmlns:a="http://schemas.openxmlformats.org/drawingml/2006/main">
            <a:off x="1257300" y="247650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525F4247-F9B6-499F-B9CB-C7030D6AF59A}"/>
              </a:ext>
            </a:extLst>
          </p:cNvPr>
          <p:cNvSpPr>
            <a:spLocks xmlns:a="http://schemas.openxmlformats.org/drawingml/2006/main" noGrp="1"/>
          </p:cNvSpPr>
          <p:nvPr/>
        </p:nvSpPr>
        <p:spPr>
          <a:xfrm xmlns:a="http://schemas.openxmlformats.org/drawingml/2006/main">
            <a:off x="1581150" y="2486025"/>
            <a:ext cx="9353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Who holds which entitlement, protected by what remedy?</a:t>
            </a:r>
          </a:p>
        </p:txBody>
      </p:sp>
      <p:sp>
        <p:nvSpPr>
          <p:cNvPr id="11" name="">
            <a:extLst xmlns:a="http://schemas.openxmlformats.org/drawingml/2006/main">
              <a:ext uri="{FF2B5EF4-FFF2-40B4-BE49-F238E27FC236}">
                <a16:creationId xmlns:a16="http://schemas.microsoft.com/office/drawing/2014/main" id="{6D48EA32-15FB-4D28-B02C-E0401BF751FC}"/>
              </a:ext>
            </a:extLst>
          </p:cNvPr>
          <p:cNvSpPr>
            <a:spLocks xmlns:a="http://schemas.openxmlformats.org/drawingml/2006/main" noGrp="1"/>
          </p:cNvSpPr>
          <p:nvPr/>
        </p:nvSpPr>
        <p:spPr>
          <a:xfrm xmlns:a="http://schemas.openxmlformats.org/drawingml/2006/main">
            <a:off x="1257300" y="296227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67C22BB0-4B28-4621-BDC6-BC2FB3768846}"/>
              </a:ext>
            </a:extLst>
          </p:cNvPr>
          <p:cNvSpPr>
            <a:spLocks xmlns:a="http://schemas.openxmlformats.org/drawingml/2006/main" noGrp="1"/>
          </p:cNvSpPr>
          <p:nvPr/>
        </p:nvSpPr>
        <p:spPr>
          <a:xfrm xmlns:a="http://schemas.openxmlformats.org/drawingml/2006/main">
            <a:off x="1581150" y="2971800"/>
            <a:ext cx="9353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What allocation maximizes joint value?</a:t>
            </a:r>
          </a:p>
        </p:txBody>
      </p:sp>
      <p:sp>
        <p:nvSpPr>
          <p:cNvPr id="13" name="">
            <a:extLst xmlns:a="http://schemas.openxmlformats.org/drawingml/2006/main">
              <a:ext uri="{FF2B5EF4-FFF2-40B4-BE49-F238E27FC236}">
                <a16:creationId xmlns:a16="http://schemas.microsoft.com/office/drawing/2014/main" id="{EC02413F-85DA-4EC0-B065-EFEA085D545E}"/>
              </a:ext>
            </a:extLst>
          </p:cNvPr>
          <p:cNvSpPr>
            <a:spLocks xmlns:a="http://schemas.openxmlformats.org/drawingml/2006/main" noGrp="1"/>
          </p:cNvSpPr>
          <p:nvPr/>
        </p:nvSpPr>
        <p:spPr>
          <a:xfrm xmlns:a="http://schemas.openxmlformats.org/drawingml/2006/main">
            <a:off x="1257300" y="344805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F3DF3FDF-5BD1-463B-AF00-A85FDB974BA4}"/>
              </a:ext>
            </a:extLst>
          </p:cNvPr>
          <p:cNvSpPr>
            <a:spLocks xmlns:a="http://schemas.openxmlformats.org/drawingml/2006/main" noGrp="1"/>
          </p:cNvSpPr>
          <p:nvPr/>
        </p:nvSpPr>
        <p:spPr>
          <a:xfrm xmlns:a="http://schemas.openxmlformats.org/drawingml/2006/main">
            <a:off x="1581150" y="3457575"/>
            <a:ext cx="9353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What cooperative surplus is available?</a:t>
            </a:r>
          </a:p>
        </p:txBody>
      </p:sp>
      <p:sp>
        <p:nvSpPr>
          <p:cNvPr id="15" name="">
            <a:extLst xmlns:a="http://schemas.openxmlformats.org/drawingml/2006/main">
              <a:ext uri="{FF2B5EF4-FFF2-40B4-BE49-F238E27FC236}">
                <a16:creationId xmlns:a16="http://schemas.microsoft.com/office/drawing/2014/main" id="{4D6159E7-474F-4381-BFC0-8C54DA093864}"/>
              </a:ext>
            </a:extLst>
          </p:cNvPr>
          <p:cNvSpPr>
            <a:spLocks xmlns:a="http://schemas.openxmlformats.org/drawingml/2006/main" noGrp="1"/>
          </p:cNvSpPr>
          <p:nvPr/>
        </p:nvSpPr>
        <p:spPr>
          <a:xfrm xmlns:a="http://schemas.openxmlformats.org/drawingml/2006/main">
            <a:off x="1257300" y="393382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8834E39C-05D4-45D0-B8D7-AF1E985E9882}"/>
              </a:ext>
            </a:extLst>
          </p:cNvPr>
          <p:cNvSpPr>
            <a:spLocks xmlns:a="http://schemas.openxmlformats.org/drawingml/2006/main" noGrp="1"/>
          </p:cNvSpPr>
          <p:nvPr/>
        </p:nvSpPr>
        <p:spPr>
          <a:xfrm xmlns:a="http://schemas.openxmlformats.org/drawingml/2006/main">
            <a:off x="1581150" y="3943350"/>
            <a:ext cx="9353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Which search, strategy, information, or enforcement cost blocks agreement?</a:t>
            </a:r>
          </a:p>
        </p:txBody>
      </p:sp>
      <p:sp>
        <p:nvSpPr>
          <p:cNvPr id="17" name="">
            <a:extLst xmlns:a="http://schemas.openxmlformats.org/drawingml/2006/main">
              <a:ext uri="{FF2B5EF4-FFF2-40B4-BE49-F238E27FC236}">
                <a16:creationId xmlns:a16="http://schemas.microsoft.com/office/drawing/2014/main" id="{C353EA92-6A19-4313-A34F-19715822B39F}"/>
              </a:ext>
            </a:extLst>
          </p:cNvPr>
          <p:cNvSpPr>
            <a:spLocks xmlns:a="http://schemas.openxmlformats.org/drawingml/2006/main" noGrp="1"/>
          </p:cNvSpPr>
          <p:nvPr/>
        </p:nvSpPr>
        <p:spPr>
          <a:xfrm xmlns:a="http://schemas.openxmlformats.org/drawingml/2006/main">
            <a:off x="1257300" y="441960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E6100293-598D-43E3-B0DA-91B6DFA38879}"/>
              </a:ext>
            </a:extLst>
          </p:cNvPr>
          <p:cNvSpPr>
            <a:spLocks xmlns:a="http://schemas.openxmlformats.org/drawingml/2006/main" noGrp="1"/>
          </p:cNvSpPr>
          <p:nvPr/>
        </p:nvSpPr>
        <p:spPr>
          <a:xfrm xmlns:a="http://schemas.openxmlformats.org/drawingml/2006/main">
            <a:off x="1581150" y="4429125"/>
            <a:ext cx="9353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Which feasible institution reduces that obstacle at acceptable cost?</a:t>
            </a:r>
          </a:p>
        </p:txBody>
      </p:sp>
    </p:spTree>
    <p:extLst>
      <p:ext uri="{BB962C8B-B14F-4D97-AF65-F5344CB8AC3E}">
        <p14:creationId xmlns:p14="http://schemas.microsoft.com/office/powerpoint/2010/main" val="557326681"/>
      </p:ext>
    </p:extLst>
  </p:cSld>
</p:sld>
</file>

<file path=ppt/slides/slide25.xml><?xml version="1.0" encoding="utf-8"?>
<p:sld xmlns:p="http://schemas.openxmlformats.org/presentationml/2006/main">
  <p:cSld>
    <p:bg>
      <p:bgPr>
        <a:solidFill xmlns:a="http://schemas.openxmlformats.org/drawingml/2006/main">
          <a:srgbClr val="173F3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9D5A44A-9F84-4FA2-9094-21B1E9404B9D}"/>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B884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9264FEC-EA35-4EE5-A271-D67A60260870}"/>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CHAPTER 4</a:t>
            </a:r>
          </a:p>
        </p:txBody>
      </p:sp>
      <p:sp>
        <p:nvSpPr>
          <p:cNvPr id="3" name="">
            <a:extLst xmlns:a="http://schemas.openxmlformats.org/drawingml/2006/main">
              <a:ext uri="{FF2B5EF4-FFF2-40B4-BE49-F238E27FC236}">
                <a16:creationId xmlns:a16="http://schemas.microsoft.com/office/drawing/2014/main" id="{E38DC470-C218-4A3C-A3A9-B0B17ACE1396}"/>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FFFF"/>
                </a:solidFill>
                <a:latin typeface="Georgia"/>
                <a:ea typeface="Georgia"/>
                <a:cs typeface="Georgia"/>
              </a:defRPr>
            </a:pPr>
            <a:r>
              <a:rPr sz="3000" b="1" i="0">
                <a:solidFill>
                  <a:srgbClr val="FFFFFF"/>
                </a:solidFill>
                <a:latin typeface="Georgia"/>
                <a:ea typeface="Georgia"/>
                <a:cs typeface="Georgia"/>
              </a:rPr>
              <a:t>The theorem matters because bargaining is costly</a:t>
            </a:r>
          </a:p>
        </p:txBody>
      </p:sp>
      <p:sp>
        <p:nvSpPr>
          <p:cNvPr id="4" name="">
            <a:extLst xmlns:a="http://schemas.openxmlformats.org/drawingml/2006/main">
              <a:ext uri="{FF2B5EF4-FFF2-40B4-BE49-F238E27FC236}">
                <a16:creationId xmlns:a16="http://schemas.microsoft.com/office/drawing/2014/main" id="{2CEB59A1-96DE-4AF7-B622-8B3769C0E8E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F776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6F4A7B-5F52-45BC-AF6F-49621F3FAB14}"/>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C8D9D5"/>
                </a:solidFill>
                <a:latin typeface="Aptos"/>
                <a:ea typeface="Aptos"/>
                <a:cs typeface="Aptos"/>
              </a:defRPr>
            </a:pPr>
            <a:r>
              <a:rPr sz="825" b="1" i="0">
                <a:solidFill>
                  <a:srgbClr val="C8D9D5"/>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584E5278-1E05-4593-9BEA-88BAA03BBFFA}"/>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C8D9D5"/>
                </a:solidFill>
                <a:latin typeface="Aptos"/>
                <a:ea typeface="Aptos"/>
                <a:cs typeface="Aptos"/>
              </a:defRPr>
            </a:pPr>
            <a:r>
              <a:rPr sz="825" b="0" i="0">
                <a:solidFill>
                  <a:srgbClr val="C8D9D5"/>
                </a:solidFill>
                <a:latin typeface="Aptos"/>
                <a:ea typeface="Aptos"/>
                <a:cs typeface="Aptos"/>
              </a:rPr>
              <a:t>25</a:t>
            </a:r>
          </a:p>
        </p:txBody>
      </p:sp>
      <p:sp>
        <p:nvSpPr>
          <p:cNvPr id="7" name="">
            <a:extLst xmlns:a="http://schemas.openxmlformats.org/drawingml/2006/main">
              <a:ext uri="{FF2B5EF4-FFF2-40B4-BE49-F238E27FC236}">
                <a16:creationId xmlns:a16="http://schemas.microsoft.com/office/drawing/2014/main" id="{78A029B4-E973-4B5B-B7A3-4B547A68B9E1}"/>
              </a:ext>
            </a:extLst>
          </p:cNvPr>
          <p:cNvSpPr>
            <a:spLocks xmlns:a="http://schemas.openxmlformats.org/drawingml/2006/main" noGrp="1"/>
          </p:cNvSpPr>
          <p:nvPr/>
        </p:nvSpPr>
        <p:spPr>
          <a:xfrm xmlns:a="http://schemas.openxmlformats.org/drawingml/2006/main">
            <a:off x="1352550" y="1495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B88424"/>
                </a:solidFill>
                <a:latin typeface="Aptos"/>
                <a:ea typeface="Aptos"/>
                <a:cs typeface="Aptos"/>
              </a:defRPr>
            </a:pPr>
            <a:r>
              <a:rPr sz="1875" b="1" i="0">
                <a:solidFill>
                  <a:srgbClr val="B88424"/>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0BE3F886-4AB1-452B-A355-5943AB7FDDEB}"/>
              </a:ext>
            </a:extLst>
          </p:cNvPr>
          <p:cNvSpPr>
            <a:spLocks xmlns:a="http://schemas.openxmlformats.org/drawingml/2006/main" noGrp="1"/>
          </p:cNvSpPr>
          <p:nvPr/>
        </p:nvSpPr>
        <p:spPr>
          <a:xfrm xmlns:a="http://schemas.openxmlformats.org/drawingml/2006/main">
            <a:off x="1676400" y="1504950"/>
            <a:ext cx="9201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FFFFFF"/>
                </a:solidFill>
                <a:latin typeface="Aptos"/>
                <a:ea typeface="Aptos"/>
                <a:cs typeface="Aptos"/>
              </a:defRPr>
            </a:pPr>
            <a:r>
              <a:rPr sz="1875" b="0" i="0">
                <a:solidFill>
                  <a:srgbClr val="FFFFFF"/>
                </a:solidFill>
                <a:latin typeface="Aptos"/>
                <a:ea typeface="Aptos"/>
                <a:cs typeface="Aptos"/>
              </a:rPr>
              <a:t>Identify the reciprocal conflict.</a:t>
            </a:r>
          </a:p>
        </p:txBody>
      </p:sp>
      <p:sp>
        <p:nvSpPr>
          <p:cNvPr id="9" name="">
            <a:extLst xmlns:a="http://schemas.openxmlformats.org/drawingml/2006/main">
              <a:ext uri="{FF2B5EF4-FFF2-40B4-BE49-F238E27FC236}">
                <a16:creationId xmlns:a16="http://schemas.microsoft.com/office/drawing/2014/main" id="{460CB429-DD90-4EC3-AA82-8046C04AD24B}"/>
              </a:ext>
            </a:extLst>
          </p:cNvPr>
          <p:cNvSpPr>
            <a:spLocks xmlns:a="http://schemas.openxmlformats.org/drawingml/2006/main" noGrp="1"/>
          </p:cNvSpPr>
          <p:nvPr/>
        </p:nvSpPr>
        <p:spPr>
          <a:xfrm xmlns:a="http://schemas.openxmlformats.org/drawingml/2006/main">
            <a:off x="1352550" y="20097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B88424"/>
                </a:solidFill>
                <a:latin typeface="Aptos"/>
                <a:ea typeface="Aptos"/>
                <a:cs typeface="Aptos"/>
              </a:defRPr>
            </a:pPr>
            <a:r>
              <a:rPr sz="1875" b="1" i="0">
                <a:solidFill>
                  <a:srgbClr val="B88424"/>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FFF22B44-C776-4897-9848-632483F59782}"/>
              </a:ext>
            </a:extLst>
          </p:cNvPr>
          <p:cNvSpPr>
            <a:spLocks xmlns:a="http://schemas.openxmlformats.org/drawingml/2006/main" noGrp="1"/>
          </p:cNvSpPr>
          <p:nvPr/>
        </p:nvSpPr>
        <p:spPr>
          <a:xfrm xmlns:a="http://schemas.openxmlformats.org/drawingml/2006/main">
            <a:off x="1676400" y="2019300"/>
            <a:ext cx="9201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FFFFFF"/>
                </a:solidFill>
                <a:latin typeface="Aptos"/>
                <a:ea typeface="Aptos"/>
                <a:cs typeface="Aptos"/>
              </a:defRPr>
            </a:pPr>
            <a:r>
              <a:rPr sz="1875" b="0" i="0">
                <a:solidFill>
                  <a:srgbClr val="FFFFFF"/>
                </a:solidFill>
                <a:latin typeface="Aptos"/>
                <a:ea typeface="Aptos"/>
                <a:cs typeface="Aptos"/>
              </a:rPr>
              <a:t>Define the entitlement and remedy.</a:t>
            </a:r>
          </a:p>
        </p:txBody>
      </p:sp>
      <p:sp>
        <p:nvSpPr>
          <p:cNvPr id="11" name="">
            <a:extLst xmlns:a="http://schemas.openxmlformats.org/drawingml/2006/main">
              <a:ext uri="{FF2B5EF4-FFF2-40B4-BE49-F238E27FC236}">
                <a16:creationId xmlns:a16="http://schemas.microsoft.com/office/drawing/2014/main" id="{C0623263-00C2-4D12-87B2-7254E86180DF}"/>
              </a:ext>
            </a:extLst>
          </p:cNvPr>
          <p:cNvSpPr>
            <a:spLocks xmlns:a="http://schemas.openxmlformats.org/drawingml/2006/main" noGrp="1"/>
          </p:cNvSpPr>
          <p:nvPr/>
        </p:nvSpPr>
        <p:spPr>
          <a:xfrm xmlns:a="http://schemas.openxmlformats.org/drawingml/2006/main">
            <a:off x="1352550" y="2524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B88424"/>
                </a:solidFill>
                <a:latin typeface="Aptos"/>
                <a:ea typeface="Aptos"/>
                <a:cs typeface="Aptos"/>
              </a:defRPr>
            </a:pPr>
            <a:r>
              <a:rPr sz="1875" b="1" i="0">
                <a:solidFill>
                  <a:srgbClr val="B88424"/>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8FB70ABC-9BAB-4620-898B-E47622E39043}"/>
              </a:ext>
            </a:extLst>
          </p:cNvPr>
          <p:cNvSpPr>
            <a:spLocks xmlns:a="http://schemas.openxmlformats.org/drawingml/2006/main" noGrp="1"/>
          </p:cNvSpPr>
          <p:nvPr/>
        </p:nvSpPr>
        <p:spPr>
          <a:xfrm xmlns:a="http://schemas.openxmlformats.org/drawingml/2006/main">
            <a:off x="1676400" y="2533650"/>
            <a:ext cx="9201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FFFFFF"/>
                </a:solidFill>
                <a:latin typeface="Aptos"/>
                <a:ea typeface="Aptos"/>
                <a:cs typeface="Aptos"/>
              </a:defRPr>
            </a:pPr>
            <a:r>
              <a:rPr sz="1875" b="0" i="0">
                <a:solidFill>
                  <a:srgbClr val="FFFFFF"/>
                </a:solidFill>
                <a:latin typeface="Aptos"/>
                <a:ea typeface="Aptos"/>
                <a:cs typeface="Aptos"/>
              </a:rPr>
              <a:t>Calculate joint value and cooperative surplus.</a:t>
            </a:r>
          </a:p>
        </p:txBody>
      </p:sp>
      <p:sp>
        <p:nvSpPr>
          <p:cNvPr id="13" name="">
            <a:extLst xmlns:a="http://schemas.openxmlformats.org/drawingml/2006/main">
              <a:ext uri="{FF2B5EF4-FFF2-40B4-BE49-F238E27FC236}">
                <a16:creationId xmlns:a16="http://schemas.microsoft.com/office/drawing/2014/main" id="{94EE149F-897B-4E36-8DB4-C63F21CEEF30}"/>
              </a:ext>
            </a:extLst>
          </p:cNvPr>
          <p:cNvSpPr>
            <a:spLocks xmlns:a="http://schemas.openxmlformats.org/drawingml/2006/main" noGrp="1"/>
          </p:cNvSpPr>
          <p:nvPr/>
        </p:nvSpPr>
        <p:spPr>
          <a:xfrm xmlns:a="http://schemas.openxmlformats.org/drawingml/2006/main">
            <a:off x="1352550" y="30384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B88424"/>
                </a:solidFill>
                <a:latin typeface="Aptos"/>
                <a:ea typeface="Aptos"/>
                <a:cs typeface="Aptos"/>
              </a:defRPr>
            </a:pPr>
            <a:r>
              <a:rPr sz="1875" b="1" i="0">
                <a:solidFill>
                  <a:srgbClr val="B88424"/>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37749799-4726-4053-8D41-E48E6FFE8261}"/>
              </a:ext>
            </a:extLst>
          </p:cNvPr>
          <p:cNvSpPr>
            <a:spLocks xmlns:a="http://schemas.openxmlformats.org/drawingml/2006/main" noGrp="1"/>
          </p:cNvSpPr>
          <p:nvPr/>
        </p:nvSpPr>
        <p:spPr>
          <a:xfrm xmlns:a="http://schemas.openxmlformats.org/drawingml/2006/main">
            <a:off x="1676400" y="3048000"/>
            <a:ext cx="9201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FFFFFF"/>
                </a:solidFill>
                <a:latin typeface="Aptos"/>
                <a:ea typeface="Aptos"/>
                <a:cs typeface="Aptos"/>
              </a:defRPr>
            </a:pPr>
            <a:r>
              <a:rPr sz="1875" b="0" i="0">
                <a:solidFill>
                  <a:srgbClr val="FFFFFF"/>
                </a:solidFill>
                <a:latin typeface="Aptos"/>
                <a:ea typeface="Aptos"/>
                <a:cs typeface="Aptos"/>
              </a:rPr>
              <a:t>Separate allocation from distribution.</a:t>
            </a:r>
          </a:p>
        </p:txBody>
      </p:sp>
      <p:sp>
        <p:nvSpPr>
          <p:cNvPr id="15" name="">
            <a:extLst xmlns:a="http://schemas.openxmlformats.org/drawingml/2006/main">
              <a:ext uri="{FF2B5EF4-FFF2-40B4-BE49-F238E27FC236}">
                <a16:creationId xmlns:a16="http://schemas.microsoft.com/office/drawing/2014/main" id="{F5CBDE70-1286-486D-B855-54758C31D15B}"/>
              </a:ext>
            </a:extLst>
          </p:cNvPr>
          <p:cNvSpPr>
            <a:spLocks xmlns:a="http://schemas.openxmlformats.org/drawingml/2006/main" noGrp="1"/>
          </p:cNvSpPr>
          <p:nvPr/>
        </p:nvSpPr>
        <p:spPr>
          <a:xfrm xmlns:a="http://schemas.openxmlformats.org/drawingml/2006/main">
            <a:off x="1352550" y="35528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B88424"/>
                </a:solidFill>
                <a:latin typeface="Aptos"/>
                <a:ea typeface="Aptos"/>
                <a:cs typeface="Aptos"/>
              </a:defRPr>
            </a:pPr>
            <a:r>
              <a:rPr sz="1875" b="1" i="0">
                <a:solidFill>
                  <a:srgbClr val="B88424"/>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8228F7C0-2503-4D16-B68E-6CDEF2B7F26B}"/>
              </a:ext>
            </a:extLst>
          </p:cNvPr>
          <p:cNvSpPr>
            <a:spLocks xmlns:a="http://schemas.openxmlformats.org/drawingml/2006/main" noGrp="1"/>
          </p:cNvSpPr>
          <p:nvPr/>
        </p:nvSpPr>
        <p:spPr>
          <a:xfrm xmlns:a="http://schemas.openxmlformats.org/drawingml/2006/main">
            <a:off x="1676400" y="3562350"/>
            <a:ext cx="9201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FFFFFF"/>
                </a:solidFill>
                <a:latin typeface="Aptos"/>
                <a:ea typeface="Aptos"/>
                <a:cs typeface="Aptos"/>
              </a:defRPr>
            </a:pPr>
            <a:r>
              <a:rPr sz="1875" b="0" i="0">
                <a:solidFill>
                  <a:srgbClr val="FFFFFF"/>
                </a:solidFill>
                <a:latin typeface="Aptos"/>
                <a:ea typeface="Aptos"/>
                <a:cs typeface="Aptos"/>
              </a:rPr>
              <a:t>Diagnose the specific transaction cost.</a:t>
            </a:r>
          </a:p>
        </p:txBody>
      </p:sp>
      <p:sp>
        <p:nvSpPr>
          <p:cNvPr id="17" name="">
            <a:extLst xmlns:a="http://schemas.openxmlformats.org/drawingml/2006/main">
              <a:ext uri="{FF2B5EF4-FFF2-40B4-BE49-F238E27FC236}">
                <a16:creationId xmlns:a16="http://schemas.microsoft.com/office/drawing/2014/main" id="{003B75B7-4A6B-4040-AB7D-D574C6D2E512}"/>
              </a:ext>
            </a:extLst>
          </p:cNvPr>
          <p:cNvSpPr>
            <a:spLocks xmlns:a="http://schemas.openxmlformats.org/drawingml/2006/main" noGrp="1"/>
          </p:cNvSpPr>
          <p:nvPr/>
        </p:nvSpPr>
        <p:spPr>
          <a:xfrm xmlns:a="http://schemas.openxmlformats.org/drawingml/2006/main">
            <a:off x="1352550" y="40671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B88424"/>
                </a:solidFill>
                <a:latin typeface="Aptos"/>
                <a:ea typeface="Aptos"/>
                <a:cs typeface="Aptos"/>
              </a:defRPr>
            </a:pPr>
            <a:r>
              <a:rPr sz="1875" b="1" i="0">
                <a:solidFill>
                  <a:srgbClr val="B88424"/>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7488213D-B152-4C1E-AA57-88A3BAE23131}"/>
              </a:ext>
            </a:extLst>
          </p:cNvPr>
          <p:cNvSpPr>
            <a:spLocks xmlns:a="http://schemas.openxmlformats.org/drawingml/2006/main" noGrp="1"/>
          </p:cNvSpPr>
          <p:nvPr/>
        </p:nvSpPr>
        <p:spPr>
          <a:xfrm xmlns:a="http://schemas.openxmlformats.org/drawingml/2006/main">
            <a:off x="1676400" y="4076700"/>
            <a:ext cx="9201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FFFFFF"/>
                </a:solidFill>
                <a:latin typeface="Aptos"/>
                <a:ea typeface="Aptos"/>
                <a:cs typeface="Aptos"/>
              </a:defRPr>
            </a:pPr>
            <a:r>
              <a:rPr sz="1875" b="0" i="0">
                <a:solidFill>
                  <a:srgbClr val="FFFFFF"/>
                </a:solidFill>
                <a:latin typeface="Aptos"/>
                <a:ea typeface="Aptos"/>
                <a:cs typeface="Aptos"/>
              </a:rPr>
              <a:t>Compare institutions under realistic information and enforcement limits.</a:t>
            </a:r>
          </a:p>
        </p:txBody>
      </p:sp>
      <p:sp>
        <p:nvSpPr>
          <p:cNvPr id="19" name="">
            <a:extLst xmlns:a="http://schemas.openxmlformats.org/drawingml/2006/main">
              <a:ext uri="{FF2B5EF4-FFF2-40B4-BE49-F238E27FC236}">
                <a16:creationId xmlns:a16="http://schemas.microsoft.com/office/drawing/2014/main" id="{A0BE3BAC-25E0-418B-B98A-6940A30EA3BE}"/>
              </a:ext>
            </a:extLst>
          </p:cNvPr>
          <p:cNvSpPr>
            <a:spLocks xmlns:a="http://schemas.openxmlformats.org/drawingml/2006/main" noGrp="1"/>
          </p:cNvSpPr>
          <p:nvPr/>
        </p:nvSpPr>
        <p:spPr>
          <a:xfrm xmlns:a="http://schemas.openxmlformats.org/drawingml/2006/main">
            <a:off x="1200150" y="56388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B88424"/>
                </a:solidFill>
                <a:latin typeface="Georgia"/>
                <a:ea typeface="Georgia"/>
                <a:cs typeface="Georgia"/>
              </a:defRPr>
            </a:pPr>
            <a:r>
              <a:rPr sz="1950" b="1" i="0">
                <a:solidFill>
                  <a:srgbClr val="B88424"/>
                </a:solidFill>
                <a:latin typeface="Georgia"/>
                <a:ea typeface="Georgia"/>
                <a:cs typeface="Georgia"/>
              </a:rPr>
              <a:t>Coase turns externality analysis into comparative institutional design.</a:t>
            </a:r>
          </a:p>
        </p:txBody>
      </p:sp>
    </p:spTree>
    <p:extLst>
      <p:ext uri="{BB962C8B-B14F-4D97-AF65-F5344CB8AC3E}">
        <p14:creationId xmlns:p14="http://schemas.microsoft.com/office/powerpoint/2010/main" val="3495630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2026-09-16T14:40:29.7270000Z</dcterms:created>
  <dcterms:modified xsi:type="dcterms:W3CDTF">2026-09-16T14:40:29.7270000Z</dcterms:modified>
</coreProperties>
</file>